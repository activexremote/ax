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del sistema de diapositivas ActiveXRemote. Este archivo es una biblioteca: se copian diapositivas de aquí a tu presentación, no se presenta tal cual.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del documento. La Parte 1 es el proceso obligatorio de creación de un módulo; la Parte 4, el catálogo de plantillas.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 de oro: se copia una plantilla existente. Si tu contenido no encaja en ninguna, escribe al equipo de campus antes de inventar una.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HOJA PRINCIPAL — Proceso oficial de creación de un módulo.</a:t>
            </a:r>
          </a:p>
          <a:p/>
          <a:p>
            <a:r>
              <a:t>Carril 1 · NotebookLM: se cargan las fuentes del módulo (guía del curso, casos, normativa, plantillas) y se le pide el guion por bloques con minutos y ejercicios.</a:t>
            </a:r>
          </a:p>
          <a:p>
            <a:r>
              <a:t>Carril 2 · Diapositivas: se eligen los códigos de plantilla de este archivo y se monta el deck. Una idea por diapositiva.</a:t>
            </a:r>
          </a:p>
          <a:p>
            <a:r>
              <a:t>Carril 3 · Classroom: el módulo es un Tema. El material se publica antes de clase; la tarea con entregable y fecha límite, el día anterior.</a:t>
            </a:r>
          </a:p>
          <a:p>
            <a:r>
              <a:t>Carril 4 · Aula y Campus: 4 h en directo con el 40 % del tiempo en ejercicio; grabación y deck el mismo día; corrección en 7 días.</a:t>
            </a:r>
          </a:p>
          <a:p/>
          <a:p>
            <a:r>
              <a:t>Obligatorio: deck de diapositivas, un entregable por bloque y material publicado.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Detalle de los pasos 01–05. Los plazos son sobre el día de la clase (DÍA 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Detalle de los pasos 06–09. Los plazos son sobre el día de la clase (DÍA 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NotebookLM se usa como generador de guion, nunca como fuente. Un cuaderno por módulo, entre 5 y 12 fuentes, y verificación humana de cada dato antes de que llegue a una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oficial para NotebookLM. Se pega en el cuaderno del módulo, con las fuentes ya cargadas, y se pide bloque a bloque.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Estructura obligatoria en Classroom: un Tema por módulo, material publicado en D-3, una tarea por bloque con entregable y plazo, corrección en 7 días.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cerrada de entregables del profesorado. El deck de diapositivas es obligatorio en todos los módulos, en PPTX y PDF, 1920 × 1080.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Reparto de referencia de una sesión de 4 h y qué familia de plantillas usar en cada tramo. Los bloques oscuros son ejercicio en vivo.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Checklist de 60 segundos del brandbook, sección 18.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Retícula oficial: 12 columnas de 128 px, medianil 32 px, márgenes 96 / 72 / 100. Todo se apoya en ella, también las imágenes.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Escala de proyección del brandbook (sección 15). Las medidas en px son sobre lienzo 1920 × 1080; los pt, sobre 13,33 × 7,5 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Paleta Campus del brandbook (secciones 4 a 7) y uso del acento del camino.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Construcción del símbolo ΔX (46 × 28, trazo 2, inglete), lockups y los cinco gestos gráficos de la marca.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Índice de las plantillas. Cada código lleva a su diapositiva en la Parte 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Índice de las plantillas. Cada código lleva a su diapositiva en la Parte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A (Apertura). Abrir la sesión, cambiar de bloque y situar al alumno.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 Portada de módulo — Apertura</a:t>
            </a:r>
          </a:p>
          <a:p/>
          <a:p>
            <a:r>
              <a:t>Primera diapositiva de cada sesión. Identifica módulo, camino, docente y fecha.</a:t>
            </a:r>
          </a:p>
          <a:p/>
          <a:p>
            <a:r>
              <a:t>ZONAS DE TEXTO</a:t>
            </a:r>
          </a:p>
          <a:p>
            <a:r>
              <a:t>   · etiqueta — 40 car. · Módulo NN · nombre del camino</a:t>
            </a:r>
          </a:p>
          <a:p>
            <a:r>
              <a:t>   · titulo — 60 car. · 2 líneas · Afirmación, no etiqueta</a:t>
            </a:r>
          </a:p>
          <a:p>
            <a:r>
              <a:t>   · creditos — 70 car. · Docente · fecha · duración</a:t>
            </a:r>
          </a:p>
          <a:p/>
          <a:p>
            <a:r>
              <a:t>USAR CUANDO</a:t>
            </a:r>
          </a:p>
          <a:p>
            <a:r>
              <a:t>   · Abrir cada módulo o cada hora de clase.</a:t>
            </a:r>
          </a:p>
          <a:p/>
          <a:p>
            <a:r>
              <a:t>NO USAR CUANDO</a:t>
            </a:r>
          </a:p>
          <a:p>
            <a:r>
              <a:t>   · Poner aquí el índice o los objetivos: eso es A05 y A06.</a:t>
            </a:r>
          </a:p>
          <a:p/>
          <a:p>
            <a:r>
              <a:t>BLOQUE PARA LA IA</a:t>
            </a:r>
          </a:p>
          <a:p>
            <a:r>
              <a:t>LAYOUT: A01 — Portada de módulo | FAMILIA: Apertura | FONDO: tinta #161616</a:t>
            </a:r>
          </a:p>
          <a:p>
            <a:r>
              <a:t>ZONAS: etiqueta(40) | titulo(60 · 2 líneas) | creditos(70)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 · Portada con fotografía — Apertura</a:t>
            </a:r>
          </a:p>
          <a:p/>
          <a:p>
            <a:r>
              <a:t>Portada de alto impacto para sesiones abiertas, webinars o bienvenida de cohorte.</a:t>
            </a:r>
          </a:p>
          <a:p/>
          <a:p>
            <a:r>
              <a:t>ZONAS DE TEXTO</a:t>
            </a:r>
          </a:p>
          <a:p>
            <a:r>
              <a:t>   · foto — — · A sangre, con velo oscuro rgba(0,0,0,.55)</a:t>
            </a:r>
          </a:p>
          <a:p>
            <a:r>
              <a:t>   · etiqueta — 40 car.</a:t>
            </a:r>
          </a:p>
          <a:p>
            <a:r>
              <a:t>   · titulo — 55 car. · 2 líneas</a:t>
            </a:r>
          </a:p>
          <a:p>
            <a:r>
              <a:t>   · creditos — 70 car.</a:t>
            </a:r>
          </a:p>
          <a:p/>
          <a:p>
            <a:r>
              <a:t>USAR CUANDO</a:t>
            </a:r>
          </a:p>
          <a:p>
            <a:r>
              <a:t>   · Sesiones con público externo. Primera sesión de la cohorte.</a:t>
            </a:r>
          </a:p>
          <a:p/>
          <a:p>
            <a:r>
              <a:t>NO USAR CUANDO</a:t>
            </a:r>
          </a:p>
          <a:p>
            <a:r>
              <a:t>   · Fotos de stock genéricas. Texto sobre la zona más clara de la foto.</a:t>
            </a:r>
          </a:p>
          <a:p/>
          <a:p>
            <a:r>
              <a:t>BLOQUE PARA LA IA</a:t>
            </a:r>
          </a:p>
          <a:p>
            <a:r>
              <a:t>LAYOUT: A02 — Portada con fotografía | FAMILIA: Apertura | FONDO: tinta #161616</a:t>
            </a:r>
          </a:p>
          <a:p>
            <a:r>
              <a:t>ZONAS: foto(—) | etiqueta(40) | titulo(55 · 2 líneas) | creditos(70)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 · Separador de bloque — Apertura</a:t>
            </a:r>
          </a:p>
          <a:p/>
          <a:p>
            <a:r>
              <a:t>Marca el cambio de tema dentro de la sesión. Da respiro.</a:t>
            </a:r>
          </a:p>
          <a:p/>
          <a:p>
            <a:r>
              <a:t>ZONAS DE TEXTO</a:t>
            </a:r>
          </a:p>
          <a:p>
            <a:r>
              <a:t>   · numero — 2 car. · Número de bloque, 01–09</a:t>
            </a:r>
          </a:p>
          <a:p>
            <a:r>
              <a:t>   · titulo — 40 car. · 2 líneas · Nombre del bloque</a:t>
            </a:r>
          </a:p>
          <a:p/>
          <a:p>
            <a:r>
              <a:t>USAR CUANDO</a:t>
            </a:r>
          </a:p>
          <a:p>
            <a:r>
              <a:t>   · Cada 8–12 diapositivas de contenido.</a:t>
            </a:r>
          </a:p>
          <a:p/>
          <a:p>
            <a:r>
              <a:t>NO USAR CUANDO</a:t>
            </a:r>
          </a:p>
          <a:p>
            <a:r>
              <a:t>   · Usarlo como portada. Meter texto de cuerpo.</a:t>
            </a:r>
          </a:p>
          <a:p/>
          <a:p>
            <a:r>
              <a:t>BLOQUE PARA LA IA</a:t>
            </a:r>
          </a:p>
          <a:p>
            <a:r>
              <a:t>LAYOUT: A03 — Separador de bloque | FAMILIA: Apertura | FONDO: tinta #161616</a:t>
            </a:r>
          </a:p>
          <a:p>
            <a:r>
              <a:t>ZONAS: numero(2) | titulo(40 · 2 líneas)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A04 · Separador con fotografía — Apertura</a:t>
            </a:r>
          </a:p>
          <a:p/>
          <a:p>
            <a:r>
              <a:t>Separador cuando el bloque tiene una imagen que lo representa.</a:t>
            </a:r>
          </a:p>
          <a:p/>
          <a:p>
            <a:r>
              <a:t>ZONAS DE TEXTO</a:t>
            </a:r>
          </a:p>
          <a:p>
            <a:r>
              <a:t>   · foto — — · A sangre, velo oscuro</a:t>
            </a:r>
          </a:p>
          <a:p>
            <a:r>
              <a:t>   · numero — 2 car.</a:t>
            </a:r>
          </a:p>
          <a:p>
            <a:r>
              <a:t>   · titulo — 40 car.</a:t>
            </a:r>
          </a:p>
          <a:p/>
          <a:p>
            <a:r>
              <a:t>USAR CUANDO</a:t>
            </a:r>
          </a:p>
          <a:p>
            <a:r>
              <a:t>   · Bloques temáticos con identidad visual propia (un país, una herramienta, un caso).</a:t>
            </a:r>
          </a:p>
          <a:p/>
          <a:p>
            <a:r>
              <a:t>NO USAR CUANDO</a:t>
            </a:r>
          </a:p>
          <a:p>
            <a:r>
              <a:t>   · Alternarlo con A03 sin criterio: elige uno de los dos por sesión.</a:t>
            </a:r>
          </a:p>
          <a:p/>
          <a:p>
            <a:r>
              <a:t>BLOQUE PARA LA IA</a:t>
            </a:r>
          </a:p>
          <a:p>
            <a:r>
              <a:t>LAYOUT: A04 — Separador con fotografía | FAMILIA: Apertura | FONDO: tinta #161616</a:t>
            </a:r>
          </a:p>
          <a:p>
            <a:r>
              <a:t>ZONAS: foto(—) | numero(2) | titulo(40)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A05 · Agenda / índice — Apertura</a:t>
            </a:r>
          </a:p>
          <a:p/>
          <a:p>
            <a:r>
              <a:t>Qué se va a ver en la sesión. Lista numerada corta.</a:t>
            </a:r>
          </a:p>
          <a:p/>
          <a:p>
            <a:r>
              <a:t>ZONAS DE TEXTO</a:t>
            </a:r>
          </a:p>
          <a:p>
            <a:r>
              <a:t>   · etiqueta — 20 car. · «Hoy» o «Agenda»</a:t>
            </a:r>
          </a:p>
          <a:p>
            <a:r>
              <a:t>   · titulo — 50 car. · Afirmación sobre lo que se llevan</a:t>
            </a:r>
          </a:p>
          <a:p>
            <a:r>
              <a:t>   · item_1..5 — 60 car. c/u · Máximo 5, una línea cada uno</a:t>
            </a:r>
          </a:p>
          <a:p/>
          <a:p>
            <a:r>
              <a:t>USAR CUANDO</a:t>
            </a:r>
          </a:p>
          <a:p>
            <a:r>
              <a:t>   · Segunda diapositiva de la sesión.</a:t>
            </a:r>
          </a:p>
          <a:p/>
          <a:p>
            <a:r>
              <a:t>NO USAR CUANDO</a:t>
            </a:r>
          </a:p>
          <a:p>
            <a:r>
              <a:t>   · Más de 5 puntos. Sub-niveles.</a:t>
            </a:r>
          </a:p>
          <a:p/>
          <a:p>
            <a:r>
              <a:t>BLOQUE PARA LA IA</a:t>
            </a:r>
          </a:p>
          <a:p>
            <a:r>
              <a:t>LAYOUT: A05 — Agenda / índice | FAMILIA: Apertura | FONDO: blanco</a:t>
            </a:r>
          </a:p>
          <a:p>
            <a:r>
              <a:t>ZONAS: etiqueta(20) | titulo(50) | item_1..5(60 c/u)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A06 · Objetivos de aprendizaje — Apertura</a:t>
            </a:r>
          </a:p>
          <a:p/>
          <a:p>
            <a:r>
              <a:t>Qué sabrá hacer el alumno al terminar. Verbo de acción por objetivo.</a:t>
            </a:r>
          </a:p>
          <a:p/>
          <a:p>
            <a:r>
              <a:t>ZONAS DE TEXTO</a:t>
            </a:r>
          </a:p>
          <a:p>
            <a:r>
              <a:t>   · etiqueta — 30 car.</a:t>
            </a:r>
          </a:p>
          <a:p>
            <a:r>
              <a:t>   · titulo — 50 car.</a:t>
            </a:r>
          </a:p>
          <a:p>
            <a:r>
              <a:t>   · objetivo_1..4 — 80 car. c/u · Empiezan por verbo en infinitivo</a:t>
            </a:r>
          </a:p>
          <a:p/>
          <a:p>
            <a:r>
              <a:t>USAR CUANDO</a:t>
            </a:r>
          </a:p>
          <a:p>
            <a:r>
              <a:t>   · Después de la agenda, o al abrir un bloque largo.</a:t>
            </a:r>
          </a:p>
          <a:p/>
          <a:p>
            <a:r>
              <a:t>NO USAR CUANDO</a:t>
            </a:r>
          </a:p>
          <a:p>
            <a:r>
              <a:t>   · Verbos vagos: «conocer», «entender». Mejor «montar», «calcular», «negociar».</a:t>
            </a:r>
          </a:p>
          <a:p/>
          <a:p>
            <a:r>
              <a:t>BLOQUE PARA LA IA</a:t>
            </a:r>
          </a:p>
          <a:p>
            <a:r>
              <a:t>LAYOUT: A06 — Objetivos de aprendizaje | FAMILIA: Apertura | FONDO: blanco</a:t>
            </a:r>
          </a:p>
          <a:p>
            <a:r>
              <a:t>ZONAS: etiqueta(30) | titulo(50) | objetivo_1..4(80 c/u)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A07 · Mapa del curso — Apertura</a:t>
            </a:r>
          </a:p>
          <a:p/>
          <a:p>
            <a:r>
              <a:t>Dónde estamos dentro del programa. Orienta en sesiones largas.</a:t>
            </a:r>
          </a:p>
          <a:p/>
          <a:p>
            <a:r>
              <a:t>ZONAS DE TEXTO</a:t>
            </a:r>
          </a:p>
          <a:p>
            <a:r>
              <a:t>   · etiqueta — 30 car.</a:t>
            </a:r>
          </a:p>
          <a:p>
            <a:r>
              <a:t>   · titulo — 45 car.</a:t>
            </a:r>
          </a:p>
          <a:p>
            <a:r>
              <a:t>   · hito_1..7 — 18 car. c/u · Nombre corto de cada módulo</a:t>
            </a:r>
          </a:p>
          <a:p>
            <a:r>
              <a:t>   · actual — 1 car. · Cuál de los hitos está activo</a:t>
            </a:r>
          </a:p>
          <a:p/>
          <a:p>
            <a:r>
              <a:t>USAR CUANDO</a:t>
            </a:r>
          </a:p>
          <a:p>
            <a:r>
              <a:t>   · Al abrir la sesión y al volver de una pausa larga.</a:t>
            </a:r>
          </a:p>
          <a:p/>
          <a:p>
            <a:r>
              <a:t>NO USAR CUANDO</a:t>
            </a:r>
          </a:p>
          <a:p>
            <a:r>
              <a:t>   · Listar los 14 módulos: agrupa en 5–7 hitos.</a:t>
            </a:r>
          </a:p>
          <a:p/>
          <a:p>
            <a:r>
              <a:t>BLOQUE PARA LA IA</a:t>
            </a:r>
          </a:p>
          <a:p>
            <a:r>
              <a:t>LAYOUT: A07 — Mapa del curso | FAMILIA: Apertura | FONDO: blanco</a:t>
            </a:r>
          </a:p>
          <a:p>
            <a:r>
              <a:t>ZONAS: etiqueta(30) | titulo(45) | hito_1..7(18 c/u) | actual(1)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B (Texto). Cuando la idea se sostiene sola, sin medio ni dato.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B01 · Título + texto — Texto</a:t>
            </a:r>
          </a:p>
          <a:p/>
          <a:p>
            <a:r>
              <a:t>La explicación más simple: una idea desarrollada en un párrafo.</a:t>
            </a:r>
          </a:p>
          <a:p/>
          <a:p>
            <a:r>
              <a:t>ZONAS DE TEXTO</a:t>
            </a:r>
          </a:p>
          <a:p>
            <a:r>
              <a:t>   · etiqueta — 30 car.</a:t>
            </a:r>
          </a:p>
          <a:p>
            <a:r>
              <a:t>   · titulo — 60 car. · 2 líneas</a:t>
            </a:r>
          </a:p>
          <a:p>
            <a:r>
              <a:t>   · texto — 320 car. · máx. 4 líneas · Medida máxima 60–68 caracteres</a:t>
            </a:r>
          </a:p>
          <a:p/>
          <a:p>
            <a:r>
              <a:t>USAR CUANDO</a:t>
            </a:r>
          </a:p>
          <a:p>
            <a:r>
              <a:t>   · Introducir un concepto antes de desglosarlo.</a:t>
            </a:r>
          </a:p>
          <a:p/>
          <a:p>
            <a:r>
              <a:t>NO USAR CUANDO</a:t>
            </a:r>
          </a:p>
          <a:p>
            <a:r>
              <a:t>   · Meter aquí una lista disfrazada de párrafo: usa B02.</a:t>
            </a:r>
          </a:p>
          <a:p/>
          <a:p>
            <a:r>
              <a:t>BLOQUE PARA LA IA</a:t>
            </a:r>
          </a:p>
          <a:p>
            <a:r>
              <a:t>LAYOUT: B01 — Título + texto | FAMILIA: Texto | FONDO: blanco</a:t>
            </a:r>
          </a:p>
          <a:p>
            <a:r>
              <a:t>ZONAS: etiqueta(30) | titulo(60 · 2 líneas) | texto(320 · máx. 4 líneas)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B02 · Viñetas — Texto</a:t>
            </a:r>
          </a:p>
          <a:p/>
          <a:p>
            <a:r>
              <a:t>Lista de puntos paralelos. El formato más frecuente del temario.</a:t>
            </a:r>
          </a:p>
          <a:p/>
          <a:p>
            <a:r>
              <a:t>ZONAS DE TEXTO</a:t>
            </a:r>
          </a:p>
          <a:p>
            <a:r>
              <a:t>   · etiqueta — 30 car.</a:t>
            </a:r>
          </a:p>
          <a:p>
            <a:r>
              <a:t>   · titulo — 60 car.</a:t>
            </a:r>
          </a:p>
          <a:p>
            <a:r>
              <a:t>   · vineta_1..5 — 70 car. c/u · Máximo 5, una línea cada una</a:t>
            </a:r>
          </a:p>
          <a:p/>
          <a:p>
            <a:r>
              <a:t>USAR CUANDO</a:t>
            </a:r>
          </a:p>
          <a:p>
            <a:r>
              <a:t>   · Criterios, requisitos, errores comunes, pasos no secuenciales.</a:t>
            </a:r>
          </a:p>
          <a:p/>
          <a:p>
            <a:r>
              <a:t>NO USAR CUANDO</a:t>
            </a:r>
          </a:p>
          <a:p>
            <a:r>
              <a:t>   · Más de 5 viñetas. Viñetas de más de una línea. Sub-viñetas.</a:t>
            </a:r>
          </a:p>
          <a:p/>
          <a:p>
            <a:r>
              <a:t>BLOQUE PARA LA IA</a:t>
            </a:r>
          </a:p>
          <a:p>
            <a:r>
              <a:t>LAYOUT: B02 — Viñetas | FAMILIA: Texto | FONDO: blanco</a:t>
            </a:r>
          </a:p>
          <a:p>
            <a:r>
              <a:t>ZONAS: etiqueta(30) | titulo(60) | vineta_1..5(70 c/u)</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B03 · Viñetas en dos columnas — Texto</a:t>
            </a:r>
          </a:p>
          <a:p/>
          <a:p>
            <a:r>
              <a:t>Lista larga que no cabe en cinco puntos: hasta 8, repartidos en dos columnas.</a:t>
            </a:r>
          </a:p>
          <a:p/>
          <a:p>
            <a:r>
              <a:t>ZONAS DE TEXTO</a:t>
            </a:r>
          </a:p>
          <a:p>
            <a:r>
              <a:t>   · etiqueta — 30 car.</a:t>
            </a:r>
          </a:p>
          <a:p>
            <a:r>
              <a:t>   · titulo — 55 car.</a:t>
            </a:r>
          </a:p>
          <a:p>
            <a:r>
              <a:t>   · vineta_1..8 — 50 car. c/u · Se leen en Z: 1–4 izquierda, 5–8 derecha</a:t>
            </a:r>
          </a:p>
          <a:p/>
          <a:p>
            <a:r>
              <a:t>USAR CUANDO</a:t>
            </a:r>
          </a:p>
          <a:p>
            <a:r>
              <a:t>   · Listados de herramientas, países, documentos, requisitos legales.</a:t>
            </a:r>
          </a:p>
          <a:p/>
          <a:p>
            <a:r>
              <a:t>NO USAR CUANDO</a:t>
            </a:r>
          </a:p>
          <a:p>
            <a:r>
              <a:t>   · Más de 8. Si necesitas más, es una tabla (F01) o dos diapositivas.</a:t>
            </a:r>
          </a:p>
          <a:p/>
          <a:p>
            <a:r>
              <a:t>BLOQUE PARA LA IA</a:t>
            </a:r>
          </a:p>
          <a:p>
            <a:r>
              <a:t>LAYOUT: B03 — Viñetas en dos columnas | FAMILIA: Texto | FONDO: blanco</a:t>
            </a:r>
          </a:p>
          <a:p>
            <a:r>
              <a:t>ZONAS: etiqueta(30) | titulo(55) | vineta_1..8(50 c/u)</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B04 · Dos columnas de texto — Texto</a:t>
            </a:r>
          </a:p>
          <a:p/>
          <a:p>
            <a:r>
              <a:t>Dos ideas paralelas del mismo peso, una a cada lado.</a:t>
            </a:r>
          </a:p>
          <a:p/>
          <a:p>
            <a:r>
              <a:t>ZONAS DE TEXTO</a:t>
            </a:r>
          </a:p>
          <a:p>
            <a:r>
              <a:t>   · etiqueta — 30 car.</a:t>
            </a:r>
          </a:p>
          <a:p>
            <a:r>
              <a:t>   · titulo — 55 car.</a:t>
            </a:r>
          </a:p>
          <a:p>
            <a:r>
              <a:t>   · izq_titulo — 30 car.</a:t>
            </a:r>
          </a:p>
          <a:p>
            <a:r>
              <a:t>   · izq_texto — 240 car.</a:t>
            </a:r>
          </a:p>
          <a:p>
            <a:r>
              <a:t>   · der_titulo — 30 car.</a:t>
            </a:r>
          </a:p>
          <a:p>
            <a:r>
              <a:t>   · der_texto — 240 car.</a:t>
            </a:r>
          </a:p>
          <a:p/>
          <a:p>
            <a:r>
              <a:t>USAR CUANDO</a:t>
            </a:r>
          </a:p>
          <a:p>
            <a:r>
              <a:t>   · Teoría vs práctica · qué sí / qué no · dos enfoques.</a:t>
            </a:r>
          </a:p>
          <a:p/>
          <a:p>
            <a:r>
              <a:t>NO USAR CUANDO</a:t>
            </a:r>
          </a:p>
          <a:p>
            <a:r>
              <a:t>   · Columnas de longitud muy distinta. Tres columnas: usa B05.</a:t>
            </a:r>
          </a:p>
          <a:p/>
          <a:p>
            <a:r>
              <a:t>BLOQUE PARA LA IA</a:t>
            </a:r>
          </a:p>
          <a:p>
            <a:r>
              <a:t>LAYOUT: B04 — Dos columnas de texto | FAMILIA: Texto | FONDO: blanco</a:t>
            </a:r>
          </a:p>
          <a:p>
            <a:r>
              <a:t>ZONAS: etiqueta(30) | titulo(55) | izq_titulo(30) | izq_texto(240) | der_titulo(30) | der_texto(240)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B05 · Tres columnas de texto — Texto</a:t>
            </a:r>
          </a:p>
          <a:p/>
          <a:p>
            <a:r>
              <a:t>Tres ideas hermanas. El máximo antes de que el texto sea ilegible.</a:t>
            </a:r>
          </a:p>
          <a:p/>
          <a:p>
            <a:r>
              <a:t>ZONAS DE TEXTO</a:t>
            </a:r>
          </a:p>
          <a:p>
            <a:r>
              <a:t>   · etiqueta — 30 car.</a:t>
            </a:r>
          </a:p>
          <a:p>
            <a:r>
              <a:t>   · titulo — 50 car.</a:t>
            </a:r>
          </a:p>
          <a:p>
            <a:r>
              <a:t>   · col_1..3 titulo — 24 car. c/u</a:t>
            </a:r>
          </a:p>
          <a:p>
            <a:r>
              <a:t>   · col_1..3 texto — 160 car. c/u</a:t>
            </a:r>
          </a:p>
          <a:p/>
          <a:p>
            <a:r>
              <a:t>USAR CUANDO</a:t>
            </a:r>
          </a:p>
          <a:p>
            <a:r>
              <a:t>   · Tres pilares, tres perfiles, tres modelos de contratación.</a:t>
            </a:r>
          </a:p>
          <a:p/>
          <a:p>
            <a:r>
              <a:t>NO USAR CUANDO</a:t>
            </a:r>
          </a:p>
          <a:p>
            <a:r>
              <a:t>   · Cuatro columnas de texto: pasa a B03 o a dos diapositivas.</a:t>
            </a:r>
          </a:p>
          <a:p/>
          <a:p>
            <a:r>
              <a:t>BLOQUE PARA LA IA</a:t>
            </a:r>
          </a:p>
          <a:p>
            <a:r>
              <a:t>LAYOUT: B05 — Tres columnas de texto | FAMILIA: Texto | FONDO: blanco</a:t>
            </a:r>
          </a:p>
          <a:p>
            <a:r>
              <a:t>ZONAS: etiqueta(30) | titulo(50) | col_1..3 titulo(24 c/u) | col_1..3 texto(160 c/u)</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B06 · Definición / concepto clave — Texto</a:t>
            </a:r>
          </a:p>
          <a:p/>
          <a:p>
            <a:r>
              <a:t>Fijar un término del oficio. Palabra grande, definición debajo.</a:t>
            </a:r>
          </a:p>
          <a:p/>
          <a:p>
            <a:r>
              <a:t>ZONAS DE TEXTO</a:t>
            </a:r>
          </a:p>
          <a:p>
            <a:r>
              <a:t>   · etiqueta — 20 car. · «Concepto» o «Definición»</a:t>
            </a:r>
          </a:p>
          <a:p>
            <a:r>
              <a:t>   · termino — 28 car. · El término, en grande</a:t>
            </a:r>
          </a:p>
          <a:p>
            <a:r>
              <a:t>   · definicion — 200 car.</a:t>
            </a:r>
          </a:p>
          <a:p>
            <a:r>
              <a:t>   · ejemplo — 120 car. · Opcional, en caja gris</a:t>
            </a:r>
          </a:p>
          <a:p/>
          <a:p>
            <a:r>
              <a:t>USAR CUANDO</a:t>
            </a:r>
          </a:p>
          <a:p>
            <a:r>
              <a:t>   · Anglicismos y tecnicismos la primera vez que aparecen.</a:t>
            </a:r>
          </a:p>
          <a:p/>
          <a:p>
            <a:r>
              <a:t>NO USAR CUANDO</a:t>
            </a:r>
          </a:p>
          <a:p>
            <a:r>
              <a:t>   · Definir tres términos en la misma diapositiva.</a:t>
            </a:r>
          </a:p>
          <a:p/>
          <a:p>
            <a:r>
              <a:t>BLOQUE PARA LA IA</a:t>
            </a:r>
          </a:p>
          <a:p>
            <a:r>
              <a:t>LAYOUT: B06 — Definición / concepto clave | FAMILIA: Texto | FONDO: blanco</a:t>
            </a:r>
          </a:p>
          <a:p>
            <a:r>
              <a:t>ZONAS: etiqueta(20) | termino(28) | definicion(200) | ejemplo(120)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B07 · Texto + nota lateral — Texto</a:t>
            </a:r>
          </a:p>
          <a:p/>
          <a:p>
            <a:r>
              <a:t>Explicación principal con un aviso, matiz o dato al margen.</a:t>
            </a:r>
          </a:p>
          <a:p/>
          <a:p>
            <a:r>
              <a:t>ZONAS DE TEXTO</a:t>
            </a:r>
          </a:p>
          <a:p>
            <a:r>
              <a:t>   · etiqueta — 30 car.</a:t>
            </a:r>
          </a:p>
          <a:p>
            <a:r>
              <a:t>   · titulo — 55 car.</a:t>
            </a:r>
          </a:p>
          <a:p>
            <a:r>
              <a:t>   · texto — 300 car.</a:t>
            </a:r>
          </a:p>
          <a:p>
            <a:r>
              <a:t>   · nota_titulo — 24 car. · «Ojo», «Atención», «Truco»</a:t>
            </a:r>
          </a:p>
          <a:p>
            <a:r>
              <a:t>   · nota_texto — 160 car.</a:t>
            </a:r>
          </a:p>
          <a:p/>
          <a:p>
            <a:r>
              <a:t>USAR CUANDO</a:t>
            </a:r>
          </a:p>
          <a:p>
            <a:r>
              <a:t>   · Advertencias legales o fiscales. Excepciones a la regla.</a:t>
            </a:r>
          </a:p>
          <a:p/>
          <a:p>
            <a:r>
              <a:t>NO USAR CUANDO</a:t>
            </a:r>
          </a:p>
          <a:p>
            <a:r>
              <a:t>   · Usar la nota para contenido principal: si es importante, va en el cuerpo.</a:t>
            </a:r>
          </a:p>
          <a:p/>
          <a:p>
            <a:r>
              <a:t>BLOQUE PARA LA IA</a:t>
            </a:r>
          </a:p>
          <a:p>
            <a:r>
              <a:t>LAYOUT: B07 — Texto + nota lateral | FAMILIA: Texto | FONDO: blanco</a:t>
            </a:r>
          </a:p>
          <a:p>
            <a:r>
              <a:t>ZONAS: etiqueta(30) | titulo(55) | texto(300) | nota_titulo(24) | nota_texto(160)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B08 · Frase manifiesto — Texto</a:t>
            </a:r>
          </a:p>
          <a:p/>
          <a:p>
            <a:r>
              <a:t>Una sola frase a pantalla completa. Corta el ritmo y fija una idea.</a:t>
            </a:r>
          </a:p>
          <a:p/>
          <a:p>
            <a:r>
              <a:t>ZONAS DE TEXTO</a:t>
            </a:r>
          </a:p>
          <a:p>
            <a:r>
              <a:t>   · frase — 90 car. · 2 líneas · Sin comillas: no es una cita, es una afirmación</a:t>
            </a:r>
          </a:p>
          <a:p/>
          <a:p>
            <a:r>
              <a:t>USAR CUANDO</a:t>
            </a:r>
          </a:p>
          <a:p>
            <a:r>
              <a:t>   · Abrir o cerrar un bloque con fuerza.</a:t>
            </a:r>
          </a:p>
          <a:p/>
          <a:p>
            <a:r>
              <a:t>NO USAR CUANDO</a:t>
            </a:r>
          </a:p>
          <a:p>
            <a:r>
              <a:t>   · Más de 90 caracteres. Usarla más de dos veces por sesión.</a:t>
            </a:r>
          </a:p>
          <a:p/>
          <a:p>
            <a:r>
              <a:t>BLOQUE PARA LA IA</a:t>
            </a:r>
          </a:p>
          <a:p>
            <a:r>
              <a:t>LAYOUT: B08 — Frase manifiesto | FAMILIA: Texto | FONDO: tinta #161616</a:t>
            </a:r>
          </a:p>
          <a:p>
            <a:r>
              <a:t>ZONAS: frase(90 · 2 líneas)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B09 · Pregunta detonante — Texto</a:t>
            </a:r>
          </a:p>
          <a:p/>
          <a:p>
            <a:r>
              <a:t>Lanzar una pregunta al aula antes de dar la respuesta.</a:t>
            </a:r>
          </a:p>
          <a:p/>
          <a:p>
            <a:r>
              <a:t>ZONAS DE TEXTO</a:t>
            </a:r>
          </a:p>
          <a:p>
            <a:r>
              <a:t>   · etiqueta — 24 car. · «Pregunta» o «Para pensar»</a:t>
            </a:r>
          </a:p>
          <a:p>
            <a:r>
              <a:t>   · pregunta — 90 car. · 2 líneas · Termina en ?</a:t>
            </a:r>
          </a:p>
          <a:p>
            <a:r>
              <a:t>   · pista — 110 car. · Opcional</a:t>
            </a:r>
          </a:p>
          <a:p/>
          <a:p>
            <a:r>
              <a:t>USAR CUANDO</a:t>
            </a:r>
          </a:p>
          <a:p>
            <a:r>
              <a:t>   · Antes de un concepto contraintuitivo. Abrir debate.</a:t>
            </a:r>
          </a:p>
          <a:p/>
          <a:p>
            <a:r>
              <a:t>NO USAR CUANDO</a:t>
            </a:r>
          </a:p>
          <a:p>
            <a:r>
              <a:t>   · Preguntas retóricas sin respuesta posterior.</a:t>
            </a:r>
          </a:p>
          <a:p/>
          <a:p>
            <a:r>
              <a:t>BLOQUE PARA LA IA</a:t>
            </a:r>
          </a:p>
          <a:p>
            <a:r>
              <a:t>LAYOUT: B09 — Pregunta detonante | FAMILIA: Texto | FONDO: blanco</a:t>
            </a:r>
          </a:p>
          <a:p>
            <a:r>
              <a:t>ZONAS: etiqueta(24) | pregunta(90 · 2 líneas) | pista(110)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C (Imagen). Cuando la prueba es visual: captura, foto o diagrama.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C01 · Texto + imagen (7+5) — Imagen</a:t>
            </a:r>
          </a:p>
          <a:p/>
          <a:p>
            <a:r>
              <a:t>Explicación a la izquierda, captura o diagrama a la derecha. El caballo de batalla.</a:t>
            </a:r>
          </a:p>
          <a:p/>
          <a:p>
            <a:r>
              <a:t>ZONAS DE TEXTO</a:t>
            </a:r>
          </a:p>
          <a:p>
            <a:r>
              <a:t>   · etiqueta — 30 car.</a:t>
            </a:r>
          </a:p>
          <a:p>
            <a:r>
              <a:t>   · titulo — 55 car. · 2 líneas</a:t>
            </a:r>
          </a:p>
          <a:p>
            <a:r>
              <a:t>   · texto — 220 car.</a:t>
            </a:r>
          </a:p>
          <a:p>
            <a:r>
              <a:t>   · vineta_1..3 — 55 car. c/u · Opcionales</a:t>
            </a:r>
          </a:p>
          <a:p>
            <a:r>
              <a:t>   · imagen — — · Captura real, filete 1 px, sin sombra</a:t>
            </a:r>
          </a:p>
          <a:p>
            <a:r>
              <a:t>   · pie_imagen — 60 car. · Opcional</a:t>
            </a:r>
          </a:p>
          <a:p/>
          <a:p>
            <a:r>
              <a:t>USAR CUANDO</a:t>
            </a:r>
          </a:p>
          <a:p>
            <a:r>
              <a:t>   · Mostrar una herramienta mientras se explica. Walkthroughs.</a:t>
            </a:r>
          </a:p>
          <a:p/>
          <a:p>
            <a:r>
              <a:t>NO USAR CUANDO</a:t>
            </a:r>
          </a:p>
          <a:p>
            <a:r>
              <a:t>   · Imágenes decorativas sin información.</a:t>
            </a:r>
          </a:p>
          <a:p/>
          <a:p>
            <a:r>
              <a:t>BLOQUE PARA LA IA</a:t>
            </a:r>
          </a:p>
          <a:p>
            <a:r>
              <a:t>LAYOUT: C01 — Texto + imagen (7+5) | FAMILIA: Imagen | FONDO: blanco</a:t>
            </a:r>
          </a:p>
          <a:p>
            <a:r>
              <a:t>ZONAS: etiqueta(30) | titulo(55 · 2 líneas) | texto(220) | vineta_1..3(55 c/u) | imagen(—) | pie_imagen(60)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C02 · Imagen + texto (5+7) — Imagen</a:t>
            </a:r>
          </a:p>
          <a:p/>
          <a:p>
            <a:r>
              <a:t>La misma composición invertida. Alterna con C01 para no repetir ritmo.</a:t>
            </a:r>
          </a:p>
          <a:p/>
          <a:p>
            <a:r>
              <a:t>ZONAS DE TEXTO</a:t>
            </a:r>
          </a:p>
          <a:p>
            <a:r>
              <a:t>   · imagen — —</a:t>
            </a:r>
          </a:p>
          <a:p>
            <a:r>
              <a:t>   · pie_imagen — 60 car. · Opcional</a:t>
            </a:r>
          </a:p>
          <a:p>
            <a:r>
              <a:t>   · etiqueta — 30 car.</a:t>
            </a:r>
          </a:p>
          <a:p>
            <a:r>
              <a:t>   · titulo — 55 car.</a:t>
            </a:r>
          </a:p>
          <a:p>
            <a:r>
              <a:t>   · texto — 260 car.</a:t>
            </a:r>
          </a:p>
          <a:p>
            <a:r>
              <a:t>   · vineta_1..3 — 55 car. c/u</a:t>
            </a:r>
          </a:p>
          <a:p/>
          <a:p>
            <a:r>
              <a:t>USAR CUANDO</a:t>
            </a:r>
          </a:p>
          <a:p>
            <a:r>
              <a:t>   · Cuando la imagen es lo primero que hay que mirar.</a:t>
            </a:r>
          </a:p>
          <a:p/>
          <a:p>
            <a:r>
              <a:t>NO USAR CUANDO</a:t>
            </a:r>
          </a:p>
          <a:p>
            <a:r>
              <a:t>   · Alternar sin criterio en cada diapositiva: marea.</a:t>
            </a:r>
          </a:p>
          <a:p/>
          <a:p>
            <a:r>
              <a:t>BLOQUE PARA LA IA</a:t>
            </a:r>
          </a:p>
          <a:p>
            <a:r>
              <a:t>LAYOUT: C02 — Imagen + texto (5+7) | FAMILIA: Imagen | FONDO: blanco</a:t>
            </a:r>
          </a:p>
          <a:p>
            <a:r>
              <a:t>ZONAS: imagen(—) | pie_imagen(60) | etiqueta(30) | titulo(55) | texto(260) | vineta_1..3(55 c/u)</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C03 · Foto a sangre con texto — Imagen</a:t>
            </a:r>
          </a:p>
          <a:p/>
          <a:p>
            <a:r>
              <a:t>Fotografía que ocupa toda la diapositiva con un titular encima.</a:t>
            </a:r>
          </a:p>
          <a:p/>
          <a:p>
            <a:r>
              <a:t>ZONAS DE TEXTO</a:t>
            </a:r>
          </a:p>
          <a:p>
            <a:r>
              <a:t>   · foto — — · A sangre, velo rgba(0,0,0,.5)</a:t>
            </a:r>
          </a:p>
          <a:p>
            <a:r>
              <a:t>   · etiqueta — 30 car.</a:t>
            </a:r>
          </a:p>
          <a:p>
            <a:r>
              <a:t>   · titulo — 70 car. · 2 líneas</a:t>
            </a:r>
          </a:p>
          <a:p>
            <a:r>
              <a:t>   · pie — 70 car. · Fuente o crédito</a:t>
            </a:r>
          </a:p>
          <a:p/>
          <a:p>
            <a:r>
              <a:t>USAR CUANDO</a:t>
            </a:r>
          </a:p>
          <a:p>
            <a:r>
              <a:t>   · Contexto emocional: un país, un espacio de trabajo, un evento.</a:t>
            </a:r>
          </a:p>
          <a:p/>
          <a:p>
            <a:r>
              <a:t>NO USAR CUANDO</a:t>
            </a:r>
          </a:p>
          <a:p>
            <a:r>
              <a:t>   · Texto sobre la zona clara de la foto. Fotos con marca de agua.</a:t>
            </a:r>
          </a:p>
          <a:p/>
          <a:p>
            <a:r>
              <a:t>BLOQUE PARA LA IA</a:t>
            </a:r>
          </a:p>
          <a:p>
            <a:r>
              <a:t>LAYOUT: C03 — Foto a sangre con texto | FAMILIA: Imagen | FONDO: tinta #161616</a:t>
            </a:r>
          </a:p>
          <a:p>
            <a:r>
              <a:t>ZONAS: foto(—) | etiqueta(30) | titulo(70 · 2 líneas) | pie(70)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C04 · Imagen a pantalla completa — Imagen</a:t>
            </a:r>
          </a:p>
          <a:p/>
          <a:p>
            <a:r>
              <a:t>Una captura o diagrama que necesita todo el ancho, dentro de la zona segura.</a:t>
            </a:r>
          </a:p>
          <a:p/>
          <a:p>
            <a:r>
              <a:t>ZONAS DE TEXTO</a:t>
            </a:r>
          </a:p>
          <a:p>
            <a:r>
              <a:t>   · titulo — 50 car. · Sobre la imagen</a:t>
            </a:r>
          </a:p>
          <a:p>
            <a:r>
              <a:t>   · imagen — —</a:t>
            </a:r>
          </a:p>
          <a:p>
            <a:r>
              <a:t>   · pie_imagen — 90 car. · Fuente o explicación</a:t>
            </a:r>
          </a:p>
          <a:p/>
          <a:p>
            <a:r>
              <a:t>USAR CUANDO</a:t>
            </a:r>
          </a:p>
          <a:p>
            <a:r>
              <a:t>   · Pantallazos densos: dashboards, hojas de cálculo, flujos.</a:t>
            </a:r>
          </a:p>
          <a:p/>
          <a:p>
            <a:r>
              <a:t>NO USAR CUANDO</a:t>
            </a:r>
          </a:p>
          <a:p>
            <a:r>
              <a:t>   · Imágenes que necesiten zoom para leerse: recórtalas.</a:t>
            </a:r>
          </a:p>
          <a:p/>
          <a:p>
            <a:r>
              <a:t>BLOQUE PARA LA IA</a:t>
            </a:r>
          </a:p>
          <a:p>
            <a:r>
              <a:t>LAYOUT: C04 — Imagen a pantalla completa | FAMILIA: Imagen | FONDO: blanco</a:t>
            </a:r>
          </a:p>
          <a:p>
            <a:r>
              <a:t>ZONAS: titulo(50) | imagen(—) | pie_imagen(90)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C05 · Galería de tres — Imagen</a:t>
            </a:r>
          </a:p>
          <a:p/>
          <a:p>
            <a:r>
              <a:t>Tres imágenes comparables, cada una con su pie.</a:t>
            </a:r>
          </a:p>
          <a:p/>
          <a:p>
            <a:r>
              <a:t>ZONAS DE TEXTO</a:t>
            </a:r>
          </a:p>
          <a:p>
            <a:r>
              <a:t>   · etiqueta — 30 car.</a:t>
            </a:r>
          </a:p>
          <a:p>
            <a:r>
              <a:t>   · titulo — 50 car.</a:t>
            </a:r>
          </a:p>
          <a:p>
            <a:r>
              <a:t>   · imagen_1..3 — —</a:t>
            </a:r>
          </a:p>
          <a:p>
            <a:r>
              <a:t>   · pie_1..3 — 45 car. c/u</a:t>
            </a:r>
          </a:p>
          <a:p/>
          <a:p>
            <a:r>
              <a:t>USAR CUANDO</a:t>
            </a:r>
          </a:p>
          <a:p>
            <a:r>
              <a:t>   · Tres ejemplos de lo mismo: tres portfolios, tres CV, tres perfiles.</a:t>
            </a:r>
          </a:p>
          <a:p/>
          <a:p>
            <a:r>
              <a:t>NO USAR CUANDO</a:t>
            </a:r>
          </a:p>
          <a:p>
            <a:r>
              <a:t>   · Imágenes de proporciones distintas: recorta todas a 4:3.</a:t>
            </a:r>
          </a:p>
          <a:p/>
          <a:p>
            <a:r>
              <a:t>BLOQUE PARA LA IA</a:t>
            </a:r>
          </a:p>
          <a:p>
            <a:r>
              <a:t>LAYOUT: C05 — Galería de tres | FAMILIA: Imagen | FONDO: blanco</a:t>
            </a:r>
          </a:p>
          <a:p>
            <a:r>
              <a:t>ZONAS: etiqueta(30) | titulo(50) | imagen_1..3(—) | pie_1..3(45 c/u)</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C06 · Mosaico de cuatro — Imagen</a:t>
            </a:r>
          </a:p>
          <a:p/>
          <a:p>
            <a:r>
              <a:t>Cuatro imágenes en rejilla 2×2 con una idea al lado.</a:t>
            </a:r>
          </a:p>
          <a:p/>
          <a:p>
            <a:r>
              <a:t>ZONAS DE TEXTO</a:t>
            </a:r>
          </a:p>
          <a:p>
            <a:r>
              <a:t>   · etiqueta — 30 car.</a:t>
            </a:r>
          </a:p>
          <a:p>
            <a:r>
              <a:t>   · titulo — 45 car.</a:t>
            </a:r>
          </a:p>
          <a:p>
            <a:r>
              <a:t>   · texto — 180 car.</a:t>
            </a:r>
          </a:p>
          <a:p>
            <a:r>
              <a:t>   · imagen_1..4 — —</a:t>
            </a:r>
          </a:p>
          <a:p/>
          <a:p>
            <a:r>
              <a:t>USAR CUANDO</a:t>
            </a:r>
          </a:p>
          <a:p>
            <a:r>
              <a:t>   · Mostrar variedad: herramientas, países, formatos de contenido.</a:t>
            </a:r>
          </a:p>
          <a:p/>
          <a:p>
            <a:r>
              <a:t>NO USAR CUANDO</a:t>
            </a:r>
          </a:p>
          <a:p>
            <a:r>
              <a:t>   · Rellenar con imágenes que no aportan solo para completar la rejilla.</a:t>
            </a:r>
          </a:p>
          <a:p/>
          <a:p>
            <a:r>
              <a:t>BLOQUE PARA LA IA</a:t>
            </a:r>
          </a:p>
          <a:p>
            <a:r>
              <a:t>LAYOUT: C06 — Mosaico de cuatro | FAMILIA: Imagen | FONDO: blanco</a:t>
            </a:r>
          </a:p>
          <a:p>
            <a:r>
              <a:t>ZONAS: etiqueta(30) | titulo(45) | texto(180) | imagen_1..4(—)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C07 · Antes / después — Imagen</a:t>
            </a:r>
          </a:p>
          <a:p/>
          <a:p>
            <a:r>
              <a:t>Dos imágenes enfrentadas que muestran una transformación.</a:t>
            </a:r>
          </a:p>
          <a:p/>
          <a:p>
            <a:r>
              <a:t>ZONAS DE TEXTO</a:t>
            </a:r>
          </a:p>
          <a:p>
            <a:r>
              <a:t>   · titulo — 50 car.</a:t>
            </a:r>
          </a:p>
          <a:p>
            <a:r>
              <a:t>   · antes_etiqueta — 12 car. · «Antes»</a:t>
            </a:r>
          </a:p>
          <a:p>
            <a:r>
              <a:t>   · antes_imagen — —</a:t>
            </a:r>
          </a:p>
          <a:p>
            <a:r>
              <a:t>   · antes_pie — 60 car.</a:t>
            </a:r>
          </a:p>
          <a:p>
            <a:r>
              <a:t>   · despues_etiqueta — 12 car. · «Después»</a:t>
            </a:r>
          </a:p>
          <a:p>
            <a:r>
              <a:t>   · despues_imagen — —</a:t>
            </a:r>
          </a:p>
          <a:p>
            <a:r>
              <a:t>   · despues_pie — 60 car.</a:t>
            </a:r>
          </a:p>
          <a:p/>
          <a:p>
            <a:r>
              <a:t>USAR CUANDO</a:t>
            </a:r>
          </a:p>
          <a:p>
            <a:r>
              <a:t>   · CV, perfil de LinkedIn, propuesta comercial, web antes y después.</a:t>
            </a:r>
          </a:p>
          <a:p/>
          <a:p>
            <a:r>
              <a:t>NO USAR CUANDO</a:t>
            </a:r>
          </a:p>
          <a:p>
            <a:r>
              <a:t>   · Un «después» exagerado o inventado: pierde credibilidad.</a:t>
            </a:r>
          </a:p>
          <a:p/>
          <a:p>
            <a:r>
              <a:t>BLOQUE PARA LA IA</a:t>
            </a:r>
          </a:p>
          <a:p>
            <a:r>
              <a:t>LAYOUT: C07 — Antes / después | FAMILIA: Imagen | FONDO: blanco</a:t>
            </a:r>
          </a:p>
          <a:p>
            <a:r>
              <a:t>ZONAS: titulo(50) | antes_etiqueta(12) | antes_imagen(—) | antes_pie(60) | despues_etiqueta(12) | despues_imagen(—) | despues_pie(60)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C08 · Captura anotada — Imagen</a:t>
            </a:r>
          </a:p>
          <a:p/>
          <a:p>
            <a:r>
              <a:t>Una captura con llamadas numeradas y su leyenda al lado.</a:t>
            </a:r>
          </a:p>
          <a:p/>
          <a:p>
            <a:r>
              <a:t>ZONAS DE TEXTO</a:t>
            </a:r>
          </a:p>
          <a:p>
            <a:r>
              <a:t>   · etiqueta — 30 car.</a:t>
            </a:r>
          </a:p>
          <a:p>
            <a:r>
              <a:t>   · titulo — 45 car.</a:t>
            </a:r>
          </a:p>
          <a:p>
            <a:r>
              <a:t>   · imagen — — · Con rectángulos de 2 px en el acento</a:t>
            </a:r>
          </a:p>
          <a:p>
            <a:r>
              <a:t>   · nota_1..4 — 70 car. c/u · Numeradas, coinciden con las llamadas de la imagen</a:t>
            </a:r>
          </a:p>
          <a:p/>
          <a:p>
            <a:r>
              <a:t>USAR CUANDO</a:t>
            </a:r>
          </a:p>
          <a:p>
            <a:r>
              <a:t>   · Walkthroughs de herramientas. Explicar una interfaz paso a paso.</a:t>
            </a:r>
          </a:p>
          <a:p/>
          <a:p>
            <a:r>
              <a:t>NO USAR CUANDO</a:t>
            </a:r>
          </a:p>
          <a:p>
            <a:r>
              <a:t>   · Más de 4 llamadas. Flechas a mano alzada.</a:t>
            </a:r>
          </a:p>
          <a:p/>
          <a:p>
            <a:r>
              <a:t>BLOQUE PARA LA IA</a:t>
            </a:r>
          </a:p>
          <a:p>
            <a:r>
              <a:t>LAYOUT: C08 — Captura anotada | FAMILIA: Imagen | FONDO: blanco</a:t>
            </a:r>
          </a:p>
          <a:p>
            <a:r>
              <a:t>ZONAS: etiqueta(30) | titulo(45) | imagen(—) | nota_1..4(70 c/u)</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D (Vídeo). Vídeo, audio y demo en vivo. Siempre con subtítulos.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D01 · Vídeo a pantalla completa — Vídeo</a:t>
            </a:r>
          </a:p>
          <a:p/>
          <a:p>
            <a:r>
              <a:t>Reproducir un vídeo como contenido principal de la diapositiva.</a:t>
            </a:r>
          </a:p>
          <a:p/>
          <a:p>
            <a:r>
              <a:t>ZONAS DE TEXTO</a:t>
            </a:r>
          </a:p>
          <a:p>
            <a:r>
              <a:t>   · titulo — 45 car.</a:t>
            </a:r>
          </a:p>
          <a:p>
            <a:r>
              <a:t>   · video — — · Incrustado, nunca enlazado. Con subtítulos</a:t>
            </a:r>
          </a:p>
          <a:p>
            <a:r>
              <a:t>   · duracion — 10 car. · mm:ss</a:t>
            </a:r>
          </a:p>
          <a:p>
            <a:r>
              <a:t>   · fuente — 60 car.</a:t>
            </a:r>
          </a:p>
          <a:p/>
          <a:p>
            <a:r>
              <a:t>USAR CUANDO</a:t>
            </a:r>
          </a:p>
          <a:p>
            <a:r>
              <a:t>   · Fragmentos de entrevista, demos grabadas, casos de alumnos.</a:t>
            </a:r>
          </a:p>
          <a:p/>
          <a:p>
            <a:r>
              <a:t>NO USAR CUANDO</a:t>
            </a:r>
          </a:p>
          <a:p>
            <a:r>
              <a:t>   · Vídeos de más de 3 min sin pausa. Vídeo sin subtítulos.</a:t>
            </a:r>
          </a:p>
          <a:p/>
          <a:p>
            <a:r>
              <a:t>BLOQUE PARA LA IA</a:t>
            </a:r>
          </a:p>
          <a:p>
            <a:r>
              <a:t>LAYOUT: D01 — Vídeo a pantalla completa | FAMILIA: Vídeo | FONDO: blanco</a:t>
            </a:r>
          </a:p>
          <a:p>
            <a:r>
              <a:t>ZONAS: titulo(45) | video(—) | duracion(10) | fuente(60)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D02 · Vídeo + puntos clave — Vídeo</a:t>
            </a:r>
          </a:p>
          <a:p/>
          <a:p>
            <a:r>
              <a:t>Vídeo a un lado y qué hay que observar en él al otro.</a:t>
            </a:r>
          </a:p>
          <a:p/>
          <a:p>
            <a:r>
              <a:t>ZONAS DE TEXTO</a:t>
            </a:r>
          </a:p>
          <a:p>
            <a:r>
              <a:t>   · etiqueta — 30 car.</a:t>
            </a:r>
          </a:p>
          <a:p>
            <a:r>
              <a:t>   · titulo — 45 car.</a:t>
            </a:r>
          </a:p>
          <a:p>
            <a:r>
              <a:t>   · video — —</a:t>
            </a:r>
          </a:p>
          <a:p>
            <a:r>
              <a:t>   · duracion — 10 car.</a:t>
            </a:r>
          </a:p>
          <a:p>
            <a:r>
              <a:t>   · punto_1..4 — 60 car. c/u · Qué mirar mientras se reproduce</a:t>
            </a:r>
          </a:p>
          <a:p/>
          <a:p>
            <a:r>
              <a:t>USAR CUANDO</a:t>
            </a:r>
          </a:p>
          <a:p>
            <a:r>
              <a:t>   · Vídeos de análisis: una negociación, una llamada de ventas, una demo.</a:t>
            </a:r>
          </a:p>
          <a:p/>
          <a:p>
            <a:r>
              <a:t>NO USAR CUANDO</a:t>
            </a:r>
          </a:p>
          <a:p>
            <a:r>
              <a:t>   · Poner los puntos después del vídeo: el alumno debe saber qué mirar antes.</a:t>
            </a:r>
          </a:p>
          <a:p/>
          <a:p>
            <a:r>
              <a:t>BLOQUE PARA LA IA</a:t>
            </a:r>
          </a:p>
          <a:p>
            <a:r>
              <a:t>LAYOUT: D02 — Vídeo + puntos clave | FAMILIA: Vídeo | FONDO: blanco</a:t>
            </a:r>
          </a:p>
          <a:p>
            <a:r>
              <a:t>ZONAS: etiqueta(30) | titulo(45) | video(—) | duracion(10) | punto_1..4(60 c/u)</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D03 · Demo en vivo — Vídeo</a:t>
            </a:r>
          </a:p>
          <a:p/>
          <a:p>
            <a:r>
              <a:t>Marcador de pantalla compartida: el docente sale del deck y enseña la herramienta.</a:t>
            </a:r>
          </a:p>
          <a:p/>
          <a:p>
            <a:r>
              <a:t>ZONAS DE TEXTO</a:t>
            </a:r>
          </a:p>
          <a:p>
            <a:r>
              <a:t>   · etiqueta — 20 car. · «Demo en vivo»</a:t>
            </a:r>
          </a:p>
          <a:p>
            <a:r>
              <a:t>   · titulo — 45 car.</a:t>
            </a:r>
          </a:p>
          <a:p>
            <a:r>
              <a:t>   · herramienta — 24 car. · Qué se va a abrir</a:t>
            </a:r>
          </a:p>
          <a:p>
            <a:r>
              <a:t>   · paso_1..4 — 60 car. c/u · Guion de la demo</a:t>
            </a:r>
          </a:p>
          <a:p>
            <a:r>
              <a:t>   · plan_b — 80 car. · Qué hacer si falla la conexión</a:t>
            </a:r>
          </a:p>
          <a:p/>
          <a:p>
            <a:r>
              <a:t>USAR CUANDO</a:t>
            </a:r>
          </a:p>
          <a:p>
            <a:r>
              <a:t>   · Antes de compartir pantalla. Deja el guion visible para el alumno.</a:t>
            </a:r>
          </a:p>
          <a:p/>
          <a:p>
            <a:r>
              <a:t>NO USAR CUANDO</a:t>
            </a:r>
          </a:p>
          <a:p>
            <a:r>
              <a:t>   · Demo sin guion escrito: si algo falla, se pierde la clase.</a:t>
            </a:r>
          </a:p>
          <a:p/>
          <a:p>
            <a:r>
              <a:t>BLOQUE PARA LA IA</a:t>
            </a:r>
          </a:p>
          <a:p>
            <a:r>
              <a:t>LAYOUT: D03 — Demo en vivo | FAMILIA: Vídeo | FONDO: blanco</a:t>
            </a:r>
          </a:p>
          <a:p>
            <a:r>
              <a:t>ZONAS: etiqueta(20) | titulo(45) | herramienta(24) | paso_1..4(60 c/u) | plan_b(80)</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D04 · Audio / entrevista — Vídeo</a:t>
            </a:r>
          </a:p>
          <a:p/>
          <a:p>
            <a:r>
              <a:t>Fragmento de audio o podcast con su transcripción destacada.</a:t>
            </a:r>
          </a:p>
          <a:p/>
          <a:p>
            <a:r>
              <a:t>ZONAS DE TEXTO</a:t>
            </a:r>
          </a:p>
          <a:p>
            <a:r>
              <a:t>   · etiqueta — 30 car.</a:t>
            </a:r>
          </a:p>
          <a:p>
            <a:r>
              <a:t>   · titulo — 45 car.</a:t>
            </a:r>
          </a:p>
          <a:p>
            <a:r>
              <a:t>   · audio — — · Reproductor incrustado</a:t>
            </a:r>
          </a:p>
          <a:p>
            <a:r>
              <a:t>   · duracion — 10 car.</a:t>
            </a:r>
          </a:p>
          <a:p>
            <a:r>
              <a:t>   · cita_transcrita — 160 car.</a:t>
            </a:r>
          </a:p>
          <a:p>
            <a:r>
              <a:t>   · quien — 40 car.</a:t>
            </a:r>
          </a:p>
          <a:p/>
          <a:p>
            <a:r>
              <a:t>USAR CUANDO</a:t>
            </a:r>
          </a:p>
          <a:p>
            <a:r>
              <a:t>   · Entrevistas a empleadores, clientes o exalumnos.</a:t>
            </a:r>
          </a:p>
          <a:p/>
          <a:p>
            <a:r>
              <a:t>NO USAR CUANDO</a:t>
            </a:r>
          </a:p>
          <a:p>
            <a:r>
              <a:t>   · Audio sin transcripción: rompe la accesibilidad.</a:t>
            </a:r>
          </a:p>
          <a:p/>
          <a:p>
            <a:r>
              <a:t>BLOQUE PARA LA IA</a:t>
            </a:r>
          </a:p>
          <a:p>
            <a:r>
              <a:t>LAYOUT: D04 — Audio / entrevista | FAMILIA: Vídeo | FONDO: blanco</a:t>
            </a:r>
          </a:p>
          <a:p>
            <a:r>
              <a:t>ZONAS: etiqueta(30) | titulo(45) | audio(—) | duracion(10) | cita_transcrita(160) | quien(40)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D05 · Bucle / GIF + explicación — Vídeo</a:t>
            </a:r>
          </a:p>
          <a:p/>
          <a:p>
            <a:r>
              <a:t>Vídeo corto en bucle sin sonido que muestra una interacción, con el texto al lado.</a:t>
            </a:r>
          </a:p>
          <a:p/>
          <a:p>
            <a:r>
              <a:t>ZONAS DE TEXTO</a:t>
            </a:r>
          </a:p>
          <a:p>
            <a:r>
              <a:t>   · etiqueta — 30 car.</a:t>
            </a:r>
          </a:p>
          <a:p>
            <a:r>
              <a:t>   · titulo — 50 car.</a:t>
            </a:r>
          </a:p>
          <a:p>
            <a:r>
              <a:t>   · texto — 220 car.</a:t>
            </a:r>
          </a:p>
          <a:p>
            <a:r>
              <a:t>   · loop — — · Máx. 10 s, sin audio, en bucle</a:t>
            </a:r>
          </a:p>
          <a:p>
            <a:r>
              <a:t>   · pie — 50 car.</a:t>
            </a:r>
          </a:p>
          <a:p/>
          <a:p>
            <a:r>
              <a:t>USAR CUANDO</a:t>
            </a:r>
          </a:p>
          <a:p>
            <a:r>
              <a:t>   · Enseñar un clic, un atajo, una automatización que ocurre en segundos.</a:t>
            </a:r>
          </a:p>
          <a:p/>
          <a:p>
            <a:r>
              <a:t>NO USAR CUANDO</a:t>
            </a:r>
          </a:p>
          <a:p>
            <a:r>
              <a:t>   · Bucles largos: distraen mientras hablas.</a:t>
            </a:r>
          </a:p>
          <a:p/>
          <a:p>
            <a:r>
              <a:t>BLOQUE PARA LA IA</a:t>
            </a:r>
          </a:p>
          <a:p>
            <a:r>
              <a:t>LAYOUT: D05 — Bucle / GIF + explicación | FAMILIA: Vídeo | FONDO: blanco</a:t>
            </a:r>
          </a:p>
          <a:p>
            <a:r>
              <a:t>ZONAS: etiqueta(30) | titulo(50) | texto(220) | loop(—) | pie(50)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E (Recursos). Enlaces, plantillas, herramientas y descargas.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 · Recurso destacado — Recursos</a:t>
            </a:r>
          </a:p>
          <a:p/>
          <a:p>
            <a:r>
              <a:t>Un único enlace importante, con QR para abrirlo desde el móvil.</a:t>
            </a:r>
          </a:p>
          <a:p/>
          <a:p>
            <a:r>
              <a:t>ZONAS DE TEXTO</a:t>
            </a:r>
          </a:p>
          <a:p>
            <a:r>
              <a:t>   · etiqueta — 24 car. · «Recurso» o «Enlace»</a:t>
            </a:r>
          </a:p>
          <a:p>
            <a:r>
              <a:t>   · titulo — 45 car.</a:t>
            </a:r>
          </a:p>
          <a:p>
            <a:r>
              <a:t>   · texto — 180 car.</a:t>
            </a:r>
          </a:p>
          <a:p>
            <a:r>
              <a:t>   · url — 60 car. · Visible y escrita, no acortada</a:t>
            </a:r>
          </a:p>
          <a:p>
            <a:r>
              <a:t>   · qr — — · Apunta a la misma URL</a:t>
            </a:r>
          </a:p>
          <a:p/>
          <a:p>
            <a:r>
              <a:t>USAR CUANDO</a:t>
            </a:r>
          </a:p>
          <a:p>
            <a:r>
              <a:t>   · Plantillas, calculadoras, formularios, comunidades.</a:t>
            </a:r>
          </a:p>
          <a:p/>
          <a:p>
            <a:r>
              <a:t>NO USAR CUANDO</a:t>
            </a:r>
          </a:p>
          <a:p>
            <a:r>
              <a:t>   · URLs acortadas o con parámetros de seguimiento larguísimos.</a:t>
            </a:r>
          </a:p>
          <a:p/>
          <a:p>
            <a:r>
              <a:t>BLOQUE PARA LA IA</a:t>
            </a:r>
          </a:p>
          <a:p>
            <a:r>
              <a:t>LAYOUT: E01 — Recurso destacado | FAMILIA: Recursos | FONDO: blanco</a:t>
            </a:r>
          </a:p>
          <a:p>
            <a:r>
              <a:t>ZONAS: etiqueta(24) | titulo(45) | texto(180) | url(60) | qr(—)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E02 · Lista de recursos — Recursos</a:t>
            </a:r>
          </a:p>
          <a:p/>
          <a:p>
            <a:r>
              <a:t>Cuatro a seis enlaces agrupados, cada uno con su para qué.</a:t>
            </a:r>
          </a:p>
          <a:p/>
          <a:p>
            <a:r>
              <a:t>ZONAS DE TEXTO</a:t>
            </a:r>
          </a:p>
          <a:p>
            <a:r>
              <a:t>   · etiqueta — 30 car.</a:t>
            </a:r>
          </a:p>
          <a:p>
            <a:r>
              <a:t>   · titulo — 45 car.</a:t>
            </a:r>
          </a:p>
          <a:p>
            <a:r>
              <a:t>   · recurso_1..6 nombre — 30 car. c/u</a:t>
            </a:r>
          </a:p>
          <a:p>
            <a:r>
              <a:t>   · recurso_1..6 url — 45 car. c/u</a:t>
            </a:r>
          </a:p>
          <a:p>
            <a:r>
              <a:t>   · recurso_1..6 para_que — 55 car. c/u</a:t>
            </a:r>
          </a:p>
          <a:p/>
          <a:p>
            <a:r>
              <a:t>USAR CUANDO</a:t>
            </a:r>
          </a:p>
          <a:p>
            <a:r>
              <a:t>   · Cierre de bloque: todo lo que se ha mencionado, junto.</a:t>
            </a:r>
          </a:p>
          <a:p/>
          <a:p>
            <a:r>
              <a:t>NO USAR CUANDO</a:t>
            </a:r>
          </a:p>
          <a:p>
            <a:r>
              <a:t>   · Más de 6 enlaces en pantalla: pasa la lista al campus.</a:t>
            </a:r>
          </a:p>
          <a:p/>
          <a:p>
            <a:r>
              <a:t>BLOQUE PARA LA IA</a:t>
            </a:r>
          </a:p>
          <a:p>
            <a:r>
              <a:t>LAYOUT: E02 — Lista de recursos | FAMILIA: Recursos | FONDO: blanco</a:t>
            </a:r>
          </a:p>
          <a:p>
            <a:r>
              <a:t>ZONAS: etiqueta(30) | titulo(45) | recurso_1..6 nombre(30 c/u) | recurso_1..6 url(45 c/u) | recurso_1..6 para_que(55 c/u)</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E03 · Descarga de plantilla — Recursos</a:t>
            </a:r>
          </a:p>
          <a:p/>
          <a:p>
            <a:r>
              <a:t>Entregar un archivo: plantilla, checklist, hoja de cálculo.</a:t>
            </a:r>
          </a:p>
          <a:p/>
          <a:p>
            <a:r>
              <a:t>ZONAS DE TEXTO</a:t>
            </a:r>
          </a:p>
          <a:p>
            <a:r>
              <a:t>   · etiqueta — 24 car. · «Descarga»</a:t>
            </a:r>
          </a:p>
          <a:p>
            <a:r>
              <a:t>   · titulo — 45 car.</a:t>
            </a:r>
          </a:p>
          <a:p>
            <a:r>
              <a:t>   · que_incluye_1..3 — 50 car. c/u</a:t>
            </a:r>
          </a:p>
          <a:p>
            <a:r>
              <a:t>   · url — 60 car.</a:t>
            </a:r>
          </a:p>
          <a:p>
            <a:r>
              <a:t>   · qr — —</a:t>
            </a:r>
          </a:p>
          <a:p>
            <a:r>
              <a:t>   · formato — 24 car. · Notion · Sheets · PDF</a:t>
            </a:r>
          </a:p>
          <a:p/>
          <a:p>
            <a:r>
              <a:t>USAR CUANDO</a:t>
            </a:r>
          </a:p>
          <a:p>
            <a:r>
              <a:t>   · Cada entregable del curso tiene su plantilla.</a:t>
            </a:r>
          </a:p>
          <a:p/>
          <a:p>
            <a:r>
              <a:t>NO USAR CUANDO</a:t>
            </a:r>
          </a:p>
          <a:p>
            <a:r>
              <a:t>   · Plantillas sin ejemplo relleno: el alumno se queda en blanco.</a:t>
            </a:r>
          </a:p>
          <a:p/>
          <a:p>
            <a:r>
              <a:t>BLOQUE PARA LA IA</a:t>
            </a:r>
          </a:p>
          <a:p>
            <a:r>
              <a:t>LAYOUT: E03 — Descarga de plantilla | FAMILIA: Recursos | FONDO: tinta #161616</a:t>
            </a:r>
          </a:p>
          <a:p>
            <a:r>
              <a:t>ZONAS: etiqueta(24) | titulo(45) | que_incluye_1..3(50 c/u) | url(60) | qr(—) | formato(24)</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E04 · Herramienta del stack — Recursos</a:t>
            </a:r>
          </a:p>
          <a:p/>
          <a:p>
            <a:r>
              <a:t>Presentar una herramienta: qué es, para qué la usamos y dónde está.</a:t>
            </a:r>
          </a:p>
          <a:p/>
          <a:p>
            <a:r>
              <a:t>ZONAS DE TEXTO</a:t>
            </a:r>
          </a:p>
          <a:p>
            <a:r>
              <a:t>   · logo — — · Logo monocromo de public/logos/tools/</a:t>
            </a:r>
          </a:p>
          <a:p>
            <a:r>
              <a:t>   · nombre — 24 car.</a:t>
            </a:r>
          </a:p>
          <a:p>
            <a:r>
              <a:t>   · categoria — 30 car.</a:t>
            </a:r>
          </a:p>
          <a:p>
            <a:r>
              <a:t>   · texto — 200 car.</a:t>
            </a:r>
          </a:p>
          <a:p>
            <a:r>
              <a:t>   · uso_1..3 — 55 car. c/u</a:t>
            </a:r>
          </a:p>
          <a:p>
            <a:r>
              <a:t>   · url — 45 car.</a:t>
            </a:r>
          </a:p>
          <a:p>
            <a:r>
              <a:t>   · captura — — · Pantalla real de la herramienta</a:t>
            </a:r>
          </a:p>
          <a:p/>
          <a:p>
            <a:r>
              <a:t>USAR CUANDO</a:t>
            </a:r>
          </a:p>
          <a:p>
            <a:r>
              <a:t>   · Notion, Slack, Wise, Deel, Zapier, LLMs…</a:t>
            </a:r>
          </a:p>
          <a:p/>
          <a:p>
            <a:r>
              <a:t>NO USAR CUANDO</a:t>
            </a:r>
          </a:p>
          <a:p>
            <a:r>
              <a:t>   · Logos a color mezclados con monocromos. Tutoriales completos: eso es C01 en serie.</a:t>
            </a:r>
          </a:p>
          <a:p/>
          <a:p>
            <a:r>
              <a:t>BLOQUE PARA LA IA</a:t>
            </a:r>
          </a:p>
          <a:p>
            <a:r>
              <a:t>LAYOUT: E04 — Herramienta del stack | FAMILIA: Recursos | FONDO: blanco</a:t>
            </a:r>
          </a:p>
          <a:p>
            <a:r>
              <a:t>ZONAS: logo(—) | nombre(24) | categoria(30) | texto(200) | uso_1..3(55 c/u) | url(45) | captura(—)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E05 · Stack completo — Recursos</a:t>
            </a:r>
          </a:p>
          <a:p/>
          <a:p>
            <a:r>
              <a:t>Rejilla de logos: todo el stack del módulo de un vistazo.</a:t>
            </a:r>
          </a:p>
          <a:p/>
          <a:p>
            <a:r>
              <a:t>ZONAS DE TEXTO</a:t>
            </a:r>
          </a:p>
          <a:p>
            <a:r>
              <a:t>   · etiqueta — 30 car.</a:t>
            </a:r>
          </a:p>
          <a:p>
            <a:r>
              <a:t>   · titulo — 50 car.</a:t>
            </a:r>
          </a:p>
          <a:p>
            <a:r>
              <a:t>   · texto — 160 car.</a:t>
            </a:r>
          </a:p>
          <a:p>
            <a:r>
              <a:t>   · logo_1..10 — — · Todos monocromos, misma altura óptica</a:t>
            </a:r>
          </a:p>
          <a:p>
            <a:r>
              <a:t>   · pie_logo_1..10 — 16 car. c/u</a:t>
            </a:r>
          </a:p>
          <a:p/>
          <a:p>
            <a:r>
              <a:t>USAR CUANDO</a:t>
            </a:r>
          </a:p>
          <a:p>
            <a:r>
              <a:t>   · Abrir o cerrar un módulo de herramientas.</a:t>
            </a:r>
          </a:p>
          <a:p/>
          <a:p>
            <a:r>
              <a:t>NO USAR CUANDO</a:t>
            </a:r>
          </a:p>
          <a:p>
            <a:r>
              <a:t>   · Mezclar logos a color y monocromos. Alturas ópticas distintas.</a:t>
            </a:r>
          </a:p>
          <a:p/>
          <a:p>
            <a:r>
              <a:t>BLOQUE PARA LA IA</a:t>
            </a:r>
          </a:p>
          <a:p>
            <a:r>
              <a:t>LAYOUT: E05 — Stack completo | FAMILIA: Recursos | FONDO: blanco</a:t>
            </a:r>
          </a:p>
          <a:p>
            <a:r>
              <a:t>ZONAS: etiqueta(30) | titulo(50) | texto(160) | logo_1..10(—) | pie_logo_1..10(16 c/u)</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F (Datos). Cifras con fuente. Nunca un dato sin de dónde sale.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F01 · Tabla — Datos</a:t>
            </a:r>
          </a:p>
          <a:p/>
          <a:p>
            <a:r>
              <a:t>Datos comparables en filas y columnas.</a:t>
            </a:r>
          </a:p>
          <a:p/>
          <a:p>
            <a:r>
              <a:t>ZONAS DE TEXTO</a:t>
            </a:r>
          </a:p>
          <a:p>
            <a:r>
              <a:t>   · etiqueta — 30 car.</a:t>
            </a:r>
          </a:p>
          <a:p>
            <a:r>
              <a:t>   · titulo — 55 car.</a:t>
            </a:r>
          </a:p>
          <a:p>
            <a:r>
              <a:t>   · cabecera_1..4 — 18 car. c/u · Mayúsculas</a:t>
            </a:r>
          </a:p>
          <a:p>
            <a:r>
              <a:t>   · celda — 28 car. c/u · Máx. 6 filas × 4 columnas</a:t>
            </a:r>
          </a:p>
          <a:p>
            <a:r>
              <a:t>   · fuente — 70 car. · Obligatoria</a:t>
            </a:r>
          </a:p>
          <a:p/>
          <a:p>
            <a:r>
              <a:t>USAR CUANDO</a:t>
            </a:r>
          </a:p>
          <a:p>
            <a:r>
              <a:t>   · Comparar herramientas, países, modelos de contratación, precios.</a:t>
            </a:r>
          </a:p>
          <a:p/>
          <a:p>
            <a:r>
              <a:t>NO USAR CUANDO</a:t>
            </a:r>
          </a:p>
          <a:p>
            <a:r>
              <a:t>   · Más de 6 filas o 4 columnas. Sombreado alterno. Bordes verticales.</a:t>
            </a:r>
          </a:p>
          <a:p/>
          <a:p>
            <a:r>
              <a:t>BLOQUE PARA LA IA</a:t>
            </a:r>
          </a:p>
          <a:p>
            <a:r>
              <a:t>LAYOUT: F01 — Tabla | FAMILIA: Datos | FONDO: blanco</a:t>
            </a:r>
          </a:p>
          <a:p>
            <a:r>
              <a:t>ZONAS: etiqueta(30) | titulo(55) | cabecera_1..4(18 c/u) | celda(28 c/u) | fuente(70)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F02 · Tabla de decisión — Datos</a:t>
            </a:r>
          </a:p>
          <a:p/>
          <a:p>
            <a:r>
              <a:t>Comparativa con marcas de sí / no en vez de texto.</a:t>
            </a:r>
          </a:p>
          <a:p/>
          <a:p>
            <a:r>
              <a:t>ZONAS DE TEXTO</a:t>
            </a:r>
          </a:p>
          <a:p>
            <a:r>
              <a:t>   · titulo — 50 car.</a:t>
            </a:r>
          </a:p>
          <a:p>
            <a:r>
              <a:t>   · criterio_1..5 — 34 car. c/u · Filas</a:t>
            </a:r>
          </a:p>
          <a:p>
            <a:r>
              <a:t>   · opcion_1..3 — 18 car. c/u · Columnas</a:t>
            </a:r>
          </a:p>
          <a:p>
            <a:r>
              <a:t>   · valor — ✓ / — / texto de 12 car.</a:t>
            </a:r>
          </a:p>
          <a:p/>
          <a:p>
            <a:r>
              <a:t>USAR CUANDO</a:t>
            </a:r>
          </a:p>
          <a:p>
            <a:r>
              <a:t>   · Elegir entre herramientas, tipos de contrato, países de residencia.</a:t>
            </a:r>
          </a:p>
          <a:p/>
          <a:p>
            <a:r>
              <a:t>NO USAR CUANDO</a:t>
            </a:r>
          </a:p>
          <a:p>
            <a:r>
              <a:t>   · Marcar con solo color: el ✓ y el — deben ser caracteres.</a:t>
            </a:r>
          </a:p>
          <a:p/>
          <a:p>
            <a:r>
              <a:t>BLOQUE PARA LA IA</a:t>
            </a:r>
          </a:p>
          <a:p>
            <a:r>
              <a:t>LAYOUT: F02 — Tabla de decisión | FAMILIA: Datos | FONDO: blanco</a:t>
            </a:r>
          </a:p>
          <a:p>
            <a:r>
              <a:t>ZONAS: titulo(50) | criterio_1..5(34 c/u) | opcion_1..3(18 c/u) | valor(✓ / — / texto de 12)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F03 · Gráfico de barras — Datos</a:t>
            </a:r>
          </a:p>
          <a:p/>
          <a:p>
            <a:r>
              <a:t>Una serie de datos con su lectura escrita al lado.</a:t>
            </a:r>
          </a:p>
          <a:p/>
          <a:p>
            <a:r>
              <a:t>ZONAS DE TEXTO</a:t>
            </a:r>
          </a:p>
          <a:p>
            <a:r>
              <a:t>   · etiqueta — 30 car.</a:t>
            </a:r>
          </a:p>
          <a:p>
            <a:r>
              <a:t>   · titulo — 55 car.</a:t>
            </a:r>
          </a:p>
          <a:p>
            <a:r>
              <a:t>   · grafico — — · Barras en tinta; la protagonista en el acento</a:t>
            </a:r>
          </a:p>
          <a:p>
            <a:r>
              <a:t>   · etiqueta_eje_1..6 — 10 car. c/u</a:t>
            </a:r>
          </a:p>
          <a:p>
            <a:r>
              <a:t>   · lectura — 180 car. · Qué hay que ver</a:t>
            </a:r>
          </a:p>
          <a:p>
            <a:r>
              <a:t>   · fuente — 70 car. · Obligatoria</a:t>
            </a:r>
          </a:p>
          <a:p/>
          <a:p>
            <a:r>
              <a:t>USAR CUANDO</a:t>
            </a:r>
          </a:p>
          <a:p>
            <a:r>
              <a:t>   · Salarios por país, evolución de ofertas, reparto de mercado.</a:t>
            </a:r>
          </a:p>
          <a:p/>
          <a:p>
            <a:r>
              <a:t>NO USAR CUANDO</a:t>
            </a:r>
          </a:p>
          <a:p>
            <a:r>
              <a:t>   · 3D, sombras, ejes sin etiquetar, leyendas que solo se distinguen por color.</a:t>
            </a:r>
          </a:p>
          <a:p/>
          <a:p>
            <a:r>
              <a:t>BLOQUE PARA LA IA</a:t>
            </a:r>
          </a:p>
          <a:p>
            <a:r>
              <a:t>LAYOUT: F03 — Gráfico de barras | FAMILIA: Datos | FONDO: blanco</a:t>
            </a:r>
          </a:p>
          <a:p>
            <a:r>
              <a:t>ZONAS: etiqueta(30) | titulo(55) | grafico(—) | etiqueta_eje_1..6(10 c/u) | lectura(180) | fuente(70)</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F04 · Evolución / línea — Datos</a:t>
            </a:r>
          </a:p>
          <a:p/>
          <a:p>
            <a:r>
              <a:t>Un dato a lo largo del tiempo.</a:t>
            </a:r>
          </a:p>
          <a:p/>
          <a:p>
            <a:r>
              <a:t>ZONAS DE TEXTO</a:t>
            </a:r>
          </a:p>
          <a:p>
            <a:r>
              <a:t>   · etiqueta — 30 car.</a:t>
            </a:r>
          </a:p>
          <a:p>
            <a:r>
              <a:t>   · titulo — 50 car.</a:t>
            </a:r>
          </a:p>
          <a:p>
            <a:r>
              <a:t>   · grafico — — · Línea de 3 px en tinta</a:t>
            </a:r>
          </a:p>
          <a:p>
            <a:r>
              <a:t>   · hito_1..2 — 40 car. c/u · Anotaciones sobre puntos concretos</a:t>
            </a:r>
          </a:p>
          <a:p>
            <a:r>
              <a:t>   · fuente — 70 car. · Obligatoria</a:t>
            </a:r>
          </a:p>
          <a:p/>
          <a:p>
            <a:r>
              <a:t>USAR CUANDO</a:t>
            </a:r>
          </a:p>
          <a:p>
            <a:r>
              <a:t>   · Crecimiento del trabajo remoto, evolución salarial, estacionalidad.</a:t>
            </a:r>
          </a:p>
          <a:p/>
          <a:p>
            <a:r>
              <a:t>NO USAR CUANDO</a:t>
            </a:r>
          </a:p>
          <a:p>
            <a:r>
              <a:t>   · Ejes truncados que exageran la pendiente.</a:t>
            </a:r>
          </a:p>
          <a:p/>
          <a:p>
            <a:r>
              <a:t>BLOQUE PARA LA IA</a:t>
            </a:r>
          </a:p>
          <a:p>
            <a:r>
              <a:t>LAYOUT: F04 — Evolución / línea | FAMILIA: Datos | FONDO: blanco</a:t>
            </a:r>
          </a:p>
          <a:p>
            <a:r>
              <a:t>ZONAS: etiqueta(30) | titulo(50) | grafico(—) | hito_1..2(40 c/u) | fuente(70)</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F05 · Cifra destacada — Datos</a:t>
            </a:r>
          </a:p>
          <a:p/>
          <a:p>
            <a:r>
              <a:t>Una a tres cifras que sostienen un argumento.</a:t>
            </a:r>
          </a:p>
          <a:p/>
          <a:p>
            <a:r>
              <a:t>ZONAS DE TEXTO</a:t>
            </a:r>
          </a:p>
          <a:p>
            <a:r>
              <a:t>   · etiqueta — 40 car.</a:t>
            </a:r>
          </a:p>
          <a:p>
            <a:r>
              <a:t>   · cifra_1..3 — 5 car. c/u</a:t>
            </a:r>
          </a:p>
          <a:p>
            <a:r>
              <a:t>   · pie_cifra_1..3 — 30 car. c/u</a:t>
            </a:r>
          </a:p>
          <a:p>
            <a:r>
              <a:t>   · fuente — 70 car. · Obligatoria</a:t>
            </a:r>
          </a:p>
          <a:p/>
          <a:p>
            <a:r>
              <a:t>USAR CUANDO</a:t>
            </a:r>
          </a:p>
          <a:p>
            <a:r>
              <a:t>   · Abrir un bloque con un dato de impacto. Cerrar un argumento.</a:t>
            </a:r>
          </a:p>
          <a:p/>
          <a:p>
            <a:r>
              <a:t>NO USAR CUANDO</a:t>
            </a:r>
          </a:p>
          <a:p>
            <a:r>
              <a:t>   · Cifras sin fuente. Más de 3 cifras.</a:t>
            </a:r>
          </a:p>
          <a:p/>
          <a:p>
            <a:r>
              <a:t>BLOQUE PARA LA IA</a:t>
            </a:r>
          </a:p>
          <a:p>
            <a:r>
              <a:t>LAYOUT: F05 — Cifra destacada | FAMILIA: Datos | FONDO: blanco</a:t>
            </a:r>
          </a:p>
          <a:p>
            <a:r>
              <a:t>ZONAS: etiqueta(40) | cifra_1..3(5 c/u) | pie_cifra_1..3(30 c/u) | fuente(70)</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F06 · Panel de KPIs — Datos</a:t>
            </a:r>
          </a:p>
          <a:p/>
          <a:p>
            <a:r>
              <a:t>Cuatro métricas juntas, como un cuadro de mando.</a:t>
            </a:r>
          </a:p>
          <a:p/>
          <a:p>
            <a:r>
              <a:t>ZONAS DE TEXTO</a:t>
            </a:r>
          </a:p>
          <a:p>
            <a:r>
              <a:t>   · etiqueta — 30 car.</a:t>
            </a:r>
          </a:p>
          <a:p>
            <a:r>
              <a:t>   · titulo — 45 car.</a:t>
            </a:r>
          </a:p>
          <a:p>
            <a:r>
              <a:t>   · kpi_1..4 valor — 6 car. c/u</a:t>
            </a:r>
          </a:p>
          <a:p>
            <a:r>
              <a:t>   · kpi_1..4 etiqueta — 26 car. c/u</a:t>
            </a:r>
          </a:p>
          <a:p>
            <a:r>
              <a:t>   · kpi_1..4 nota — 30 car. c/u · Variación o contexto</a:t>
            </a:r>
          </a:p>
          <a:p/>
          <a:p>
            <a:r>
              <a:t>USAR CUANDO</a:t>
            </a:r>
          </a:p>
          <a:p>
            <a:r>
              <a:t>   · Resultados de la cohorte, métricas de un negocio, salud de un pipeline.</a:t>
            </a:r>
          </a:p>
          <a:p/>
          <a:p>
            <a:r>
              <a:t>NO USAR CUANDO</a:t>
            </a:r>
          </a:p>
          <a:p>
            <a:r>
              <a:t>   · Cuatro cifras sin relación entre sí.</a:t>
            </a:r>
          </a:p>
          <a:p/>
          <a:p>
            <a:r>
              <a:t>BLOQUE PARA LA IA</a:t>
            </a:r>
          </a:p>
          <a:p>
            <a:r>
              <a:t>LAYOUT: F06 — Panel de KPIs | FAMILIA: Datos | FONDO: blanco</a:t>
            </a:r>
          </a:p>
          <a:p>
            <a:r>
              <a:t>ZONAS: etiqueta(30) | titulo(45) | kpi_1..4 valor(6 c/u) | kpi_1..4 etiqueta(26 c/u) | kpi_1..4 nota(30 c/u)</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F07 · Distribución en porcentajes — Datos</a:t>
            </a:r>
          </a:p>
          <a:p/>
          <a:p>
            <a:r>
              <a:t>Reparto de un total entre 4 o 5 categorías, en barras horizontales.</a:t>
            </a:r>
          </a:p>
          <a:p/>
          <a:p>
            <a:r>
              <a:t>ZONAS DE TEXTO</a:t>
            </a:r>
          </a:p>
          <a:p>
            <a:r>
              <a:t>   · etiqueta — 30 car.</a:t>
            </a:r>
          </a:p>
          <a:p>
            <a:r>
              <a:t>   · titulo — 50 car.</a:t>
            </a:r>
          </a:p>
          <a:p>
            <a:r>
              <a:t>   · categoria_1..5 — 34 car. c/u</a:t>
            </a:r>
          </a:p>
          <a:p>
            <a:r>
              <a:t>   · porcentaje_1..5 — 4 car. c/u</a:t>
            </a:r>
          </a:p>
          <a:p>
            <a:r>
              <a:t>   · fuente — 70 car. · Obligatoria</a:t>
            </a:r>
          </a:p>
          <a:p/>
          <a:p>
            <a:r>
              <a:t>USAR CUANDO</a:t>
            </a:r>
          </a:p>
          <a:p>
            <a:r>
              <a:t>   · Reparto de tiempo, de ingresos, de canales de captación.</a:t>
            </a:r>
          </a:p>
          <a:p/>
          <a:p>
            <a:r>
              <a:t>NO USAR CUANDO</a:t>
            </a:r>
          </a:p>
          <a:p>
            <a:r>
              <a:t>   · Gráfico de tarta. Porcentajes que no suman 100 sin explicarlo.</a:t>
            </a:r>
          </a:p>
          <a:p/>
          <a:p>
            <a:r>
              <a:t>BLOQUE PARA LA IA</a:t>
            </a:r>
          </a:p>
          <a:p>
            <a:r>
              <a:t>LAYOUT: F07 — Distribución en porcentajes | FAMILIA: Datos | FONDO: blanco</a:t>
            </a:r>
          </a:p>
          <a:p>
            <a:r>
              <a:t>ZONAS: etiqueta(30) | titulo(50) | categoria_1..5(34 c/u) | porcentaje_1..5(4 c/u) | fuente(70)</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F08 · Mapa / geografía — Datos</a:t>
            </a:r>
          </a:p>
          <a:p/>
          <a:p>
            <a:r>
              <a:t>Dato por país o región. El curso es internacional: aparece a menudo.</a:t>
            </a:r>
          </a:p>
          <a:p/>
          <a:p>
            <a:r>
              <a:t>ZONAS DE TEXTO</a:t>
            </a:r>
          </a:p>
          <a:p>
            <a:r>
              <a:t>   · etiqueta — 30 car.</a:t>
            </a:r>
          </a:p>
          <a:p>
            <a:r>
              <a:t>   · titulo — 50 car.</a:t>
            </a:r>
          </a:p>
          <a:p>
            <a:r>
              <a:t>   · mapa — — · Mapa monocromo, sin fronteras decorativas</a:t>
            </a:r>
          </a:p>
          <a:p>
            <a:r>
              <a:t>   · pais_1..5 — 24 car. c/u</a:t>
            </a:r>
          </a:p>
          <a:p>
            <a:r>
              <a:t>   · valor_1..5 — 10 car. c/u</a:t>
            </a:r>
          </a:p>
          <a:p>
            <a:r>
              <a:t>   · fuente — 70 car. · Obligatoria</a:t>
            </a:r>
          </a:p>
          <a:p/>
          <a:p>
            <a:r>
              <a:t>USAR CUANDO</a:t>
            </a:r>
          </a:p>
          <a:p>
            <a:r>
              <a:t>   · Salarios por país, husos horarios, fiscalidad, visados de nómada digital.</a:t>
            </a:r>
          </a:p>
          <a:p/>
          <a:p>
            <a:r>
              <a:t>NO USAR CUANDO</a:t>
            </a:r>
          </a:p>
          <a:p>
            <a:r>
              <a:t>   · Mapas a color con leyenda por tono: añade siempre la lista de valores.</a:t>
            </a:r>
          </a:p>
          <a:p/>
          <a:p>
            <a:r>
              <a:t>BLOQUE PARA LA IA</a:t>
            </a:r>
          </a:p>
          <a:p>
            <a:r>
              <a:t>LAYOUT: F08 — Mapa / geografía | FAMILIA: Datos | FONDO: blanco</a:t>
            </a:r>
          </a:p>
          <a:p>
            <a:r>
              <a:t>ZONAS: etiqueta(30) | titulo(50) | mapa(—) | pais_1..5(24 c/u) | valor_1..5(10 c/u) | fuente(70)</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G (Estructura). Procesos, comparativas y marcos de decisión.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G01 · Proceso en pasos — Estructura</a:t>
            </a:r>
          </a:p>
          <a:p/>
          <a:p>
            <a:r>
              <a:t>Una secuencia de 3 o 4 pasos en orden.</a:t>
            </a:r>
          </a:p>
          <a:p/>
          <a:p>
            <a:r>
              <a:t>ZONAS DE TEXTO</a:t>
            </a:r>
          </a:p>
          <a:p>
            <a:r>
              <a:t>   · etiqueta — 30 car.</a:t>
            </a:r>
          </a:p>
          <a:p>
            <a:r>
              <a:t>   · titulo — 55 car.</a:t>
            </a:r>
          </a:p>
          <a:p>
            <a:r>
              <a:t>   · paso_1..4 titulo — 24 car. c/u</a:t>
            </a:r>
          </a:p>
          <a:p>
            <a:r>
              <a:t>   · paso_1..4 texto — 110 car. c/u</a:t>
            </a:r>
          </a:p>
          <a:p/>
          <a:p>
            <a:r>
              <a:t>USAR CUANDO</a:t>
            </a:r>
          </a:p>
          <a:p>
            <a:r>
              <a:t>   · Métodos, flujos de trabajo, procesos de negociación o alta fiscal.</a:t>
            </a:r>
          </a:p>
          <a:p/>
          <a:p>
            <a:r>
              <a:t>NO USAR CUANDO</a:t>
            </a:r>
          </a:p>
          <a:p>
            <a:r>
              <a:t>   · Más de 4 pasos: parte en dos diapositivas. Flechas curvas.</a:t>
            </a:r>
          </a:p>
          <a:p/>
          <a:p>
            <a:r>
              <a:t>BLOQUE PARA LA IA</a:t>
            </a:r>
          </a:p>
          <a:p>
            <a:r>
              <a:t>LAYOUT: G01 — Proceso en pasos | FAMILIA: Estructura | FONDO: blanco</a:t>
            </a:r>
          </a:p>
          <a:p>
            <a:r>
              <a:t>ZONAS: etiqueta(30) | titulo(55) | paso_1..4 titulo(24 c/u) | paso_1..4 texto(110 c/u)</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G02 · Cronología — Estructura</a:t>
            </a:r>
          </a:p>
          <a:p/>
          <a:p>
            <a:r>
              <a:t>Hitos en el tiempo sobre una línea horizontal.</a:t>
            </a:r>
          </a:p>
          <a:p/>
          <a:p>
            <a:r>
              <a:t>ZONAS DE TEXTO</a:t>
            </a:r>
          </a:p>
          <a:p>
            <a:r>
              <a:t>   · etiqueta — 30 car.</a:t>
            </a:r>
          </a:p>
          <a:p>
            <a:r>
              <a:t>   · titulo — 50 car.</a:t>
            </a:r>
          </a:p>
          <a:p>
            <a:r>
              <a:t>   · hito_1..5 fecha — 12 car. c/u</a:t>
            </a:r>
          </a:p>
          <a:p>
            <a:r>
              <a:t>   · hito_1..5 texto — 55 car. c/u</a:t>
            </a:r>
          </a:p>
          <a:p/>
          <a:p>
            <a:r>
              <a:t>USAR CUANDO</a:t>
            </a:r>
          </a:p>
          <a:p>
            <a:r>
              <a:t>   · Calendario del curso, historia de una tendencia, plan a 90 días.</a:t>
            </a:r>
          </a:p>
          <a:p/>
          <a:p>
            <a:r>
              <a:t>NO USAR CUANDO</a:t>
            </a:r>
          </a:p>
          <a:p>
            <a:r>
              <a:t>   · Hitos sin fecha. Más de 5 en una diapositiva.</a:t>
            </a:r>
          </a:p>
          <a:p/>
          <a:p>
            <a:r>
              <a:t>BLOQUE PARA LA IA</a:t>
            </a:r>
          </a:p>
          <a:p>
            <a:r>
              <a:t>LAYOUT: G02 — Cronología | FAMILIA: Estructura | FONDO: blanco</a:t>
            </a:r>
          </a:p>
          <a:p>
            <a:r>
              <a:t>ZONAS: etiqueta(30) | titulo(50) | hito_1..5 fecha(12 c/u) | hito_1..5 texto(55 c/u)</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G03 · Comparativa A / B — Estructura</a:t>
            </a:r>
          </a:p>
          <a:p/>
          <a:p>
            <a:r>
              <a:t>Dos opciones enfrentadas con los mismos criterios.</a:t>
            </a:r>
          </a:p>
          <a:p/>
          <a:p>
            <a:r>
              <a:t>ZONAS DE TEXTO</a:t>
            </a:r>
          </a:p>
          <a:p>
            <a:r>
              <a:t>   · titulo — 50 car.</a:t>
            </a:r>
          </a:p>
          <a:p>
            <a:r>
              <a:t>   · a_etiqueta — 16 car. · En el acento</a:t>
            </a:r>
          </a:p>
          <a:p>
            <a:r>
              <a:t>   · a_titulo — 28 car.</a:t>
            </a:r>
          </a:p>
          <a:p>
            <a:r>
              <a:t>   · a_punto_1..3 — 50 car. c/u</a:t>
            </a:r>
          </a:p>
          <a:p>
            <a:r>
              <a:t>   · b_etiqueta — 16 car.</a:t>
            </a:r>
          </a:p>
          <a:p>
            <a:r>
              <a:t>   · b_titulo — 28 car.</a:t>
            </a:r>
          </a:p>
          <a:p>
            <a:r>
              <a:t>   · b_punto_1..3 — 50 car. c/u</a:t>
            </a:r>
          </a:p>
          <a:p/>
          <a:p>
            <a:r>
              <a:t>USAR CUANDO</a:t>
            </a:r>
          </a:p>
          <a:p>
            <a:r>
              <a:t>   · Professional vs Founder · autónomo vs empleado · antes vs después.</a:t>
            </a:r>
          </a:p>
          <a:p/>
          <a:p>
            <a:r>
              <a:t>NO USAR CUANDO</a:t>
            </a:r>
          </a:p>
          <a:p>
            <a:r>
              <a:t>   · Tarjetas con distinto número de puntos.</a:t>
            </a:r>
          </a:p>
          <a:p/>
          <a:p>
            <a:r>
              <a:t>BLOQUE PARA LA IA</a:t>
            </a:r>
          </a:p>
          <a:p>
            <a:r>
              <a:t>LAYOUT: G03 — Comparativa A / B | FAMILIA: Estructura | FONDO: blanco</a:t>
            </a:r>
          </a:p>
          <a:p>
            <a:r>
              <a:t>ZONAS: titulo(50) | a_etiqueta(16) | a_titulo(28) | a_punto_1..3(50 c/u) | b_etiqueta(16) | b_titulo(28) | b_punto_1..3(50 c/u)</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G04 · Matriz 2×2 — Estructura</a:t>
            </a:r>
          </a:p>
          <a:p/>
          <a:p>
            <a:r>
              <a:t>Cuatro cuadrantes definidos por dos ejes. Herramienta de decisión.</a:t>
            </a:r>
          </a:p>
          <a:p/>
          <a:p>
            <a:r>
              <a:t>ZONAS DE TEXTO</a:t>
            </a:r>
          </a:p>
          <a:p>
            <a:r>
              <a:t>   · titulo — 45 car.</a:t>
            </a:r>
          </a:p>
          <a:p>
            <a:r>
              <a:t>   · eje_x — 24 car.</a:t>
            </a:r>
          </a:p>
          <a:p>
            <a:r>
              <a:t>   · eje_y — 24 car.</a:t>
            </a:r>
          </a:p>
          <a:p>
            <a:r>
              <a:t>   · cuadrante_1..4 titulo — 22 car. c/u</a:t>
            </a:r>
          </a:p>
          <a:p>
            <a:r>
              <a:t>   · cuadrante_1..4 texto — 70 car. c/u</a:t>
            </a:r>
          </a:p>
          <a:p/>
          <a:p>
            <a:r>
              <a:t>USAR CUANDO</a:t>
            </a:r>
          </a:p>
          <a:p>
            <a:r>
              <a:t>   · Priorizar clientes, esfuerzo vs impacto, urgente vs importante.</a:t>
            </a:r>
          </a:p>
          <a:p/>
          <a:p>
            <a:r>
              <a:t>NO USAR CUANDO</a:t>
            </a:r>
          </a:p>
          <a:p>
            <a:r>
              <a:t>   · Matrices con ejes que no son opuestos reales.</a:t>
            </a:r>
          </a:p>
          <a:p/>
          <a:p>
            <a:r>
              <a:t>BLOQUE PARA LA IA</a:t>
            </a:r>
          </a:p>
          <a:p>
            <a:r>
              <a:t>LAYOUT: G04 — Matriz 2×2 | FAMILIA: Estructura | FONDO: blanco</a:t>
            </a:r>
          </a:p>
          <a:p>
            <a:r>
              <a:t>ZONAS: titulo(45) | eje_x(24) | eje_y(24) | cuadrante_1..4 titulo(22 c/u) | cuadrante_1..4 texto(70 c/u)</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G05 · Jerarquía / pirámide — Estructura</a:t>
            </a:r>
          </a:p>
          <a:p/>
          <a:p>
            <a:r>
              <a:t>Niveles apilados, de la base al vértice.</a:t>
            </a:r>
          </a:p>
          <a:p/>
          <a:p>
            <a:r>
              <a:t>ZONAS DE TEXTO</a:t>
            </a:r>
          </a:p>
          <a:p>
            <a:r>
              <a:t>   · etiqueta — 30 car.</a:t>
            </a:r>
          </a:p>
          <a:p>
            <a:r>
              <a:t>   · titulo — 45 car.</a:t>
            </a:r>
          </a:p>
          <a:p>
            <a:r>
              <a:t>   · nivel_1..4 titulo — 24 car. c/u · De arriba abajo</a:t>
            </a:r>
          </a:p>
          <a:p>
            <a:r>
              <a:t>   · nivel_1..4 texto — 60 car. c/u</a:t>
            </a:r>
          </a:p>
          <a:p/>
          <a:p>
            <a:r>
              <a:t>USAR CUANDO</a:t>
            </a:r>
          </a:p>
          <a:p>
            <a:r>
              <a:t>   · Escalas de seniority, niveles de automatización, madurez de un negocio.</a:t>
            </a:r>
          </a:p>
          <a:p/>
          <a:p>
            <a:r>
              <a:t>NO USAR CUANDO</a:t>
            </a:r>
          </a:p>
          <a:p>
            <a:r>
              <a:t>   · Más de 4 niveles: no se leen.</a:t>
            </a:r>
          </a:p>
          <a:p/>
          <a:p>
            <a:r>
              <a:t>BLOQUE PARA LA IA</a:t>
            </a:r>
          </a:p>
          <a:p>
            <a:r>
              <a:t>LAYOUT: G05 — Jerarquía / pirámide | FAMILIA: Estructura | FONDO: blanco</a:t>
            </a:r>
          </a:p>
          <a:p>
            <a:r>
              <a:t>ZONAS: etiqueta(30) | titulo(45) | nivel_1..4 titulo(24 c/u) | nivel_1..4 texto(60 c/u)</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G06 · Diagrama de flujo — Estructura</a:t>
            </a:r>
          </a:p>
          <a:p/>
          <a:p>
            <a:r>
              <a:t>Cajas conectadas con una bifurcación. Para decisiones con condición.</a:t>
            </a:r>
          </a:p>
          <a:p/>
          <a:p>
            <a:r>
              <a:t>ZONAS DE TEXTO</a:t>
            </a:r>
          </a:p>
          <a:p>
            <a:r>
              <a:t>   · etiqueta — 30 car.</a:t>
            </a:r>
          </a:p>
          <a:p>
            <a:r>
              <a:t>   · titulo — 45 car.</a:t>
            </a:r>
          </a:p>
          <a:p>
            <a:r>
              <a:t>   · nodo_1..5 — 26 car. c/u · Texto dentro de la caja, nunca flotando</a:t>
            </a:r>
          </a:p>
          <a:p>
            <a:r>
              <a:t>   · condicion — 20 car. · La pregunta de la bifurcación</a:t>
            </a:r>
          </a:p>
          <a:p/>
          <a:p>
            <a:r>
              <a:t>USAR CUANDO</a:t>
            </a:r>
          </a:p>
          <a:p>
            <a:r>
              <a:t>   · Árboles de decisión fiscal, flujos de automatización, criba de ofertas.</a:t>
            </a:r>
          </a:p>
          <a:p/>
          <a:p>
            <a:r>
              <a:t>NO USAR CUANDO</a:t>
            </a:r>
          </a:p>
          <a:p>
            <a:r>
              <a:t>   · Más de 5 nodos. Conectores curvos. Etiquetas fuera de las cajas.</a:t>
            </a:r>
          </a:p>
          <a:p/>
          <a:p>
            <a:r>
              <a:t>BLOQUE PARA LA IA</a:t>
            </a:r>
          </a:p>
          <a:p>
            <a:r>
              <a:t>LAYOUT: G06 — Diagrama de flujo | FAMILIA: Estructura | FONDO: blanco</a:t>
            </a:r>
          </a:p>
          <a:p>
            <a:r>
              <a:t>ZONAS: etiqueta(30) | titulo(45) | nodo_1..5(26 c/u) | condicion(20)</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G07 · Checklist — Estructura</a:t>
            </a:r>
          </a:p>
          <a:p/>
          <a:p>
            <a:r>
              <a:t>Lista de verificación que el alumno puede marcar.</a:t>
            </a:r>
          </a:p>
          <a:p/>
          <a:p>
            <a:r>
              <a:t>ZONAS DE TEXTO</a:t>
            </a:r>
          </a:p>
          <a:p>
            <a:r>
              <a:t>   · etiqueta — 30 car.</a:t>
            </a:r>
          </a:p>
          <a:p>
            <a:r>
              <a:t>   · titulo — 45 car.</a:t>
            </a:r>
          </a:p>
          <a:p>
            <a:r>
              <a:t>   · item_1..6 — 60 car. c/u · Empiezan por verbo</a:t>
            </a:r>
          </a:p>
          <a:p>
            <a:r>
              <a:t>   · nota — 80 car. · Opcional</a:t>
            </a:r>
          </a:p>
          <a:p/>
          <a:p>
            <a:r>
              <a:t>USAR CUANDO</a:t>
            </a:r>
          </a:p>
          <a:p>
            <a:r>
              <a:t>   · Antes de enviar una candidatura, antes de facturar, antes de firmar.</a:t>
            </a:r>
          </a:p>
          <a:p/>
          <a:p>
            <a:r>
              <a:t>NO USAR CUANDO</a:t>
            </a:r>
          </a:p>
          <a:p>
            <a:r>
              <a:t>   · Ítems que no se pueden verificar objetivamente.</a:t>
            </a:r>
          </a:p>
          <a:p/>
          <a:p>
            <a:r>
              <a:t>BLOQUE PARA LA IA</a:t>
            </a:r>
          </a:p>
          <a:p>
            <a:r>
              <a:t>LAYOUT: G07 — Checklist | FAMILIA: Estructura | FONDO: blanco</a:t>
            </a:r>
          </a:p>
          <a:p>
            <a:r>
              <a:t>ZONAS: etiqueta(30) | titulo(45) | item_1..6(60 c/u) | nota(80)</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G08 · Do / Don't — Estructura</a:t>
            </a:r>
          </a:p>
          <a:p/>
          <a:p>
            <a:r>
              <a:t>Buenas prácticas frente a errores, en dos columnas simétricas.</a:t>
            </a:r>
          </a:p>
          <a:p/>
          <a:p>
            <a:r>
              <a:t>ZONAS DE TEXTO</a:t>
            </a:r>
          </a:p>
          <a:p>
            <a:r>
              <a:t>   · titulo — 45 car.</a:t>
            </a:r>
          </a:p>
          <a:p>
            <a:r>
              <a:t>   · si_1..4 — 60 car. c/u</a:t>
            </a:r>
          </a:p>
          <a:p>
            <a:r>
              <a:t>   · no_1..4 — 60 car. c/u</a:t>
            </a:r>
          </a:p>
          <a:p/>
          <a:p>
            <a:r>
              <a:t>USAR CUANDO</a:t>
            </a:r>
          </a:p>
          <a:p>
            <a:r>
              <a:t>   · Redacción de un CV, mensajes en frío, presencia en llamadas.</a:t>
            </a:r>
          </a:p>
          <a:p/>
          <a:p>
            <a:r>
              <a:t>NO USAR CUANDO</a:t>
            </a:r>
          </a:p>
          <a:p>
            <a:r>
              <a:t>   · Distinto número de puntos a cada lado.</a:t>
            </a:r>
          </a:p>
          <a:p/>
          <a:p>
            <a:r>
              <a:t>BLOQUE PARA LA IA</a:t>
            </a:r>
          </a:p>
          <a:p>
            <a:r>
              <a:t>LAYOUT: G08 — Do / Don't | FAMILIA: Estructura | FONDO: blanco</a:t>
            </a:r>
          </a:p>
          <a:p>
            <a:r>
              <a:t>ZONAS: titulo(45) | si_1..4(60 c/u) | no_1..4(60 c/u)</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G09 · Framework con siglas — Estructura</a:t>
            </a:r>
          </a:p>
          <a:p/>
          <a:p>
            <a:r>
              <a:t>Un método memorizable: una letra por principio.</a:t>
            </a:r>
          </a:p>
          <a:p/>
          <a:p>
            <a:r>
              <a:t>ZONAS DE TEXTO</a:t>
            </a:r>
          </a:p>
          <a:p>
            <a:r>
              <a:t>   · etiqueta — 30 car.</a:t>
            </a:r>
          </a:p>
          <a:p>
            <a:r>
              <a:t>   · sigla — 6 car. · 3–5 letras</a:t>
            </a:r>
          </a:p>
          <a:p>
            <a:r>
              <a:t>   · letra_1..4 palabra — 18 car. c/u</a:t>
            </a:r>
          </a:p>
          <a:p>
            <a:r>
              <a:t>   · letra_1..4 texto — 70 car. c/u</a:t>
            </a:r>
          </a:p>
          <a:p/>
          <a:p>
            <a:r>
              <a:t>USAR CUANDO</a:t>
            </a:r>
          </a:p>
          <a:p>
            <a:r>
              <a:t>   · Métodos propios que el alumno debe recordar sin apuntes.</a:t>
            </a:r>
          </a:p>
          <a:p/>
          <a:p>
            <a:r>
              <a:t>NO USAR CUANDO</a:t>
            </a:r>
          </a:p>
          <a:p>
            <a:r>
              <a:t>   · Siglas forzadas que no significan nada.</a:t>
            </a:r>
          </a:p>
          <a:p/>
          <a:p>
            <a:r>
              <a:t>BLOQUE PARA LA IA</a:t>
            </a:r>
          </a:p>
          <a:p>
            <a:r>
              <a:t>LAYOUT: G09 — Framework con siglas | FAMILIA: Estructura | FONDO: blanco</a:t>
            </a:r>
          </a:p>
          <a:p>
            <a:r>
              <a:t>ZONAS: etiqueta(30) | sigla(6) | letra_1..4 palabra(18 c/u) | letra_1..4 texto(70 c/u)</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H (Personas). Citas, casos y perfiles. La prueba social del programa.</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H01 · Cita — Personas</a:t>
            </a:r>
          </a:p>
          <a:p/>
          <a:p>
            <a:r>
              <a:t>Una frase atribuida que se quiere fijar. Diapositiva de respiro.</a:t>
            </a:r>
          </a:p>
          <a:p/>
          <a:p>
            <a:r>
              <a:t>ZONAS DE TEXTO</a:t>
            </a:r>
          </a:p>
          <a:p>
            <a:r>
              <a:t>   · cita — 180 car. · comillas latinas</a:t>
            </a:r>
          </a:p>
          <a:p>
            <a:r>
              <a:t>   · atribucion — 40 car. · En el acento del camino</a:t>
            </a:r>
          </a:p>
          <a:p/>
          <a:p>
            <a:r>
              <a:t>USAR CUANDO</a:t>
            </a:r>
          </a:p>
          <a:p>
            <a:r>
              <a:t>   · Cerrar una idea. Citar a un alumno, un cliente o el manifiesto.</a:t>
            </a:r>
          </a:p>
          <a:p/>
          <a:p>
            <a:r>
              <a:t>NO USAR CUANDO</a:t>
            </a:r>
          </a:p>
          <a:p>
            <a:r>
              <a:t>   · Citas de más de 180 caracteres. Citas motivacionales genéricas.</a:t>
            </a:r>
          </a:p>
          <a:p/>
          <a:p>
            <a:r>
              <a:t>BLOQUE PARA LA IA</a:t>
            </a:r>
          </a:p>
          <a:p>
            <a:r>
              <a:t>LAYOUT: H01 — Cita | FAMILIA: Personas | FONDO: blanco</a:t>
            </a:r>
          </a:p>
          <a:p>
            <a:r>
              <a:t>ZONAS: cita(180 · comillas latinas) | atribucion(40)</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H02 · Testimonio con foto — Personas</a:t>
            </a:r>
          </a:p>
          <a:p/>
          <a:p>
            <a:r>
              <a:t>Cita con la cara y el contexto de quien la dice. Mucho más creíble.</a:t>
            </a:r>
          </a:p>
          <a:p/>
          <a:p>
            <a:r>
              <a:t>ZONAS DE TEXTO</a:t>
            </a:r>
          </a:p>
          <a:p>
            <a:r>
              <a:t>   · foto — — · Retrato, recorte cuadrado</a:t>
            </a:r>
          </a:p>
          <a:p>
            <a:r>
              <a:t>   · cita — 200 car.</a:t>
            </a:r>
          </a:p>
          <a:p>
            <a:r>
              <a:t>   · nombre — 30 car.</a:t>
            </a:r>
          </a:p>
          <a:p>
            <a:r>
              <a:t>   · cargo — 45 car. · Rol · empresa · país</a:t>
            </a:r>
          </a:p>
          <a:p>
            <a:r>
              <a:t>   · dato — 30 car. · Opcional: el resultado</a:t>
            </a:r>
          </a:p>
          <a:p/>
          <a:p>
            <a:r>
              <a:t>USAR CUANDO</a:t>
            </a:r>
          </a:p>
          <a:p>
            <a:r>
              <a:t>   · Casos de alumnos. Voz de empleadores.</a:t>
            </a:r>
          </a:p>
          <a:p/>
          <a:p>
            <a:r>
              <a:t>NO USAR CUANDO</a:t>
            </a:r>
          </a:p>
          <a:p>
            <a:r>
              <a:t>   · Testimonios sin nombre real o sin permiso.</a:t>
            </a:r>
          </a:p>
          <a:p/>
          <a:p>
            <a:r>
              <a:t>BLOQUE PARA LA IA</a:t>
            </a:r>
          </a:p>
          <a:p>
            <a:r>
              <a:t>LAYOUT: H02 — Testimonio con foto | FAMILIA: Personas | FONDO: blanco</a:t>
            </a:r>
          </a:p>
          <a:p>
            <a:r>
              <a:t>ZONAS: foto(—) | cita(200) | nombre(30) | cargo(45) | dato(30)</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H03 · Perfil del ponente — Personas</a:t>
            </a:r>
          </a:p>
          <a:p/>
          <a:p>
            <a:r>
              <a:t>Quién da la clase y por qué se le escucha.</a:t>
            </a:r>
          </a:p>
          <a:p/>
          <a:p>
            <a:r>
              <a:t>ZONAS DE TEXTO</a:t>
            </a:r>
          </a:p>
          <a:p>
            <a:r>
              <a:t>   · foto — — · Retrato</a:t>
            </a:r>
          </a:p>
          <a:p>
            <a:r>
              <a:t>   · nombre — 30 car.</a:t>
            </a:r>
          </a:p>
          <a:p>
            <a:r>
              <a:t>   · cargo — 45 car.</a:t>
            </a:r>
          </a:p>
          <a:p>
            <a:r>
              <a:t>   · bio — 240 car.</a:t>
            </a:r>
          </a:p>
          <a:p>
            <a:r>
              <a:t>   · hito_1..3 — 40 car. c/u · Credenciales concretas</a:t>
            </a:r>
          </a:p>
          <a:p>
            <a:r>
              <a:t>   · link — 45 car. · LinkedIn</a:t>
            </a:r>
          </a:p>
          <a:p/>
          <a:p>
            <a:r>
              <a:t>USAR CUANDO</a:t>
            </a:r>
          </a:p>
          <a:p>
            <a:r>
              <a:t>   · Segunda diapositiva de la primera sesión de cada docente.</a:t>
            </a:r>
          </a:p>
          <a:p/>
          <a:p>
            <a:r>
              <a:t>NO USAR CUANDO</a:t>
            </a:r>
          </a:p>
          <a:p>
            <a:r>
              <a:t>   · Bios de más de 240 caracteres. Adjetivos sin datos.</a:t>
            </a:r>
          </a:p>
          <a:p/>
          <a:p>
            <a:r>
              <a:t>BLOQUE PARA LA IA</a:t>
            </a:r>
          </a:p>
          <a:p>
            <a:r>
              <a:t>LAYOUT: H03 — Perfil del ponente | FAMILIA: Personas | FONDO: blanco</a:t>
            </a:r>
          </a:p>
          <a:p>
            <a:r>
              <a:t>ZONAS: foto(—) | nombre(30) | cargo(45) | bio(240) | hito_1..3(40 c/u) | link(45)</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H04 · Caso real — Personas</a:t>
            </a:r>
          </a:p>
          <a:p/>
          <a:p>
            <a:r>
              <a:t>Un caso concreto: situación de partida, qué hizo, qué consiguió.</a:t>
            </a:r>
          </a:p>
          <a:p/>
          <a:p>
            <a:r>
              <a:t>ZONAS DE TEXTO</a:t>
            </a:r>
          </a:p>
          <a:p>
            <a:r>
              <a:t>   · etiqueta — 24 car. · «Caso»</a:t>
            </a:r>
          </a:p>
          <a:p>
            <a:r>
              <a:t>   · titulo — 45 car.</a:t>
            </a:r>
          </a:p>
          <a:p>
            <a:r>
              <a:t>   · foto — — · Opcional</a:t>
            </a:r>
          </a:p>
          <a:p>
            <a:r>
              <a:t>   · punto_partida — 140 car.</a:t>
            </a:r>
          </a:p>
          <a:p>
            <a:r>
              <a:t>   · que_hizo — 140 car.</a:t>
            </a:r>
          </a:p>
          <a:p>
            <a:r>
              <a:t>   · resultado — 140 car.</a:t>
            </a:r>
          </a:p>
          <a:p>
            <a:r>
              <a:t>   · cifra — 6 car. · El resultado en un número</a:t>
            </a:r>
          </a:p>
          <a:p/>
          <a:p>
            <a:r>
              <a:t>USAR CUANDO</a:t>
            </a:r>
          </a:p>
          <a:p>
            <a:r>
              <a:t>   · Después de explicar un método: aquí está funcionando de verdad.</a:t>
            </a:r>
          </a:p>
          <a:p/>
          <a:p>
            <a:r>
              <a:t>NO USAR CUANDO</a:t>
            </a:r>
          </a:p>
          <a:p>
            <a:r>
              <a:t>   · Casos anónimos o inventados. Resultados sin cifra.</a:t>
            </a:r>
          </a:p>
          <a:p/>
          <a:p>
            <a:r>
              <a:t>BLOQUE PARA LA IA</a:t>
            </a:r>
          </a:p>
          <a:p>
            <a:r>
              <a:t>LAYOUT: H04 — Caso real | FAMILIA: Personas | FONDO: blanco</a:t>
            </a:r>
          </a:p>
          <a:p>
            <a:r>
              <a:t>ZONAS: etiqueta(24) | titulo(45) | foto(—) | punto_partida(140) | que_hizo(140) | resultado(140) | cifra(6)</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H05 · Logos de empresas — Personas</a:t>
            </a:r>
          </a:p>
          <a:p/>
          <a:p>
            <a:r>
              <a:t>Prueba social: dónde han acabado los alumnos o con quién trabajamos.</a:t>
            </a:r>
          </a:p>
          <a:p/>
          <a:p>
            <a:r>
              <a:t>ZONAS DE TEXTO</a:t>
            </a:r>
          </a:p>
          <a:p>
            <a:r>
              <a:t>   · etiqueta — 30 car.</a:t>
            </a:r>
          </a:p>
          <a:p>
            <a:r>
              <a:t>   · titulo — 50 car.</a:t>
            </a:r>
          </a:p>
          <a:p>
            <a:r>
              <a:t>   · logo_1..8 — — · Escala de grises, misma altura óptica</a:t>
            </a:r>
          </a:p>
          <a:p>
            <a:r>
              <a:t>   · pie — 70 car. · Aclaración honesta de qué significa la lista</a:t>
            </a:r>
          </a:p>
          <a:p/>
          <a:p>
            <a:r>
              <a:t>USAR CUANDO</a:t>
            </a:r>
          </a:p>
          <a:p>
            <a:r>
              <a:t>   · Cierre de bloque de empleabilidad.</a:t>
            </a:r>
          </a:p>
          <a:p/>
          <a:p>
            <a:r>
              <a:t>NO USAR CUANDO</a:t>
            </a:r>
          </a:p>
          <a:p>
            <a:r>
              <a:t>   · Logos de empresas sin relación real: es engañoso.</a:t>
            </a:r>
          </a:p>
          <a:p/>
          <a:p>
            <a:r>
              <a:t>BLOQUE PARA LA IA</a:t>
            </a:r>
          </a:p>
          <a:p>
            <a:r>
              <a:t>LAYOUT: H05 — Logos de empresas | FAMILIA: Personas | FONDO: blanco</a:t>
            </a:r>
          </a:p>
          <a:p>
            <a:r>
              <a:t>ZONAS: etiqueta(30) | titulo(50) | logo_1..8(—) | pie(70)</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I (Actividad). El 40 % del tiempo de clase. Siempre con entregable.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I01 · Ejercicio práctico — Actividad</a:t>
            </a:r>
          </a:p>
          <a:p/>
          <a:p>
            <a:r>
              <a:t>La actividad en vivo. Una por bloque como mínimo.</a:t>
            </a:r>
          </a:p>
          <a:p/>
          <a:p>
            <a:r>
              <a:t>ZONAS DE TEXTO</a:t>
            </a:r>
          </a:p>
          <a:p>
            <a:r>
              <a:t>   · duracion — 18 car. · EJERCICIO · NN MIN</a:t>
            </a:r>
          </a:p>
          <a:p>
            <a:r>
              <a:t>   · titulo — 50 car. · Imperativo</a:t>
            </a:r>
          </a:p>
          <a:p>
            <a:r>
              <a:t>   · paso_1..4 — 90 car. c/u</a:t>
            </a:r>
          </a:p>
          <a:p>
            <a:r>
              <a:t>   · entregable — 90 car. · Qué se sube al campus</a:t>
            </a:r>
          </a:p>
          <a:p>
            <a:r>
              <a:t>   · imagen — — · Opcional: plantilla o ejemplo</a:t>
            </a:r>
          </a:p>
          <a:p/>
          <a:p>
            <a:r>
              <a:t>USAR CUANDO</a:t>
            </a:r>
          </a:p>
          <a:p>
            <a:r>
              <a:t>   · Toda actividad con reloj. Es el 40 % del tiempo de clase.</a:t>
            </a:r>
          </a:p>
          <a:p/>
          <a:p>
            <a:r>
              <a:t>NO USAR CUANDO</a:t>
            </a:r>
          </a:p>
          <a:p>
            <a:r>
              <a:t>   · Ejercicio sin entregable. Ejercicio sin tiempo asignado.</a:t>
            </a:r>
          </a:p>
          <a:p/>
          <a:p>
            <a:r>
              <a:t>BLOQUE PARA LA IA</a:t>
            </a:r>
          </a:p>
          <a:p>
            <a:r>
              <a:t>LAYOUT: I01 — Ejercicio práctico | FAMILIA: Actividad | FONDO: blanco</a:t>
            </a:r>
          </a:p>
          <a:p>
            <a:r>
              <a:t>ZONAS: duracion(18) | titulo(50) | paso_1..4(90 c/u) | entregable(90) | imagen(—)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I02 · Trabajo en grupo — Actividad</a:t>
            </a:r>
          </a:p>
          <a:p/>
          <a:p>
            <a:r>
              <a:t>Dinámica en salas pequeñas, con roles y tiempos.</a:t>
            </a:r>
          </a:p>
          <a:p/>
          <a:p>
            <a:r>
              <a:t>ZONAS DE TEXTO</a:t>
            </a:r>
          </a:p>
          <a:p>
            <a:r>
              <a:t>   · duracion — 20 car. · GRUPOS · NN MIN</a:t>
            </a:r>
          </a:p>
          <a:p>
            <a:r>
              <a:t>   · titulo — 45 car.</a:t>
            </a:r>
          </a:p>
          <a:p>
            <a:r>
              <a:t>   · consigna — 180 car.</a:t>
            </a:r>
          </a:p>
          <a:p>
            <a:r>
              <a:t>   · rol_1..3 — 40 car. c/u · Quién hace qué en el grupo</a:t>
            </a:r>
          </a:p>
          <a:p>
            <a:r>
              <a:t>   · puesta_en_comun — 60 car. · Cuánto dura y qué se comparte</a:t>
            </a:r>
          </a:p>
          <a:p/>
          <a:p>
            <a:r>
              <a:t>USAR CUANDO</a:t>
            </a:r>
          </a:p>
          <a:p>
            <a:r>
              <a:t>   · Sesiones largas. Temas donde el debate aporta más que la explicación.</a:t>
            </a:r>
          </a:p>
          <a:p/>
          <a:p>
            <a:r>
              <a:t>NO USAR CUANDO</a:t>
            </a:r>
          </a:p>
          <a:p>
            <a:r>
              <a:t>   · Grupos sin rol asignado: siempre habla el mismo.</a:t>
            </a:r>
          </a:p>
          <a:p/>
          <a:p>
            <a:r>
              <a:t>BLOQUE PARA LA IA</a:t>
            </a:r>
          </a:p>
          <a:p>
            <a:r>
              <a:t>LAYOUT: I02 — Trabajo en grupo | FAMILIA: Actividad | FONDO: blanco</a:t>
            </a:r>
          </a:p>
          <a:p>
            <a:r>
              <a:t>ZONAS: duracion(20) | titulo(45) | consigna(180) | rol_1..3(40 c/u) | puesta_en_comun(60)</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I03 · Quiz de repaso — Actividad</a:t>
            </a:r>
          </a:p>
          <a:p/>
          <a:p>
            <a:r>
              <a:t>Pregunta con opciones para comprobar comprensión en directo.</a:t>
            </a:r>
          </a:p>
          <a:p/>
          <a:p>
            <a:r>
              <a:t>ZONAS DE TEXTO</a:t>
            </a:r>
          </a:p>
          <a:p>
            <a:r>
              <a:t>   · etiqueta — 20 car. · «Repaso»</a:t>
            </a:r>
          </a:p>
          <a:p>
            <a:r>
              <a:t>   · pregunta — 110 car.</a:t>
            </a:r>
          </a:p>
          <a:p>
            <a:r>
              <a:t>   · opcion_a..d — 55 car. c/u</a:t>
            </a:r>
          </a:p>
          <a:p>
            <a:r>
              <a:t>   · pista — 70 car. · Opcional</a:t>
            </a:r>
          </a:p>
          <a:p/>
          <a:p>
            <a:r>
              <a:t>USAR CUANDO</a:t>
            </a:r>
          </a:p>
          <a:p>
            <a:r>
              <a:t>   · Cierre de bloque. Antes de una pausa.</a:t>
            </a:r>
          </a:p>
          <a:p/>
          <a:p>
            <a:r>
              <a:t>NO USAR CUANDO</a:t>
            </a:r>
          </a:p>
          <a:p>
            <a:r>
              <a:t>   · Preguntas con dos respuestas válidas. Marcar la correcta en la diapositiva.</a:t>
            </a:r>
          </a:p>
          <a:p/>
          <a:p>
            <a:r>
              <a:t>BLOQUE PARA LA IA</a:t>
            </a:r>
          </a:p>
          <a:p>
            <a:r>
              <a:t>LAYOUT: I03 — Quiz de repaso | FAMILIA: Actividad | FONDO: blanco</a:t>
            </a:r>
          </a:p>
          <a:p>
            <a:r>
              <a:t>ZONAS: etiqueta(20) | pregunta(110) | opcion_a..d(55 c/u) | pista(70)</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I04 · Plantilla a rellenar — Actividad</a:t>
            </a:r>
          </a:p>
          <a:p/>
          <a:p>
            <a:r>
              <a:t>Un esquema con huecos que el alumno completa en directo.</a:t>
            </a:r>
          </a:p>
          <a:p/>
          <a:p>
            <a:r>
              <a:t>ZONAS DE TEXTO</a:t>
            </a:r>
          </a:p>
          <a:p>
            <a:r>
              <a:t>   · etiqueta — 24 car.</a:t>
            </a:r>
          </a:p>
          <a:p>
            <a:r>
              <a:t>   · titulo — 45 car.</a:t>
            </a:r>
          </a:p>
          <a:p>
            <a:r>
              <a:t>   · instruccion — 120 car.</a:t>
            </a:r>
          </a:p>
          <a:p>
            <a:r>
              <a:t>   · campo_1..4 etiqueta — 26 car. c/u</a:t>
            </a:r>
          </a:p>
          <a:p>
            <a:r>
              <a:t>   · url_plantilla — 45 car. · Dónde está la copia editable</a:t>
            </a:r>
          </a:p>
          <a:p/>
          <a:p>
            <a:r>
              <a:t>USAR CUANDO</a:t>
            </a:r>
          </a:p>
          <a:p>
            <a:r>
              <a:t>   · Propuesta de valor, banda salarial, guion de llamada, oferta.</a:t>
            </a:r>
          </a:p>
          <a:p/>
          <a:p>
            <a:r>
              <a:t>NO USAR CUANDO</a:t>
            </a:r>
          </a:p>
          <a:p>
            <a:r>
              <a:t>   · Más de 4 campos en pantalla: el resto va en la plantilla descargable.</a:t>
            </a:r>
          </a:p>
          <a:p/>
          <a:p>
            <a:r>
              <a:t>BLOQUE PARA LA IA</a:t>
            </a:r>
          </a:p>
          <a:p>
            <a:r>
              <a:t>LAYOUT: I04 — Plantilla a rellenar | FAMILIA: Actividad | FONDO: blanco</a:t>
            </a:r>
          </a:p>
          <a:p>
            <a:r>
              <a:t>ZONAS: etiqueta(24) | titulo(45) | instruccion(120) | campo_1..4 etiqueta(26 c/u) | url_plantilla(45)</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I05 · Errores comunes — Actividad</a:t>
            </a:r>
          </a:p>
          <a:p/>
          <a:p>
            <a:r>
              <a:t>Los tres fallos que casi todo el mundo comete, y su corrección.</a:t>
            </a:r>
          </a:p>
          <a:p/>
          <a:p>
            <a:r>
              <a:t>ZONAS DE TEXTO</a:t>
            </a:r>
          </a:p>
          <a:p>
            <a:r>
              <a:t>   · etiqueta — 30 car.</a:t>
            </a:r>
          </a:p>
          <a:p>
            <a:r>
              <a:t>   · titulo — 45 car.</a:t>
            </a:r>
          </a:p>
          <a:p>
            <a:r>
              <a:t>   · error_1..3 — 55 car. c/u</a:t>
            </a:r>
          </a:p>
          <a:p>
            <a:r>
              <a:t>   · correccion_1..3 — 70 car. c/u</a:t>
            </a:r>
          </a:p>
          <a:p/>
          <a:p>
            <a:r>
              <a:t>USAR CUANDO</a:t>
            </a:r>
          </a:p>
          <a:p>
            <a:r>
              <a:t>   · Después de un ejercicio, antes de que lo repitan mal.</a:t>
            </a:r>
          </a:p>
          <a:p/>
          <a:p>
            <a:r>
              <a:t>NO USAR CUANDO</a:t>
            </a:r>
          </a:p>
          <a:p>
            <a:r>
              <a:t>   · Listar errores sin decir qué hacer en su lugar.</a:t>
            </a:r>
          </a:p>
          <a:p/>
          <a:p>
            <a:r>
              <a:t>BLOQUE PARA LA IA</a:t>
            </a:r>
          </a:p>
          <a:p>
            <a:r>
              <a:t>LAYOUT: I05 — Errores comunes | FAMILIA: Actividad | FONDO: blanco</a:t>
            </a:r>
          </a:p>
          <a:p>
            <a:r>
              <a:t>ZONAS: etiqueta(30) | titulo(45) | error_1..3(55 c/u) | correccion_1..3(70 c/u)</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 la familia I (Cierre). Resumir, mandar tarea y salir con una acción concreta.</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I06 · Resumen del bloque — Cierre</a:t>
            </a:r>
          </a:p>
          <a:p/>
          <a:p>
            <a:r>
              <a:t>Tres ideas que hay que retener. Antes de cambiar de bloque.</a:t>
            </a:r>
          </a:p>
          <a:p/>
          <a:p>
            <a:r>
              <a:t>ZONAS DE TEXTO</a:t>
            </a:r>
          </a:p>
          <a:p>
            <a:r>
              <a:t>   · etiqueta — 30 car.</a:t>
            </a:r>
          </a:p>
          <a:p>
            <a:r>
              <a:t>   · titulo — 50 car.</a:t>
            </a:r>
          </a:p>
          <a:p>
            <a:r>
              <a:t>   · idea_1..3 titulo — 30 car. c/u</a:t>
            </a:r>
          </a:p>
          <a:p>
            <a:r>
              <a:t>   · idea_1..3 texto — 110 car. c/u</a:t>
            </a:r>
          </a:p>
          <a:p/>
          <a:p>
            <a:r>
              <a:t>USAR CUANDO</a:t>
            </a:r>
          </a:p>
          <a:p>
            <a:r>
              <a:t>   · Cierre de bloque, antes del separador siguiente.</a:t>
            </a:r>
          </a:p>
          <a:p/>
          <a:p>
            <a:r>
              <a:t>NO USAR CUANDO</a:t>
            </a:r>
          </a:p>
          <a:p>
            <a:r>
              <a:t>   · Repetir literalmente las viñetas ya vistas: reformula.</a:t>
            </a:r>
          </a:p>
          <a:p/>
          <a:p>
            <a:r>
              <a:t>BLOQUE PARA LA IA</a:t>
            </a:r>
          </a:p>
          <a:p>
            <a:r>
              <a:t>LAYOUT: I06 — Resumen del bloque | FAMILIA: Cierre | FONDO: blanco</a:t>
            </a:r>
          </a:p>
          <a:p>
            <a:r>
              <a:t>ZONAS: etiqueta(30) | titulo(50) | idea_1..3 titulo(30 c/u) | idea_1..3 texto(110 c/u)</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I07 · Tarea con plazo — Cierre</a:t>
            </a:r>
          </a:p>
          <a:p/>
          <a:p>
            <a:r>
              <a:t>El entregable de la semana: qué, cómo, cuándo y dónde se entrega.</a:t>
            </a:r>
          </a:p>
          <a:p/>
          <a:p>
            <a:r>
              <a:t>ZONAS DE TEXTO</a:t>
            </a:r>
          </a:p>
          <a:p>
            <a:r>
              <a:t>   · etiqueta — 20 car. · «Tarea»</a:t>
            </a:r>
          </a:p>
          <a:p>
            <a:r>
              <a:t>   · titulo — 50 car.</a:t>
            </a:r>
          </a:p>
          <a:p>
            <a:r>
              <a:t>   · descripcion — 200 car.</a:t>
            </a:r>
          </a:p>
          <a:p>
            <a:r>
              <a:t>   · criterio_1..3 — 55 car. c/u · Cómo se evalúa</a:t>
            </a:r>
          </a:p>
          <a:p>
            <a:r>
              <a:t>   · fecha — 24 car.</a:t>
            </a:r>
          </a:p>
          <a:p>
            <a:r>
              <a:t>   · canal — 24 car. · Campus o #canal de Slack</a:t>
            </a:r>
          </a:p>
          <a:p>
            <a:r>
              <a:t>   · url — 45 car.</a:t>
            </a:r>
          </a:p>
          <a:p/>
          <a:p>
            <a:r>
              <a:t>USAR CUANDO</a:t>
            </a:r>
          </a:p>
          <a:p>
            <a:r>
              <a:t>   · Toda tarea entre sesiones.</a:t>
            </a:r>
          </a:p>
          <a:p/>
          <a:p>
            <a:r>
              <a:t>NO USAR CUANDO</a:t>
            </a:r>
          </a:p>
          <a:p>
            <a:r>
              <a:t>   · Tareas sin criterio de evaluación ni fecha exacta.</a:t>
            </a:r>
          </a:p>
          <a:p/>
          <a:p>
            <a:r>
              <a:t>BLOQUE PARA LA IA</a:t>
            </a:r>
          </a:p>
          <a:p>
            <a:r>
              <a:t>LAYOUT: I07 — Tarea con plazo | FAMILIA: Cierre | FONDO: blanco</a:t>
            </a:r>
          </a:p>
          <a:p>
            <a:r>
              <a:t>ZONAS: etiqueta(20) | titulo(50) | descripcion(200) | criterio_1..3(55 c/u) | fecha(24) | canal(24) | url(45)</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I08 · Cierre y siguiente paso — Cierre</a:t>
            </a:r>
          </a:p>
          <a:p/>
          <a:p>
            <a:r>
              <a:t>Última diapositiva. Una acción concreta con fecha y canal.</a:t>
            </a:r>
          </a:p>
          <a:p/>
          <a:p>
            <a:r>
              <a:t>ZONAS DE TEXTO</a:t>
            </a:r>
          </a:p>
          <a:p>
            <a:r>
              <a:t>   · etiqueta — 40 car. · «Antes de la próxima sesión»</a:t>
            </a:r>
          </a:p>
          <a:p>
            <a:r>
              <a:t>   · accion — 60 car. · 2 líneas · Imperativo</a:t>
            </a:r>
          </a:p>
          <a:p>
            <a:r>
              <a:t>   · detalle — 80 car. · Fecha límite · canal</a:t>
            </a:r>
          </a:p>
          <a:p/>
          <a:p>
            <a:r>
              <a:t>USAR CUANDO</a:t>
            </a:r>
          </a:p>
          <a:p>
            <a:r>
              <a:t>   · Cerrar toda sesión.</a:t>
            </a:r>
          </a:p>
          <a:p/>
          <a:p>
            <a:r>
              <a:t>NO USAR CUANDO</a:t>
            </a:r>
          </a:p>
          <a:p>
            <a:r>
              <a:t>   · «¿Preguntas?» · «Gracias por vuestra atención» · diapositiva en blanco.</a:t>
            </a:r>
          </a:p>
          <a:p/>
          <a:p>
            <a:r>
              <a:t>BLOQUE PARA LA IA</a:t>
            </a:r>
          </a:p>
          <a:p>
            <a:r>
              <a:t>LAYOUT: I08 — Cierre y siguiente paso | FAMILIA: Cierre | FONDO: tinta #161616</a:t>
            </a:r>
          </a:p>
          <a:p>
            <a:r>
              <a:t>ZONAS: etiqueta(40) | accion(60 · 2 líneas) | detalle(80)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cxnSp>
        <p:nvCxnSpPr>
          <p:cNvPr id="3" name="Connector 2"/>
          <p:cNvCxnSpPr/>
          <p:nvPr/>
        </p:nvCxnSpPr>
        <p:spPr>
          <a:xfrm>
            <a:off x="254000" y="254000"/>
            <a:ext cx="1143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254000" y="254000"/>
            <a:ext cx="0" cy="1143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23700" y="254000"/>
            <a:ext cx="1143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938000" y="254000"/>
            <a:ext cx="0" cy="1143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54000" y="6604000"/>
            <a:ext cx="1143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54000" y="6489700"/>
            <a:ext cx="0" cy="1143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1823700" y="6604000"/>
            <a:ext cx="1143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938000" y="6489700"/>
            <a:ext cx="0" cy="1143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630464" y="439964"/>
            <a:ext cx="187779" cy="250372"/>
          </a:xfrm>
          <a:custGeom>
            <a:avLst/>
            <a:gdLst/>
            <a:ahLst/>
            <a:cxnLst/>
            <a:rect l="l" t="t" r="r" b="b"/>
            <a:pathLst>
              <a:path w="187779" h="250372">
                <a:moveTo>
                  <a:pt x="93890" y="0"/>
                </a:moveTo>
                <a:lnTo>
                  <a:pt x="187779" y="250372"/>
                </a:lnTo>
                <a:lnTo>
                  <a:pt x="0" y="250372"/>
                </a:lnTo>
                <a:close/>
              </a:path>
            </a:pathLst>
          </a:custGeom>
          <a:noFill/>
          <a:ln w="20864">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80836" y="439964"/>
            <a:ext cx="187778" cy="125186"/>
          </a:xfrm>
          <a:custGeom>
            <a:avLst/>
            <a:gdLst/>
            <a:ahLst/>
            <a:cxnLst/>
            <a:rect l="l" t="t" r="r" b="b"/>
            <a:pathLst>
              <a:path w="187778" h="125186">
                <a:moveTo>
                  <a:pt x="0" y="0"/>
                </a:moveTo>
                <a:lnTo>
                  <a:pt x="187778" y="0"/>
                </a:lnTo>
                <a:lnTo>
                  <a:pt x="93889" y="125186"/>
                </a:lnTo>
                <a:close/>
              </a:path>
            </a:pathLst>
          </a:custGeom>
          <a:noFill/>
          <a:ln w="20864">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880836" y="565150"/>
            <a:ext cx="187778" cy="125186"/>
          </a:xfrm>
          <a:custGeom>
            <a:avLst/>
            <a:gdLst/>
            <a:ahLst/>
            <a:cxnLst/>
            <a:rect l="l" t="t" r="r" b="b"/>
            <a:pathLst>
              <a:path w="187778" h="125186">
                <a:moveTo>
                  <a:pt x="0" y="125186"/>
                </a:moveTo>
                <a:lnTo>
                  <a:pt x="187778" y="125186"/>
                </a:lnTo>
                <a:lnTo>
                  <a:pt x="93889" y="0"/>
                </a:lnTo>
                <a:close/>
              </a:path>
            </a:pathLst>
          </a:custGeom>
          <a:noFill/>
          <a:ln w="20864">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5400" y="469900"/>
            <a:ext cx="3937000" cy="1905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SISTEMA DE DIAPOSITIVAS · V3.0</a:t>
            </a:r>
          </a:p>
        </p:txBody>
      </p:sp>
      <p:sp>
        <p:nvSpPr>
          <p:cNvPr id="15" name="Rectangle 14"/>
          <p:cNvSpPr/>
          <p:nvPr/>
        </p:nvSpPr>
        <p:spPr>
          <a:xfrm>
            <a:off x="609600" y="3578860"/>
            <a:ext cx="76200" cy="76200"/>
          </a:xfrm>
          <a:prstGeom prst="rect">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9300" y="3556000"/>
            <a:ext cx="6350000" cy="160020"/>
          </a:xfrm>
          <a:prstGeom prst="rect">
            <a:avLst/>
          </a:prstGeom>
          <a:noFill/>
          <a:effectLst/>
        </p:spPr>
        <p:txBody>
          <a:bodyPr wrap="square" lIns="0" rIns="0" tIns="0" bIns="0" anchor="t"/>
          <a:lstStyle/>
          <a:p>
            <a:pPr algn="l">
              <a:lnSpc>
                <a:spcPts val="900"/>
              </a:lnSpc>
            </a:pPr>
            <a:r>
              <a:rPr sz="900" b="1" spc="144" dirty="0">
                <a:solidFill>
                  <a:srgbClr val="9A9A9A"/>
                </a:solidFill>
                <a:latin typeface="Inter"/>
                <a:cs typeface="Inter"/>
              </a:rPr>
              <a:t>ACTIVEXREMOTE · THE REMOTE BUSINESS SCHOOL</a:t>
            </a:r>
          </a:p>
        </p:txBody>
      </p:sp>
      <p:sp>
        <p:nvSpPr>
          <p:cNvPr id="17" name="TextBox 16"/>
          <p:cNvSpPr txBox="1"/>
          <p:nvPr/>
        </p:nvSpPr>
        <p:spPr>
          <a:xfrm>
            <a:off x="609600" y="3835400"/>
            <a:ext cx="9525000" cy="1676400"/>
          </a:xfrm>
          <a:prstGeom prst="rect">
            <a:avLst/>
          </a:prstGeom>
          <a:noFill/>
          <a:effectLst/>
        </p:spPr>
        <p:txBody>
          <a:bodyPr wrap="square" lIns="0" rIns="0" tIns="0" bIns="0" anchor="t"/>
          <a:lstStyle/>
          <a:p>
            <a:pPr algn="l">
              <a:lnSpc>
                <a:spcPts val="6400"/>
              </a:lnSpc>
            </a:pPr>
            <a:r>
              <a:rPr sz="6400" b="1" spc="-192" dirty="0">
                <a:solidFill>
                  <a:srgbClr val="FFFFFF"/>
                </a:solidFill>
                <a:latin typeface="Inter"/>
                <a:cs typeface="Inter"/>
              </a:rPr>
              <a:t>Plantillas de</a:t>
            </a:r>
            <a:br/>
            <a:r>
              <a:rPr sz="6400" b="1" spc="-192" dirty="0">
                <a:solidFill>
                  <a:srgbClr val="FFFFFF"/>
                </a:solidFill>
                <a:latin typeface="Inter"/>
                <a:cs typeface="Inter"/>
              </a:rPr>
              <a:t>diapositiva</a:t>
            </a:r>
          </a:p>
        </p:txBody>
      </p:sp>
      <p:cxnSp>
        <p:nvCxnSpPr>
          <p:cNvPr id="18" name="Connector 17"/>
          <p:cNvCxnSpPr/>
          <p:nvPr/>
        </p:nvCxnSpPr>
        <p:spPr>
          <a:xfrm>
            <a:off x="609600" y="5651500"/>
            <a:ext cx="1397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9600" y="5740400"/>
            <a:ext cx="7493000" cy="533400"/>
          </a:xfrm>
          <a:prstGeom prst="rect">
            <a:avLst/>
          </a:prstGeom>
          <a:noFill/>
          <a:effectLst/>
        </p:spPr>
        <p:txBody>
          <a:bodyPr wrap="square" lIns="0" rIns="0" tIns="0" bIns="0" anchor="t"/>
          <a:lstStyle/>
          <a:p>
            <a:pPr algn="l">
              <a:lnSpc>
                <a:spcPts val="1950"/>
              </a:lnSpc>
            </a:pPr>
            <a:r>
              <a:rPr sz="1300" b="0" dirty="0">
                <a:solidFill>
                  <a:srgbClr val="D2D2D2"/>
                </a:solidFill>
                <a:latin typeface="Inter"/>
                <a:cs typeface="Inter"/>
              </a:rPr>
              <a:t>El proceso completo para montar un módulo con NotebookLM y Google Classroom, y 64 plantillas de diapositiva con la marca ya aplicada.</a:t>
            </a:r>
          </a:p>
        </p:txBody>
      </p:sp>
      <p:sp>
        <p:nvSpPr>
          <p:cNvPr id="20" name="TextBox 19"/>
          <p:cNvSpPr txBox="1"/>
          <p:nvPr/>
        </p:nvSpPr>
        <p:spPr>
          <a:xfrm>
            <a:off x="609600" y="6413500"/>
            <a:ext cx="8890000" cy="177800"/>
          </a:xfrm>
          <a:prstGeom prst="rect">
            <a:avLst/>
          </a:prstGeom>
          <a:noFill/>
          <a:effectLst/>
        </p:spPr>
        <p:txBody>
          <a:bodyPr wrap="square" lIns="0" rIns="0" tIns="0" bIns="0" anchor="t"/>
          <a:lstStyle/>
          <a:p>
            <a:pPr algn="l">
              <a:lnSpc>
                <a:spcPts val="700"/>
              </a:lnSpc>
            </a:pPr>
            <a:r>
              <a:rPr sz="700" b="1" spc="98" dirty="0">
                <a:solidFill>
                  <a:srgbClr val="5A5A5A"/>
                </a:solidFill>
                <a:latin typeface="Inter"/>
                <a:cs typeface="Inter"/>
              </a:rPr>
              <a:t>VERSIÓN 3.0 · LIENZO 1920 × 1080 PX (16:9) · INTER ·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QUÉ HAY DENTRO</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Cuatro partes: proceso, sistema, índice y plantillas</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MAPA DEL DOCUMENTO</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sombra"/>
          <p:cNvSpPr/>
          <p:nvPr/>
        </p:nvSpPr>
        <p:spPr>
          <a:xfrm>
            <a:off x="698500" y="1946656"/>
            <a:ext cx="2628900" cy="2984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09600" y="1857756"/>
            <a:ext cx="2628900" cy="2984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09600" y="1857756"/>
            <a:ext cx="2628900" cy="381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0100" y="2086356"/>
            <a:ext cx="2247900"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PARTE 1</a:t>
            </a:r>
          </a:p>
        </p:txBody>
      </p:sp>
      <p:sp>
        <p:nvSpPr>
          <p:cNvPr id="11" name="TextBox 10"/>
          <p:cNvSpPr txBox="1"/>
          <p:nvPr/>
        </p:nvSpPr>
        <p:spPr>
          <a:xfrm>
            <a:off x="800100" y="2340356"/>
            <a:ext cx="2247900" cy="698500"/>
          </a:xfrm>
          <a:prstGeom prst="rect">
            <a:avLst/>
          </a:prstGeom>
          <a:noFill/>
          <a:effectLst/>
        </p:spPr>
        <p:txBody>
          <a:bodyPr wrap="square" lIns="0" rIns="0" tIns="0" bIns="0" anchor="t"/>
          <a:lstStyle/>
          <a:p>
            <a:pPr algn="l">
              <a:lnSpc>
                <a:spcPts val="1904"/>
              </a:lnSpc>
            </a:pPr>
            <a:r>
              <a:rPr sz="1700" b="1" spc="-34" dirty="0">
                <a:solidFill>
                  <a:srgbClr val="161616"/>
                </a:solidFill>
                <a:latin typeface="Inter"/>
                <a:cs typeface="Inter"/>
              </a:rPr>
              <a:t>El proceso del módulo</a:t>
            </a:r>
          </a:p>
        </p:txBody>
      </p:sp>
      <p:sp>
        <p:nvSpPr>
          <p:cNvPr id="12" name="TextBox 11"/>
          <p:cNvSpPr txBox="1"/>
          <p:nvPr/>
        </p:nvSpPr>
        <p:spPr>
          <a:xfrm>
            <a:off x="800100" y="3127756"/>
            <a:ext cx="224790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Cómo se crea un módulo con NotebookLM y Google Classroom, paso a paso, y qué se entrega en cada fecha.</a:t>
            </a:r>
          </a:p>
        </p:txBody>
      </p:sp>
      <p:cxnSp>
        <p:nvCxnSpPr>
          <p:cNvPr id="13" name="Connector 12"/>
          <p:cNvCxnSpPr/>
          <p:nvPr/>
        </p:nvCxnSpPr>
        <p:spPr>
          <a:xfrm>
            <a:off x="800100" y="4372356"/>
            <a:ext cx="22479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0100" y="4486656"/>
            <a:ext cx="2247900" cy="190500"/>
          </a:xfrm>
          <a:prstGeom prst="rect">
            <a:avLst/>
          </a:prstGeom>
          <a:noFill/>
          <a:effectLst/>
        </p:spPr>
        <p:txBody>
          <a:bodyPr wrap="square" lIns="0" rIns="0" tIns="0" bIns="0" anchor="t"/>
          <a:lstStyle/>
          <a:p>
            <a:pPr algn="l">
              <a:lnSpc>
                <a:spcPts val="700"/>
              </a:lnSpc>
            </a:pPr>
            <a:r>
              <a:rPr sz="700" b="1" spc="84" dirty="0">
                <a:solidFill>
                  <a:srgbClr val="161616"/>
                </a:solidFill>
                <a:latin typeface="Inter"/>
                <a:cs typeface="Inter"/>
              </a:rPr>
              <a:t>DIAPOSITIVAS 03–12</a:t>
            </a:r>
          </a:p>
        </p:txBody>
      </p:sp>
      <p:sp>
        <p:nvSpPr>
          <p:cNvPr id="15" name="Rectangle 14"/>
          <p:cNvSpPr/>
          <p:nvPr/>
        </p:nvSpPr>
        <p:spPr>
          <a:xfrm>
            <a:off x="3390900" y="1857756"/>
            <a:ext cx="2628900" cy="2984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390900" y="1857756"/>
            <a:ext cx="2628900" cy="381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81400" y="2086356"/>
            <a:ext cx="2247900"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PARTE 2</a:t>
            </a:r>
          </a:p>
        </p:txBody>
      </p:sp>
      <p:sp>
        <p:nvSpPr>
          <p:cNvPr id="18" name="TextBox 17"/>
          <p:cNvSpPr txBox="1"/>
          <p:nvPr/>
        </p:nvSpPr>
        <p:spPr>
          <a:xfrm>
            <a:off x="3581400" y="2340356"/>
            <a:ext cx="2247900" cy="698500"/>
          </a:xfrm>
          <a:prstGeom prst="rect">
            <a:avLst/>
          </a:prstGeom>
          <a:noFill/>
          <a:effectLst/>
        </p:spPr>
        <p:txBody>
          <a:bodyPr wrap="square" lIns="0" rIns="0" tIns="0" bIns="0" anchor="t"/>
          <a:lstStyle/>
          <a:p>
            <a:pPr algn="l">
              <a:lnSpc>
                <a:spcPts val="1904"/>
              </a:lnSpc>
            </a:pPr>
            <a:r>
              <a:rPr sz="1700" b="1" spc="-34" dirty="0">
                <a:solidFill>
                  <a:srgbClr val="161616"/>
                </a:solidFill>
                <a:latin typeface="Inter"/>
                <a:cs typeface="Inter"/>
              </a:rPr>
              <a:t>El sistema de diseño</a:t>
            </a:r>
          </a:p>
        </p:txBody>
      </p:sp>
      <p:sp>
        <p:nvSpPr>
          <p:cNvPr id="19" name="TextBox 18"/>
          <p:cNvSpPr txBox="1"/>
          <p:nvPr/>
        </p:nvSpPr>
        <p:spPr>
          <a:xfrm>
            <a:off x="3581400" y="3127756"/>
            <a:ext cx="224790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Retícula, escala tipográfica, paleta y marca. Las medidas exactas con las que están hechas estas plantillas.</a:t>
            </a:r>
          </a:p>
        </p:txBody>
      </p:sp>
      <p:cxnSp>
        <p:nvCxnSpPr>
          <p:cNvPr id="20" name="Connector 19"/>
          <p:cNvCxnSpPr/>
          <p:nvPr/>
        </p:nvCxnSpPr>
        <p:spPr>
          <a:xfrm>
            <a:off x="3581400" y="4372356"/>
            <a:ext cx="22479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581400" y="4486656"/>
            <a:ext cx="2247900" cy="190500"/>
          </a:xfrm>
          <a:prstGeom prst="rect">
            <a:avLst/>
          </a:prstGeom>
          <a:noFill/>
          <a:effectLst/>
        </p:spPr>
        <p:txBody>
          <a:bodyPr wrap="square" lIns="0" rIns="0" tIns="0" bIns="0" anchor="t"/>
          <a:lstStyle/>
          <a:p>
            <a:pPr algn="l">
              <a:lnSpc>
                <a:spcPts val="700"/>
              </a:lnSpc>
            </a:pPr>
            <a:r>
              <a:rPr sz="700" b="1" spc="84" dirty="0">
                <a:solidFill>
                  <a:srgbClr val="161616"/>
                </a:solidFill>
                <a:latin typeface="Inter"/>
                <a:cs typeface="Inter"/>
              </a:rPr>
              <a:t>DIAPOSITIVAS 13–16</a:t>
            </a:r>
          </a:p>
        </p:txBody>
      </p:sp>
      <p:sp>
        <p:nvSpPr>
          <p:cNvPr id="22" name="Rectangle 21"/>
          <p:cNvSpPr/>
          <p:nvPr/>
        </p:nvSpPr>
        <p:spPr>
          <a:xfrm>
            <a:off x="6172200" y="1857756"/>
            <a:ext cx="2628900" cy="2984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72200" y="1857756"/>
            <a:ext cx="2628900" cy="381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62700" y="2086356"/>
            <a:ext cx="2247900"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PARTE 3</a:t>
            </a:r>
          </a:p>
        </p:txBody>
      </p:sp>
      <p:sp>
        <p:nvSpPr>
          <p:cNvPr id="25" name="TextBox 24"/>
          <p:cNvSpPr txBox="1"/>
          <p:nvPr/>
        </p:nvSpPr>
        <p:spPr>
          <a:xfrm>
            <a:off x="6362700" y="2340356"/>
            <a:ext cx="2247900" cy="698500"/>
          </a:xfrm>
          <a:prstGeom prst="rect">
            <a:avLst/>
          </a:prstGeom>
          <a:noFill/>
          <a:effectLst/>
        </p:spPr>
        <p:txBody>
          <a:bodyPr wrap="square" lIns="0" rIns="0" tIns="0" bIns="0" anchor="t"/>
          <a:lstStyle/>
          <a:p>
            <a:pPr algn="l">
              <a:lnSpc>
                <a:spcPts val="1904"/>
              </a:lnSpc>
            </a:pPr>
            <a:r>
              <a:rPr sz="1700" b="1" spc="-34" dirty="0">
                <a:solidFill>
                  <a:srgbClr val="161616"/>
                </a:solidFill>
                <a:latin typeface="Inter"/>
                <a:cs typeface="Inter"/>
              </a:rPr>
              <a:t>Índice de plantillas</a:t>
            </a:r>
          </a:p>
        </p:txBody>
      </p:sp>
      <p:sp>
        <p:nvSpPr>
          <p:cNvPr id="26" name="TextBox 25"/>
          <p:cNvSpPr txBox="1"/>
          <p:nvPr/>
        </p:nvSpPr>
        <p:spPr>
          <a:xfrm>
            <a:off x="6362700" y="3127756"/>
            <a:ext cx="224790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Los 64 códigos con su nombre y su familia. El mapa para elegir rápido.</a:t>
            </a:r>
          </a:p>
        </p:txBody>
      </p:sp>
      <p:cxnSp>
        <p:nvCxnSpPr>
          <p:cNvPr id="27" name="Connector 26"/>
          <p:cNvCxnSpPr/>
          <p:nvPr/>
        </p:nvCxnSpPr>
        <p:spPr>
          <a:xfrm>
            <a:off x="6362700" y="4372356"/>
            <a:ext cx="22479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62700" y="4486656"/>
            <a:ext cx="2247900" cy="190500"/>
          </a:xfrm>
          <a:prstGeom prst="rect">
            <a:avLst/>
          </a:prstGeom>
          <a:noFill/>
          <a:effectLst/>
        </p:spPr>
        <p:txBody>
          <a:bodyPr wrap="square" lIns="0" rIns="0" tIns="0" bIns="0" anchor="t"/>
          <a:lstStyle/>
          <a:p>
            <a:pPr algn="l">
              <a:lnSpc>
                <a:spcPts val="700"/>
              </a:lnSpc>
            </a:pPr>
            <a:r>
              <a:rPr sz="700" b="1" spc="84" dirty="0">
                <a:solidFill>
                  <a:srgbClr val="161616"/>
                </a:solidFill>
                <a:latin typeface="Inter"/>
                <a:cs typeface="Inter"/>
              </a:rPr>
              <a:t>DIAPOSITIVAS 17–18</a:t>
            </a:r>
          </a:p>
        </p:txBody>
      </p:sp>
      <p:sp>
        <p:nvSpPr>
          <p:cNvPr id="29" name="Rectangle 28"/>
          <p:cNvSpPr/>
          <p:nvPr/>
        </p:nvSpPr>
        <p:spPr>
          <a:xfrm>
            <a:off x="8953500" y="1857756"/>
            <a:ext cx="2628900" cy="2984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953500" y="1857756"/>
            <a:ext cx="2628900" cy="381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44000" y="2086356"/>
            <a:ext cx="2247900"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PARTE 4</a:t>
            </a:r>
          </a:p>
        </p:txBody>
      </p:sp>
      <p:sp>
        <p:nvSpPr>
          <p:cNvPr id="32" name="TextBox 31"/>
          <p:cNvSpPr txBox="1"/>
          <p:nvPr/>
        </p:nvSpPr>
        <p:spPr>
          <a:xfrm>
            <a:off x="9144000" y="2340356"/>
            <a:ext cx="2247900" cy="698500"/>
          </a:xfrm>
          <a:prstGeom prst="rect">
            <a:avLst/>
          </a:prstGeom>
          <a:noFill/>
          <a:effectLst/>
        </p:spPr>
        <p:txBody>
          <a:bodyPr wrap="square" lIns="0" rIns="0" tIns="0" bIns="0" anchor="t"/>
          <a:lstStyle/>
          <a:p>
            <a:pPr algn="l">
              <a:lnSpc>
                <a:spcPts val="1904"/>
              </a:lnSpc>
            </a:pPr>
            <a:r>
              <a:rPr sz="1700" b="1" spc="-34" dirty="0">
                <a:solidFill>
                  <a:srgbClr val="161616"/>
                </a:solidFill>
                <a:latin typeface="Inter"/>
                <a:cs typeface="Inter"/>
              </a:rPr>
              <a:t>Las 64 plantillas</a:t>
            </a:r>
          </a:p>
        </p:txBody>
      </p:sp>
      <p:sp>
        <p:nvSpPr>
          <p:cNvPr id="33" name="TextBox 32"/>
          <p:cNvSpPr txBox="1"/>
          <p:nvPr/>
        </p:nvSpPr>
        <p:spPr>
          <a:xfrm>
            <a:off x="9144000" y="3127756"/>
            <a:ext cx="224790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Una diapositiva por layout, vacía y con la marca aplicada. La ficha de uso va en las notas del ponente.</a:t>
            </a:r>
          </a:p>
        </p:txBody>
      </p:sp>
      <p:cxnSp>
        <p:nvCxnSpPr>
          <p:cNvPr id="34" name="Connector 33"/>
          <p:cNvCxnSpPr/>
          <p:nvPr/>
        </p:nvCxnSpPr>
        <p:spPr>
          <a:xfrm>
            <a:off x="9144000" y="4372356"/>
            <a:ext cx="22479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4000" y="4486656"/>
            <a:ext cx="2247900" cy="190500"/>
          </a:xfrm>
          <a:prstGeom prst="rect">
            <a:avLst/>
          </a:prstGeom>
          <a:noFill/>
          <a:effectLst/>
        </p:spPr>
        <p:txBody>
          <a:bodyPr wrap="square" lIns="0" rIns="0" tIns="0" bIns="0" anchor="t"/>
          <a:lstStyle/>
          <a:p>
            <a:pPr algn="l">
              <a:lnSpc>
                <a:spcPts val="700"/>
              </a:lnSpc>
            </a:pPr>
            <a:r>
              <a:rPr sz="700" b="1" spc="84" dirty="0">
                <a:solidFill>
                  <a:srgbClr val="161616"/>
                </a:solidFill>
                <a:latin typeface="Inter"/>
                <a:cs typeface="Inter"/>
              </a:rPr>
              <a:t>DIAPOSITIVAS 19–92</a:t>
            </a:r>
          </a:p>
        </p:txBody>
      </p:sp>
      <p:cxnSp>
        <p:nvCxnSpPr>
          <p:cNvPr id="36" name="Connector 35"/>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1" name="TextBox 40"/>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MAPA · 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EMPIEZA AQUÍ</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Esto es una biblioteca, no una presentación</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CÓMO SE USA</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9600" y="1857756"/>
            <a:ext cx="3530600" cy="2540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0100" y="2035556"/>
            <a:ext cx="635000" cy="1905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01</a:t>
            </a:r>
          </a:p>
        </p:txBody>
      </p:sp>
      <p:sp>
        <p:nvSpPr>
          <p:cNvPr id="9" name="TextBox 8"/>
          <p:cNvSpPr txBox="1"/>
          <p:nvPr/>
        </p:nvSpPr>
        <p:spPr>
          <a:xfrm>
            <a:off x="800100" y="2327656"/>
            <a:ext cx="3149600" cy="571500"/>
          </a:xfrm>
          <a:prstGeom prst="rect">
            <a:avLst/>
          </a:prstGeom>
          <a:noFill/>
          <a:effectLst/>
        </p:spPr>
        <p:txBody>
          <a:bodyPr wrap="square" lIns="0" rIns="0" tIns="0" bIns="0" anchor="t"/>
          <a:lstStyle/>
          <a:p>
            <a:pPr algn="l">
              <a:lnSpc>
                <a:spcPts val="1839"/>
              </a:lnSpc>
            </a:pPr>
            <a:r>
              <a:rPr sz="1600" b="1" spc="-32" dirty="0">
                <a:solidFill>
                  <a:srgbClr val="161616"/>
                </a:solidFill>
                <a:latin typeface="Inter"/>
                <a:cs typeface="Inter"/>
              </a:rPr>
              <a:t>Duplica, no diseñes</a:t>
            </a:r>
          </a:p>
        </p:txBody>
      </p:sp>
      <p:sp>
        <p:nvSpPr>
          <p:cNvPr id="10" name="TextBox 9"/>
          <p:cNvSpPr txBox="1"/>
          <p:nvPr/>
        </p:nvSpPr>
        <p:spPr>
          <a:xfrm>
            <a:off x="800100" y="3013456"/>
            <a:ext cx="3149600" cy="1016000"/>
          </a:xfrm>
          <a:prstGeom prst="rect">
            <a:avLst/>
          </a:prstGeom>
          <a:noFill/>
          <a:effectLst/>
        </p:spPr>
        <p:txBody>
          <a:bodyPr wrap="square" lIns="0" rIns="0" tIns="0" bIns="0" anchor="t"/>
          <a:lstStyle/>
          <a:p>
            <a:pPr algn="l">
              <a:lnSpc>
                <a:spcPts val="1575"/>
              </a:lnSpc>
            </a:pPr>
            <a:r>
              <a:rPr sz="1050" b="0" dirty="0">
                <a:solidFill>
                  <a:srgbClr val="525252"/>
                </a:solidFill>
                <a:latin typeface="Inter"/>
                <a:cs typeface="Inter"/>
              </a:rPr>
              <a:t>Busca la plantilla que necesitas en la Parte 4, cópiala a tu presentación y cambia el texto. Diseñar desde cero rompe la marca.</a:t>
            </a:r>
          </a:p>
        </p:txBody>
      </p:sp>
      <p:cxnSp>
        <p:nvCxnSpPr>
          <p:cNvPr id="11" name="Connector 10"/>
          <p:cNvCxnSpPr/>
          <p:nvPr/>
        </p:nvCxnSpPr>
        <p:spPr>
          <a:xfrm>
            <a:off x="800100" y="3953256"/>
            <a:ext cx="31496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100" y="4067556"/>
            <a:ext cx="3149600" cy="254000"/>
          </a:xfrm>
          <a:prstGeom prst="rect">
            <a:avLst/>
          </a:prstGeom>
          <a:noFill/>
          <a:effectLst/>
        </p:spPr>
        <p:txBody>
          <a:bodyPr wrap="square" lIns="0" rIns="0" tIns="0" bIns="0" anchor="t"/>
          <a:lstStyle/>
          <a:p>
            <a:pPr algn="l">
              <a:lnSpc>
                <a:spcPts val="975"/>
              </a:lnSpc>
            </a:pPr>
            <a:r>
              <a:rPr sz="750" b="1" spc="75" dirty="0">
                <a:solidFill>
                  <a:srgbClr val="8D8D8D"/>
                </a:solidFill>
                <a:latin typeface="Inter"/>
                <a:cs typeface="Inter"/>
              </a:rPr>
              <a:t>PowerPoint: clic derecho › Duplicar diapositiva</a:t>
            </a:r>
          </a:p>
        </p:txBody>
      </p:sp>
      <p:sp>
        <p:nvSpPr>
          <p:cNvPr id="13" name="Rectangle 12"/>
          <p:cNvSpPr/>
          <p:nvPr/>
        </p:nvSpPr>
        <p:spPr>
          <a:xfrm>
            <a:off x="4330700" y="1857756"/>
            <a:ext cx="3530600" cy="2540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21200" y="2035556"/>
            <a:ext cx="635000" cy="1905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02</a:t>
            </a:r>
          </a:p>
        </p:txBody>
      </p:sp>
      <p:sp>
        <p:nvSpPr>
          <p:cNvPr id="15" name="TextBox 14"/>
          <p:cNvSpPr txBox="1"/>
          <p:nvPr/>
        </p:nvSpPr>
        <p:spPr>
          <a:xfrm>
            <a:off x="4521200" y="2327656"/>
            <a:ext cx="3149600" cy="571500"/>
          </a:xfrm>
          <a:prstGeom prst="rect">
            <a:avLst/>
          </a:prstGeom>
          <a:noFill/>
          <a:effectLst/>
        </p:spPr>
        <p:txBody>
          <a:bodyPr wrap="square" lIns="0" rIns="0" tIns="0" bIns="0" anchor="t"/>
          <a:lstStyle/>
          <a:p>
            <a:pPr algn="l">
              <a:lnSpc>
                <a:spcPts val="1839"/>
              </a:lnSpc>
            </a:pPr>
            <a:r>
              <a:rPr sz="1600" b="1" spc="-32" dirty="0">
                <a:solidFill>
                  <a:srgbClr val="161616"/>
                </a:solidFill>
                <a:latin typeface="Inter"/>
                <a:cs typeface="Inter"/>
              </a:rPr>
              <a:t>Cambia el texto, no la marca</a:t>
            </a:r>
          </a:p>
        </p:txBody>
      </p:sp>
      <p:sp>
        <p:nvSpPr>
          <p:cNvPr id="16" name="TextBox 15"/>
          <p:cNvSpPr txBox="1"/>
          <p:nvPr/>
        </p:nvSpPr>
        <p:spPr>
          <a:xfrm>
            <a:off x="4521200" y="3013456"/>
            <a:ext cx="3149600" cy="1016000"/>
          </a:xfrm>
          <a:prstGeom prst="rect">
            <a:avLst/>
          </a:prstGeom>
          <a:noFill/>
          <a:effectLst/>
        </p:spPr>
        <p:txBody>
          <a:bodyPr wrap="square" lIns="0" rIns="0" tIns="0" bIns="0" anchor="t"/>
          <a:lstStyle/>
          <a:p>
            <a:pPr algn="l">
              <a:lnSpc>
                <a:spcPts val="1575"/>
              </a:lnSpc>
            </a:pPr>
            <a:r>
              <a:rPr sz="1050" b="0" dirty="0">
                <a:solidFill>
                  <a:srgbClr val="525252"/>
                </a:solidFill>
                <a:latin typeface="Inter"/>
                <a:cs typeface="Inter"/>
              </a:rPr>
              <a:t>Puedes reescribir cualquier texto y sustituir los huecos por tus capturas. No muevas el pie, ni cambies tipografía, color o márgenes.</a:t>
            </a:r>
          </a:p>
        </p:txBody>
      </p:sp>
      <p:cxnSp>
        <p:nvCxnSpPr>
          <p:cNvPr id="17" name="Connector 16"/>
          <p:cNvCxnSpPr/>
          <p:nvPr/>
        </p:nvCxnSpPr>
        <p:spPr>
          <a:xfrm>
            <a:off x="4521200" y="3953256"/>
            <a:ext cx="31496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21200" y="4067556"/>
            <a:ext cx="3149600" cy="254000"/>
          </a:xfrm>
          <a:prstGeom prst="rect">
            <a:avLst/>
          </a:prstGeom>
          <a:noFill/>
          <a:effectLst/>
        </p:spPr>
        <p:txBody>
          <a:bodyPr wrap="square" lIns="0" rIns="0" tIns="0" bIns="0" anchor="t"/>
          <a:lstStyle/>
          <a:p>
            <a:pPr algn="l">
              <a:lnSpc>
                <a:spcPts val="975"/>
              </a:lnSpc>
            </a:pPr>
            <a:r>
              <a:rPr sz="750" b="1" spc="75" dirty="0">
                <a:solidFill>
                  <a:srgbClr val="8D8D8D"/>
                </a:solidFill>
                <a:latin typeface="Inter"/>
                <a:cs typeface="Inter"/>
              </a:rPr>
              <a:t>Inter · tinta #161616 · esquinas rectas</a:t>
            </a:r>
          </a:p>
        </p:txBody>
      </p:sp>
      <p:sp>
        <p:nvSpPr>
          <p:cNvPr id="19" name="Rectangle 18"/>
          <p:cNvSpPr/>
          <p:nvPr/>
        </p:nvSpPr>
        <p:spPr>
          <a:xfrm>
            <a:off x="8051800" y="1857756"/>
            <a:ext cx="3530600" cy="2540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42300" y="2035556"/>
            <a:ext cx="635000" cy="1905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03</a:t>
            </a:r>
          </a:p>
        </p:txBody>
      </p:sp>
      <p:sp>
        <p:nvSpPr>
          <p:cNvPr id="21" name="TextBox 20"/>
          <p:cNvSpPr txBox="1"/>
          <p:nvPr/>
        </p:nvSpPr>
        <p:spPr>
          <a:xfrm>
            <a:off x="8242300" y="2327656"/>
            <a:ext cx="3149600" cy="571500"/>
          </a:xfrm>
          <a:prstGeom prst="rect">
            <a:avLst/>
          </a:prstGeom>
          <a:noFill/>
          <a:effectLst/>
        </p:spPr>
        <p:txBody>
          <a:bodyPr wrap="square" lIns="0" rIns="0" tIns="0" bIns="0" anchor="t"/>
          <a:lstStyle/>
          <a:p>
            <a:pPr algn="l">
              <a:lnSpc>
                <a:spcPts val="1839"/>
              </a:lnSpc>
            </a:pPr>
            <a:r>
              <a:rPr sz="1600" b="1" spc="-32" dirty="0">
                <a:solidFill>
                  <a:srgbClr val="161616"/>
                </a:solidFill>
                <a:latin typeface="Inter"/>
                <a:cs typeface="Inter"/>
              </a:rPr>
              <a:t>Cada plantilla trae ficha</a:t>
            </a:r>
          </a:p>
        </p:txBody>
      </p:sp>
      <p:sp>
        <p:nvSpPr>
          <p:cNvPr id="22" name="TextBox 21"/>
          <p:cNvSpPr txBox="1"/>
          <p:nvPr/>
        </p:nvSpPr>
        <p:spPr>
          <a:xfrm>
            <a:off x="8242300" y="3013456"/>
            <a:ext cx="3149600" cy="1016000"/>
          </a:xfrm>
          <a:prstGeom prst="rect">
            <a:avLst/>
          </a:prstGeom>
          <a:noFill/>
          <a:effectLst/>
        </p:spPr>
        <p:txBody>
          <a:bodyPr wrap="square" lIns="0" rIns="0" tIns="0" bIns="0" anchor="t"/>
          <a:lstStyle/>
          <a:p>
            <a:pPr algn="l">
              <a:lnSpc>
                <a:spcPts val="1575"/>
              </a:lnSpc>
            </a:pPr>
            <a:r>
              <a:rPr sz="1050" b="0" dirty="0">
                <a:solidFill>
                  <a:srgbClr val="525252"/>
                </a:solidFill>
                <a:latin typeface="Inter"/>
                <a:cs typeface="Inter"/>
              </a:rPr>
              <a:t>En las notas del ponente de cada plantilla están sus zonas de texto, los límites de caracteres y cuándo usarla o no.</a:t>
            </a:r>
          </a:p>
        </p:txBody>
      </p:sp>
      <p:cxnSp>
        <p:nvCxnSpPr>
          <p:cNvPr id="23" name="Connector 22"/>
          <p:cNvCxnSpPr/>
          <p:nvPr/>
        </p:nvCxnSpPr>
        <p:spPr>
          <a:xfrm>
            <a:off x="8242300" y="3953256"/>
            <a:ext cx="31496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42300" y="4067556"/>
            <a:ext cx="3149600" cy="254000"/>
          </a:xfrm>
          <a:prstGeom prst="rect">
            <a:avLst/>
          </a:prstGeom>
          <a:noFill/>
          <a:effectLst/>
        </p:spPr>
        <p:txBody>
          <a:bodyPr wrap="square" lIns="0" rIns="0" tIns="0" bIns="0" anchor="t"/>
          <a:lstStyle/>
          <a:p>
            <a:pPr algn="l">
              <a:lnSpc>
                <a:spcPts val="975"/>
              </a:lnSpc>
            </a:pPr>
            <a:r>
              <a:rPr sz="750" b="1" spc="75" dirty="0">
                <a:solidFill>
                  <a:srgbClr val="8D8D8D"/>
                </a:solidFill>
                <a:latin typeface="Inter"/>
                <a:cs typeface="Inter"/>
              </a:rPr>
              <a:t>Ver › Notas del ponente</a:t>
            </a:r>
          </a:p>
        </p:txBody>
      </p:sp>
      <p:sp>
        <p:nvSpPr>
          <p:cNvPr id="25" name="Rectangle 24"/>
          <p:cNvSpPr/>
          <p:nvPr/>
        </p:nvSpPr>
        <p:spPr>
          <a:xfrm>
            <a:off x="609600" y="4651756"/>
            <a:ext cx="10972800" cy="5842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09600" y="4651756"/>
            <a:ext cx="3175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00100" y="4651756"/>
            <a:ext cx="1905000" cy="584200"/>
          </a:xfrm>
          <a:prstGeom prst="rect">
            <a:avLst/>
          </a:prstGeom>
          <a:noFill/>
          <a:effectLst/>
        </p:spPr>
        <p:txBody>
          <a:bodyPr wrap="square" lIns="0" rIns="0" tIns="0" bIns="0" anchor="ctr"/>
          <a:lstStyle/>
          <a:p>
            <a:pPr algn="l">
              <a:lnSpc>
                <a:spcPts val="700"/>
              </a:lnSpc>
            </a:pPr>
            <a:r>
              <a:rPr sz="700" b="1" spc="98" dirty="0">
                <a:solidFill>
                  <a:srgbClr val="6F6F6F"/>
                </a:solidFill>
                <a:latin typeface="Inter"/>
                <a:cs typeface="Inter"/>
              </a:rPr>
              <a:t>PEGAR SIN ROMPER</a:t>
            </a:r>
          </a:p>
        </p:txBody>
      </p:sp>
      <p:sp>
        <p:nvSpPr>
          <p:cNvPr id="28" name="TextBox 27"/>
          <p:cNvSpPr txBox="1"/>
          <p:nvPr/>
        </p:nvSpPr>
        <p:spPr>
          <a:xfrm>
            <a:off x="2705100" y="4651756"/>
            <a:ext cx="8686800" cy="584200"/>
          </a:xfrm>
          <a:prstGeom prst="rect">
            <a:avLst/>
          </a:prstGeom>
          <a:noFill/>
          <a:effectLst/>
        </p:spPr>
        <p:txBody>
          <a:bodyPr wrap="square" lIns="0" rIns="0" tIns="0" bIns="0" anchor="ctr"/>
          <a:lstStyle/>
          <a:p>
            <a:pPr algn="l">
              <a:lnSpc>
                <a:spcPts val="1400"/>
              </a:lnSpc>
            </a:pPr>
            <a:r>
              <a:rPr sz="1000" b="0" dirty="0">
                <a:solidFill>
                  <a:srgbClr val="525252"/>
                </a:solidFill>
                <a:latin typeface="Inter"/>
                <a:cs typeface="Inter"/>
              </a:rPr>
              <a:t>PowerPoint y Keynote: Pegar › Mantener formato de origen.   ·   Google Slides: Archivo › Importar diapositivas › Mantener tema original.   ·   Instala Inter antes de abrir el archivo.</a:t>
            </a:r>
          </a:p>
        </p:txBody>
      </p:sp>
      <p:cxnSp>
        <p:nvCxnSpPr>
          <p:cNvPr id="29" name="Connector 28"/>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4" name="TextBox 33"/>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GUÍA · 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6578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6350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PROCESO OFICIAL · PROFESORADO</a:t>
            </a:r>
          </a:p>
        </p:txBody>
      </p:sp>
      <p:sp>
        <p:nvSpPr>
          <p:cNvPr id="4" name="TextBox 3"/>
          <p:cNvSpPr txBox="1"/>
          <p:nvPr/>
        </p:nvSpPr>
        <p:spPr>
          <a:xfrm>
            <a:off x="609600" y="889000"/>
            <a:ext cx="8178800" cy="373888"/>
          </a:xfrm>
          <a:prstGeom prst="rect">
            <a:avLst/>
          </a:prstGeom>
          <a:noFill/>
          <a:effectLst/>
        </p:spPr>
        <p:txBody>
          <a:bodyPr wrap="square" lIns="0" rIns="0" tIns="0" bIns="0" anchor="t"/>
          <a:lstStyle/>
          <a:p>
            <a:pPr algn="l">
              <a:lnSpc>
                <a:spcPts val="2544"/>
              </a:lnSpc>
            </a:pPr>
            <a:r>
              <a:rPr sz="2400" b="1" spc="-72" dirty="0">
                <a:solidFill>
                  <a:srgbClr val="161616"/>
                </a:solidFill>
                <a:latin typeface="Inter"/>
                <a:cs typeface="Inter"/>
              </a:rPr>
              <a:t>Cómo se crea un módulo, paso a paso</a:t>
            </a:r>
          </a:p>
        </p:txBody>
      </p:sp>
      <p:sp>
        <p:nvSpPr>
          <p:cNvPr id="5" name="TextBox 4"/>
          <p:cNvSpPr txBox="1"/>
          <p:nvPr/>
        </p:nvSpPr>
        <p:spPr>
          <a:xfrm>
            <a:off x="609600" y="1346200"/>
            <a:ext cx="9110133" cy="215900"/>
          </a:xfrm>
          <a:prstGeom prst="rect">
            <a:avLst/>
          </a:prstGeom>
          <a:noFill/>
          <a:effectLst/>
        </p:spPr>
        <p:txBody>
          <a:bodyPr wrap="square" lIns="0" rIns="0" tIns="0" bIns="0" anchor="t"/>
          <a:lstStyle/>
          <a:p>
            <a:pPr algn="l">
              <a:lnSpc>
                <a:spcPts val="1620"/>
              </a:lnSpc>
            </a:pPr>
            <a:r>
              <a:rPr sz="1200" b="0" dirty="0">
                <a:solidFill>
                  <a:srgbClr val="6F6F6F"/>
                </a:solidFill>
                <a:latin typeface="Inter"/>
                <a:cs typeface="Inter"/>
              </a:rPr>
              <a:t>De la primera fuente a la clase cerrada: 4 fases, 9 pasos, 14 días.</a:t>
            </a:r>
          </a:p>
        </p:txBody>
      </p:sp>
      <p:sp>
        <p:nvSpPr>
          <p:cNvPr id="6" name="TextBox 5"/>
          <p:cNvSpPr txBox="1"/>
          <p:nvPr/>
        </p:nvSpPr>
        <p:spPr>
          <a:xfrm>
            <a:off x="8280400" y="635000"/>
            <a:ext cx="3302000" cy="165100"/>
          </a:xfrm>
          <a:prstGeom prst="rect">
            <a:avLst/>
          </a:prstGeom>
          <a:noFill/>
          <a:effectLst/>
        </p:spPr>
        <p:txBody>
          <a:bodyPr wrap="square" lIns="0" rIns="0" tIns="0" bIns="0" anchor="t"/>
          <a:lstStyle/>
          <a:p>
            <a:pPr algn="r">
              <a:lnSpc>
                <a:spcPts val="700"/>
              </a:lnSpc>
            </a:pPr>
            <a:r>
              <a:rPr sz="700" b="1" spc="126" dirty="0">
                <a:solidFill>
                  <a:srgbClr val="8D8D8D"/>
                </a:solidFill>
                <a:latin typeface="Inter"/>
                <a:cs typeface="Inter"/>
              </a:rPr>
              <a:t>HOJA PRINCIPAL</a:t>
            </a:r>
          </a:p>
        </p:txBody>
      </p:sp>
      <p:cxnSp>
        <p:nvCxnSpPr>
          <p:cNvPr id="7" name="Connector 6"/>
          <p:cNvCxnSpPr/>
          <p:nvPr/>
        </p:nvCxnSpPr>
        <p:spPr>
          <a:xfrm>
            <a:off x="609600" y="1701800"/>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9600" y="1943100"/>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11518900" y="1903730"/>
            <a:ext cx="63500" cy="78740"/>
          </a:xfrm>
          <a:custGeom>
            <a:avLst/>
            <a:gdLst/>
            <a:ahLst/>
            <a:cxnLst/>
            <a:rect l="l" t="t" r="r" b="b"/>
            <a:pathLst>
              <a:path w="63500" h="78740">
                <a:moveTo>
                  <a:pt x="63500" y="39370"/>
                </a:moveTo>
                <a:lnTo>
                  <a:pt x="0" y="0"/>
                </a:lnTo>
                <a:lnTo>
                  <a:pt x="0" y="78740"/>
                </a:lnTo>
                <a:close/>
              </a:path>
            </a:pathLst>
          </a:cu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609600" y="1898650"/>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98500" y="1866900"/>
            <a:ext cx="1905000" cy="152400"/>
          </a:xfrm>
          <a:prstGeom prst="rect">
            <a:avLst/>
          </a:prstGeom>
          <a:noFill/>
          <a:effectLst/>
        </p:spPr>
        <p:txBody>
          <a:bodyPr wrap="square" lIns="0" rIns="0" tIns="0" bIns="0" anchor="t"/>
          <a:lstStyle/>
          <a:p>
            <a:pPr algn="l">
              <a:lnSpc>
                <a:spcPts val="700"/>
              </a:lnSpc>
            </a:pPr>
            <a:r>
              <a:rPr sz="700" b="1" spc="84" dirty="0">
                <a:solidFill>
                  <a:srgbClr val="6F6F6F"/>
                </a:solidFill>
                <a:latin typeface="Inter"/>
                <a:cs typeface="Inter"/>
              </a:rPr>
              <a:t>D-14 → D-7</a:t>
            </a:r>
          </a:p>
        </p:txBody>
      </p:sp>
      <p:cxnSp>
        <p:nvCxnSpPr>
          <p:cNvPr id="12" name="Connector 11"/>
          <p:cNvCxnSpPr/>
          <p:nvPr/>
        </p:nvCxnSpPr>
        <p:spPr>
          <a:xfrm>
            <a:off x="3390900" y="1898650"/>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479800" y="1866900"/>
            <a:ext cx="1905000" cy="152400"/>
          </a:xfrm>
          <a:prstGeom prst="rect">
            <a:avLst/>
          </a:prstGeom>
          <a:noFill/>
          <a:effectLst/>
        </p:spPr>
        <p:txBody>
          <a:bodyPr wrap="square" lIns="0" rIns="0" tIns="0" bIns="0" anchor="t"/>
          <a:lstStyle/>
          <a:p>
            <a:pPr algn="l">
              <a:lnSpc>
                <a:spcPts val="700"/>
              </a:lnSpc>
            </a:pPr>
            <a:r>
              <a:rPr sz="700" b="1" spc="84" dirty="0">
                <a:solidFill>
                  <a:srgbClr val="6F6F6F"/>
                </a:solidFill>
                <a:latin typeface="Inter"/>
                <a:cs typeface="Inter"/>
              </a:rPr>
              <a:t>D-7 → D-3</a:t>
            </a:r>
          </a:p>
        </p:txBody>
      </p:sp>
      <p:cxnSp>
        <p:nvCxnSpPr>
          <p:cNvPr id="14" name="Connector 13"/>
          <p:cNvCxnSpPr/>
          <p:nvPr/>
        </p:nvCxnSpPr>
        <p:spPr>
          <a:xfrm>
            <a:off x="6172200" y="1898650"/>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61100" y="1866900"/>
            <a:ext cx="1905000" cy="152400"/>
          </a:xfrm>
          <a:prstGeom prst="rect">
            <a:avLst/>
          </a:prstGeom>
          <a:noFill/>
          <a:effectLst/>
        </p:spPr>
        <p:txBody>
          <a:bodyPr wrap="square" lIns="0" rIns="0" tIns="0" bIns="0" anchor="t"/>
          <a:lstStyle/>
          <a:p>
            <a:pPr algn="l">
              <a:lnSpc>
                <a:spcPts val="700"/>
              </a:lnSpc>
            </a:pPr>
            <a:r>
              <a:rPr sz="700" b="1" spc="84" dirty="0">
                <a:solidFill>
                  <a:srgbClr val="6F6F6F"/>
                </a:solidFill>
                <a:latin typeface="Inter"/>
                <a:cs typeface="Inter"/>
              </a:rPr>
              <a:t>D-3 → D-1</a:t>
            </a:r>
          </a:p>
        </p:txBody>
      </p:sp>
      <p:cxnSp>
        <p:nvCxnSpPr>
          <p:cNvPr id="16" name="Connector 15"/>
          <p:cNvCxnSpPr/>
          <p:nvPr/>
        </p:nvCxnSpPr>
        <p:spPr>
          <a:xfrm>
            <a:off x="8953500" y="1898650"/>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042400" y="1866900"/>
            <a:ext cx="1905000" cy="152400"/>
          </a:xfrm>
          <a:prstGeom prst="rect">
            <a:avLst/>
          </a:prstGeom>
          <a:noFill/>
          <a:effectLst/>
        </p:spPr>
        <p:txBody>
          <a:bodyPr wrap="square" lIns="0" rIns="0" tIns="0" bIns="0" anchor="t"/>
          <a:lstStyle/>
          <a:p>
            <a:pPr algn="l">
              <a:lnSpc>
                <a:spcPts val="700"/>
              </a:lnSpc>
            </a:pPr>
            <a:r>
              <a:rPr sz="700" b="1" spc="84" dirty="0">
                <a:solidFill>
                  <a:srgbClr val="6F6F6F"/>
                </a:solidFill>
                <a:latin typeface="Inter"/>
                <a:cs typeface="Inter"/>
              </a:rPr>
              <a:t>DÍA 0 → D+7</a:t>
            </a:r>
          </a:p>
        </p:txBody>
      </p:sp>
      <p:sp>
        <p:nvSpPr>
          <p:cNvPr id="18" name="Rectangle 17"/>
          <p:cNvSpPr/>
          <p:nvPr/>
        </p:nvSpPr>
        <p:spPr>
          <a:xfrm>
            <a:off x="609600" y="2095500"/>
            <a:ext cx="2628900" cy="31242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09600" y="2095500"/>
            <a:ext cx="2628900" cy="6604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2000" y="2235200"/>
            <a:ext cx="2324100" cy="152400"/>
          </a:xfrm>
          <a:prstGeom prst="rect">
            <a:avLst/>
          </a:prstGeom>
          <a:noFill/>
          <a:effectLst/>
        </p:spPr>
        <p:txBody>
          <a:bodyPr wrap="square" lIns="0" rIns="0" tIns="0" bIns="0" anchor="t"/>
          <a:lstStyle/>
          <a:p>
            <a:pPr algn="l">
              <a:lnSpc>
                <a:spcPts val="700"/>
              </a:lnSpc>
            </a:pPr>
            <a:r>
              <a:rPr sz="700" b="1" spc="126" dirty="0">
                <a:solidFill>
                  <a:srgbClr val="8C8C8C"/>
                </a:solidFill>
                <a:latin typeface="Inter"/>
                <a:cs typeface="Inter"/>
              </a:rPr>
              <a:t>FASE 1</a:t>
            </a:r>
          </a:p>
        </p:txBody>
      </p:sp>
      <p:sp>
        <p:nvSpPr>
          <p:cNvPr id="21" name="TextBox 20"/>
          <p:cNvSpPr txBox="1"/>
          <p:nvPr/>
        </p:nvSpPr>
        <p:spPr>
          <a:xfrm>
            <a:off x="762000" y="2425700"/>
            <a:ext cx="2324100" cy="254000"/>
          </a:xfrm>
          <a:prstGeom prst="rect">
            <a:avLst/>
          </a:prstGeom>
          <a:noFill/>
          <a:effectLst/>
        </p:spPr>
        <p:txBody>
          <a:bodyPr wrap="square" lIns="0" rIns="0" tIns="0" bIns="0" anchor="t"/>
          <a:lstStyle/>
          <a:p>
            <a:pPr algn="l">
              <a:lnSpc>
                <a:spcPts val="1600"/>
              </a:lnSpc>
            </a:pPr>
            <a:r>
              <a:rPr sz="1600" b="1" spc="-32" dirty="0">
                <a:solidFill>
                  <a:srgbClr val="FFFFFF"/>
                </a:solidFill>
                <a:latin typeface="Inter"/>
                <a:cs typeface="Inter"/>
              </a:rPr>
              <a:t>PREPARAR</a:t>
            </a:r>
          </a:p>
        </p:txBody>
      </p:sp>
      <p:sp>
        <p:nvSpPr>
          <p:cNvPr id="22" name="TextBox 21"/>
          <p:cNvSpPr txBox="1"/>
          <p:nvPr/>
        </p:nvSpPr>
        <p:spPr>
          <a:xfrm>
            <a:off x="762000" y="2882900"/>
            <a:ext cx="2324100" cy="1524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NOTEBOOKLM</a:t>
            </a:r>
          </a:p>
        </p:txBody>
      </p:sp>
      <p:cxnSp>
        <p:nvCxnSpPr>
          <p:cNvPr id="23" name="Connector 22"/>
          <p:cNvCxnSpPr/>
          <p:nvPr/>
        </p:nvCxnSpPr>
        <p:spPr>
          <a:xfrm>
            <a:off x="762000" y="30988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62000" y="32004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01</a:t>
            </a:r>
          </a:p>
        </p:txBody>
      </p:sp>
      <p:sp>
        <p:nvSpPr>
          <p:cNvPr id="25" name="TextBox 24"/>
          <p:cNvSpPr txBox="1"/>
          <p:nvPr/>
        </p:nvSpPr>
        <p:spPr>
          <a:xfrm>
            <a:off x="1066800" y="31750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Reúne las fuentes</a:t>
            </a:r>
          </a:p>
        </p:txBody>
      </p:sp>
      <p:sp>
        <p:nvSpPr>
          <p:cNvPr id="26" name="TextBox 25"/>
          <p:cNvSpPr txBox="1"/>
          <p:nvPr/>
        </p:nvSpPr>
        <p:spPr>
          <a:xfrm>
            <a:off x="1066800" y="33909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5–12 documentos del curso</a:t>
            </a:r>
          </a:p>
        </p:txBody>
      </p:sp>
      <p:cxnSp>
        <p:nvCxnSpPr>
          <p:cNvPr id="27" name="Connector 26"/>
          <p:cNvCxnSpPr/>
          <p:nvPr/>
        </p:nvCxnSpPr>
        <p:spPr>
          <a:xfrm>
            <a:off x="762000" y="36322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62000" y="37338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02</a:t>
            </a:r>
          </a:p>
        </p:txBody>
      </p:sp>
      <p:sp>
        <p:nvSpPr>
          <p:cNvPr id="29" name="TextBox 28"/>
          <p:cNvSpPr txBox="1"/>
          <p:nvPr/>
        </p:nvSpPr>
        <p:spPr>
          <a:xfrm>
            <a:off x="1066800" y="37084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Genera el guion</a:t>
            </a:r>
          </a:p>
        </p:txBody>
      </p:sp>
      <p:sp>
        <p:nvSpPr>
          <p:cNvPr id="30" name="TextBox 29"/>
          <p:cNvSpPr txBox="1"/>
          <p:nvPr/>
        </p:nvSpPr>
        <p:spPr>
          <a:xfrm>
            <a:off x="1066800" y="39243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Bloques, minutos y ejercicios</a:t>
            </a:r>
          </a:p>
        </p:txBody>
      </p:sp>
      <p:cxnSp>
        <p:nvCxnSpPr>
          <p:cNvPr id="31" name="Connector 30"/>
          <p:cNvCxnSpPr/>
          <p:nvPr/>
        </p:nvCxnSpPr>
        <p:spPr>
          <a:xfrm>
            <a:off x="762000" y="4724400"/>
            <a:ext cx="23241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62000" y="4813300"/>
            <a:ext cx="2324100" cy="1397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33" name="TextBox 32"/>
          <p:cNvSpPr txBox="1"/>
          <p:nvPr/>
        </p:nvSpPr>
        <p:spPr>
          <a:xfrm>
            <a:off x="762000" y="4978400"/>
            <a:ext cx="2324100" cy="1905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Guion de 4 h verificado</a:t>
            </a:r>
          </a:p>
        </p:txBody>
      </p:sp>
      <p:cxnSp>
        <p:nvCxnSpPr>
          <p:cNvPr id="34" name="Connector 33"/>
          <p:cNvCxnSpPr/>
          <p:nvPr/>
        </p:nvCxnSpPr>
        <p:spPr>
          <a:xfrm>
            <a:off x="3251200" y="2438400"/>
            <a:ext cx="1270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3327400" y="2406904"/>
            <a:ext cx="50800" cy="62992"/>
          </a:xfrm>
          <a:custGeom>
            <a:avLst/>
            <a:gdLst/>
            <a:ahLst/>
            <a:cxnLst/>
            <a:rect l="l" t="t" r="r" b="b"/>
            <a:pathLst>
              <a:path w="50800" h="62992">
                <a:moveTo>
                  <a:pt x="50800" y="31496"/>
                </a:moveTo>
                <a:lnTo>
                  <a:pt x="0" y="0"/>
                </a:lnTo>
                <a:lnTo>
                  <a:pt x="0" y="62992"/>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900" y="2095500"/>
            <a:ext cx="2628900" cy="31242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390900" y="2095500"/>
            <a:ext cx="2628900" cy="6604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543300" y="2235200"/>
            <a:ext cx="2324100" cy="152400"/>
          </a:xfrm>
          <a:prstGeom prst="rect">
            <a:avLst/>
          </a:prstGeom>
          <a:noFill/>
          <a:effectLst/>
        </p:spPr>
        <p:txBody>
          <a:bodyPr wrap="square" lIns="0" rIns="0" tIns="0" bIns="0" anchor="t"/>
          <a:lstStyle/>
          <a:p>
            <a:pPr algn="l">
              <a:lnSpc>
                <a:spcPts val="700"/>
              </a:lnSpc>
            </a:pPr>
            <a:r>
              <a:rPr sz="700" b="1" spc="126" dirty="0">
                <a:solidFill>
                  <a:srgbClr val="8C8C8C"/>
                </a:solidFill>
                <a:latin typeface="Inter"/>
                <a:cs typeface="Inter"/>
              </a:rPr>
              <a:t>FASE 2</a:t>
            </a:r>
          </a:p>
        </p:txBody>
      </p:sp>
      <p:sp>
        <p:nvSpPr>
          <p:cNvPr id="39" name="TextBox 38"/>
          <p:cNvSpPr txBox="1"/>
          <p:nvPr/>
        </p:nvSpPr>
        <p:spPr>
          <a:xfrm>
            <a:off x="3543300" y="2425700"/>
            <a:ext cx="2324100" cy="254000"/>
          </a:xfrm>
          <a:prstGeom prst="rect">
            <a:avLst/>
          </a:prstGeom>
          <a:noFill/>
          <a:effectLst/>
        </p:spPr>
        <p:txBody>
          <a:bodyPr wrap="square" lIns="0" rIns="0" tIns="0" bIns="0" anchor="t"/>
          <a:lstStyle/>
          <a:p>
            <a:pPr algn="l">
              <a:lnSpc>
                <a:spcPts val="1600"/>
              </a:lnSpc>
            </a:pPr>
            <a:r>
              <a:rPr sz="1600" b="1" spc="-32" dirty="0">
                <a:solidFill>
                  <a:srgbClr val="FFFFFF"/>
                </a:solidFill>
                <a:latin typeface="Inter"/>
                <a:cs typeface="Inter"/>
              </a:rPr>
              <a:t>DISEÑAR</a:t>
            </a:r>
          </a:p>
        </p:txBody>
      </p:sp>
      <p:sp>
        <p:nvSpPr>
          <p:cNvPr id="40" name="TextBox 39"/>
          <p:cNvSpPr txBox="1"/>
          <p:nvPr/>
        </p:nvSpPr>
        <p:spPr>
          <a:xfrm>
            <a:off x="3543300" y="2882900"/>
            <a:ext cx="2324100" cy="1524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ESTAS PLANTILLAS</a:t>
            </a:r>
          </a:p>
        </p:txBody>
      </p:sp>
      <p:cxnSp>
        <p:nvCxnSpPr>
          <p:cNvPr id="41" name="Connector 40"/>
          <p:cNvCxnSpPr/>
          <p:nvPr/>
        </p:nvCxnSpPr>
        <p:spPr>
          <a:xfrm>
            <a:off x="3543300" y="30988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543300" y="32004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03</a:t>
            </a:r>
          </a:p>
        </p:txBody>
      </p:sp>
      <p:sp>
        <p:nvSpPr>
          <p:cNvPr id="43" name="TextBox 42"/>
          <p:cNvSpPr txBox="1"/>
          <p:nvPr/>
        </p:nvSpPr>
        <p:spPr>
          <a:xfrm>
            <a:off x="3848100" y="31750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Elige los códigos</a:t>
            </a:r>
          </a:p>
        </p:txBody>
      </p:sp>
      <p:sp>
        <p:nvSpPr>
          <p:cNvPr id="44" name="TextBox 43"/>
          <p:cNvSpPr txBox="1"/>
          <p:nvPr/>
        </p:nvSpPr>
        <p:spPr>
          <a:xfrm>
            <a:off x="3848100" y="33909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Una plantilla por diapositiva</a:t>
            </a:r>
          </a:p>
        </p:txBody>
      </p:sp>
      <p:cxnSp>
        <p:nvCxnSpPr>
          <p:cNvPr id="45" name="Connector 44"/>
          <p:cNvCxnSpPr/>
          <p:nvPr/>
        </p:nvCxnSpPr>
        <p:spPr>
          <a:xfrm>
            <a:off x="3543300" y="36322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543300" y="37338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04</a:t>
            </a:r>
          </a:p>
        </p:txBody>
      </p:sp>
      <p:sp>
        <p:nvSpPr>
          <p:cNvPr id="47" name="TextBox 46"/>
          <p:cNvSpPr txBox="1"/>
          <p:nvPr/>
        </p:nvSpPr>
        <p:spPr>
          <a:xfrm>
            <a:off x="3848100" y="37084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Monta el deck</a:t>
            </a:r>
          </a:p>
        </p:txBody>
      </p:sp>
      <p:sp>
        <p:nvSpPr>
          <p:cNvPr id="48" name="TextBox 47"/>
          <p:cNvSpPr txBox="1"/>
          <p:nvPr/>
        </p:nvSpPr>
        <p:spPr>
          <a:xfrm>
            <a:off x="3848100" y="39243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40–50 diapositivas, 16:9</a:t>
            </a:r>
          </a:p>
        </p:txBody>
      </p:sp>
      <p:cxnSp>
        <p:nvCxnSpPr>
          <p:cNvPr id="49" name="Connector 48"/>
          <p:cNvCxnSpPr/>
          <p:nvPr/>
        </p:nvCxnSpPr>
        <p:spPr>
          <a:xfrm>
            <a:off x="3543300" y="41656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543300" y="42672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05</a:t>
            </a:r>
          </a:p>
        </p:txBody>
      </p:sp>
      <p:sp>
        <p:nvSpPr>
          <p:cNvPr id="51" name="TextBox 50"/>
          <p:cNvSpPr txBox="1"/>
          <p:nvPr/>
        </p:nvSpPr>
        <p:spPr>
          <a:xfrm>
            <a:off x="3848100" y="42418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Control de 60 s</a:t>
            </a:r>
          </a:p>
        </p:txBody>
      </p:sp>
      <p:sp>
        <p:nvSpPr>
          <p:cNvPr id="52" name="TextBox 51"/>
          <p:cNvSpPr txBox="1"/>
          <p:nvPr/>
        </p:nvSpPr>
        <p:spPr>
          <a:xfrm>
            <a:off x="3848100" y="44577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PPTX + PDF definitivos</a:t>
            </a:r>
          </a:p>
        </p:txBody>
      </p:sp>
      <p:cxnSp>
        <p:nvCxnSpPr>
          <p:cNvPr id="53" name="Connector 52"/>
          <p:cNvCxnSpPr/>
          <p:nvPr/>
        </p:nvCxnSpPr>
        <p:spPr>
          <a:xfrm>
            <a:off x="3543300" y="4724400"/>
            <a:ext cx="23241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543300" y="4813300"/>
            <a:ext cx="2324100" cy="1397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55" name="TextBox 54"/>
          <p:cNvSpPr txBox="1"/>
          <p:nvPr/>
        </p:nvSpPr>
        <p:spPr>
          <a:xfrm>
            <a:off x="3543300" y="4978400"/>
            <a:ext cx="2324100" cy="1905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Deck listo para clase</a:t>
            </a:r>
          </a:p>
        </p:txBody>
      </p:sp>
      <p:cxnSp>
        <p:nvCxnSpPr>
          <p:cNvPr id="56" name="Connector 55"/>
          <p:cNvCxnSpPr/>
          <p:nvPr/>
        </p:nvCxnSpPr>
        <p:spPr>
          <a:xfrm>
            <a:off x="6032500" y="2438400"/>
            <a:ext cx="1270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7" name="Freeform 56"/>
          <p:cNvSpPr/>
          <p:nvPr/>
        </p:nvSpPr>
        <p:spPr>
          <a:xfrm>
            <a:off x="6108700" y="2406904"/>
            <a:ext cx="50800" cy="62992"/>
          </a:xfrm>
          <a:custGeom>
            <a:avLst/>
            <a:gdLst/>
            <a:ahLst/>
            <a:cxnLst/>
            <a:rect l="l" t="t" r="r" b="b"/>
            <a:pathLst>
              <a:path w="50800" h="62992">
                <a:moveTo>
                  <a:pt x="50800" y="31496"/>
                </a:moveTo>
                <a:lnTo>
                  <a:pt x="0" y="0"/>
                </a:lnTo>
                <a:lnTo>
                  <a:pt x="0" y="62992"/>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72200" y="2095500"/>
            <a:ext cx="2628900" cy="31242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172200" y="2095500"/>
            <a:ext cx="2628900" cy="6604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324600" y="2235200"/>
            <a:ext cx="2324100" cy="152400"/>
          </a:xfrm>
          <a:prstGeom prst="rect">
            <a:avLst/>
          </a:prstGeom>
          <a:noFill/>
          <a:effectLst/>
        </p:spPr>
        <p:txBody>
          <a:bodyPr wrap="square" lIns="0" rIns="0" tIns="0" bIns="0" anchor="t"/>
          <a:lstStyle/>
          <a:p>
            <a:pPr algn="l">
              <a:lnSpc>
                <a:spcPts val="700"/>
              </a:lnSpc>
            </a:pPr>
            <a:r>
              <a:rPr sz="700" b="1" spc="126" dirty="0">
                <a:solidFill>
                  <a:srgbClr val="8C8C8C"/>
                </a:solidFill>
                <a:latin typeface="Inter"/>
                <a:cs typeface="Inter"/>
              </a:rPr>
              <a:t>FASE 3</a:t>
            </a:r>
          </a:p>
        </p:txBody>
      </p:sp>
      <p:sp>
        <p:nvSpPr>
          <p:cNvPr id="61" name="TextBox 60"/>
          <p:cNvSpPr txBox="1"/>
          <p:nvPr/>
        </p:nvSpPr>
        <p:spPr>
          <a:xfrm>
            <a:off x="6324600" y="2425700"/>
            <a:ext cx="2324100" cy="254000"/>
          </a:xfrm>
          <a:prstGeom prst="rect">
            <a:avLst/>
          </a:prstGeom>
          <a:noFill/>
          <a:effectLst/>
        </p:spPr>
        <p:txBody>
          <a:bodyPr wrap="square" lIns="0" rIns="0" tIns="0" bIns="0" anchor="t"/>
          <a:lstStyle/>
          <a:p>
            <a:pPr algn="l">
              <a:lnSpc>
                <a:spcPts val="1600"/>
              </a:lnSpc>
            </a:pPr>
            <a:r>
              <a:rPr sz="1600" b="1" spc="-32" dirty="0">
                <a:solidFill>
                  <a:srgbClr val="FFFFFF"/>
                </a:solidFill>
                <a:latin typeface="Inter"/>
                <a:cs typeface="Inter"/>
              </a:rPr>
              <a:t>MONTAR</a:t>
            </a:r>
          </a:p>
        </p:txBody>
      </p:sp>
      <p:sp>
        <p:nvSpPr>
          <p:cNvPr id="62" name="TextBox 61"/>
          <p:cNvSpPr txBox="1"/>
          <p:nvPr/>
        </p:nvSpPr>
        <p:spPr>
          <a:xfrm>
            <a:off x="6324600" y="2882900"/>
            <a:ext cx="2324100" cy="1524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GOOGLE CLASSROOM</a:t>
            </a:r>
          </a:p>
        </p:txBody>
      </p:sp>
      <p:cxnSp>
        <p:nvCxnSpPr>
          <p:cNvPr id="63" name="Connector 62"/>
          <p:cNvCxnSpPr/>
          <p:nvPr/>
        </p:nvCxnSpPr>
        <p:spPr>
          <a:xfrm>
            <a:off x="6324600" y="30988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324600" y="32004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06</a:t>
            </a:r>
          </a:p>
        </p:txBody>
      </p:sp>
      <p:sp>
        <p:nvSpPr>
          <p:cNvPr id="65" name="TextBox 64"/>
          <p:cNvSpPr txBox="1"/>
          <p:nvPr/>
        </p:nvSpPr>
        <p:spPr>
          <a:xfrm>
            <a:off x="6629400" y="31750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Crea el Tema del módulo</a:t>
            </a:r>
          </a:p>
        </p:txBody>
      </p:sp>
      <p:sp>
        <p:nvSpPr>
          <p:cNvPr id="66" name="TextBox 65"/>
          <p:cNvSpPr txBox="1"/>
          <p:nvPr/>
        </p:nvSpPr>
        <p:spPr>
          <a:xfrm>
            <a:off x="6629400" y="33909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Material publicado antes</a:t>
            </a:r>
          </a:p>
        </p:txBody>
      </p:sp>
      <p:cxnSp>
        <p:nvCxnSpPr>
          <p:cNvPr id="67" name="Connector 66"/>
          <p:cNvCxnSpPr/>
          <p:nvPr/>
        </p:nvCxnSpPr>
        <p:spPr>
          <a:xfrm>
            <a:off x="6324600" y="36322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324600" y="37338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07</a:t>
            </a:r>
          </a:p>
        </p:txBody>
      </p:sp>
      <p:sp>
        <p:nvSpPr>
          <p:cNvPr id="69" name="TextBox 68"/>
          <p:cNvSpPr txBox="1"/>
          <p:nvPr/>
        </p:nvSpPr>
        <p:spPr>
          <a:xfrm>
            <a:off x="6629400" y="37084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Publica la tarea</a:t>
            </a:r>
          </a:p>
        </p:txBody>
      </p:sp>
      <p:sp>
        <p:nvSpPr>
          <p:cNvPr id="70" name="TextBox 69"/>
          <p:cNvSpPr txBox="1"/>
          <p:nvPr/>
        </p:nvSpPr>
        <p:spPr>
          <a:xfrm>
            <a:off x="6629400" y="39243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Entregable, rúbrica y plazo</a:t>
            </a:r>
          </a:p>
        </p:txBody>
      </p:sp>
      <p:cxnSp>
        <p:nvCxnSpPr>
          <p:cNvPr id="71" name="Connector 70"/>
          <p:cNvCxnSpPr/>
          <p:nvPr/>
        </p:nvCxnSpPr>
        <p:spPr>
          <a:xfrm>
            <a:off x="6324600" y="4724400"/>
            <a:ext cx="23241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324600" y="4813300"/>
            <a:ext cx="2324100" cy="1397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73" name="TextBox 72"/>
          <p:cNvSpPr txBox="1"/>
          <p:nvPr/>
        </p:nvSpPr>
        <p:spPr>
          <a:xfrm>
            <a:off x="6324600" y="4978400"/>
            <a:ext cx="2324100" cy="1905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Módulo publicado</a:t>
            </a:r>
          </a:p>
        </p:txBody>
      </p:sp>
      <p:cxnSp>
        <p:nvCxnSpPr>
          <p:cNvPr id="74" name="Connector 73"/>
          <p:cNvCxnSpPr/>
          <p:nvPr/>
        </p:nvCxnSpPr>
        <p:spPr>
          <a:xfrm>
            <a:off x="8813800" y="2438400"/>
            <a:ext cx="1270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5" name="Freeform 74"/>
          <p:cNvSpPr/>
          <p:nvPr/>
        </p:nvSpPr>
        <p:spPr>
          <a:xfrm>
            <a:off x="8890000" y="2406904"/>
            <a:ext cx="50800" cy="62992"/>
          </a:xfrm>
          <a:custGeom>
            <a:avLst/>
            <a:gdLst/>
            <a:ahLst/>
            <a:cxnLst/>
            <a:rect l="l" t="t" r="r" b="b"/>
            <a:pathLst>
              <a:path w="50800" h="62992">
                <a:moveTo>
                  <a:pt x="50800" y="31496"/>
                </a:moveTo>
                <a:lnTo>
                  <a:pt x="0" y="0"/>
                </a:lnTo>
                <a:lnTo>
                  <a:pt x="0" y="62992"/>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53500" y="2095500"/>
            <a:ext cx="2628900" cy="31242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8953500" y="2095500"/>
            <a:ext cx="2628900" cy="6604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9105900" y="2235200"/>
            <a:ext cx="2324100" cy="152400"/>
          </a:xfrm>
          <a:prstGeom prst="rect">
            <a:avLst/>
          </a:prstGeom>
          <a:noFill/>
          <a:effectLst/>
        </p:spPr>
        <p:txBody>
          <a:bodyPr wrap="square" lIns="0" rIns="0" tIns="0" bIns="0" anchor="t"/>
          <a:lstStyle/>
          <a:p>
            <a:pPr algn="l">
              <a:lnSpc>
                <a:spcPts val="700"/>
              </a:lnSpc>
            </a:pPr>
            <a:r>
              <a:rPr sz="700" b="1" spc="126" dirty="0">
                <a:solidFill>
                  <a:srgbClr val="8C8C8C"/>
                </a:solidFill>
                <a:latin typeface="Inter"/>
                <a:cs typeface="Inter"/>
              </a:rPr>
              <a:t>FASE 4</a:t>
            </a:r>
          </a:p>
        </p:txBody>
      </p:sp>
      <p:sp>
        <p:nvSpPr>
          <p:cNvPr id="79" name="TextBox 78"/>
          <p:cNvSpPr txBox="1"/>
          <p:nvPr/>
        </p:nvSpPr>
        <p:spPr>
          <a:xfrm>
            <a:off x="9105900" y="2425700"/>
            <a:ext cx="2324100" cy="254000"/>
          </a:xfrm>
          <a:prstGeom prst="rect">
            <a:avLst/>
          </a:prstGeom>
          <a:noFill/>
          <a:effectLst/>
        </p:spPr>
        <p:txBody>
          <a:bodyPr wrap="square" lIns="0" rIns="0" tIns="0" bIns="0" anchor="t"/>
          <a:lstStyle/>
          <a:p>
            <a:pPr algn="l">
              <a:lnSpc>
                <a:spcPts val="1600"/>
              </a:lnSpc>
            </a:pPr>
            <a:r>
              <a:rPr sz="1600" b="1" spc="-32" dirty="0">
                <a:solidFill>
                  <a:srgbClr val="FFFFFF"/>
                </a:solidFill>
                <a:latin typeface="Inter"/>
                <a:cs typeface="Inter"/>
              </a:rPr>
              <a:t>IMPARTIR</a:t>
            </a:r>
          </a:p>
        </p:txBody>
      </p:sp>
      <p:sp>
        <p:nvSpPr>
          <p:cNvPr id="80" name="TextBox 79"/>
          <p:cNvSpPr txBox="1"/>
          <p:nvPr/>
        </p:nvSpPr>
        <p:spPr>
          <a:xfrm>
            <a:off x="9105900" y="2882900"/>
            <a:ext cx="2324100" cy="1524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AULA + CAMPUS</a:t>
            </a:r>
          </a:p>
        </p:txBody>
      </p:sp>
      <p:cxnSp>
        <p:nvCxnSpPr>
          <p:cNvPr id="81" name="Connector 80"/>
          <p:cNvCxnSpPr/>
          <p:nvPr/>
        </p:nvCxnSpPr>
        <p:spPr>
          <a:xfrm>
            <a:off x="9105900" y="30988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9105900" y="32004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08</a:t>
            </a:r>
          </a:p>
        </p:txBody>
      </p:sp>
      <p:sp>
        <p:nvSpPr>
          <p:cNvPr id="83" name="TextBox 82"/>
          <p:cNvSpPr txBox="1"/>
          <p:nvPr/>
        </p:nvSpPr>
        <p:spPr>
          <a:xfrm>
            <a:off x="9410700" y="31750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Imparte 4 horas</a:t>
            </a:r>
          </a:p>
        </p:txBody>
      </p:sp>
      <p:sp>
        <p:nvSpPr>
          <p:cNvPr id="84" name="TextBox 83"/>
          <p:cNvSpPr txBox="1"/>
          <p:nvPr/>
        </p:nvSpPr>
        <p:spPr>
          <a:xfrm>
            <a:off x="9410700" y="33909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40 % del tiempo, ejercicio</a:t>
            </a:r>
          </a:p>
        </p:txBody>
      </p:sp>
      <p:cxnSp>
        <p:nvCxnSpPr>
          <p:cNvPr id="85" name="Connector 84"/>
          <p:cNvCxnSpPr/>
          <p:nvPr/>
        </p:nvCxnSpPr>
        <p:spPr>
          <a:xfrm>
            <a:off x="9105900" y="3632200"/>
            <a:ext cx="23241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9105900" y="3733800"/>
            <a:ext cx="279400" cy="152400"/>
          </a:xfrm>
          <a:prstGeom prst="rect">
            <a:avLst/>
          </a:prstGeom>
          <a:noFill/>
          <a:effectLst/>
        </p:spPr>
        <p:txBody>
          <a:bodyPr wrap="square" lIns="0" rIns="0" tIns="0" bIns="0" anchor="t"/>
          <a:lstStyle/>
          <a:p>
            <a:pPr algn="l">
              <a:lnSpc>
                <a:spcPts val="850"/>
              </a:lnSpc>
            </a:pPr>
            <a:r>
              <a:rPr sz="850" b="1" spc="68" dirty="0">
                <a:solidFill>
                  <a:srgbClr val="8D8D8D"/>
                </a:solidFill>
                <a:latin typeface="Inter"/>
                <a:cs typeface="Inter"/>
              </a:rPr>
              <a:t>09</a:t>
            </a:r>
          </a:p>
        </p:txBody>
      </p:sp>
      <p:sp>
        <p:nvSpPr>
          <p:cNvPr id="87" name="TextBox 86"/>
          <p:cNvSpPr txBox="1"/>
          <p:nvPr/>
        </p:nvSpPr>
        <p:spPr>
          <a:xfrm>
            <a:off x="9410700" y="3708400"/>
            <a:ext cx="2019300" cy="2159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Sube, corrige y cierra</a:t>
            </a:r>
          </a:p>
        </p:txBody>
      </p:sp>
      <p:sp>
        <p:nvSpPr>
          <p:cNvPr id="88" name="TextBox 87"/>
          <p:cNvSpPr txBox="1"/>
          <p:nvPr/>
        </p:nvSpPr>
        <p:spPr>
          <a:xfrm>
            <a:off x="9410700" y="3924300"/>
            <a:ext cx="2019300" cy="190500"/>
          </a:xfrm>
          <a:prstGeom prst="rect">
            <a:avLst/>
          </a:prstGeom>
          <a:noFill/>
          <a:effectLst/>
        </p:spPr>
        <p:txBody>
          <a:bodyPr wrap="square" lIns="0" rIns="0" tIns="0" bIns="0" anchor="t"/>
          <a:lstStyle/>
          <a:p>
            <a:pPr algn="l">
              <a:lnSpc>
                <a:spcPts val="1000"/>
              </a:lnSpc>
            </a:pPr>
            <a:r>
              <a:rPr sz="800" b="0" dirty="0">
                <a:solidFill>
                  <a:srgbClr val="6F6F6F"/>
                </a:solidFill>
                <a:latin typeface="Inter"/>
                <a:cs typeface="Inter"/>
              </a:rPr>
              <a:t>Feedback en 7 días</a:t>
            </a:r>
          </a:p>
        </p:txBody>
      </p:sp>
      <p:cxnSp>
        <p:nvCxnSpPr>
          <p:cNvPr id="89" name="Connector 88"/>
          <p:cNvCxnSpPr/>
          <p:nvPr/>
        </p:nvCxnSpPr>
        <p:spPr>
          <a:xfrm>
            <a:off x="9105900" y="4724400"/>
            <a:ext cx="23241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9105900" y="4813300"/>
            <a:ext cx="2324100" cy="1397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91" name="TextBox 90"/>
          <p:cNvSpPr txBox="1"/>
          <p:nvPr/>
        </p:nvSpPr>
        <p:spPr>
          <a:xfrm>
            <a:off x="9105900" y="4978400"/>
            <a:ext cx="2324100" cy="1905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Módulo cerrado</a:t>
            </a:r>
          </a:p>
        </p:txBody>
      </p:sp>
      <p:sp>
        <p:nvSpPr>
          <p:cNvPr id="92" name="Rectangle 91"/>
          <p:cNvSpPr/>
          <p:nvPr/>
        </p:nvSpPr>
        <p:spPr>
          <a:xfrm>
            <a:off x="609600" y="5359400"/>
            <a:ext cx="10972800" cy="6858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825500" y="5499100"/>
            <a:ext cx="1651000" cy="165100"/>
          </a:xfrm>
          <a:prstGeom prst="rect">
            <a:avLst/>
          </a:prstGeom>
          <a:noFill/>
          <a:effectLst/>
        </p:spPr>
        <p:txBody>
          <a:bodyPr wrap="square" lIns="0" rIns="0" tIns="0" bIns="0" anchor="t"/>
          <a:lstStyle/>
          <a:p>
            <a:pPr algn="l">
              <a:lnSpc>
                <a:spcPts val="700"/>
              </a:lnSpc>
            </a:pPr>
            <a:r>
              <a:rPr sz="700" b="1" spc="126" dirty="0">
                <a:solidFill>
                  <a:srgbClr val="FFFFFF"/>
                </a:solidFill>
                <a:latin typeface="Inter"/>
                <a:cs typeface="Inter"/>
              </a:rPr>
              <a:t>SÍ O SÍ</a:t>
            </a:r>
          </a:p>
        </p:txBody>
      </p:sp>
      <p:sp>
        <p:nvSpPr>
          <p:cNvPr id="94" name="TextBox 93"/>
          <p:cNvSpPr txBox="1"/>
          <p:nvPr/>
        </p:nvSpPr>
        <p:spPr>
          <a:xfrm>
            <a:off x="825500" y="5689600"/>
            <a:ext cx="1905000" cy="279400"/>
          </a:xfrm>
          <a:prstGeom prst="rect">
            <a:avLst/>
          </a:prstGeom>
          <a:noFill/>
          <a:effectLst/>
        </p:spPr>
        <p:txBody>
          <a:bodyPr wrap="square" lIns="0" rIns="0" tIns="0" bIns="0" anchor="t"/>
          <a:lstStyle/>
          <a:p>
            <a:pPr algn="l">
              <a:lnSpc>
                <a:spcPts val="1040"/>
              </a:lnSpc>
            </a:pPr>
            <a:r>
              <a:rPr sz="800" b="0" dirty="0">
                <a:solidFill>
                  <a:srgbClr val="9A9A9A"/>
                </a:solidFill>
                <a:latin typeface="Inter"/>
                <a:cs typeface="Inter"/>
              </a:rPr>
              <a:t>Sin esto, el módulo</a:t>
            </a:r>
            <a:br/>
            <a:r>
              <a:rPr sz="800" b="0" dirty="0">
                <a:solidFill>
                  <a:srgbClr val="9A9A9A"/>
                </a:solidFill>
                <a:latin typeface="Inter"/>
                <a:cs typeface="Inter"/>
              </a:rPr>
              <a:t>no se da por entregado.</a:t>
            </a:r>
          </a:p>
        </p:txBody>
      </p:sp>
      <p:sp>
        <p:nvSpPr>
          <p:cNvPr id="95" name="Rectangle 94"/>
          <p:cNvSpPr/>
          <p:nvPr/>
        </p:nvSpPr>
        <p:spPr>
          <a:xfrm>
            <a:off x="3022600" y="5524500"/>
            <a:ext cx="139700" cy="139700"/>
          </a:xfrm>
          <a:prstGeom prst="rect">
            <a:avLst/>
          </a:pr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6" name="Connector 95"/>
          <p:cNvCxnSpPr/>
          <p:nvPr/>
        </p:nvCxnSpPr>
        <p:spPr>
          <a:xfrm>
            <a:off x="3050540" y="5597144"/>
            <a:ext cx="30734" cy="30734"/>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081274" y="5558028"/>
            <a:ext cx="55880" cy="6985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3251200" y="5486400"/>
            <a:ext cx="2497667" cy="444500"/>
          </a:xfrm>
          <a:prstGeom prst="rect">
            <a:avLst/>
          </a:prstGeom>
          <a:noFill/>
          <a:effectLst/>
        </p:spPr>
        <p:txBody>
          <a:bodyPr wrap="square" lIns="0" rIns="0" tIns="0" bIns="0" anchor="t"/>
          <a:lstStyle/>
          <a:p>
            <a:pPr algn="l">
              <a:lnSpc>
                <a:spcPts val="1215"/>
              </a:lnSpc>
            </a:pPr>
            <a:r>
              <a:rPr sz="900" b="0" dirty="0">
                <a:solidFill>
                  <a:srgbClr val="FFFFFF"/>
                </a:solidFill>
                <a:latin typeface="Inter"/>
                <a:cs typeface="Inter"/>
              </a:rPr>
              <a:t>Un deck de diapositivas hecho con estas plantillas</a:t>
            </a:r>
          </a:p>
        </p:txBody>
      </p:sp>
      <p:sp>
        <p:nvSpPr>
          <p:cNvPr id="99" name="Rectangle 98"/>
          <p:cNvSpPr/>
          <p:nvPr/>
        </p:nvSpPr>
        <p:spPr>
          <a:xfrm>
            <a:off x="5926667" y="5524500"/>
            <a:ext cx="139700" cy="139700"/>
          </a:xfrm>
          <a:prstGeom prst="rect">
            <a:avLst/>
          </a:pr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00" name="Connector 99"/>
          <p:cNvCxnSpPr/>
          <p:nvPr/>
        </p:nvCxnSpPr>
        <p:spPr>
          <a:xfrm>
            <a:off x="5954607" y="5597144"/>
            <a:ext cx="30734" cy="30734"/>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985341" y="5558028"/>
            <a:ext cx="55880" cy="6985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155267" y="5486400"/>
            <a:ext cx="2497667" cy="444500"/>
          </a:xfrm>
          <a:prstGeom prst="rect">
            <a:avLst/>
          </a:prstGeom>
          <a:noFill/>
          <a:effectLst/>
        </p:spPr>
        <p:txBody>
          <a:bodyPr wrap="square" lIns="0" rIns="0" tIns="0" bIns="0" anchor="t"/>
          <a:lstStyle/>
          <a:p>
            <a:pPr algn="l">
              <a:lnSpc>
                <a:spcPts val="1215"/>
              </a:lnSpc>
            </a:pPr>
            <a:r>
              <a:rPr sz="900" b="0" dirty="0">
                <a:solidFill>
                  <a:srgbClr val="FFFFFF"/>
                </a:solidFill>
                <a:latin typeface="Inter"/>
                <a:cs typeface="Inter"/>
              </a:rPr>
              <a:t>Un entregable por bloque, publicado como tarea con plazo</a:t>
            </a:r>
          </a:p>
        </p:txBody>
      </p:sp>
      <p:sp>
        <p:nvSpPr>
          <p:cNvPr id="103" name="Rectangle 102"/>
          <p:cNvSpPr/>
          <p:nvPr/>
        </p:nvSpPr>
        <p:spPr>
          <a:xfrm>
            <a:off x="8830733" y="5524500"/>
            <a:ext cx="139700" cy="139700"/>
          </a:xfrm>
          <a:prstGeom prst="rect">
            <a:avLst/>
          </a:pr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04" name="Connector 103"/>
          <p:cNvCxnSpPr/>
          <p:nvPr/>
        </p:nvCxnSpPr>
        <p:spPr>
          <a:xfrm>
            <a:off x="8858673" y="5597144"/>
            <a:ext cx="30734" cy="30734"/>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8889407" y="5558028"/>
            <a:ext cx="55880" cy="6985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9059333" y="5486400"/>
            <a:ext cx="2497667" cy="444500"/>
          </a:xfrm>
          <a:prstGeom prst="rect">
            <a:avLst/>
          </a:prstGeom>
          <a:noFill/>
          <a:effectLst/>
        </p:spPr>
        <p:txBody>
          <a:bodyPr wrap="square" lIns="0" rIns="0" tIns="0" bIns="0" anchor="t"/>
          <a:lstStyle/>
          <a:p>
            <a:pPr algn="l">
              <a:lnSpc>
                <a:spcPts val="1215"/>
              </a:lnSpc>
            </a:pPr>
            <a:r>
              <a:rPr sz="900" b="0" dirty="0">
                <a:solidFill>
                  <a:srgbClr val="FFFFFF"/>
                </a:solidFill>
                <a:latin typeface="Inter"/>
                <a:cs typeface="Inter"/>
              </a:rPr>
              <a:t>Material y grabación en el Campus el mismo día de la clase</a:t>
            </a:r>
          </a:p>
        </p:txBody>
      </p:sp>
      <p:cxnSp>
        <p:nvCxnSpPr>
          <p:cNvPr id="107" name="Connector 106"/>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08" name="Freeform 10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12" name="TextBox 11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HOJA PRINCIPAL · 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PROCESO · DETALLE</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Los nueve pasos, uno a uno</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PASOS 01–05 DE 9</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57756"/>
            <a:ext cx="205232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997456"/>
            <a:ext cx="205232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01</a:t>
            </a:r>
          </a:p>
        </p:txBody>
      </p:sp>
      <p:sp>
        <p:nvSpPr>
          <p:cNvPr id="9" name="TextBox 8"/>
          <p:cNvSpPr txBox="1"/>
          <p:nvPr/>
        </p:nvSpPr>
        <p:spPr>
          <a:xfrm>
            <a:off x="609600" y="2226056"/>
            <a:ext cx="205232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Reúne las fuentes</a:t>
            </a:r>
          </a:p>
        </p:txBody>
      </p:sp>
      <p:sp>
        <p:nvSpPr>
          <p:cNvPr id="10" name="TextBox 9"/>
          <p:cNvSpPr txBox="1"/>
          <p:nvPr/>
        </p:nvSpPr>
        <p:spPr>
          <a:xfrm>
            <a:off x="609600" y="2873756"/>
            <a:ext cx="205232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Abre un cuaderno nuevo y sube todo lo que ya existe: guía del curso, normativa, casos, informes y tus notas.</a:t>
            </a:r>
          </a:p>
        </p:txBody>
      </p:sp>
      <p:cxnSp>
        <p:nvCxnSpPr>
          <p:cNvPr id="11" name="Connector 10"/>
          <p:cNvCxnSpPr/>
          <p:nvPr/>
        </p:nvCxnSpPr>
        <p:spPr>
          <a:xfrm>
            <a:off x="609600" y="4270756"/>
            <a:ext cx="205232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43723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13" name="TextBox 12"/>
          <p:cNvSpPr txBox="1"/>
          <p:nvPr/>
        </p:nvSpPr>
        <p:spPr>
          <a:xfrm>
            <a:off x="609600" y="45247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NOTEBOOKLM</a:t>
            </a:r>
          </a:p>
        </p:txBody>
      </p:sp>
      <p:sp>
        <p:nvSpPr>
          <p:cNvPr id="14" name="TextBox 13"/>
          <p:cNvSpPr txBox="1"/>
          <p:nvPr/>
        </p:nvSpPr>
        <p:spPr>
          <a:xfrm>
            <a:off x="609600" y="47660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15" name="TextBox 14"/>
          <p:cNvSpPr txBox="1"/>
          <p:nvPr/>
        </p:nvSpPr>
        <p:spPr>
          <a:xfrm>
            <a:off x="609600" y="49184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D-14 → D-10</a:t>
            </a:r>
          </a:p>
        </p:txBody>
      </p:sp>
      <p:sp>
        <p:nvSpPr>
          <p:cNvPr id="16" name="TextBox 15"/>
          <p:cNvSpPr txBox="1"/>
          <p:nvPr/>
        </p:nvSpPr>
        <p:spPr>
          <a:xfrm>
            <a:off x="609600" y="51597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17" name="TextBox 16"/>
          <p:cNvSpPr txBox="1"/>
          <p:nvPr/>
        </p:nvSpPr>
        <p:spPr>
          <a:xfrm>
            <a:off x="609600" y="5312156"/>
            <a:ext cx="205232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Cuaderno con 5–12 fuentes</a:t>
            </a:r>
          </a:p>
        </p:txBody>
      </p:sp>
      <p:cxnSp>
        <p:nvCxnSpPr>
          <p:cNvPr id="18" name="Connector 17"/>
          <p:cNvCxnSpPr/>
          <p:nvPr/>
        </p:nvCxnSpPr>
        <p:spPr>
          <a:xfrm>
            <a:off x="2839720" y="1857756"/>
            <a:ext cx="205232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839720" y="1997456"/>
            <a:ext cx="205232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02</a:t>
            </a:r>
          </a:p>
        </p:txBody>
      </p:sp>
      <p:sp>
        <p:nvSpPr>
          <p:cNvPr id="20" name="TextBox 19"/>
          <p:cNvSpPr txBox="1"/>
          <p:nvPr/>
        </p:nvSpPr>
        <p:spPr>
          <a:xfrm>
            <a:off x="2839720" y="2226056"/>
            <a:ext cx="205232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Genera el guion</a:t>
            </a:r>
          </a:p>
        </p:txBody>
      </p:sp>
      <p:sp>
        <p:nvSpPr>
          <p:cNvPr id="21" name="TextBox 20"/>
          <p:cNvSpPr txBox="1"/>
          <p:nvPr/>
        </p:nvSpPr>
        <p:spPr>
          <a:xfrm>
            <a:off x="2839720" y="2873756"/>
            <a:ext cx="205232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Pide el guion por bloques, con minutos y ejercicios. Verifica los datos: lo que no esté en una fuente, no entra.</a:t>
            </a:r>
          </a:p>
        </p:txBody>
      </p:sp>
      <p:cxnSp>
        <p:nvCxnSpPr>
          <p:cNvPr id="22" name="Connector 21"/>
          <p:cNvCxnSpPr/>
          <p:nvPr/>
        </p:nvCxnSpPr>
        <p:spPr>
          <a:xfrm>
            <a:off x="2839720" y="4270756"/>
            <a:ext cx="205232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839720" y="43723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24" name="TextBox 23"/>
          <p:cNvSpPr txBox="1"/>
          <p:nvPr/>
        </p:nvSpPr>
        <p:spPr>
          <a:xfrm>
            <a:off x="2839720" y="45247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NOTEBOOKLM</a:t>
            </a:r>
          </a:p>
        </p:txBody>
      </p:sp>
      <p:sp>
        <p:nvSpPr>
          <p:cNvPr id="25" name="TextBox 24"/>
          <p:cNvSpPr txBox="1"/>
          <p:nvPr/>
        </p:nvSpPr>
        <p:spPr>
          <a:xfrm>
            <a:off x="2839720" y="47660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26" name="TextBox 25"/>
          <p:cNvSpPr txBox="1"/>
          <p:nvPr/>
        </p:nvSpPr>
        <p:spPr>
          <a:xfrm>
            <a:off x="2839720" y="49184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D-10 → D-7</a:t>
            </a:r>
          </a:p>
        </p:txBody>
      </p:sp>
      <p:sp>
        <p:nvSpPr>
          <p:cNvPr id="27" name="TextBox 26"/>
          <p:cNvSpPr txBox="1"/>
          <p:nvPr/>
        </p:nvSpPr>
        <p:spPr>
          <a:xfrm>
            <a:off x="2839720" y="51597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28" name="TextBox 27"/>
          <p:cNvSpPr txBox="1"/>
          <p:nvPr/>
        </p:nvSpPr>
        <p:spPr>
          <a:xfrm>
            <a:off x="2839720" y="5312156"/>
            <a:ext cx="205232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Guion de 4 h por bloques</a:t>
            </a:r>
          </a:p>
        </p:txBody>
      </p:sp>
      <p:cxnSp>
        <p:nvCxnSpPr>
          <p:cNvPr id="29" name="Connector 28"/>
          <p:cNvCxnSpPr/>
          <p:nvPr/>
        </p:nvCxnSpPr>
        <p:spPr>
          <a:xfrm>
            <a:off x="5069840" y="1857756"/>
            <a:ext cx="205232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69840" y="1997456"/>
            <a:ext cx="205232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03</a:t>
            </a:r>
          </a:p>
        </p:txBody>
      </p:sp>
      <p:sp>
        <p:nvSpPr>
          <p:cNvPr id="31" name="TextBox 30"/>
          <p:cNvSpPr txBox="1"/>
          <p:nvPr/>
        </p:nvSpPr>
        <p:spPr>
          <a:xfrm>
            <a:off x="5069840" y="2226056"/>
            <a:ext cx="205232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Elige los códigos</a:t>
            </a:r>
          </a:p>
        </p:txBody>
      </p:sp>
      <p:sp>
        <p:nvSpPr>
          <p:cNvPr id="32" name="TextBox 31"/>
          <p:cNvSpPr txBox="1"/>
          <p:nvPr/>
        </p:nvSpPr>
        <p:spPr>
          <a:xfrm>
            <a:off x="5069840" y="2873756"/>
            <a:ext cx="205232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Asigna a cada diapositiva del guion un código de plantilla (A01, C01, F05…). No encadenes 3 de la misma familia.</a:t>
            </a:r>
          </a:p>
        </p:txBody>
      </p:sp>
      <p:cxnSp>
        <p:nvCxnSpPr>
          <p:cNvPr id="33" name="Connector 32"/>
          <p:cNvCxnSpPr/>
          <p:nvPr/>
        </p:nvCxnSpPr>
        <p:spPr>
          <a:xfrm>
            <a:off x="5069840" y="4270756"/>
            <a:ext cx="205232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69840" y="43723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35" name="TextBox 34"/>
          <p:cNvSpPr txBox="1"/>
          <p:nvPr/>
        </p:nvSpPr>
        <p:spPr>
          <a:xfrm>
            <a:off x="5069840" y="45247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ESTE ARCHIVO</a:t>
            </a:r>
          </a:p>
        </p:txBody>
      </p:sp>
      <p:sp>
        <p:nvSpPr>
          <p:cNvPr id="36" name="TextBox 35"/>
          <p:cNvSpPr txBox="1"/>
          <p:nvPr/>
        </p:nvSpPr>
        <p:spPr>
          <a:xfrm>
            <a:off x="5069840" y="47660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37" name="TextBox 36"/>
          <p:cNvSpPr txBox="1"/>
          <p:nvPr/>
        </p:nvSpPr>
        <p:spPr>
          <a:xfrm>
            <a:off x="5069840" y="49184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D-7</a:t>
            </a:r>
          </a:p>
        </p:txBody>
      </p:sp>
      <p:sp>
        <p:nvSpPr>
          <p:cNvPr id="38" name="TextBox 37"/>
          <p:cNvSpPr txBox="1"/>
          <p:nvPr/>
        </p:nvSpPr>
        <p:spPr>
          <a:xfrm>
            <a:off x="5069840" y="51597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39" name="TextBox 38"/>
          <p:cNvSpPr txBox="1"/>
          <p:nvPr/>
        </p:nvSpPr>
        <p:spPr>
          <a:xfrm>
            <a:off x="5069840" y="5312156"/>
            <a:ext cx="205232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Escaleta con códigos</a:t>
            </a:r>
          </a:p>
        </p:txBody>
      </p:sp>
      <p:cxnSp>
        <p:nvCxnSpPr>
          <p:cNvPr id="40" name="Connector 39"/>
          <p:cNvCxnSpPr/>
          <p:nvPr/>
        </p:nvCxnSpPr>
        <p:spPr>
          <a:xfrm>
            <a:off x="7299960" y="1857756"/>
            <a:ext cx="205232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299960" y="1997456"/>
            <a:ext cx="205232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04</a:t>
            </a:r>
          </a:p>
        </p:txBody>
      </p:sp>
      <p:sp>
        <p:nvSpPr>
          <p:cNvPr id="42" name="TextBox 41"/>
          <p:cNvSpPr txBox="1"/>
          <p:nvPr/>
        </p:nvSpPr>
        <p:spPr>
          <a:xfrm>
            <a:off x="7299960" y="2226056"/>
            <a:ext cx="205232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Monta el deck</a:t>
            </a:r>
          </a:p>
        </p:txBody>
      </p:sp>
      <p:sp>
        <p:nvSpPr>
          <p:cNvPr id="43" name="TextBox 42"/>
          <p:cNvSpPr txBox="1"/>
          <p:nvPr/>
        </p:nvSpPr>
        <p:spPr>
          <a:xfrm>
            <a:off x="7299960" y="2873756"/>
            <a:ext cx="205232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Duplica las plantillas y escribe encima. Una idea por diapositiva y menos de 40 palabras en cada una.</a:t>
            </a:r>
          </a:p>
        </p:txBody>
      </p:sp>
      <p:cxnSp>
        <p:nvCxnSpPr>
          <p:cNvPr id="44" name="Connector 43"/>
          <p:cNvCxnSpPr/>
          <p:nvPr/>
        </p:nvCxnSpPr>
        <p:spPr>
          <a:xfrm>
            <a:off x="7299960" y="4270756"/>
            <a:ext cx="205232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299960" y="43723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46" name="TextBox 45"/>
          <p:cNvSpPr txBox="1"/>
          <p:nvPr/>
        </p:nvSpPr>
        <p:spPr>
          <a:xfrm>
            <a:off x="7299960" y="45247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POWERPOINT / SLIDES</a:t>
            </a:r>
          </a:p>
        </p:txBody>
      </p:sp>
      <p:sp>
        <p:nvSpPr>
          <p:cNvPr id="47" name="TextBox 46"/>
          <p:cNvSpPr txBox="1"/>
          <p:nvPr/>
        </p:nvSpPr>
        <p:spPr>
          <a:xfrm>
            <a:off x="7299960" y="47660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48" name="TextBox 47"/>
          <p:cNvSpPr txBox="1"/>
          <p:nvPr/>
        </p:nvSpPr>
        <p:spPr>
          <a:xfrm>
            <a:off x="7299960" y="49184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D-7 → D-3</a:t>
            </a:r>
          </a:p>
        </p:txBody>
      </p:sp>
      <p:sp>
        <p:nvSpPr>
          <p:cNvPr id="49" name="TextBox 48"/>
          <p:cNvSpPr txBox="1"/>
          <p:nvPr/>
        </p:nvSpPr>
        <p:spPr>
          <a:xfrm>
            <a:off x="7299960" y="51597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50" name="TextBox 49"/>
          <p:cNvSpPr txBox="1"/>
          <p:nvPr/>
        </p:nvSpPr>
        <p:spPr>
          <a:xfrm>
            <a:off x="7299960" y="5312156"/>
            <a:ext cx="205232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Deck de 40–50 diapositivas</a:t>
            </a:r>
          </a:p>
        </p:txBody>
      </p:sp>
      <p:cxnSp>
        <p:nvCxnSpPr>
          <p:cNvPr id="51" name="Connector 50"/>
          <p:cNvCxnSpPr/>
          <p:nvPr/>
        </p:nvCxnSpPr>
        <p:spPr>
          <a:xfrm>
            <a:off x="9530080" y="1857756"/>
            <a:ext cx="205232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530080" y="1997456"/>
            <a:ext cx="205232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05</a:t>
            </a:r>
          </a:p>
        </p:txBody>
      </p:sp>
      <p:sp>
        <p:nvSpPr>
          <p:cNvPr id="53" name="TextBox 52"/>
          <p:cNvSpPr txBox="1"/>
          <p:nvPr/>
        </p:nvSpPr>
        <p:spPr>
          <a:xfrm>
            <a:off x="9530080" y="2226056"/>
            <a:ext cx="205232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Control de 60 segundos</a:t>
            </a:r>
          </a:p>
        </p:txBody>
      </p:sp>
      <p:sp>
        <p:nvSpPr>
          <p:cNvPr id="54" name="TextBox 53"/>
          <p:cNvSpPr txBox="1"/>
          <p:nvPr/>
        </p:nvSpPr>
        <p:spPr>
          <a:xfrm>
            <a:off x="9530080" y="2873756"/>
            <a:ext cx="205232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Pasa el checklist de marca, exporta a PDF y ábrelo en el móvil. Si tienes que hacer zoom, no está listo.</a:t>
            </a:r>
          </a:p>
        </p:txBody>
      </p:sp>
      <p:cxnSp>
        <p:nvCxnSpPr>
          <p:cNvPr id="55" name="Connector 54"/>
          <p:cNvCxnSpPr/>
          <p:nvPr/>
        </p:nvCxnSpPr>
        <p:spPr>
          <a:xfrm>
            <a:off x="9530080" y="4270756"/>
            <a:ext cx="205232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9530080" y="43723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57" name="TextBox 56"/>
          <p:cNvSpPr txBox="1"/>
          <p:nvPr/>
        </p:nvSpPr>
        <p:spPr>
          <a:xfrm>
            <a:off x="9530080" y="45247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CHECKLIST</a:t>
            </a:r>
          </a:p>
        </p:txBody>
      </p:sp>
      <p:sp>
        <p:nvSpPr>
          <p:cNvPr id="58" name="TextBox 57"/>
          <p:cNvSpPr txBox="1"/>
          <p:nvPr/>
        </p:nvSpPr>
        <p:spPr>
          <a:xfrm>
            <a:off x="9530080" y="47660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59" name="TextBox 58"/>
          <p:cNvSpPr txBox="1"/>
          <p:nvPr/>
        </p:nvSpPr>
        <p:spPr>
          <a:xfrm>
            <a:off x="9530080" y="4918456"/>
            <a:ext cx="205232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D-3</a:t>
            </a:r>
          </a:p>
        </p:txBody>
      </p:sp>
      <p:sp>
        <p:nvSpPr>
          <p:cNvPr id="60" name="TextBox 59"/>
          <p:cNvSpPr txBox="1"/>
          <p:nvPr/>
        </p:nvSpPr>
        <p:spPr>
          <a:xfrm>
            <a:off x="9530080" y="5159756"/>
            <a:ext cx="205232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61" name="TextBox 60"/>
          <p:cNvSpPr txBox="1"/>
          <p:nvPr/>
        </p:nvSpPr>
        <p:spPr>
          <a:xfrm>
            <a:off x="9530080" y="5312156"/>
            <a:ext cx="205232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PPTX + PDF definitivos</a:t>
            </a:r>
          </a:p>
        </p:txBody>
      </p:sp>
      <p:cxnSp>
        <p:nvCxnSpPr>
          <p:cNvPr id="62" name="Connector 6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67" name="TextBox 6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GUÍA · 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PROCESO · DETALLE</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De Classroom al cierre</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PASOS 06–09 DE 9</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57756"/>
            <a:ext cx="26098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997456"/>
            <a:ext cx="260985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06</a:t>
            </a:r>
          </a:p>
        </p:txBody>
      </p:sp>
      <p:sp>
        <p:nvSpPr>
          <p:cNvPr id="9" name="TextBox 8"/>
          <p:cNvSpPr txBox="1"/>
          <p:nvPr/>
        </p:nvSpPr>
        <p:spPr>
          <a:xfrm>
            <a:off x="609600" y="2226056"/>
            <a:ext cx="260985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Crea el Tema del módulo</a:t>
            </a:r>
          </a:p>
        </p:txBody>
      </p:sp>
      <p:sp>
        <p:nvSpPr>
          <p:cNvPr id="10" name="TextBox 9"/>
          <p:cNvSpPr txBox="1"/>
          <p:nvPr/>
        </p:nvSpPr>
        <p:spPr>
          <a:xfrm>
            <a:off x="609600" y="2873756"/>
            <a:ext cx="260985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Un Tema por módulo. Sube el deck en PDF, la plantilla del ejercicio y las lecturas de apoyo.</a:t>
            </a:r>
          </a:p>
        </p:txBody>
      </p:sp>
      <p:cxnSp>
        <p:nvCxnSpPr>
          <p:cNvPr id="11" name="Connector 10"/>
          <p:cNvCxnSpPr/>
          <p:nvPr/>
        </p:nvCxnSpPr>
        <p:spPr>
          <a:xfrm>
            <a:off x="609600" y="4270756"/>
            <a:ext cx="260985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43723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13" name="TextBox 12"/>
          <p:cNvSpPr txBox="1"/>
          <p:nvPr/>
        </p:nvSpPr>
        <p:spPr>
          <a:xfrm>
            <a:off x="609600" y="4524756"/>
            <a:ext cx="260985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GOOGLE CLASSROOM</a:t>
            </a:r>
          </a:p>
        </p:txBody>
      </p:sp>
      <p:sp>
        <p:nvSpPr>
          <p:cNvPr id="14" name="TextBox 13"/>
          <p:cNvSpPr txBox="1"/>
          <p:nvPr/>
        </p:nvSpPr>
        <p:spPr>
          <a:xfrm>
            <a:off x="609600" y="47660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15" name="TextBox 14"/>
          <p:cNvSpPr txBox="1"/>
          <p:nvPr/>
        </p:nvSpPr>
        <p:spPr>
          <a:xfrm>
            <a:off x="609600" y="4918456"/>
            <a:ext cx="260985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D-3</a:t>
            </a:r>
          </a:p>
        </p:txBody>
      </p:sp>
      <p:sp>
        <p:nvSpPr>
          <p:cNvPr id="16" name="TextBox 15"/>
          <p:cNvSpPr txBox="1"/>
          <p:nvPr/>
        </p:nvSpPr>
        <p:spPr>
          <a:xfrm>
            <a:off x="609600" y="51597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17" name="TextBox 16"/>
          <p:cNvSpPr txBox="1"/>
          <p:nvPr/>
        </p:nvSpPr>
        <p:spPr>
          <a:xfrm>
            <a:off x="609600" y="5312156"/>
            <a:ext cx="260985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Tema publicado con material</a:t>
            </a:r>
          </a:p>
        </p:txBody>
      </p:sp>
      <p:cxnSp>
        <p:nvCxnSpPr>
          <p:cNvPr id="18" name="Connector 17"/>
          <p:cNvCxnSpPr/>
          <p:nvPr/>
        </p:nvCxnSpPr>
        <p:spPr>
          <a:xfrm>
            <a:off x="3397250" y="1857756"/>
            <a:ext cx="26098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97250" y="1997456"/>
            <a:ext cx="260985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07</a:t>
            </a:r>
          </a:p>
        </p:txBody>
      </p:sp>
      <p:sp>
        <p:nvSpPr>
          <p:cNvPr id="20" name="TextBox 19"/>
          <p:cNvSpPr txBox="1"/>
          <p:nvPr/>
        </p:nvSpPr>
        <p:spPr>
          <a:xfrm>
            <a:off x="3397250" y="2226056"/>
            <a:ext cx="260985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Publica la tarea</a:t>
            </a:r>
          </a:p>
        </p:txBody>
      </p:sp>
      <p:sp>
        <p:nvSpPr>
          <p:cNvPr id="21" name="TextBox 20"/>
          <p:cNvSpPr txBox="1"/>
          <p:nvPr/>
        </p:nvSpPr>
        <p:spPr>
          <a:xfrm>
            <a:off x="3397250" y="2873756"/>
            <a:ext cx="260985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Una tarea por bloque, con entregable concreto, rúbrica de tres criterios y fecha límite.</a:t>
            </a:r>
          </a:p>
        </p:txBody>
      </p:sp>
      <p:cxnSp>
        <p:nvCxnSpPr>
          <p:cNvPr id="22" name="Connector 21"/>
          <p:cNvCxnSpPr/>
          <p:nvPr/>
        </p:nvCxnSpPr>
        <p:spPr>
          <a:xfrm>
            <a:off x="3397250" y="4270756"/>
            <a:ext cx="260985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97250" y="43723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24" name="TextBox 23"/>
          <p:cNvSpPr txBox="1"/>
          <p:nvPr/>
        </p:nvSpPr>
        <p:spPr>
          <a:xfrm>
            <a:off x="3397250" y="4524756"/>
            <a:ext cx="260985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GOOGLE CLASSROOM</a:t>
            </a:r>
          </a:p>
        </p:txBody>
      </p:sp>
      <p:sp>
        <p:nvSpPr>
          <p:cNvPr id="25" name="TextBox 24"/>
          <p:cNvSpPr txBox="1"/>
          <p:nvPr/>
        </p:nvSpPr>
        <p:spPr>
          <a:xfrm>
            <a:off x="3397250" y="47660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26" name="TextBox 25"/>
          <p:cNvSpPr txBox="1"/>
          <p:nvPr/>
        </p:nvSpPr>
        <p:spPr>
          <a:xfrm>
            <a:off x="3397250" y="4918456"/>
            <a:ext cx="260985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D-1</a:t>
            </a:r>
          </a:p>
        </p:txBody>
      </p:sp>
      <p:sp>
        <p:nvSpPr>
          <p:cNvPr id="27" name="TextBox 26"/>
          <p:cNvSpPr txBox="1"/>
          <p:nvPr/>
        </p:nvSpPr>
        <p:spPr>
          <a:xfrm>
            <a:off x="3397250" y="51597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28" name="TextBox 27"/>
          <p:cNvSpPr txBox="1"/>
          <p:nvPr/>
        </p:nvSpPr>
        <p:spPr>
          <a:xfrm>
            <a:off x="3397250" y="5312156"/>
            <a:ext cx="260985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Tarea con plazo y rúbrica</a:t>
            </a:r>
          </a:p>
        </p:txBody>
      </p:sp>
      <p:cxnSp>
        <p:nvCxnSpPr>
          <p:cNvPr id="29" name="Connector 28"/>
          <p:cNvCxnSpPr/>
          <p:nvPr/>
        </p:nvCxnSpPr>
        <p:spPr>
          <a:xfrm>
            <a:off x="6184900" y="1857756"/>
            <a:ext cx="26098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184900" y="1997456"/>
            <a:ext cx="260985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08</a:t>
            </a:r>
          </a:p>
        </p:txBody>
      </p:sp>
      <p:sp>
        <p:nvSpPr>
          <p:cNvPr id="31" name="TextBox 30"/>
          <p:cNvSpPr txBox="1"/>
          <p:nvPr/>
        </p:nvSpPr>
        <p:spPr>
          <a:xfrm>
            <a:off x="6184900" y="2226056"/>
            <a:ext cx="260985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Imparte 4 horas</a:t>
            </a:r>
          </a:p>
        </p:txBody>
      </p:sp>
      <p:sp>
        <p:nvSpPr>
          <p:cNvPr id="32" name="TextBox 31"/>
          <p:cNvSpPr txBox="1"/>
          <p:nvPr/>
        </p:nvSpPr>
        <p:spPr>
          <a:xfrm>
            <a:off x="6184900" y="2873756"/>
            <a:ext cx="260985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Al menos el 40 % del tiempo en ejercicio. Comparte el deck a pantalla completa y graba la sesión.</a:t>
            </a:r>
          </a:p>
        </p:txBody>
      </p:sp>
      <p:cxnSp>
        <p:nvCxnSpPr>
          <p:cNvPr id="33" name="Connector 32"/>
          <p:cNvCxnSpPr/>
          <p:nvPr/>
        </p:nvCxnSpPr>
        <p:spPr>
          <a:xfrm>
            <a:off x="6184900" y="4270756"/>
            <a:ext cx="260985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184900" y="43723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35" name="TextBox 34"/>
          <p:cNvSpPr txBox="1"/>
          <p:nvPr/>
        </p:nvSpPr>
        <p:spPr>
          <a:xfrm>
            <a:off x="6184900" y="4524756"/>
            <a:ext cx="260985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AULA EN DIRECTO</a:t>
            </a:r>
          </a:p>
        </p:txBody>
      </p:sp>
      <p:sp>
        <p:nvSpPr>
          <p:cNvPr id="36" name="TextBox 35"/>
          <p:cNvSpPr txBox="1"/>
          <p:nvPr/>
        </p:nvSpPr>
        <p:spPr>
          <a:xfrm>
            <a:off x="6184900" y="47660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37" name="TextBox 36"/>
          <p:cNvSpPr txBox="1"/>
          <p:nvPr/>
        </p:nvSpPr>
        <p:spPr>
          <a:xfrm>
            <a:off x="6184900" y="4918456"/>
            <a:ext cx="260985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DÍA 0</a:t>
            </a:r>
          </a:p>
        </p:txBody>
      </p:sp>
      <p:sp>
        <p:nvSpPr>
          <p:cNvPr id="38" name="TextBox 37"/>
          <p:cNvSpPr txBox="1"/>
          <p:nvPr/>
        </p:nvSpPr>
        <p:spPr>
          <a:xfrm>
            <a:off x="6184900" y="51597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39" name="TextBox 38"/>
          <p:cNvSpPr txBox="1"/>
          <p:nvPr/>
        </p:nvSpPr>
        <p:spPr>
          <a:xfrm>
            <a:off x="6184900" y="5312156"/>
            <a:ext cx="260985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Sesión impartida y grabada</a:t>
            </a:r>
          </a:p>
        </p:txBody>
      </p:sp>
      <p:cxnSp>
        <p:nvCxnSpPr>
          <p:cNvPr id="40" name="Connector 39"/>
          <p:cNvCxnSpPr/>
          <p:nvPr/>
        </p:nvCxnSpPr>
        <p:spPr>
          <a:xfrm>
            <a:off x="8972550" y="1857756"/>
            <a:ext cx="26098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972550" y="1997456"/>
            <a:ext cx="2609850"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09</a:t>
            </a:r>
          </a:p>
        </p:txBody>
      </p:sp>
      <p:sp>
        <p:nvSpPr>
          <p:cNvPr id="42" name="TextBox 41"/>
          <p:cNvSpPr txBox="1"/>
          <p:nvPr/>
        </p:nvSpPr>
        <p:spPr>
          <a:xfrm>
            <a:off x="8972550" y="2226056"/>
            <a:ext cx="2609850" cy="533400"/>
          </a:xfrm>
          <a:prstGeom prst="rect">
            <a:avLst/>
          </a:prstGeom>
          <a:noFill/>
          <a:effectLst/>
        </p:spPr>
        <p:txBody>
          <a:bodyPr wrap="square" lIns="0" rIns="0" tIns="0" bIns="0" anchor="t"/>
          <a:lstStyle/>
          <a:p>
            <a:pPr algn="l">
              <a:lnSpc>
                <a:spcPts val="1680"/>
              </a:lnSpc>
            </a:pPr>
            <a:r>
              <a:rPr sz="1500" b="1" spc="-30" dirty="0">
                <a:solidFill>
                  <a:srgbClr val="161616"/>
                </a:solidFill>
                <a:latin typeface="Inter"/>
                <a:cs typeface="Inter"/>
              </a:rPr>
              <a:t>Sube, corrige y cierra</a:t>
            </a:r>
          </a:p>
        </p:txBody>
      </p:sp>
      <p:sp>
        <p:nvSpPr>
          <p:cNvPr id="43" name="TextBox 42"/>
          <p:cNvSpPr txBox="1"/>
          <p:nvPr/>
        </p:nvSpPr>
        <p:spPr>
          <a:xfrm>
            <a:off x="8972550" y="2873756"/>
            <a:ext cx="2609850" cy="1143000"/>
          </a:xfrm>
          <a:prstGeom prst="rect">
            <a:avLst/>
          </a:prstGeom>
          <a:noFill/>
          <a:effectLst/>
        </p:spPr>
        <p:txBody>
          <a:bodyPr wrap="square" lIns="0" rIns="0" tIns="0" bIns="0" anchor="t"/>
          <a:lstStyle/>
          <a:p>
            <a:pPr algn="l">
              <a:lnSpc>
                <a:spcPts val="1500"/>
              </a:lnSpc>
            </a:pPr>
            <a:r>
              <a:rPr sz="1000" b="0" dirty="0">
                <a:solidFill>
                  <a:srgbClr val="525252"/>
                </a:solidFill>
                <a:latin typeface="Inter"/>
                <a:cs typeface="Inter"/>
              </a:rPr>
              <a:t>Grabación y deck el mismo día. Feedback de cada entregable en 7 días y nota de cierre con el siguiente paso.</a:t>
            </a:r>
          </a:p>
        </p:txBody>
      </p:sp>
      <p:cxnSp>
        <p:nvCxnSpPr>
          <p:cNvPr id="44" name="Connector 43"/>
          <p:cNvCxnSpPr/>
          <p:nvPr/>
        </p:nvCxnSpPr>
        <p:spPr>
          <a:xfrm>
            <a:off x="8972550" y="4270756"/>
            <a:ext cx="260985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972550" y="43723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DÓNDE</a:t>
            </a:r>
          </a:p>
        </p:txBody>
      </p:sp>
      <p:sp>
        <p:nvSpPr>
          <p:cNvPr id="46" name="TextBox 45"/>
          <p:cNvSpPr txBox="1"/>
          <p:nvPr/>
        </p:nvSpPr>
        <p:spPr>
          <a:xfrm>
            <a:off x="8972550" y="4524756"/>
            <a:ext cx="260985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CAMPUS</a:t>
            </a:r>
          </a:p>
        </p:txBody>
      </p:sp>
      <p:sp>
        <p:nvSpPr>
          <p:cNvPr id="47" name="TextBox 46"/>
          <p:cNvSpPr txBox="1"/>
          <p:nvPr/>
        </p:nvSpPr>
        <p:spPr>
          <a:xfrm>
            <a:off x="8972550" y="47660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CUÁNDO</a:t>
            </a:r>
          </a:p>
        </p:txBody>
      </p:sp>
      <p:sp>
        <p:nvSpPr>
          <p:cNvPr id="48" name="TextBox 47"/>
          <p:cNvSpPr txBox="1"/>
          <p:nvPr/>
        </p:nvSpPr>
        <p:spPr>
          <a:xfrm>
            <a:off x="8972550" y="4918456"/>
            <a:ext cx="2609850" cy="165100"/>
          </a:xfrm>
          <a:prstGeom prst="rect">
            <a:avLst/>
          </a:prstGeom>
          <a:noFill/>
          <a:effectLst/>
        </p:spPr>
        <p:txBody>
          <a:bodyPr wrap="square" lIns="0" rIns="0" tIns="0" bIns="0" anchor="t"/>
          <a:lstStyle/>
          <a:p>
            <a:pPr algn="l">
              <a:lnSpc>
                <a:spcPts val="1019"/>
              </a:lnSpc>
            </a:pPr>
            <a:r>
              <a:rPr sz="850" b="1" dirty="0">
                <a:solidFill>
                  <a:srgbClr val="161616"/>
                </a:solidFill>
                <a:latin typeface="Inter"/>
                <a:cs typeface="Inter"/>
              </a:rPr>
              <a:t>D+1 → D+7</a:t>
            </a:r>
          </a:p>
        </p:txBody>
      </p:sp>
      <p:sp>
        <p:nvSpPr>
          <p:cNvPr id="49" name="TextBox 48"/>
          <p:cNvSpPr txBox="1"/>
          <p:nvPr/>
        </p:nvSpPr>
        <p:spPr>
          <a:xfrm>
            <a:off x="8972550" y="5159756"/>
            <a:ext cx="2609850" cy="1524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SALES CON</a:t>
            </a:r>
          </a:p>
        </p:txBody>
      </p:sp>
      <p:sp>
        <p:nvSpPr>
          <p:cNvPr id="50" name="TextBox 49"/>
          <p:cNvSpPr txBox="1"/>
          <p:nvPr/>
        </p:nvSpPr>
        <p:spPr>
          <a:xfrm>
            <a:off x="8972550" y="5312156"/>
            <a:ext cx="2609850" cy="3810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Módulo cerrado en el Campus</a:t>
            </a:r>
          </a:p>
        </p:txBody>
      </p:sp>
      <p:cxnSp>
        <p:nvCxnSpPr>
          <p:cNvPr id="51" name="Connector 5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6" name="TextBox 5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GUÍA · 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HERRAMIENTA · NOTEBOOKLM</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Del material que ya tienes al guion de 4 horas</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PASO 01–02</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9600" y="1857756"/>
            <a:ext cx="1630892" cy="1333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36600" y="1997456"/>
            <a:ext cx="1376892" cy="1651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FUENTES</a:t>
            </a:r>
          </a:p>
        </p:txBody>
      </p:sp>
      <p:sp>
        <p:nvSpPr>
          <p:cNvPr id="9" name="TextBox 8"/>
          <p:cNvSpPr txBox="1"/>
          <p:nvPr/>
        </p:nvSpPr>
        <p:spPr>
          <a:xfrm>
            <a:off x="736600" y="2226056"/>
            <a:ext cx="1376892" cy="698500"/>
          </a:xfrm>
          <a:prstGeom prst="rect">
            <a:avLst/>
          </a:prstGeom>
          <a:noFill/>
          <a:effectLst/>
        </p:spPr>
        <p:txBody>
          <a:bodyPr wrap="square" lIns="0" rIns="0" tIns="0" bIns="0" anchor="t"/>
          <a:lstStyle/>
          <a:p>
            <a:pPr algn="l">
              <a:lnSpc>
                <a:spcPts val="1282"/>
              </a:lnSpc>
            </a:pPr>
            <a:r>
              <a:rPr sz="950" b="1" dirty="0">
                <a:solidFill>
                  <a:srgbClr val="161616"/>
                </a:solidFill>
                <a:latin typeface="Inter"/>
                <a:cs typeface="Inter"/>
              </a:rPr>
              <a:t>Guía del curso, normativa,</a:t>
            </a:r>
            <a:br/>
            <a:r>
              <a:rPr sz="950" b="1" dirty="0">
                <a:solidFill>
                  <a:srgbClr val="161616"/>
                </a:solidFill>
                <a:latin typeface="Inter"/>
                <a:cs typeface="Inter"/>
              </a:rPr>
              <a:t>casos, informes, tus notas</a:t>
            </a:r>
          </a:p>
        </p:txBody>
      </p:sp>
      <p:cxnSp>
        <p:nvCxnSpPr>
          <p:cNvPr id="10" name="Connector 9"/>
          <p:cNvCxnSpPr/>
          <p:nvPr/>
        </p:nvCxnSpPr>
        <p:spPr>
          <a:xfrm>
            <a:off x="736600" y="2861056"/>
            <a:ext cx="1376892"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6600" y="2949956"/>
            <a:ext cx="1376892" cy="190500"/>
          </a:xfrm>
          <a:prstGeom prst="rect">
            <a:avLst/>
          </a:prstGeom>
          <a:noFill/>
          <a:effectLst/>
        </p:spPr>
        <p:txBody>
          <a:bodyPr wrap="square" lIns="0" rIns="0" tIns="0" bIns="0" anchor="t"/>
          <a:lstStyle/>
          <a:p>
            <a:pPr algn="l">
              <a:lnSpc>
                <a:spcPts val="840"/>
              </a:lnSpc>
            </a:pPr>
            <a:r>
              <a:rPr sz="700" b="0" dirty="0">
                <a:solidFill>
                  <a:srgbClr val="6F6F6F"/>
                </a:solidFill>
                <a:latin typeface="Inter"/>
                <a:cs typeface="Inter"/>
              </a:rPr>
              <a:t>5–12 documentos</a:t>
            </a:r>
          </a:p>
        </p:txBody>
      </p:sp>
      <p:cxnSp>
        <p:nvCxnSpPr>
          <p:cNvPr id="12" name="Connector 11"/>
          <p:cNvCxnSpPr/>
          <p:nvPr/>
        </p:nvCxnSpPr>
        <p:spPr>
          <a:xfrm>
            <a:off x="2278592" y="2524506"/>
            <a:ext cx="1524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3" name="Freeform 12"/>
          <p:cNvSpPr/>
          <p:nvPr/>
        </p:nvSpPr>
        <p:spPr>
          <a:xfrm>
            <a:off x="2380192" y="2493010"/>
            <a:ext cx="50800" cy="62992"/>
          </a:xfrm>
          <a:custGeom>
            <a:avLst/>
            <a:gdLst/>
            <a:ahLst/>
            <a:cxnLst/>
            <a:rect l="l" t="t" r="r" b="b"/>
            <a:pathLst>
              <a:path w="50800" h="62992">
                <a:moveTo>
                  <a:pt x="50800" y="31496"/>
                </a:moveTo>
                <a:lnTo>
                  <a:pt x="0" y="0"/>
                </a:lnTo>
                <a:lnTo>
                  <a:pt x="0" y="62992"/>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81792" y="1857756"/>
            <a:ext cx="1630892" cy="1333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608792" y="1997456"/>
            <a:ext cx="1376892" cy="1651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CUADERNO</a:t>
            </a:r>
          </a:p>
        </p:txBody>
      </p:sp>
      <p:sp>
        <p:nvSpPr>
          <p:cNvPr id="16" name="TextBox 15"/>
          <p:cNvSpPr txBox="1"/>
          <p:nvPr/>
        </p:nvSpPr>
        <p:spPr>
          <a:xfrm>
            <a:off x="2608792" y="2226056"/>
            <a:ext cx="1376892" cy="698500"/>
          </a:xfrm>
          <a:prstGeom prst="rect">
            <a:avLst/>
          </a:prstGeom>
          <a:noFill/>
          <a:effectLst/>
        </p:spPr>
        <p:txBody>
          <a:bodyPr wrap="square" lIns="0" rIns="0" tIns="0" bIns="0" anchor="t"/>
          <a:lstStyle/>
          <a:p>
            <a:pPr algn="l">
              <a:lnSpc>
                <a:spcPts val="1282"/>
              </a:lnSpc>
            </a:pPr>
            <a:r>
              <a:rPr sz="950" b="1" dirty="0">
                <a:solidFill>
                  <a:srgbClr val="161616"/>
                </a:solidFill>
                <a:latin typeface="Inter"/>
                <a:cs typeface="Inter"/>
              </a:rPr>
              <a:t>Un cuaderno por módulo.</a:t>
            </a:r>
            <a:br/>
            <a:r>
              <a:rPr sz="950" b="1" dirty="0">
                <a:solidFill>
                  <a:srgbClr val="161616"/>
                </a:solidFill>
                <a:latin typeface="Inter"/>
                <a:cs typeface="Inter"/>
              </a:rPr>
              <a:t>Nada de mezclar módulos</a:t>
            </a:r>
          </a:p>
        </p:txBody>
      </p:sp>
      <p:cxnSp>
        <p:nvCxnSpPr>
          <p:cNvPr id="17" name="Connector 16"/>
          <p:cNvCxnSpPr/>
          <p:nvPr/>
        </p:nvCxnSpPr>
        <p:spPr>
          <a:xfrm>
            <a:off x="2608792" y="2861056"/>
            <a:ext cx="1376891"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608792" y="2949956"/>
            <a:ext cx="1376892" cy="190500"/>
          </a:xfrm>
          <a:prstGeom prst="rect">
            <a:avLst/>
          </a:prstGeom>
          <a:noFill/>
          <a:effectLst/>
        </p:spPr>
        <p:txBody>
          <a:bodyPr wrap="square" lIns="0" rIns="0" tIns="0" bIns="0" anchor="t"/>
          <a:lstStyle/>
          <a:p>
            <a:pPr algn="l">
              <a:lnSpc>
                <a:spcPts val="840"/>
              </a:lnSpc>
            </a:pPr>
            <a:r>
              <a:rPr sz="700" b="0" dirty="0">
                <a:solidFill>
                  <a:srgbClr val="6F6F6F"/>
                </a:solidFill>
                <a:latin typeface="Inter"/>
                <a:cs typeface="Inter"/>
              </a:rPr>
              <a:t>notebooklm.google.com</a:t>
            </a:r>
          </a:p>
        </p:txBody>
      </p:sp>
      <p:cxnSp>
        <p:nvCxnSpPr>
          <p:cNvPr id="19" name="Connector 18"/>
          <p:cNvCxnSpPr/>
          <p:nvPr/>
        </p:nvCxnSpPr>
        <p:spPr>
          <a:xfrm>
            <a:off x="4150783" y="2524506"/>
            <a:ext cx="1524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4252383" y="2493010"/>
            <a:ext cx="50800" cy="62992"/>
          </a:xfrm>
          <a:custGeom>
            <a:avLst/>
            <a:gdLst/>
            <a:ahLst/>
            <a:cxnLst/>
            <a:rect l="l" t="t" r="r" b="b"/>
            <a:pathLst>
              <a:path w="50800" h="62992">
                <a:moveTo>
                  <a:pt x="50800" y="31496"/>
                </a:moveTo>
                <a:lnTo>
                  <a:pt x="0" y="0"/>
                </a:lnTo>
                <a:lnTo>
                  <a:pt x="0" y="62992"/>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53983" y="1857756"/>
            <a:ext cx="1630892" cy="1333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80983" y="1997456"/>
            <a:ext cx="1376892" cy="1651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GUION</a:t>
            </a:r>
          </a:p>
        </p:txBody>
      </p:sp>
      <p:sp>
        <p:nvSpPr>
          <p:cNvPr id="23" name="TextBox 22"/>
          <p:cNvSpPr txBox="1"/>
          <p:nvPr/>
        </p:nvSpPr>
        <p:spPr>
          <a:xfrm>
            <a:off x="4480983" y="2226056"/>
            <a:ext cx="1376892" cy="698500"/>
          </a:xfrm>
          <a:prstGeom prst="rect">
            <a:avLst/>
          </a:prstGeom>
          <a:noFill/>
          <a:effectLst/>
        </p:spPr>
        <p:txBody>
          <a:bodyPr wrap="square" lIns="0" rIns="0" tIns="0" bIns="0" anchor="t"/>
          <a:lstStyle/>
          <a:p>
            <a:pPr algn="l">
              <a:lnSpc>
                <a:spcPts val="1282"/>
              </a:lnSpc>
            </a:pPr>
            <a:r>
              <a:rPr sz="950" b="1" dirty="0">
                <a:solidFill>
                  <a:srgbClr val="161616"/>
                </a:solidFill>
                <a:latin typeface="Inter"/>
                <a:cs typeface="Inter"/>
              </a:rPr>
              <a:t>Bloques, minutos,</a:t>
            </a:r>
            <a:br/>
            <a:r>
              <a:rPr sz="950" b="1" dirty="0">
                <a:solidFill>
                  <a:srgbClr val="161616"/>
                </a:solidFill>
                <a:latin typeface="Inter"/>
                <a:cs typeface="Inter"/>
              </a:rPr>
              <a:t>ejercicios y datos citados</a:t>
            </a:r>
          </a:p>
        </p:txBody>
      </p:sp>
      <p:cxnSp>
        <p:nvCxnSpPr>
          <p:cNvPr id="24" name="Connector 23"/>
          <p:cNvCxnSpPr/>
          <p:nvPr/>
        </p:nvCxnSpPr>
        <p:spPr>
          <a:xfrm>
            <a:off x="4480983" y="2861056"/>
            <a:ext cx="1376892"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80983" y="2949956"/>
            <a:ext cx="1376892" cy="190500"/>
          </a:xfrm>
          <a:prstGeom prst="rect">
            <a:avLst/>
          </a:prstGeom>
          <a:noFill/>
          <a:effectLst/>
        </p:spPr>
        <p:txBody>
          <a:bodyPr wrap="square" lIns="0" rIns="0" tIns="0" bIns="0" anchor="t"/>
          <a:lstStyle/>
          <a:p>
            <a:pPr algn="l">
              <a:lnSpc>
                <a:spcPts val="840"/>
              </a:lnSpc>
            </a:pPr>
            <a:r>
              <a:rPr sz="700" b="0" dirty="0">
                <a:solidFill>
                  <a:srgbClr val="6F6F6F"/>
                </a:solidFill>
                <a:latin typeface="Inter"/>
                <a:cs typeface="Inter"/>
              </a:rPr>
              <a:t>Salida en texto</a:t>
            </a:r>
          </a:p>
        </p:txBody>
      </p:sp>
      <p:cxnSp>
        <p:nvCxnSpPr>
          <p:cNvPr id="26" name="Connector 25"/>
          <p:cNvCxnSpPr/>
          <p:nvPr/>
        </p:nvCxnSpPr>
        <p:spPr>
          <a:xfrm>
            <a:off x="6022975" y="2524506"/>
            <a:ext cx="1524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6124575" y="2493010"/>
            <a:ext cx="50800" cy="62992"/>
          </a:xfrm>
          <a:custGeom>
            <a:avLst/>
            <a:gdLst/>
            <a:ahLst/>
            <a:cxnLst/>
            <a:rect l="l" t="t" r="r" b="b"/>
            <a:pathLst>
              <a:path w="50800" h="62992">
                <a:moveTo>
                  <a:pt x="50800" y="31496"/>
                </a:moveTo>
                <a:lnTo>
                  <a:pt x="0" y="0"/>
                </a:lnTo>
                <a:lnTo>
                  <a:pt x="0" y="62992"/>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6175" y="1857756"/>
            <a:ext cx="1630892" cy="1333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3175" y="1997456"/>
            <a:ext cx="1376892" cy="1651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ESCALETA</a:t>
            </a:r>
          </a:p>
        </p:txBody>
      </p:sp>
      <p:sp>
        <p:nvSpPr>
          <p:cNvPr id="30" name="TextBox 29"/>
          <p:cNvSpPr txBox="1"/>
          <p:nvPr/>
        </p:nvSpPr>
        <p:spPr>
          <a:xfrm>
            <a:off x="6353175" y="2226056"/>
            <a:ext cx="1376892" cy="698500"/>
          </a:xfrm>
          <a:prstGeom prst="rect">
            <a:avLst/>
          </a:prstGeom>
          <a:noFill/>
          <a:effectLst/>
        </p:spPr>
        <p:txBody>
          <a:bodyPr wrap="square" lIns="0" rIns="0" tIns="0" bIns="0" anchor="t"/>
          <a:lstStyle/>
          <a:p>
            <a:pPr algn="l">
              <a:lnSpc>
                <a:spcPts val="1282"/>
              </a:lnSpc>
            </a:pPr>
            <a:r>
              <a:rPr sz="950" b="1" dirty="0">
                <a:solidFill>
                  <a:srgbClr val="161616"/>
                </a:solidFill>
                <a:latin typeface="Inter"/>
                <a:cs typeface="Inter"/>
              </a:rPr>
              <a:t>Cada diapositiva con su</a:t>
            </a:r>
            <a:br/>
            <a:r>
              <a:rPr sz="950" b="1" dirty="0">
                <a:solidFill>
                  <a:srgbClr val="161616"/>
                </a:solidFill>
                <a:latin typeface="Inter"/>
                <a:cs typeface="Inter"/>
              </a:rPr>
              <a:t>código de plantilla</a:t>
            </a:r>
          </a:p>
        </p:txBody>
      </p:sp>
      <p:cxnSp>
        <p:nvCxnSpPr>
          <p:cNvPr id="31" name="Connector 30"/>
          <p:cNvCxnSpPr/>
          <p:nvPr/>
        </p:nvCxnSpPr>
        <p:spPr>
          <a:xfrm>
            <a:off x="6353175" y="2861056"/>
            <a:ext cx="1376892"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353175" y="2949956"/>
            <a:ext cx="1376892" cy="190500"/>
          </a:xfrm>
          <a:prstGeom prst="rect">
            <a:avLst/>
          </a:prstGeom>
          <a:noFill/>
          <a:effectLst/>
        </p:spPr>
        <p:txBody>
          <a:bodyPr wrap="square" lIns="0" rIns="0" tIns="0" bIns="0" anchor="t"/>
          <a:lstStyle/>
          <a:p>
            <a:pPr algn="l">
              <a:lnSpc>
                <a:spcPts val="840"/>
              </a:lnSpc>
            </a:pPr>
            <a:r>
              <a:rPr sz="700" b="0" dirty="0">
                <a:solidFill>
                  <a:srgbClr val="6F6F6F"/>
                </a:solidFill>
                <a:latin typeface="Inter"/>
                <a:cs typeface="Inter"/>
              </a:rPr>
              <a:t>A01 · C01 · F05 …</a:t>
            </a:r>
          </a:p>
        </p:txBody>
      </p:sp>
      <p:cxnSp>
        <p:nvCxnSpPr>
          <p:cNvPr id="33" name="Connector 32"/>
          <p:cNvCxnSpPr/>
          <p:nvPr/>
        </p:nvCxnSpPr>
        <p:spPr>
          <a:xfrm>
            <a:off x="609600" y="3521456"/>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09600" y="3661156"/>
            <a:ext cx="3477683" cy="1905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Qué fuentes valen</a:t>
            </a:r>
          </a:p>
        </p:txBody>
      </p:sp>
      <p:sp>
        <p:nvSpPr>
          <p:cNvPr id="35" name="TextBox 34"/>
          <p:cNvSpPr txBox="1"/>
          <p:nvPr/>
        </p:nvSpPr>
        <p:spPr>
          <a:xfrm>
            <a:off x="609600" y="3940556"/>
            <a:ext cx="152400" cy="165100"/>
          </a:xfrm>
          <a:prstGeom prst="rect">
            <a:avLst/>
          </a:prstGeom>
          <a:noFill/>
          <a:effectLst/>
        </p:spPr>
        <p:txBody>
          <a:bodyPr wrap="square" lIns="0" rIns="0" tIns="0" bIns="0" anchor="t"/>
          <a:lstStyle/>
          <a:p>
            <a:pPr algn="l">
              <a:lnSpc>
                <a:spcPts val="1235"/>
              </a:lnSpc>
            </a:pPr>
            <a:r>
              <a:rPr sz="950" b="1" dirty="0">
                <a:solidFill>
                  <a:srgbClr val="161616"/>
                </a:solidFill>
                <a:latin typeface="Inter"/>
                <a:cs typeface="Inter"/>
              </a:rPr>
              <a:t>—</a:t>
            </a:r>
          </a:p>
        </p:txBody>
      </p:sp>
      <p:sp>
        <p:nvSpPr>
          <p:cNvPr id="36" name="TextBox 35"/>
          <p:cNvSpPr txBox="1"/>
          <p:nvPr/>
        </p:nvSpPr>
        <p:spPr>
          <a:xfrm>
            <a:off x="800100" y="3940556"/>
            <a:ext cx="3287183" cy="444500"/>
          </a:xfrm>
          <a:prstGeom prst="rect">
            <a:avLst/>
          </a:prstGeom>
          <a:noFill/>
          <a:effectLst/>
        </p:spPr>
        <p:txBody>
          <a:bodyPr wrap="square" lIns="0" rIns="0" tIns="0" bIns="0" anchor="t"/>
          <a:lstStyle/>
          <a:p>
            <a:pPr algn="l">
              <a:lnSpc>
                <a:spcPts val="1330"/>
              </a:lnSpc>
            </a:pPr>
            <a:r>
              <a:rPr sz="950" b="0" dirty="0">
                <a:solidFill>
                  <a:srgbClr val="525252"/>
                </a:solidFill>
                <a:latin typeface="Inter"/>
                <a:cs typeface="Inter"/>
              </a:rPr>
              <a:t>Documentos internos del curso y la guía docente</a:t>
            </a:r>
          </a:p>
        </p:txBody>
      </p:sp>
      <p:sp>
        <p:nvSpPr>
          <p:cNvPr id="37" name="TextBox 36"/>
          <p:cNvSpPr txBox="1"/>
          <p:nvPr/>
        </p:nvSpPr>
        <p:spPr>
          <a:xfrm>
            <a:off x="609600" y="4334256"/>
            <a:ext cx="152400" cy="165100"/>
          </a:xfrm>
          <a:prstGeom prst="rect">
            <a:avLst/>
          </a:prstGeom>
          <a:noFill/>
          <a:effectLst/>
        </p:spPr>
        <p:txBody>
          <a:bodyPr wrap="square" lIns="0" rIns="0" tIns="0" bIns="0" anchor="t"/>
          <a:lstStyle/>
          <a:p>
            <a:pPr algn="l">
              <a:lnSpc>
                <a:spcPts val="1235"/>
              </a:lnSpc>
            </a:pPr>
            <a:r>
              <a:rPr sz="950" b="1" dirty="0">
                <a:solidFill>
                  <a:srgbClr val="161616"/>
                </a:solidFill>
                <a:latin typeface="Inter"/>
                <a:cs typeface="Inter"/>
              </a:rPr>
              <a:t>—</a:t>
            </a:r>
          </a:p>
        </p:txBody>
      </p:sp>
      <p:sp>
        <p:nvSpPr>
          <p:cNvPr id="38" name="TextBox 37"/>
          <p:cNvSpPr txBox="1"/>
          <p:nvPr/>
        </p:nvSpPr>
        <p:spPr>
          <a:xfrm>
            <a:off x="800100" y="4334256"/>
            <a:ext cx="3287183" cy="444500"/>
          </a:xfrm>
          <a:prstGeom prst="rect">
            <a:avLst/>
          </a:prstGeom>
          <a:noFill/>
          <a:effectLst/>
        </p:spPr>
        <p:txBody>
          <a:bodyPr wrap="square" lIns="0" rIns="0" tIns="0" bIns="0" anchor="t"/>
          <a:lstStyle/>
          <a:p>
            <a:pPr algn="l">
              <a:lnSpc>
                <a:spcPts val="1330"/>
              </a:lnSpc>
            </a:pPr>
            <a:r>
              <a:rPr sz="950" b="0" dirty="0">
                <a:solidFill>
                  <a:srgbClr val="525252"/>
                </a:solidFill>
                <a:latin typeface="Inter"/>
                <a:cs typeface="Inter"/>
              </a:rPr>
              <a:t>Informes con fecha y autor (Deel, Remote, OCDE…)</a:t>
            </a:r>
          </a:p>
        </p:txBody>
      </p:sp>
      <p:sp>
        <p:nvSpPr>
          <p:cNvPr id="39" name="TextBox 38"/>
          <p:cNvSpPr txBox="1"/>
          <p:nvPr/>
        </p:nvSpPr>
        <p:spPr>
          <a:xfrm>
            <a:off x="609600" y="4727956"/>
            <a:ext cx="152400" cy="165100"/>
          </a:xfrm>
          <a:prstGeom prst="rect">
            <a:avLst/>
          </a:prstGeom>
          <a:noFill/>
          <a:effectLst/>
        </p:spPr>
        <p:txBody>
          <a:bodyPr wrap="square" lIns="0" rIns="0" tIns="0" bIns="0" anchor="t"/>
          <a:lstStyle/>
          <a:p>
            <a:pPr algn="l">
              <a:lnSpc>
                <a:spcPts val="1235"/>
              </a:lnSpc>
            </a:pPr>
            <a:r>
              <a:rPr sz="950" b="1" dirty="0">
                <a:solidFill>
                  <a:srgbClr val="161616"/>
                </a:solidFill>
                <a:latin typeface="Inter"/>
                <a:cs typeface="Inter"/>
              </a:rPr>
              <a:t>—</a:t>
            </a:r>
          </a:p>
        </p:txBody>
      </p:sp>
      <p:sp>
        <p:nvSpPr>
          <p:cNvPr id="40" name="TextBox 39"/>
          <p:cNvSpPr txBox="1"/>
          <p:nvPr/>
        </p:nvSpPr>
        <p:spPr>
          <a:xfrm>
            <a:off x="800100" y="4727956"/>
            <a:ext cx="3287183" cy="444500"/>
          </a:xfrm>
          <a:prstGeom prst="rect">
            <a:avLst/>
          </a:prstGeom>
          <a:noFill/>
          <a:effectLst/>
        </p:spPr>
        <p:txBody>
          <a:bodyPr wrap="square" lIns="0" rIns="0" tIns="0" bIns="0" anchor="t"/>
          <a:lstStyle/>
          <a:p>
            <a:pPr algn="l">
              <a:lnSpc>
                <a:spcPts val="1330"/>
              </a:lnSpc>
            </a:pPr>
            <a:r>
              <a:rPr sz="950" b="0" dirty="0">
                <a:solidFill>
                  <a:srgbClr val="525252"/>
                </a:solidFill>
                <a:latin typeface="Inter"/>
                <a:cs typeface="Inter"/>
              </a:rPr>
              <a:t>Casos reales anonimizados y tus propias notas</a:t>
            </a:r>
          </a:p>
        </p:txBody>
      </p:sp>
      <p:sp>
        <p:nvSpPr>
          <p:cNvPr id="41" name="TextBox 40"/>
          <p:cNvSpPr txBox="1"/>
          <p:nvPr/>
        </p:nvSpPr>
        <p:spPr>
          <a:xfrm>
            <a:off x="4379383" y="3661156"/>
            <a:ext cx="3477683" cy="1905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Qué no vale</a:t>
            </a:r>
          </a:p>
        </p:txBody>
      </p:sp>
      <p:sp>
        <p:nvSpPr>
          <p:cNvPr id="42" name="TextBox 41"/>
          <p:cNvSpPr txBox="1"/>
          <p:nvPr/>
        </p:nvSpPr>
        <p:spPr>
          <a:xfrm>
            <a:off x="4379383" y="3940556"/>
            <a:ext cx="152400" cy="165100"/>
          </a:xfrm>
          <a:prstGeom prst="rect">
            <a:avLst/>
          </a:prstGeom>
          <a:noFill/>
          <a:effectLst/>
        </p:spPr>
        <p:txBody>
          <a:bodyPr wrap="square" lIns="0" rIns="0" tIns="0" bIns="0" anchor="t"/>
          <a:lstStyle/>
          <a:p>
            <a:pPr algn="l">
              <a:lnSpc>
                <a:spcPts val="1235"/>
              </a:lnSpc>
            </a:pPr>
            <a:r>
              <a:rPr sz="950" b="1" dirty="0">
                <a:solidFill>
                  <a:srgbClr val="161616"/>
                </a:solidFill>
                <a:latin typeface="Inter"/>
                <a:cs typeface="Inter"/>
              </a:rPr>
              <a:t>—</a:t>
            </a:r>
          </a:p>
        </p:txBody>
      </p:sp>
      <p:sp>
        <p:nvSpPr>
          <p:cNvPr id="43" name="TextBox 42"/>
          <p:cNvSpPr txBox="1"/>
          <p:nvPr/>
        </p:nvSpPr>
        <p:spPr>
          <a:xfrm>
            <a:off x="4569883" y="3940556"/>
            <a:ext cx="3287183" cy="444500"/>
          </a:xfrm>
          <a:prstGeom prst="rect">
            <a:avLst/>
          </a:prstGeom>
          <a:noFill/>
          <a:effectLst/>
        </p:spPr>
        <p:txBody>
          <a:bodyPr wrap="square" lIns="0" rIns="0" tIns="0" bIns="0" anchor="t"/>
          <a:lstStyle/>
          <a:p>
            <a:pPr algn="l">
              <a:lnSpc>
                <a:spcPts val="1330"/>
              </a:lnSpc>
            </a:pPr>
            <a:r>
              <a:rPr sz="950" b="0" dirty="0">
                <a:solidFill>
                  <a:srgbClr val="525252"/>
                </a:solidFill>
                <a:latin typeface="Inter"/>
                <a:cs typeface="Inter"/>
              </a:rPr>
              <a:t>Blogs sin fecha ni autor y contenido de terceros con copyright</a:t>
            </a:r>
          </a:p>
        </p:txBody>
      </p:sp>
      <p:sp>
        <p:nvSpPr>
          <p:cNvPr id="44" name="TextBox 43"/>
          <p:cNvSpPr txBox="1"/>
          <p:nvPr/>
        </p:nvSpPr>
        <p:spPr>
          <a:xfrm>
            <a:off x="4379383" y="4334256"/>
            <a:ext cx="152400" cy="165100"/>
          </a:xfrm>
          <a:prstGeom prst="rect">
            <a:avLst/>
          </a:prstGeom>
          <a:noFill/>
          <a:effectLst/>
        </p:spPr>
        <p:txBody>
          <a:bodyPr wrap="square" lIns="0" rIns="0" tIns="0" bIns="0" anchor="t"/>
          <a:lstStyle/>
          <a:p>
            <a:pPr algn="l">
              <a:lnSpc>
                <a:spcPts val="1235"/>
              </a:lnSpc>
            </a:pPr>
            <a:r>
              <a:rPr sz="950" b="1" dirty="0">
                <a:solidFill>
                  <a:srgbClr val="161616"/>
                </a:solidFill>
                <a:latin typeface="Inter"/>
                <a:cs typeface="Inter"/>
              </a:rPr>
              <a:t>—</a:t>
            </a:r>
          </a:p>
        </p:txBody>
      </p:sp>
      <p:sp>
        <p:nvSpPr>
          <p:cNvPr id="45" name="TextBox 44"/>
          <p:cNvSpPr txBox="1"/>
          <p:nvPr/>
        </p:nvSpPr>
        <p:spPr>
          <a:xfrm>
            <a:off x="4569883" y="4334256"/>
            <a:ext cx="3287183" cy="444500"/>
          </a:xfrm>
          <a:prstGeom prst="rect">
            <a:avLst/>
          </a:prstGeom>
          <a:noFill/>
          <a:effectLst/>
        </p:spPr>
        <p:txBody>
          <a:bodyPr wrap="square" lIns="0" rIns="0" tIns="0" bIns="0" anchor="t"/>
          <a:lstStyle/>
          <a:p>
            <a:pPr algn="l">
              <a:lnSpc>
                <a:spcPts val="1330"/>
              </a:lnSpc>
            </a:pPr>
            <a:r>
              <a:rPr sz="950" b="0" dirty="0">
                <a:solidFill>
                  <a:srgbClr val="525252"/>
                </a:solidFill>
                <a:latin typeface="Inter"/>
                <a:cs typeface="Inter"/>
              </a:rPr>
              <a:t>Datos sin fuente: si no está en una fuente, no entra en la diapositiva</a:t>
            </a:r>
          </a:p>
        </p:txBody>
      </p:sp>
      <p:sp>
        <p:nvSpPr>
          <p:cNvPr id="46" name="TextBox 45"/>
          <p:cNvSpPr txBox="1"/>
          <p:nvPr/>
        </p:nvSpPr>
        <p:spPr>
          <a:xfrm>
            <a:off x="4379383" y="4727956"/>
            <a:ext cx="152400" cy="165100"/>
          </a:xfrm>
          <a:prstGeom prst="rect">
            <a:avLst/>
          </a:prstGeom>
          <a:noFill/>
          <a:effectLst/>
        </p:spPr>
        <p:txBody>
          <a:bodyPr wrap="square" lIns="0" rIns="0" tIns="0" bIns="0" anchor="t"/>
          <a:lstStyle/>
          <a:p>
            <a:pPr algn="l">
              <a:lnSpc>
                <a:spcPts val="1235"/>
              </a:lnSpc>
            </a:pPr>
            <a:r>
              <a:rPr sz="950" b="1" dirty="0">
                <a:solidFill>
                  <a:srgbClr val="161616"/>
                </a:solidFill>
                <a:latin typeface="Inter"/>
                <a:cs typeface="Inter"/>
              </a:rPr>
              <a:t>—</a:t>
            </a:r>
          </a:p>
        </p:txBody>
      </p:sp>
      <p:sp>
        <p:nvSpPr>
          <p:cNvPr id="47" name="TextBox 46"/>
          <p:cNvSpPr txBox="1"/>
          <p:nvPr/>
        </p:nvSpPr>
        <p:spPr>
          <a:xfrm>
            <a:off x="4569883" y="4727956"/>
            <a:ext cx="3287183" cy="444500"/>
          </a:xfrm>
          <a:prstGeom prst="rect">
            <a:avLst/>
          </a:prstGeom>
          <a:noFill/>
          <a:effectLst/>
        </p:spPr>
        <p:txBody>
          <a:bodyPr wrap="square" lIns="0" rIns="0" tIns="0" bIns="0" anchor="t"/>
          <a:lstStyle/>
          <a:p>
            <a:pPr algn="l">
              <a:lnSpc>
                <a:spcPts val="1330"/>
              </a:lnSpc>
            </a:pPr>
            <a:r>
              <a:rPr sz="950" b="0" dirty="0">
                <a:solidFill>
                  <a:srgbClr val="525252"/>
                </a:solidFill>
                <a:latin typeface="Inter"/>
                <a:cs typeface="Inter"/>
              </a:rPr>
              <a:t>Material de otro módulo: un cuaderno por módulo</a:t>
            </a:r>
          </a:p>
        </p:txBody>
      </p:sp>
      <p:sp>
        <p:nvSpPr>
          <p:cNvPr id="48" name="Rectangle 47"/>
          <p:cNvSpPr/>
          <p:nvPr/>
        </p:nvSpPr>
        <p:spPr>
          <a:xfrm>
            <a:off x="8225367" y="1857756"/>
            <a:ext cx="3357033" cy="4301744"/>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390467" y="2022856"/>
            <a:ext cx="3026833" cy="1651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REGLAS DE USO</a:t>
            </a:r>
          </a:p>
        </p:txBody>
      </p:sp>
      <p:sp>
        <p:nvSpPr>
          <p:cNvPr id="50" name="Rectangle 49"/>
          <p:cNvSpPr/>
          <p:nvPr/>
        </p:nvSpPr>
        <p:spPr>
          <a:xfrm>
            <a:off x="8390467" y="2403856"/>
            <a:ext cx="50800" cy="508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517467" y="2353056"/>
            <a:ext cx="2899833" cy="698500"/>
          </a:xfrm>
          <a:prstGeom prst="rect">
            <a:avLst/>
          </a:prstGeom>
          <a:noFill/>
          <a:effectLst/>
        </p:spPr>
        <p:txBody>
          <a:bodyPr wrap="square" lIns="0" rIns="0" tIns="0" bIns="0" anchor="t"/>
          <a:lstStyle/>
          <a:p>
            <a:pPr algn="l">
              <a:lnSpc>
                <a:spcPts val="1377"/>
              </a:lnSpc>
            </a:pPr>
            <a:r>
              <a:rPr sz="950" b="0" dirty="0">
                <a:solidFill>
                  <a:srgbClr val="D2D2D2"/>
                </a:solidFill>
                <a:latin typeface="Inter"/>
                <a:cs typeface="Inter"/>
              </a:rPr>
              <a:t>El guion lo escribe la IA; los datos los verificas tú.</a:t>
            </a:r>
          </a:p>
        </p:txBody>
      </p:sp>
      <p:sp>
        <p:nvSpPr>
          <p:cNvPr id="52" name="Rectangle 51"/>
          <p:cNvSpPr/>
          <p:nvPr/>
        </p:nvSpPr>
        <p:spPr>
          <a:xfrm>
            <a:off x="8390467" y="3064256"/>
            <a:ext cx="50800" cy="508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517467" y="3013456"/>
            <a:ext cx="2899833" cy="698500"/>
          </a:xfrm>
          <a:prstGeom prst="rect">
            <a:avLst/>
          </a:prstGeom>
          <a:noFill/>
          <a:effectLst/>
        </p:spPr>
        <p:txBody>
          <a:bodyPr wrap="square" lIns="0" rIns="0" tIns="0" bIns="0" anchor="t"/>
          <a:lstStyle/>
          <a:p>
            <a:pPr algn="l">
              <a:lnSpc>
                <a:spcPts val="1377"/>
              </a:lnSpc>
            </a:pPr>
            <a:r>
              <a:rPr sz="950" b="0" dirty="0">
                <a:solidFill>
                  <a:srgbClr val="D2D2D2"/>
                </a:solidFill>
                <a:latin typeface="Inter"/>
                <a:cs typeface="Inter"/>
              </a:rPr>
              <a:t>Cita siempre la fuente bajo el dato, en 10 pt.</a:t>
            </a:r>
          </a:p>
        </p:txBody>
      </p:sp>
      <p:sp>
        <p:nvSpPr>
          <p:cNvPr id="54" name="Rectangle 53"/>
          <p:cNvSpPr/>
          <p:nvPr/>
        </p:nvSpPr>
        <p:spPr>
          <a:xfrm>
            <a:off x="8390467" y="3724656"/>
            <a:ext cx="50800" cy="508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517467" y="3673856"/>
            <a:ext cx="2899833" cy="698500"/>
          </a:xfrm>
          <a:prstGeom prst="rect">
            <a:avLst/>
          </a:prstGeom>
          <a:noFill/>
          <a:effectLst/>
        </p:spPr>
        <p:txBody>
          <a:bodyPr wrap="square" lIns="0" rIns="0" tIns="0" bIns="0" anchor="t"/>
          <a:lstStyle/>
          <a:p>
            <a:pPr algn="l">
              <a:lnSpc>
                <a:spcPts val="1377"/>
              </a:lnSpc>
            </a:pPr>
            <a:r>
              <a:rPr sz="950" b="0" dirty="0">
                <a:solidFill>
                  <a:srgbClr val="D2D2D2"/>
                </a:solidFill>
                <a:latin typeface="Inter"/>
                <a:cs typeface="Inter"/>
              </a:rPr>
              <a:t>Nada de emoji ni de adjetivos: cifras y verbos.</a:t>
            </a:r>
          </a:p>
        </p:txBody>
      </p:sp>
      <p:sp>
        <p:nvSpPr>
          <p:cNvPr id="56" name="Rectangle 55"/>
          <p:cNvSpPr/>
          <p:nvPr/>
        </p:nvSpPr>
        <p:spPr>
          <a:xfrm>
            <a:off x="8390467" y="4385056"/>
            <a:ext cx="50800" cy="508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8517467" y="4334256"/>
            <a:ext cx="2899833" cy="698500"/>
          </a:xfrm>
          <a:prstGeom prst="rect">
            <a:avLst/>
          </a:prstGeom>
          <a:noFill/>
          <a:effectLst/>
        </p:spPr>
        <p:txBody>
          <a:bodyPr wrap="square" lIns="0" rIns="0" tIns="0" bIns="0" anchor="t"/>
          <a:lstStyle/>
          <a:p>
            <a:pPr algn="l">
              <a:lnSpc>
                <a:spcPts val="1377"/>
              </a:lnSpc>
            </a:pPr>
            <a:r>
              <a:rPr sz="950" b="0" dirty="0">
                <a:solidFill>
                  <a:srgbClr val="D2D2D2"/>
                </a:solidFill>
                <a:latin typeface="Inter"/>
                <a:cs typeface="Inter"/>
              </a:rPr>
              <a:t>El resumen en audio de NotebookLM no sustituye a la clase.</a:t>
            </a:r>
          </a:p>
        </p:txBody>
      </p:sp>
      <p:sp>
        <p:nvSpPr>
          <p:cNvPr id="58" name="Rectangle 57"/>
          <p:cNvSpPr/>
          <p:nvPr/>
        </p:nvSpPr>
        <p:spPr>
          <a:xfrm>
            <a:off x="8390467" y="5045456"/>
            <a:ext cx="50800" cy="508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517467" y="4994656"/>
            <a:ext cx="2899833" cy="698500"/>
          </a:xfrm>
          <a:prstGeom prst="rect">
            <a:avLst/>
          </a:prstGeom>
          <a:noFill/>
          <a:effectLst/>
        </p:spPr>
        <p:txBody>
          <a:bodyPr wrap="square" lIns="0" rIns="0" tIns="0" bIns="0" anchor="t"/>
          <a:lstStyle/>
          <a:p>
            <a:pPr algn="l">
              <a:lnSpc>
                <a:spcPts val="1377"/>
              </a:lnSpc>
            </a:pPr>
            <a:r>
              <a:rPr sz="950" b="0" dirty="0">
                <a:solidFill>
                  <a:srgbClr val="D2D2D2"/>
                </a:solidFill>
                <a:latin typeface="Inter"/>
                <a:cs typeface="Inter"/>
              </a:rPr>
              <a:t>Revisa el guion en voz alta antes de montar el deck.</a:t>
            </a:r>
          </a:p>
        </p:txBody>
      </p:sp>
      <p:cxnSp>
        <p:nvCxnSpPr>
          <p:cNvPr id="60" name="Connector 59"/>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65" name="TextBox 64"/>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GUÍA · 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835660"/>
            <a:ext cx="76200" cy="76200"/>
          </a:xfrm>
          <a:prstGeom prst="rect">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9A9A9A"/>
                </a:solidFill>
                <a:latin typeface="Inter"/>
                <a:cs typeface="Inter"/>
              </a:rPr>
              <a:t>HERRAMIENTA · NOTEBOOKLM</a:t>
            </a:r>
          </a:p>
        </p:txBody>
      </p:sp>
      <p:sp>
        <p:nvSpPr>
          <p:cNvPr id="5" name="TextBox 4"/>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FFFFFF"/>
                </a:solidFill>
                <a:latin typeface="Inter"/>
                <a:cs typeface="Inter"/>
              </a:rPr>
              <a:t>El prompt que se pega tal cual</a:t>
            </a:r>
          </a:p>
        </p:txBody>
      </p:sp>
      <p:sp>
        <p:nvSpPr>
          <p:cNvPr id="6" name="TextBox 5"/>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5A5A5A"/>
                </a:solidFill>
                <a:latin typeface="Inter"/>
                <a:cs typeface="Inter"/>
              </a:rPr>
              <a:t>COPIAR Y PEGAR</a:t>
            </a:r>
          </a:p>
        </p:txBody>
      </p:sp>
      <p:cxnSp>
        <p:nvCxnSpPr>
          <p:cNvPr id="7" name="Connector 6"/>
          <p:cNvCxnSpPr/>
          <p:nvPr/>
        </p:nvCxnSpPr>
        <p:spPr>
          <a:xfrm>
            <a:off x="609600" y="1603756"/>
            <a:ext cx="10972800" cy="0"/>
          </a:xfrm>
          <a:prstGeom prst="line">
            <a:avLst/>
          </a:prstGeom>
          <a:ln w="1270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09600" y="1857756"/>
            <a:ext cx="6316133" cy="4064000"/>
          </a:xfrm>
          <a:prstGeom prst="rect">
            <a:avLst/>
          </a:prstGeom>
          <a:solidFill>
            <a:srgbClr val="2525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09600" y="1857756"/>
            <a:ext cx="31750" cy="4064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0100" y="2010156"/>
            <a:ext cx="5935133" cy="1651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PROMPT · MÓDULO</a:t>
            </a:r>
          </a:p>
        </p:txBody>
      </p:sp>
      <p:sp>
        <p:nvSpPr>
          <p:cNvPr id="11" name="TextBox 10"/>
          <p:cNvSpPr txBox="1"/>
          <p:nvPr/>
        </p:nvSpPr>
        <p:spPr>
          <a:xfrm>
            <a:off x="800100" y="2251456"/>
            <a:ext cx="5935133" cy="3556000"/>
          </a:xfrm>
          <a:prstGeom prst="rect">
            <a:avLst/>
          </a:prstGeom>
          <a:noFill/>
          <a:effectLst/>
        </p:spPr>
        <p:txBody>
          <a:bodyPr wrap="square" lIns="0" rIns="0" tIns="0" bIns="0" anchor="t"/>
          <a:lstStyle/>
          <a:p>
            <a:pPr algn="l">
              <a:lnSpc>
                <a:spcPts val="1215"/>
              </a:lnSpc>
            </a:pPr>
            <a:r>
              <a:rPr sz="750" b="0" dirty="0">
                <a:solidFill>
                  <a:srgbClr val="FFFFFF"/>
                </a:solidFill>
                <a:latin typeface="IBM Plex Mono"/>
                <a:cs typeface="IBM Plex Mono"/>
              </a:rPr>
              <a:t>Actúa como diseñador instruccional de ActiveXRemote.</a:t>
            </a:r>
            <a:br/>
            <a:r>
              <a:rPr sz="750" b="0" dirty="0">
                <a:solidFill>
                  <a:srgbClr val="FFFFFF"/>
                </a:solidFill>
                <a:latin typeface="IBM Plex Mono"/>
                <a:cs typeface="IBM Plex Mono"/>
              </a:rPr>
              <a:t/>
            </a:r>
            <a:br/>
            <a:r>
              <a:rPr sz="750" b="0" dirty="0">
                <a:solidFill>
                  <a:srgbClr val="FFFFFF"/>
                </a:solidFill>
                <a:latin typeface="IBM Plex Mono"/>
                <a:cs typeface="IBM Plex Mono"/>
              </a:rPr>
              <a:t>FUENTES: usa solo los documentos de este cuaderno.</a:t>
            </a:r>
            <a:br/>
            <a:r>
              <a:rPr sz="750" b="0" dirty="0">
                <a:solidFill>
                  <a:srgbClr val="FFFFFF"/>
                </a:solidFill>
                <a:latin typeface="IBM Plex Mono"/>
                <a:cs typeface="IBM Plex Mono"/>
              </a:rPr>
              <a:t>FORMATO: usa el catálogo «Plantillas de diapositiva» (64 layouts, A01–I08).</a:t>
            </a:r>
            <a:br/>
            <a:r>
              <a:rPr sz="750" b="0" dirty="0">
                <a:solidFill>
                  <a:srgbClr val="FFFFFF"/>
                </a:solidFill>
                <a:latin typeface="IBM Plex Mono"/>
                <a:cs typeface="IBM Plex Mono"/>
              </a:rPr>
              <a:t/>
            </a:r>
            <a:br/>
            <a:r>
              <a:rPr sz="750" b="0" dirty="0">
                <a:solidFill>
                  <a:srgbClr val="FFFFFF"/>
                </a:solidFill>
                <a:latin typeface="IBM Plex Mono"/>
                <a:cs typeface="IBM Plex Mono"/>
              </a:rPr>
              <a:t>Genera la escaleta del MÓDULO NN — «TÍTULO» (4 h en directo).</a:t>
            </a:r>
            <a:br/>
            <a:r>
              <a:rPr sz="750" b="0" dirty="0">
                <a:solidFill>
                  <a:srgbClr val="FFFFFF"/>
                </a:solidFill>
                <a:latin typeface="IBM Plex Mono"/>
                <a:cs typeface="IBM Plex Mono"/>
              </a:rPr>
              <a:t/>
            </a:r>
            <a:br/>
            <a:r>
              <a:rPr sz="750" b="0" dirty="0">
                <a:solidFill>
                  <a:srgbClr val="FFFFFF"/>
                </a:solidFill>
                <a:latin typeface="IBM Plex Mono"/>
                <a:cs typeface="IBM Plex Mono"/>
              </a:rPr>
              <a:t>1. Divide la sesión en 4 bloques de 45 min + 3 ejercicios + cierre.</a:t>
            </a:r>
            <a:br/>
            <a:r>
              <a:rPr sz="750" b="0" dirty="0">
                <a:solidFill>
                  <a:srgbClr val="FFFFFF"/>
                </a:solidFill>
                <a:latin typeface="IBM Plex Mono"/>
                <a:cs typeface="IBM Plex Mono"/>
              </a:rPr>
              <a:t>2. Para cada diapositiva devuelve, en este orden:</a:t>
            </a:r>
            <a:br/>
            <a:r>
              <a:rPr sz="750" b="0" dirty="0">
                <a:solidFill>
                  <a:srgbClr val="FFFFFF"/>
                </a:solidFill>
                <a:latin typeface="IBM Plex Mono"/>
                <a:cs typeface="IBM Plex Mono"/>
              </a:rPr>
              <a:t>      [CÓDIGO · nombre del layout]</a:t>
            </a:r>
            <a:br/>
            <a:r>
              <a:rPr sz="750" b="0" dirty="0">
                <a:solidFill>
                  <a:srgbClr val="FFFFFF"/>
                </a:solidFill>
                <a:latin typeface="IBM Plex Mono"/>
                <a:cs typeface="IBM Plex Mono"/>
              </a:rPr>
              <a:t>      etiqueta: ...</a:t>
            </a:r>
            <a:br/>
            <a:r>
              <a:rPr sz="750" b="0" dirty="0">
                <a:solidFill>
                  <a:srgbClr val="FFFFFF"/>
                </a:solidFill>
                <a:latin typeface="IBM Plex Mono"/>
                <a:cs typeface="IBM Plex Mono"/>
              </a:rPr>
              <a:t>      titulo:   ...</a:t>
            </a:r>
            <a:br/>
            <a:r>
              <a:rPr sz="750" b="0" dirty="0">
                <a:solidFill>
                  <a:srgbClr val="FFFFFF"/>
                </a:solidFill>
                <a:latin typeface="IBM Plex Mono"/>
                <a:cs typeface="IBM Plex Mono"/>
              </a:rPr>
              <a:t>      texto:    ...</a:t>
            </a:r>
            <a:br/>
            <a:r>
              <a:rPr sz="750" b="0" dirty="0">
                <a:solidFill>
                  <a:srgbClr val="FFFFFF"/>
                </a:solidFill>
                <a:latin typeface="IBM Plex Mono"/>
                <a:cs typeface="IBM Plex Mono"/>
              </a:rPr>
              <a:t>      fuente:   ...</a:t>
            </a:r>
            <a:br/>
            <a:r>
              <a:rPr sz="750" b="0" dirty="0">
                <a:solidFill>
                  <a:srgbClr val="FFFFFF"/>
                </a:solidFill>
                <a:latin typeface="IBM Plex Mono"/>
                <a:cs typeface="IBM Plex Mono"/>
              </a:rPr>
              <a:t>3. El título de cada diapositiva es una AFIRMACIÓN, no una etiqueta.</a:t>
            </a:r>
            <a:br/>
            <a:r>
              <a:rPr sz="750" b="0" dirty="0">
                <a:solidFill>
                  <a:srgbClr val="FFFFFF"/>
                </a:solidFill>
                <a:latin typeface="IBM Plex Mono"/>
                <a:cs typeface="IBM Plex Mono"/>
              </a:rPr>
              <a:t>4. Máximo 40 palabras por diapositiva. Frases de menos de 20 palabras.</a:t>
            </a:r>
            <a:br/>
            <a:r>
              <a:rPr sz="750" b="0" dirty="0">
                <a:solidFill>
                  <a:srgbClr val="FFFFFF"/>
                </a:solidFill>
                <a:latin typeface="IBM Plex Mono"/>
                <a:cs typeface="IBM Plex Mono"/>
              </a:rPr>
              <a:t>5. No encadenes más de 3 diapositivas de la misma familia.</a:t>
            </a:r>
            <a:br/>
            <a:r>
              <a:rPr sz="750" b="0" dirty="0">
                <a:solidFill>
                  <a:srgbClr val="FFFFFF"/>
                </a:solidFill>
                <a:latin typeface="IBM Plex Mono"/>
                <a:cs typeface="IBM Plex Mono"/>
              </a:rPr>
              <a:t>6. Estructura obligatoria por bloque:</a:t>
            </a:r>
            <a:br/>
            <a:r>
              <a:rPr sz="750" b="0" dirty="0">
                <a:solidFill>
                  <a:srgbClr val="FFFFFF"/>
                </a:solidFill>
                <a:latin typeface="IBM Plex Mono"/>
                <a:cs typeface="IBM Plex Mono"/>
              </a:rPr>
              <a:t>      A03 → contenido ×8-12 → F05 o H04 → I01 (ejercicio) → I06</a:t>
            </a:r>
            <a:br/>
            <a:r>
              <a:rPr sz="750" b="0" dirty="0">
                <a:solidFill>
                  <a:srgbClr val="FFFFFF"/>
                </a:solidFill>
                <a:latin typeface="IBM Plex Mono"/>
                <a:cs typeface="IBM Plex Mono"/>
              </a:rPr>
              <a:t>7. Marca los medios entre corchetes: [FOTO: ...] [VÍDEO: ...] [CAPTURA: ...]</a:t>
            </a:r>
            <a:br/>
            <a:r>
              <a:rPr sz="750" b="0" dirty="0">
                <a:solidFill>
                  <a:srgbClr val="FFFFFF"/>
                </a:solidFill>
                <a:latin typeface="IBM Plex Mono"/>
                <a:cs typeface="IBM Plex Mono"/>
              </a:rPr>
              <a:t>8. Tuteo. Sin emoji. Cifras en dígitos y siempre con fuente citada.</a:t>
            </a:r>
            <a:br/>
            <a:r>
              <a:rPr sz="750" b="0" dirty="0">
                <a:solidFill>
                  <a:srgbClr val="FFFFFF"/>
                </a:solidFill>
                <a:latin typeface="IBM Plex Mono"/>
                <a:cs typeface="IBM Plex Mono"/>
              </a:rPr>
              <a:t/>
            </a:r>
            <a:br/>
            <a:r>
              <a:rPr sz="750" b="0" dirty="0">
                <a:solidFill>
                  <a:srgbClr val="FFFFFF"/>
                </a:solidFill>
                <a:latin typeface="IBM Plex Mono"/>
                <a:cs typeface="IBM Plex Mono"/>
              </a:rPr>
              <a:t>Empieza por el BLOQUE 1.</a:t>
            </a:r>
          </a:p>
        </p:txBody>
      </p:sp>
      <p:sp>
        <p:nvSpPr>
          <p:cNvPr id="12" name="TextBox 11"/>
          <p:cNvSpPr txBox="1"/>
          <p:nvPr/>
        </p:nvSpPr>
        <p:spPr>
          <a:xfrm>
            <a:off x="7205133" y="1857756"/>
            <a:ext cx="4377267" cy="254000"/>
          </a:xfrm>
          <a:prstGeom prst="rect">
            <a:avLst/>
          </a:prstGeom>
          <a:noFill/>
          <a:effectLst/>
        </p:spPr>
        <p:txBody>
          <a:bodyPr wrap="square" lIns="0" rIns="0" tIns="0" bIns="0" anchor="t"/>
          <a:lstStyle/>
          <a:p>
            <a:pPr algn="l">
              <a:lnSpc>
                <a:spcPts val="1760"/>
              </a:lnSpc>
            </a:pPr>
            <a:r>
              <a:rPr sz="1600" b="1" spc="-32" dirty="0">
                <a:solidFill>
                  <a:srgbClr val="FFFFFF"/>
                </a:solidFill>
                <a:latin typeface="Inter"/>
                <a:cs typeface="Inter"/>
              </a:rPr>
              <a:t>Cómo se usa</a:t>
            </a:r>
          </a:p>
        </p:txBody>
      </p:sp>
      <p:cxnSp>
        <p:nvCxnSpPr>
          <p:cNvPr id="13" name="Connector 12"/>
          <p:cNvCxnSpPr/>
          <p:nvPr/>
        </p:nvCxnSpPr>
        <p:spPr>
          <a:xfrm>
            <a:off x="7205133" y="2264156"/>
            <a:ext cx="43772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205133" y="2378456"/>
            <a:ext cx="2921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01</a:t>
            </a:r>
          </a:p>
        </p:txBody>
      </p:sp>
      <p:sp>
        <p:nvSpPr>
          <p:cNvPr id="15" name="TextBox 14"/>
          <p:cNvSpPr txBox="1"/>
          <p:nvPr/>
        </p:nvSpPr>
        <p:spPr>
          <a:xfrm>
            <a:off x="7548033" y="2365756"/>
            <a:ext cx="4034367" cy="571500"/>
          </a:xfrm>
          <a:prstGeom prst="rect">
            <a:avLst/>
          </a:prstGeom>
          <a:noFill/>
          <a:effectLst/>
        </p:spPr>
        <p:txBody>
          <a:bodyPr wrap="square" lIns="0" rIns="0" tIns="0" bIns="0" anchor="t"/>
          <a:lstStyle/>
          <a:p>
            <a:pPr algn="l">
              <a:lnSpc>
                <a:spcPts val="1400"/>
              </a:lnSpc>
            </a:pPr>
            <a:r>
              <a:rPr sz="1000" b="0" dirty="0">
                <a:solidFill>
                  <a:srgbClr val="D2D2D2"/>
                </a:solidFill>
                <a:latin typeface="Inter"/>
                <a:cs typeface="Inter"/>
              </a:rPr>
              <a:t>Sustituye NN y TÍTULO por los de tu módulo.</a:t>
            </a:r>
          </a:p>
        </p:txBody>
      </p:sp>
      <p:cxnSp>
        <p:nvCxnSpPr>
          <p:cNvPr id="16" name="Connector 15"/>
          <p:cNvCxnSpPr/>
          <p:nvPr/>
        </p:nvCxnSpPr>
        <p:spPr>
          <a:xfrm>
            <a:off x="7205133" y="2873756"/>
            <a:ext cx="43772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205133" y="2988056"/>
            <a:ext cx="2921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02</a:t>
            </a:r>
          </a:p>
        </p:txBody>
      </p:sp>
      <p:sp>
        <p:nvSpPr>
          <p:cNvPr id="18" name="TextBox 17"/>
          <p:cNvSpPr txBox="1"/>
          <p:nvPr/>
        </p:nvSpPr>
        <p:spPr>
          <a:xfrm>
            <a:off x="7548033" y="2975356"/>
            <a:ext cx="4034367" cy="571500"/>
          </a:xfrm>
          <a:prstGeom prst="rect">
            <a:avLst/>
          </a:prstGeom>
          <a:noFill/>
          <a:effectLst/>
        </p:spPr>
        <p:txBody>
          <a:bodyPr wrap="square" lIns="0" rIns="0" tIns="0" bIns="0" anchor="t"/>
          <a:lstStyle/>
          <a:p>
            <a:pPr algn="l">
              <a:lnSpc>
                <a:spcPts val="1400"/>
              </a:lnSpc>
            </a:pPr>
            <a:r>
              <a:rPr sz="1000" b="0" dirty="0">
                <a:solidFill>
                  <a:srgbClr val="D2D2D2"/>
                </a:solidFill>
                <a:latin typeface="Inter"/>
                <a:cs typeface="Inter"/>
              </a:rPr>
              <a:t>Pégalo en el chat del cuaderno con tus fuentes ya cargadas.</a:t>
            </a:r>
          </a:p>
        </p:txBody>
      </p:sp>
      <p:cxnSp>
        <p:nvCxnSpPr>
          <p:cNvPr id="19" name="Connector 18"/>
          <p:cNvCxnSpPr/>
          <p:nvPr/>
        </p:nvCxnSpPr>
        <p:spPr>
          <a:xfrm>
            <a:off x="7205133" y="3483356"/>
            <a:ext cx="43772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205133" y="3597656"/>
            <a:ext cx="2921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03</a:t>
            </a:r>
          </a:p>
        </p:txBody>
      </p:sp>
      <p:sp>
        <p:nvSpPr>
          <p:cNvPr id="21" name="TextBox 20"/>
          <p:cNvSpPr txBox="1"/>
          <p:nvPr/>
        </p:nvSpPr>
        <p:spPr>
          <a:xfrm>
            <a:off x="7548033" y="3584956"/>
            <a:ext cx="4034367" cy="571500"/>
          </a:xfrm>
          <a:prstGeom prst="rect">
            <a:avLst/>
          </a:prstGeom>
          <a:noFill/>
          <a:effectLst/>
        </p:spPr>
        <p:txBody>
          <a:bodyPr wrap="square" lIns="0" rIns="0" tIns="0" bIns="0" anchor="t"/>
          <a:lstStyle/>
          <a:p>
            <a:pPr algn="l">
              <a:lnSpc>
                <a:spcPts val="1400"/>
              </a:lnSpc>
            </a:pPr>
            <a:r>
              <a:rPr sz="1000" b="0" dirty="0">
                <a:solidFill>
                  <a:srgbClr val="D2D2D2"/>
                </a:solidFill>
                <a:latin typeface="Inter"/>
                <a:cs typeface="Inter"/>
              </a:rPr>
              <a:t>Pide bloque a bloque: la salida completa se corta.</a:t>
            </a:r>
          </a:p>
        </p:txBody>
      </p:sp>
      <p:cxnSp>
        <p:nvCxnSpPr>
          <p:cNvPr id="22" name="Connector 21"/>
          <p:cNvCxnSpPr/>
          <p:nvPr/>
        </p:nvCxnSpPr>
        <p:spPr>
          <a:xfrm>
            <a:off x="7205133" y="4092956"/>
            <a:ext cx="43772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205133" y="4207256"/>
            <a:ext cx="2921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04</a:t>
            </a:r>
          </a:p>
        </p:txBody>
      </p:sp>
      <p:sp>
        <p:nvSpPr>
          <p:cNvPr id="24" name="TextBox 23"/>
          <p:cNvSpPr txBox="1"/>
          <p:nvPr/>
        </p:nvSpPr>
        <p:spPr>
          <a:xfrm>
            <a:off x="7548033" y="4194556"/>
            <a:ext cx="4034367" cy="571500"/>
          </a:xfrm>
          <a:prstGeom prst="rect">
            <a:avLst/>
          </a:prstGeom>
          <a:noFill/>
          <a:effectLst/>
        </p:spPr>
        <p:txBody>
          <a:bodyPr wrap="square" lIns="0" rIns="0" tIns="0" bIns="0" anchor="t"/>
          <a:lstStyle/>
          <a:p>
            <a:pPr algn="l">
              <a:lnSpc>
                <a:spcPts val="1400"/>
              </a:lnSpc>
            </a:pPr>
            <a:r>
              <a:rPr sz="1000" b="0" dirty="0">
                <a:solidFill>
                  <a:srgbClr val="D2D2D2"/>
                </a:solidFill>
                <a:latin typeface="Inter"/>
                <a:cs typeface="Inter"/>
              </a:rPr>
              <a:t>Copia la escaleta a un documento y verifica cada dato.</a:t>
            </a:r>
          </a:p>
        </p:txBody>
      </p:sp>
      <p:cxnSp>
        <p:nvCxnSpPr>
          <p:cNvPr id="25" name="Connector 24"/>
          <p:cNvCxnSpPr/>
          <p:nvPr/>
        </p:nvCxnSpPr>
        <p:spPr>
          <a:xfrm>
            <a:off x="7205133" y="4702556"/>
            <a:ext cx="43772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205133" y="4816856"/>
            <a:ext cx="2921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05</a:t>
            </a:r>
          </a:p>
        </p:txBody>
      </p:sp>
      <p:sp>
        <p:nvSpPr>
          <p:cNvPr id="27" name="TextBox 26"/>
          <p:cNvSpPr txBox="1"/>
          <p:nvPr/>
        </p:nvSpPr>
        <p:spPr>
          <a:xfrm>
            <a:off x="7548033" y="4804156"/>
            <a:ext cx="4034367" cy="571500"/>
          </a:xfrm>
          <a:prstGeom prst="rect">
            <a:avLst/>
          </a:prstGeom>
          <a:noFill/>
          <a:effectLst/>
        </p:spPr>
        <p:txBody>
          <a:bodyPr wrap="square" lIns="0" rIns="0" tIns="0" bIns="0" anchor="t"/>
          <a:lstStyle/>
          <a:p>
            <a:pPr algn="l">
              <a:lnSpc>
                <a:spcPts val="1400"/>
              </a:lnSpc>
            </a:pPr>
            <a:r>
              <a:rPr sz="1000" b="0" dirty="0">
                <a:solidFill>
                  <a:srgbClr val="D2D2D2"/>
                </a:solidFill>
                <a:latin typeface="Inter"/>
                <a:cs typeface="Inter"/>
              </a:rPr>
              <a:t>Solo entonces abre las plantillas y monta el deck.</a:t>
            </a:r>
          </a:p>
        </p:txBody>
      </p:sp>
      <p:sp>
        <p:nvSpPr>
          <p:cNvPr id="28" name="Rectangle 27"/>
          <p:cNvSpPr/>
          <p:nvPr/>
        </p:nvSpPr>
        <p:spPr>
          <a:xfrm>
            <a:off x="7205133" y="5362956"/>
            <a:ext cx="4377267" cy="736600"/>
          </a:xfrm>
          <a:prstGeom prst="rect">
            <a:avLst/>
          </a:prstGeom>
          <a:solidFill>
            <a:srgbClr val="2525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205133" y="5362956"/>
            <a:ext cx="31750" cy="7366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382933" y="5502656"/>
            <a:ext cx="4021667" cy="457200"/>
          </a:xfrm>
          <a:prstGeom prst="rect">
            <a:avLst/>
          </a:prstGeom>
          <a:noFill/>
          <a:effectLst/>
        </p:spPr>
        <p:txBody>
          <a:bodyPr wrap="square" lIns="0" rIns="0" tIns="0" bIns="0" anchor="t"/>
          <a:lstStyle/>
          <a:p>
            <a:pPr algn="l">
              <a:lnSpc>
                <a:spcPts val="1377"/>
              </a:lnSpc>
            </a:pPr>
            <a:r>
              <a:rPr sz="950" b="0" dirty="0">
                <a:solidFill>
                  <a:srgbClr val="D2D2D2"/>
                </a:solidFill>
                <a:latin typeface="Inter"/>
                <a:cs typeface="Inter"/>
              </a:rPr>
              <a:t>Si una diapositiva no encaja en ningún código del catálogo, no inventes un diseño nuevo: escribe al equipo de campus.</a:t>
            </a:r>
          </a:p>
        </p:txBody>
      </p:sp>
      <p:cxnSp>
        <p:nvCxnSpPr>
          <p:cNvPr id="31" name="Connector 30"/>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36" name="TextBox 3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GUÍA · 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HERRAMIENTA · GOOGLE CLASSROOM</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Cómo queda montado el módulo en Classroom</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PASO 05–07</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sombra"/>
          <p:cNvSpPr/>
          <p:nvPr/>
        </p:nvSpPr>
        <p:spPr>
          <a:xfrm>
            <a:off x="685800" y="1933956"/>
            <a:ext cx="6316133" cy="3556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09600" y="1857756"/>
            <a:ext cx="6316133" cy="3556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09600" y="1857756"/>
            <a:ext cx="6316133" cy="469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2000" y="1857756"/>
            <a:ext cx="3175000" cy="469900"/>
          </a:xfrm>
          <a:prstGeom prst="rect">
            <a:avLst/>
          </a:prstGeom>
          <a:noFill/>
          <a:effectLst/>
        </p:spPr>
        <p:txBody>
          <a:bodyPr wrap="square" lIns="0" rIns="0" tIns="0" bIns="0" anchor="ctr"/>
          <a:lstStyle/>
          <a:p>
            <a:pPr algn="l">
              <a:lnSpc>
                <a:spcPts val="700"/>
              </a:lnSpc>
            </a:pPr>
            <a:r>
              <a:rPr sz="700" b="1" spc="112" dirty="0">
                <a:solidFill>
                  <a:srgbClr val="FFFFFF"/>
                </a:solidFill>
                <a:latin typeface="Inter"/>
                <a:cs typeface="Inter"/>
              </a:rPr>
              <a:t>TRABAJO DE CLASE</a:t>
            </a:r>
          </a:p>
        </p:txBody>
      </p:sp>
      <p:sp>
        <p:nvSpPr>
          <p:cNvPr id="11" name="TextBox 10"/>
          <p:cNvSpPr txBox="1"/>
          <p:nvPr/>
        </p:nvSpPr>
        <p:spPr>
          <a:xfrm>
            <a:off x="5338233" y="1857756"/>
            <a:ext cx="1435100" cy="469900"/>
          </a:xfrm>
          <a:prstGeom prst="rect">
            <a:avLst/>
          </a:prstGeom>
          <a:noFill/>
          <a:effectLst/>
        </p:spPr>
        <p:txBody>
          <a:bodyPr wrap="square" lIns="0" rIns="0" tIns="0" bIns="0" anchor="ctr"/>
          <a:lstStyle/>
          <a:p>
            <a:pPr algn="r">
              <a:lnSpc>
                <a:spcPts val="700"/>
              </a:lnSpc>
            </a:pPr>
            <a:r>
              <a:rPr sz="700" b="1" spc="84" dirty="0">
                <a:solidFill>
                  <a:srgbClr val="8C8C8C"/>
                </a:solidFill>
                <a:latin typeface="Inter"/>
                <a:cs typeface="Inter"/>
              </a:rPr>
              <a:t>COHORTE 2026-01</a:t>
            </a:r>
          </a:p>
        </p:txBody>
      </p:sp>
      <p:sp>
        <p:nvSpPr>
          <p:cNvPr id="12" name="TextBox 11"/>
          <p:cNvSpPr txBox="1"/>
          <p:nvPr/>
        </p:nvSpPr>
        <p:spPr>
          <a:xfrm>
            <a:off x="762000" y="2492756"/>
            <a:ext cx="6011333" cy="254000"/>
          </a:xfrm>
          <a:prstGeom prst="rect">
            <a:avLst/>
          </a:prstGeom>
          <a:noFill/>
          <a:effectLst/>
        </p:spPr>
        <p:txBody>
          <a:bodyPr wrap="square" lIns="0" rIns="0" tIns="0" bIns="0" anchor="t"/>
          <a:lstStyle/>
          <a:p>
            <a:pPr algn="l">
              <a:lnSpc>
                <a:spcPts val="1560"/>
              </a:lnSpc>
            </a:pPr>
            <a:r>
              <a:rPr sz="1300" b="1" spc="-26" dirty="0">
                <a:solidFill>
                  <a:srgbClr val="161616"/>
                </a:solidFill>
                <a:latin typeface="Inter"/>
                <a:cs typeface="Inter"/>
              </a:rPr>
              <a:t>MÓDULO 03 · Tu salario se negocia antes de la primera llamada</a:t>
            </a:r>
          </a:p>
        </p:txBody>
      </p:sp>
      <p:cxnSp>
        <p:nvCxnSpPr>
          <p:cNvPr id="13" name="Connector 12"/>
          <p:cNvCxnSpPr/>
          <p:nvPr/>
        </p:nvCxnSpPr>
        <p:spPr>
          <a:xfrm>
            <a:off x="762000" y="2848356"/>
            <a:ext cx="60113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62000" y="2975356"/>
            <a:ext cx="6011333" cy="368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62000" y="3064256"/>
            <a:ext cx="190500" cy="190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28700" y="2975356"/>
            <a:ext cx="825500" cy="368300"/>
          </a:xfrm>
          <a:prstGeom prst="rect">
            <a:avLst/>
          </a:prstGeom>
          <a:noFill/>
          <a:effectLst/>
        </p:spPr>
        <p:txBody>
          <a:bodyPr wrap="square" lIns="0" rIns="0" tIns="0" bIns="0" anchor="ctr"/>
          <a:lstStyle/>
          <a:p>
            <a:pPr algn="l">
              <a:lnSpc>
                <a:spcPts val="650"/>
              </a:lnSpc>
            </a:pPr>
            <a:r>
              <a:rPr sz="650" b="1" spc="78" dirty="0">
                <a:solidFill>
                  <a:srgbClr val="8D8D8D"/>
                </a:solidFill>
                <a:latin typeface="Inter"/>
                <a:cs typeface="Inter"/>
              </a:rPr>
              <a:t>MATERIAL</a:t>
            </a:r>
          </a:p>
        </p:txBody>
      </p:sp>
      <p:sp>
        <p:nvSpPr>
          <p:cNvPr id="17" name="TextBox 16"/>
          <p:cNvSpPr txBox="1"/>
          <p:nvPr/>
        </p:nvSpPr>
        <p:spPr>
          <a:xfrm>
            <a:off x="1879600" y="2975356"/>
            <a:ext cx="3649133" cy="368300"/>
          </a:xfrm>
          <a:prstGeom prst="rect">
            <a:avLst/>
          </a:prstGeom>
          <a:noFill/>
          <a:effectLst/>
        </p:spPr>
        <p:txBody>
          <a:bodyPr wrap="square" lIns="0" rIns="0" tIns="0" bIns="0" anchor="ctr"/>
          <a:lstStyle/>
          <a:p>
            <a:pPr algn="l">
              <a:lnSpc>
                <a:spcPts val="1200"/>
              </a:lnSpc>
            </a:pPr>
            <a:r>
              <a:rPr sz="1000" b="0" dirty="0">
                <a:solidFill>
                  <a:srgbClr val="161616"/>
                </a:solidFill>
                <a:latin typeface="Inter"/>
                <a:cs typeface="Inter"/>
              </a:rPr>
              <a:t>Deck de la sesión (PDF)</a:t>
            </a:r>
          </a:p>
        </p:txBody>
      </p:sp>
      <p:sp>
        <p:nvSpPr>
          <p:cNvPr id="18" name="TextBox 17"/>
          <p:cNvSpPr txBox="1"/>
          <p:nvPr/>
        </p:nvSpPr>
        <p:spPr>
          <a:xfrm>
            <a:off x="5376333" y="2975356"/>
            <a:ext cx="1397000" cy="368300"/>
          </a:xfrm>
          <a:prstGeom prst="rect">
            <a:avLst/>
          </a:prstGeom>
          <a:noFill/>
          <a:effectLst/>
        </p:spPr>
        <p:txBody>
          <a:bodyPr wrap="square" lIns="0" rIns="0" tIns="0" bIns="0" anchor="ctr"/>
          <a:lstStyle/>
          <a:p>
            <a:pPr algn="r">
              <a:lnSpc>
                <a:spcPts val="800"/>
              </a:lnSpc>
            </a:pPr>
            <a:r>
              <a:rPr sz="800" b="0" dirty="0">
                <a:solidFill>
                  <a:srgbClr val="6F6F6F"/>
                </a:solidFill>
                <a:latin typeface="Inter"/>
                <a:cs typeface="Inter"/>
              </a:rPr>
              <a:t>Publicado D-3</a:t>
            </a:r>
          </a:p>
        </p:txBody>
      </p:sp>
      <p:sp>
        <p:nvSpPr>
          <p:cNvPr id="19" name="Rectangle 18"/>
          <p:cNvSpPr/>
          <p:nvPr/>
        </p:nvSpPr>
        <p:spPr>
          <a:xfrm>
            <a:off x="660400" y="3102356"/>
            <a:ext cx="50800" cy="1143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0" name="Connector 19"/>
          <p:cNvCxnSpPr/>
          <p:nvPr/>
        </p:nvCxnSpPr>
        <p:spPr>
          <a:xfrm>
            <a:off x="762000" y="3343656"/>
            <a:ext cx="60113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62000" y="3343656"/>
            <a:ext cx="6011333" cy="368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62000" y="3432556"/>
            <a:ext cx="190500" cy="190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28700" y="3343656"/>
            <a:ext cx="825500" cy="368300"/>
          </a:xfrm>
          <a:prstGeom prst="rect">
            <a:avLst/>
          </a:prstGeom>
          <a:noFill/>
          <a:effectLst/>
        </p:spPr>
        <p:txBody>
          <a:bodyPr wrap="square" lIns="0" rIns="0" tIns="0" bIns="0" anchor="ctr"/>
          <a:lstStyle/>
          <a:p>
            <a:pPr algn="l">
              <a:lnSpc>
                <a:spcPts val="650"/>
              </a:lnSpc>
            </a:pPr>
            <a:r>
              <a:rPr sz="650" b="1" spc="78" dirty="0">
                <a:solidFill>
                  <a:srgbClr val="8D8D8D"/>
                </a:solidFill>
                <a:latin typeface="Inter"/>
                <a:cs typeface="Inter"/>
              </a:rPr>
              <a:t>MATERIAL</a:t>
            </a:r>
          </a:p>
        </p:txBody>
      </p:sp>
      <p:sp>
        <p:nvSpPr>
          <p:cNvPr id="24" name="TextBox 23"/>
          <p:cNvSpPr txBox="1"/>
          <p:nvPr/>
        </p:nvSpPr>
        <p:spPr>
          <a:xfrm>
            <a:off x="1879600" y="3343656"/>
            <a:ext cx="3649133" cy="368300"/>
          </a:xfrm>
          <a:prstGeom prst="rect">
            <a:avLst/>
          </a:prstGeom>
          <a:noFill/>
          <a:effectLst/>
        </p:spPr>
        <p:txBody>
          <a:bodyPr wrap="square" lIns="0" rIns="0" tIns="0" bIns="0" anchor="ctr"/>
          <a:lstStyle/>
          <a:p>
            <a:pPr algn="l">
              <a:lnSpc>
                <a:spcPts val="1200"/>
              </a:lnSpc>
            </a:pPr>
            <a:r>
              <a:rPr sz="1000" b="0" dirty="0">
                <a:solidFill>
                  <a:srgbClr val="161616"/>
                </a:solidFill>
                <a:latin typeface="Inter"/>
                <a:cs typeface="Inter"/>
              </a:rPr>
              <a:t>Plantilla del ejercicio (XLSX)</a:t>
            </a:r>
          </a:p>
        </p:txBody>
      </p:sp>
      <p:sp>
        <p:nvSpPr>
          <p:cNvPr id="25" name="TextBox 24"/>
          <p:cNvSpPr txBox="1"/>
          <p:nvPr/>
        </p:nvSpPr>
        <p:spPr>
          <a:xfrm>
            <a:off x="5376333" y="3343656"/>
            <a:ext cx="1397000" cy="368300"/>
          </a:xfrm>
          <a:prstGeom prst="rect">
            <a:avLst/>
          </a:prstGeom>
          <a:noFill/>
          <a:effectLst/>
        </p:spPr>
        <p:txBody>
          <a:bodyPr wrap="square" lIns="0" rIns="0" tIns="0" bIns="0" anchor="ctr"/>
          <a:lstStyle/>
          <a:p>
            <a:pPr algn="r">
              <a:lnSpc>
                <a:spcPts val="800"/>
              </a:lnSpc>
            </a:pPr>
            <a:r>
              <a:rPr sz="800" b="0" dirty="0">
                <a:solidFill>
                  <a:srgbClr val="6F6F6F"/>
                </a:solidFill>
                <a:latin typeface="Inter"/>
                <a:cs typeface="Inter"/>
              </a:rPr>
              <a:t>Publicado D-3</a:t>
            </a:r>
          </a:p>
        </p:txBody>
      </p:sp>
      <p:sp>
        <p:nvSpPr>
          <p:cNvPr id="26" name="Rectangle 25"/>
          <p:cNvSpPr/>
          <p:nvPr/>
        </p:nvSpPr>
        <p:spPr>
          <a:xfrm>
            <a:off x="660400" y="3470656"/>
            <a:ext cx="50800" cy="1143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7" name="Connector 26"/>
          <p:cNvCxnSpPr/>
          <p:nvPr/>
        </p:nvCxnSpPr>
        <p:spPr>
          <a:xfrm>
            <a:off x="762000" y="3711956"/>
            <a:ext cx="60113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62000" y="3711956"/>
            <a:ext cx="6011333" cy="368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62000" y="3800856"/>
            <a:ext cx="190500" cy="190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28700" y="3711956"/>
            <a:ext cx="825500" cy="368300"/>
          </a:xfrm>
          <a:prstGeom prst="rect">
            <a:avLst/>
          </a:prstGeom>
          <a:noFill/>
          <a:effectLst/>
        </p:spPr>
        <p:txBody>
          <a:bodyPr wrap="square" lIns="0" rIns="0" tIns="0" bIns="0" anchor="ctr"/>
          <a:lstStyle/>
          <a:p>
            <a:pPr algn="l">
              <a:lnSpc>
                <a:spcPts val="650"/>
              </a:lnSpc>
            </a:pPr>
            <a:r>
              <a:rPr sz="650" b="1" spc="78" dirty="0">
                <a:solidFill>
                  <a:srgbClr val="8D8D8D"/>
                </a:solidFill>
                <a:latin typeface="Inter"/>
                <a:cs typeface="Inter"/>
              </a:rPr>
              <a:t>MATERIAL</a:t>
            </a:r>
          </a:p>
        </p:txBody>
      </p:sp>
      <p:sp>
        <p:nvSpPr>
          <p:cNvPr id="31" name="TextBox 30"/>
          <p:cNvSpPr txBox="1"/>
          <p:nvPr/>
        </p:nvSpPr>
        <p:spPr>
          <a:xfrm>
            <a:off x="1879600" y="3711956"/>
            <a:ext cx="3649133" cy="368300"/>
          </a:xfrm>
          <a:prstGeom prst="rect">
            <a:avLst/>
          </a:prstGeom>
          <a:noFill/>
          <a:effectLst/>
        </p:spPr>
        <p:txBody>
          <a:bodyPr wrap="square" lIns="0" rIns="0" tIns="0" bIns="0" anchor="ctr"/>
          <a:lstStyle/>
          <a:p>
            <a:pPr algn="l">
              <a:lnSpc>
                <a:spcPts val="1200"/>
              </a:lnSpc>
            </a:pPr>
            <a:r>
              <a:rPr sz="1000" b="0" dirty="0">
                <a:solidFill>
                  <a:srgbClr val="161616"/>
                </a:solidFill>
                <a:latin typeface="Inter"/>
                <a:cs typeface="Inter"/>
              </a:rPr>
              <a:t>Lectura previa · 2 páginas</a:t>
            </a:r>
          </a:p>
        </p:txBody>
      </p:sp>
      <p:sp>
        <p:nvSpPr>
          <p:cNvPr id="32" name="TextBox 31"/>
          <p:cNvSpPr txBox="1"/>
          <p:nvPr/>
        </p:nvSpPr>
        <p:spPr>
          <a:xfrm>
            <a:off x="5376333" y="3711956"/>
            <a:ext cx="1397000" cy="368300"/>
          </a:xfrm>
          <a:prstGeom prst="rect">
            <a:avLst/>
          </a:prstGeom>
          <a:noFill/>
          <a:effectLst/>
        </p:spPr>
        <p:txBody>
          <a:bodyPr wrap="square" lIns="0" rIns="0" tIns="0" bIns="0" anchor="ctr"/>
          <a:lstStyle/>
          <a:p>
            <a:pPr algn="r">
              <a:lnSpc>
                <a:spcPts val="800"/>
              </a:lnSpc>
            </a:pPr>
            <a:r>
              <a:rPr sz="800" b="0" dirty="0">
                <a:solidFill>
                  <a:srgbClr val="6F6F6F"/>
                </a:solidFill>
                <a:latin typeface="Inter"/>
                <a:cs typeface="Inter"/>
              </a:rPr>
              <a:t>Publicado D-3</a:t>
            </a:r>
          </a:p>
        </p:txBody>
      </p:sp>
      <p:cxnSp>
        <p:nvCxnSpPr>
          <p:cNvPr id="33" name="Connector 32"/>
          <p:cNvCxnSpPr/>
          <p:nvPr/>
        </p:nvCxnSpPr>
        <p:spPr>
          <a:xfrm>
            <a:off x="762000" y="4080256"/>
            <a:ext cx="60113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62000" y="4080256"/>
            <a:ext cx="6011333" cy="3683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62000" y="4169156"/>
            <a:ext cx="190500" cy="190500"/>
          </a:xfrm>
          <a:prstGeom prst="rect">
            <a:avLst/>
          </a:prstGeom>
          <a:solidFill>
            <a:srgbClr val="161616"/>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28700" y="4080256"/>
            <a:ext cx="825500" cy="368300"/>
          </a:xfrm>
          <a:prstGeom prst="rect">
            <a:avLst/>
          </a:prstGeom>
          <a:noFill/>
          <a:effectLst/>
        </p:spPr>
        <p:txBody>
          <a:bodyPr wrap="square" lIns="0" rIns="0" tIns="0" bIns="0" anchor="ctr"/>
          <a:lstStyle/>
          <a:p>
            <a:pPr algn="l">
              <a:lnSpc>
                <a:spcPts val="650"/>
              </a:lnSpc>
            </a:pPr>
            <a:r>
              <a:rPr sz="650" b="1" spc="78" dirty="0">
                <a:solidFill>
                  <a:srgbClr val="8D8D8D"/>
                </a:solidFill>
                <a:latin typeface="Inter"/>
                <a:cs typeface="Inter"/>
              </a:rPr>
              <a:t>TAREA</a:t>
            </a:r>
          </a:p>
        </p:txBody>
      </p:sp>
      <p:sp>
        <p:nvSpPr>
          <p:cNvPr id="37" name="TextBox 36"/>
          <p:cNvSpPr txBox="1"/>
          <p:nvPr/>
        </p:nvSpPr>
        <p:spPr>
          <a:xfrm>
            <a:off x="1879600" y="4080256"/>
            <a:ext cx="3649133" cy="368300"/>
          </a:xfrm>
          <a:prstGeom prst="rect">
            <a:avLst/>
          </a:prstGeom>
          <a:noFill/>
          <a:effectLst/>
        </p:spPr>
        <p:txBody>
          <a:bodyPr wrap="square" lIns="0" rIns="0" tIns="0" bIns="0" anchor="ctr"/>
          <a:lstStyle/>
          <a:p>
            <a:pPr algn="l">
              <a:lnSpc>
                <a:spcPts val="1200"/>
              </a:lnSpc>
            </a:pPr>
            <a:r>
              <a:rPr sz="1000" b="1" dirty="0">
                <a:solidFill>
                  <a:srgbClr val="161616"/>
                </a:solidFill>
                <a:latin typeface="Inter"/>
                <a:cs typeface="Inter"/>
              </a:rPr>
              <a:t>Entregable bloque 1 · Guion de negociación</a:t>
            </a:r>
          </a:p>
        </p:txBody>
      </p:sp>
      <p:sp>
        <p:nvSpPr>
          <p:cNvPr id="38" name="TextBox 37"/>
          <p:cNvSpPr txBox="1"/>
          <p:nvPr/>
        </p:nvSpPr>
        <p:spPr>
          <a:xfrm>
            <a:off x="5376333" y="4080256"/>
            <a:ext cx="1397000" cy="368300"/>
          </a:xfrm>
          <a:prstGeom prst="rect">
            <a:avLst/>
          </a:prstGeom>
          <a:noFill/>
          <a:effectLst/>
        </p:spPr>
        <p:txBody>
          <a:bodyPr wrap="square" lIns="0" rIns="0" tIns="0" bIns="0" anchor="ctr"/>
          <a:lstStyle/>
          <a:p>
            <a:pPr algn="r">
              <a:lnSpc>
                <a:spcPts val="800"/>
              </a:lnSpc>
            </a:pPr>
            <a:r>
              <a:rPr sz="800" b="0" dirty="0">
                <a:solidFill>
                  <a:srgbClr val="6F6F6F"/>
                </a:solidFill>
                <a:latin typeface="Inter"/>
                <a:cs typeface="Inter"/>
              </a:rPr>
              <a:t>Entrega D+3</a:t>
            </a:r>
          </a:p>
        </p:txBody>
      </p:sp>
      <p:sp>
        <p:nvSpPr>
          <p:cNvPr id="39" name="Rectangle 38"/>
          <p:cNvSpPr/>
          <p:nvPr/>
        </p:nvSpPr>
        <p:spPr>
          <a:xfrm>
            <a:off x="660400" y="4207256"/>
            <a:ext cx="50800" cy="1143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0" name="Connector 39"/>
          <p:cNvCxnSpPr/>
          <p:nvPr/>
        </p:nvCxnSpPr>
        <p:spPr>
          <a:xfrm>
            <a:off x="762000" y="4448556"/>
            <a:ext cx="60113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762000" y="4448556"/>
            <a:ext cx="6011333" cy="3683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762000" y="4537456"/>
            <a:ext cx="190500" cy="190500"/>
          </a:xfrm>
          <a:prstGeom prst="rect">
            <a:avLst/>
          </a:prstGeom>
          <a:solidFill>
            <a:srgbClr val="161616"/>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28700" y="4448556"/>
            <a:ext cx="825500" cy="368300"/>
          </a:xfrm>
          <a:prstGeom prst="rect">
            <a:avLst/>
          </a:prstGeom>
          <a:noFill/>
          <a:effectLst/>
        </p:spPr>
        <p:txBody>
          <a:bodyPr wrap="square" lIns="0" rIns="0" tIns="0" bIns="0" anchor="ctr"/>
          <a:lstStyle/>
          <a:p>
            <a:pPr algn="l">
              <a:lnSpc>
                <a:spcPts val="650"/>
              </a:lnSpc>
            </a:pPr>
            <a:r>
              <a:rPr sz="650" b="1" spc="78" dirty="0">
                <a:solidFill>
                  <a:srgbClr val="8D8D8D"/>
                </a:solidFill>
                <a:latin typeface="Inter"/>
                <a:cs typeface="Inter"/>
              </a:rPr>
              <a:t>TAREA</a:t>
            </a:r>
          </a:p>
        </p:txBody>
      </p:sp>
      <p:sp>
        <p:nvSpPr>
          <p:cNvPr id="44" name="TextBox 43"/>
          <p:cNvSpPr txBox="1"/>
          <p:nvPr/>
        </p:nvSpPr>
        <p:spPr>
          <a:xfrm>
            <a:off x="1879600" y="4448556"/>
            <a:ext cx="3649133" cy="368300"/>
          </a:xfrm>
          <a:prstGeom prst="rect">
            <a:avLst/>
          </a:prstGeom>
          <a:noFill/>
          <a:effectLst/>
        </p:spPr>
        <p:txBody>
          <a:bodyPr wrap="square" lIns="0" rIns="0" tIns="0" bIns="0" anchor="ctr"/>
          <a:lstStyle/>
          <a:p>
            <a:pPr algn="l">
              <a:lnSpc>
                <a:spcPts val="1200"/>
              </a:lnSpc>
            </a:pPr>
            <a:r>
              <a:rPr sz="1000" b="1" dirty="0">
                <a:solidFill>
                  <a:srgbClr val="161616"/>
                </a:solidFill>
                <a:latin typeface="Inter"/>
                <a:cs typeface="Inter"/>
              </a:rPr>
              <a:t>Entregable bloque 2 · Simulación grabada</a:t>
            </a:r>
          </a:p>
        </p:txBody>
      </p:sp>
      <p:sp>
        <p:nvSpPr>
          <p:cNvPr id="45" name="TextBox 44"/>
          <p:cNvSpPr txBox="1"/>
          <p:nvPr/>
        </p:nvSpPr>
        <p:spPr>
          <a:xfrm>
            <a:off x="5376333" y="4448556"/>
            <a:ext cx="1397000" cy="368300"/>
          </a:xfrm>
          <a:prstGeom prst="rect">
            <a:avLst/>
          </a:prstGeom>
          <a:noFill/>
          <a:effectLst/>
        </p:spPr>
        <p:txBody>
          <a:bodyPr wrap="square" lIns="0" rIns="0" tIns="0" bIns="0" anchor="ctr"/>
          <a:lstStyle/>
          <a:p>
            <a:pPr algn="r">
              <a:lnSpc>
                <a:spcPts val="800"/>
              </a:lnSpc>
            </a:pPr>
            <a:r>
              <a:rPr sz="800" b="0" dirty="0">
                <a:solidFill>
                  <a:srgbClr val="6F6F6F"/>
                </a:solidFill>
                <a:latin typeface="Inter"/>
                <a:cs typeface="Inter"/>
              </a:rPr>
              <a:t>Entrega D+7</a:t>
            </a:r>
          </a:p>
        </p:txBody>
      </p:sp>
      <p:sp>
        <p:nvSpPr>
          <p:cNvPr id="46" name="Rectangle 45"/>
          <p:cNvSpPr/>
          <p:nvPr/>
        </p:nvSpPr>
        <p:spPr>
          <a:xfrm>
            <a:off x="660400" y="4575556"/>
            <a:ext cx="50800" cy="1143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7" name="Connector 46"/>
          <p:cNvCxnSpPr/>
          <p:nvPr/>
        </p:nvCxnSpPr>
        <p:spPr>
          <a:xfrm>
            <a:off x="762000" y="4816856"/>
            <a:ext cx="60113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762000" y="4816856"/>
            <a:ext cx="6011333" cy="368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762000" y="4905756"/>
            <a:ext cx="190500" cy="190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1028700" y="4816856"/>
            <a:ext cx="825500" cy="368300"/>
          </a:xfrm>
          <a:prstGeom prst="rect">
            <a:avLst/>
          </a:prstGeom>
          <a:noFill/>
          <a:effectLst/>
        </p:spPr>
        <p:txBody>
          <a:bodyPr wrap="square" lIns="0" rIns="0" tIns="0" bIns="0" anchor="ctr"/>
          <a:lstStyle/>
          <a:p>
            <a:pPr algn="l">
              <a:lnSpc>
                <a:spcPts val="650"/>
              </a:lnSpc>
            </a:pPr>
            <a:r>
              <a:rPr sz="650" b="1" spc="78" dirty="0">
                <a:solidFill>
                  <a:srgbClr val="8D8D8D"/>
                </a:solidFill>
                <a:latin typeface="Inter"/>
                <a:cs typeface="Inter"/>
              </a:rPr>
              <a:t>PREGUNTA</a:t>
            </a:r>
          </a:p>
        </p:txBody>
      </p:sp>
      <p:sp>
        <p:nvSpPr>
          <p:cNvPr id="51" name="TextBox 50"/>
          <p:cNvSpPr txBox="1"/>
          <p:nvPr/>
        </p:nvSpPr>
        <p:spPr>
          <a:xfrm>
            <a:off x="1879600" y="4816856"/>
            <a:ext cx="3649133" cy="368300"/>
          </a:xfrm>
          <a:prstGeom prst="rect">
            <a:avLst/>
          </a:prstGeom>
          <a:noFill/>
          <a:effectLst/>
        </p:spPr>
        <p:txBody>
          <a:bodyPr wrap="square" lIns="0" rIns="0" tIns="0" bIns="0" anchor="ctr"/>
          <a:lstStyle/>
          <a:p>
            <a:pPr algn="l">
              <a:lnSpc>
                <a:spcPts val="1200"/>
              </a:lnSpc>
            </a:pPr>
            <a:r>
              <a:rPr sz="1000" b="0" dirty="0">
                <a:solidFill>
                  <a:srgbClr val="161616"/>
                </a:solidFill>
                <a:latin typeface="Inter"/>
                <a:cs typeface="Inter"/>
              </a:rPr>
              <a:t>Quiz de repaso · 5 preguntas</a:t>
            </a:r>
          </a:p>
        </p:txBody>
      </p:sp>
      <p:sp>
        <p:nvSpPr>
          <p:cNvPr id="52" name="TextBox 51"/>
          <p:cNvSpPr txBox="1"/>
          <p:nvPr/>
        </p:nvSpPr>
        <p:spPr>
          <a:xfrm>
            <a:off x="5376333" y="4816856"/>
            <a:ext cx="1397000" cy="368300"/>
          </a:xfrm>
          <a:prstGeom prst="rect">
            <a:avLst/>
          </a:prstGeom>
          <a:noFill/>
          <a:effectLst/>
        </p:spPr>
        <p:txBody>
          <a:bodyPr wrap="square" lIns="0" rIns="0" tIns="0" bIns="0" anchor="ctr"/>
          <a:lstStyle/>
          <a:p>
            <a:pPr algn="r">
              <a:lnSpc>
                <a:spcPts val="800"/>
              </a:lnSpc>
            </a:pPr>
            <a:r>
              <a:rPr sz="800" b="0" dirty="0">
                <a:solidFill>
                  <a:srgbClr val="6F6F6F"/>
                </a:solidFill>
                <a:latin typeface="Inter"/>
                <a:cs typeface="Inter"/>
              </a:rPr>
              <a:t>Cierra D+2</a:t>
            </a:r>
          </a:p>
        </p:txBody>
      </p:sp>
      <p:cxnSp>
        <p:nvCxnSpPr>
          <p:cNvPr id="53" name="Connector 52"/>
          <p:cNvCxnSpPr/>
          <p:nvPr/>
        </p:nvCxnSpPr>
        <p:spPr>
          <a:xfrm>
            <a:off x="762000" y="5185156"/>
            <a:ext cx="60113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2000" y="5299456"/>
            <a:ext cx="6011333" cy="190500"/>
          </a:xfrm>
          <a:prstGeom prst="rect">
            <a:avLst/>
          </a:prstGeom>
          <a:noFill/>
          <a:effectLst/>
        </p:spPr>
        <p:txBody>
          <a:bodyPr wrap="square" lIns="0" rIns="0" tIns="0" bIns="0" anchor="t"/>
          <a:lstStyle/>
          <a:p>
            <a:pPr algn="l">
              <a:lnSpc>
                <a:spcPts val="975"/>
              </a:lnSpc>
            </a:pPr>
            <a:r>
              <a:rPr sz="750" b="0" dirty="0">
                <a:solidFill>
                  <a:srgbClr val="6F6F6F"/>
                </a:solidFill>
                <a:latin typeface="Inter"/>
                <a:cs typeface="Inter"/>
              </a:rPr>
              <a:t>■ Marcado en morado: obligatorio para dar el módulo por entregado.</a:t>
            </a:r>
          </a:p>
        </p:txBody>
      </p:sp>
      <p:cxnSp>
        <p:nvCxnSpPr>
          <p:cNvPr id="55" name="Connector 54"/>
          <p:cNvCxnSpPr/>
          <p:nvPr/>
        </p:nvCxnSpPr>
        <p:spPr>
          <a:xfrm>
            <a:off x="7205133" y="1857756"/>
            <a:ext cx="43772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205133" y="1972056"/>
            <a:ext cx="2794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01</a:t>
            </a:r>
          </a:p>
        </p:txBody>
      </p:sp>
      <p:sp>
        <p:nvSpPr>
          <p:cNvPr id="57" name="TextBox 56"/>
          <p:cNvSpPr txBox="1"/>
          <p:nvPr/>
        </p:nvSpPr>
        <p:spPr>
          <a:xfrm>
            <a:off x="7522633" y="1946656"/>
            <a:ext cx="4059767" cy="2032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Un Tema por módulo</a:t>
            </a:r>
          </a:p>
        </p:txBody>
      </p:sp>
      <p:sp>
        <p:nvSpPr>
          <p:cNvPr id="58" name="TextBox 57"/>
          <p:cNvSpPr txBox="1"/>
          <p:nvPr/>
        </p:nvSpPr>
        <p:spPr>
          <a:xfrm>
            <a:off x="7522633" y="2175256"/>
            <a:ext cx="4059767" cy="4445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Trabajo de clase › Crear › Tema. Nómbralo «MÓDULO NN · título».</a:t>
            </a:r>
          </a:p>
        </p:txBody>
      </p:sp>
      <p:cxnSp>
        <p:nvCxnSpPr>
          <p:cNvPr id="59" name="Connector 58"/>
          <p:cNvCxnSpPr/>
          <p:nvPr/>
        </p:nvCxnSpPr>
        <p:spPr>
          <a:xfrm>
            <a:off x="7205133" y="2568956"/>
            <a:ext cx="43772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205133" y="2683256"/>
            <a:ext cx="2794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02</a:t>
            </a:r>
          </a:p>
        </p:txBody>
      </p:sp>
      <p:sp>
        <p:nvSpPr>
          <p:cNvPr id="61" name="TextBox 60"/>
          <p:cNvSpPr txBox="1"/>
          <p:nvPr/>
        </p:nvSpPr>
        <p:spPr>
          <a:xfrm>
            <a:off x="7522633" y="2657856"/>
            <a:ext cx="4059767" cy="2032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Material antes de clase</a:t>
            </a:r>
          </a:p>
        </p:txBody>
      </p:sp>
      <p:sp>
        <p:nvSpPr>
          <p:cNvPr id="62" name="TextBox 61"/>
          <p:cNvSpPr txBox="1"/>
          <p:nvPr/>
        </p:nvSpPr>
        <p:spPr>
          <a:xfrm>
            <a:off x="7522633" y="2886456"/>
            <a:ext cx="4059767" cy="4445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Sube el deck en PDF y las plantillas del ejercicio. Programa la publicación en D-3.</a:t>
            </a:r>
          </a:p>
        </p:txBody>
      </p:sp>
      <p:cxnSp>
        <p:nvCxnSpPr>
          <p:cNvPr id="63" name="Connector 62"/>
          <p:cNvCxnSpPr/>
          <p:nvPr/>
        </p:nvCxnSpPr>
        <p:spPr>
          <a:xfrm>
            <a:off x="7205133" y="3280156"/>
            <a:ext cx="43772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7205133" y="3394456"/>
            <a:ext cx="2794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03</a:t>
            </a:r>
          </a:p>
        </p:txBody>
      </p:sp>
      <p:sp>
        <p:nvSpPr>
          <p:cNvPr id="65" name="TextBox 64"/>
          <p:cNvSpPr txBox="1"/>
          <p:nvPr/>
        </p:nvSpPr>
        <p:spPr>
          <a:xfrm>
            <a:off x="7522633" y="3369056"/>
            <a:ext cx="4059767" cy="2032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Una tarea por bloque</a:t>
            </a:r>
          </a:p>
        </p:txBody>
      </p:sp>
      <p:sp>
        <p:nvSpPr>
          <p:cNvPr id="66" name="TextBox 65"/>
          <p:cNvSpPr txBox="1"/>
          <p:nvPr/>
        </p:nvSpPr>
        <p:spPr>
          <a:xfrm>
            <a:off x="7522633" y="3597656"/>
            <a:ext cx="4059767" cy="4445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Con entregable concreto, rúbrica de 3 criterios y fecha límite.</a:t>
            </a:r>
          </a:p>
        </p:txBody>
      </p:sp>
      <p:cxnSp>
        <p:nvCxnSpPr>
          <p:cNvPr id="67" name="Connector 66"/>
          <p:cNvCxnSpPr/>
          <p:nvPr/>
        </p:nvCxnSpPr>
        <p:spPr>
          <a:xfrm>
            <a:off x="7205133" y="3991356"/>
            <a:ext cx="43772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205133" y="4105656"/>
            <a:ext cx="2794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04</a:t>
            </a:r>
          </a:p>
        </p:txBody>
      </p:sp>
      <p:sp>
        <p:nvSpPr>
          <p:cNvPr id="69" name="TextBox 68"/>
          <p:cNvSpPr txBox="1"/>
          <p:nvPr/>
        </p:nvSpPr>
        <p:spPr>
          <a:xfrm>
            <a:off x="7522633" y="4080256"/>
            <a:ext cx="4059767" cy="2032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Todo con plazo</a:t>
            </a:r>
          </a:p>
        </p:txBody>
      </p:sp>
      <p:sp>
        <p:nvSpPr>
          <p:cNvPr id="70" name="TextBox 69"/>
          <p:cNvSpPr txBox="1"/>
          <p:nvPr/>
        </p:nvSpPr>
        <p:spPr>
          <a:xfrm>
            <a:off x="7522633" y="4308856"/>
            <a:ext cx="4059767" cy="4445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Sin fecha límite no es una tarea: es una sugerencia.</a:t>
            </a:r>
          </a:p>
        </p:txBody>
      </p:sp>
      <p:cxnSp>
        <p:nvCxnSpPr>
          <p:cNvPr id="71" name="Connector 70"/>
          <p:cNvCxnSpPr/>
          <p:nvPr/>
        </p:nvCxnSpPr>
        <p:spPr>
          <a:xfrm>
            <a:off x="7205133" y="4702556"/>
            <a:ext cx="43772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7205133" y="4816856"/>
            <a:ext cx="2794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05</a:t>
            </a:r>
          </a:p>
        </p:txBody>
      </p:sp>
      <p:sp>
        <p:nvSpPr>
          <p:cNvPr id="73" name="TextBox 72"/>
          <p:cNvSpPr txBox="1"/>
          <p:nvPr/>
        </p:nvSpPr>
        <p:spPr>
          <a:xfrm>
            <a:off x="7522633" y="4791456"/>
            <a:ext cx="4059767" cy="2032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Cierra el ciclo</a:t>
            </a:r>
          </a:p>
        </p:txBody>
      </p:sp>
      <p:sp>
        <p:nvSpPr>
          <p:cNvPr id="74" name="TextBox 73"/>
          <p:cNvSpPr txBox="1"/>
          <p:nvPr/>
        </p:nvSpPr>
        <p:spPr>
          <a:xfrm>
            <a:off x="7522633" y="5020056"/>
            <a:ext cx="4059767" cy="4445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Devuelve corregido en 7 días y publica una nota de cierre con el siguiente paso.</a:t>
            </a:r>
          </a:p>
        </p:txBody>
      </p:sp>
      <p:cxnSp>
        <p:nvCxnSpPr>
          <p:cNvPr id="75" name="Connector 74"/>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6" name="Freeform 7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80" name="TextBox 7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GUÍA · 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ENTREGA</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Qué entregas y cuándo. Sin excepciones.</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OBLIGATORIO</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1857756"/>
            <a:ext cx="2047240"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ENTREGABLE</a:t>
            </a:r>
          </a:p>
        </p:txBody>
      </p:sp>
      <p:sp>
        <p:nvSpPr>
          <p:cNvPr id="8" name="TextBox 7"/>
          <p:cNvSpPr txBox="1"/>
          <p:nvPr/>
        </p:nvSpPr>
        <p:spPr>
          <a:xfrm>
            <a:off x="2783840" y="1857756"/>
            <a:ext cx="1612392"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FORMATO</a:t>
            </a:r>
          </a:p>
        </p:txBody>
      </p:sp>
      <p:sp>
        <p:nvSpPr>
          <p:cNvPr id="9" name="TextBox 8"/>
          <p:cNvSpPr txBox="1"/>
          <p:nvPr/>
        </p:nvSpPr>
        <p:spPr>
          <a:xfrm>
            <a:off x="4523232" y="1857756"/>
            <a:ext cx="1467443"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DÓNDE SE SUBE</a:t>
            </a:r>
          </a:p>
        </p:txBody>
      </p:sp>
      <p:sp>
        <p:nvSpPr>
          <p:cNvPr id="10" name="TextBox 9"/>
          <p:cNvSpPr txBox="1"/>
          <p:nvPr/>
        </p:nvSpPr>
        <p:spPr>
          <a:xfrm>
            <a:off x="6117675" y="1857756"/>
            <a:ext cx="742696"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PLAZO</a:t>
            </a:r>
          </a:p>
        </p:txBody>
      </p:sp>
      <p:sp>
        <p:nvSpPr>
          <p:cNvPr id="11" name="TextBox 10"/>
          <p:cNvSpPr txBox="1"/>
          <p:nvPr/>
        </p:nvSpPr>
        <p:spPr>
          <a:xfrm>
            <a:off x="6987371" y="1857756"/>
            <a:ext cx="742696" cy="292100"/>
          </a:xfrm>
          <a:prstGeom prst="rect">
            <a:avLst/>
          </a:prstGeom>
          <a:noFill/>
          <a:effectLst/>
        </p:spPr>
        <p:txBody>
          <a:bodyPr wrap="square" lIns="0" rIns="0" tIns="0" bIns="0" anchor="b"/>
          <a:lstStyle/>
          <a:p>
            <a:pPr algn="ctr">
              <a:lnSpc>
                <a:spcPts val="900"/>
              </a:lnSpc>
            </a:pPr>
            <a:r>
              <a:rPr sz="900" b="1" spc="90" dirty="0">
                <a:solidFill>
                  <a:srgbClr val="161616"/>
                </a:solidFill>
                <a:latin typeface="Inter"/>
                <a:cs typeface="Inter"/>
              </a:rPr>
              <a:t>OBLIGATORIO</a:t>
            </a:r>
          </a:p>
        </p:txBody>
      </p:sp>
      <p:sp>
        <p:nvSpPr>
          <p:cNvPr id="12" name="TextBox 11"/>
          <p:cNvSpPr txBox="1"/>
          <p:nvPr/>
        </p:nvSpPr>
        <p:spPr>
          <a:xfrm>
            <a:off x="609600" y="2314956"/>
            <a:ext cx="2047240" cy="355600"/>
          </a:xfrm>
          <a:prstGeom prst="rect">
            <a:avLst/>
          </a:prstGeom>
          <a:noFill/>
          <a:effectLst/>
        </p:spPr>
        <p:txBody>
          <a:bodyPr wrap="square" lIns="0" rIns="0" tIns="0" bIns="0" anchor="t"/>
          <a:lstStyle/>
          <a:p>
            <a:pPr algn="l">
              <a:lnSpc>
                <a:spcPts val="1312"/>
              </a:lnSpc>
            </a:pPr>
            <a:r>
              <a:rPr sz="1050" b="1" dirty="0">
                <a:solidFill>
                  <a:srgbClr val="161616"/>
                </a:solidFill>
                <a:latin typeface="Inter"/>
                <a:cs typeface="Inter"/>
              </a:rPr>
              <a:t>Deck de la sesión</a:t>
            </a:r>
          </a:p>
        </p:txBody>
      </p:sp>
      <p:sp>
        <p:nvSpPr>
          <p:cNvPr id="13" name="TextBox 12"/>
          <p:cNvSpPr txBox="1"/>
          <p:nvPr/>
        </p:nvSpPr>
        <p:spPr>
          <a:xfrm>
            <a:off x="2783840" y="2314956"/>
            <a:ext cx="1612392"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PPTX + PDF · 1920 × 1080</a:t>
            </a:r>
          </a:p>
        </p:txBody>
      </p:sp>
      <p:sp>
        <p:nvSpPr>
          <p:cNvPr id="14" name="TextBox 13"/>
          <p:cNvSpPr txBox="1"/>
          <p:nvPr/>
        </p:nvSpPr>
        <p:spPr>
          <a:xfrm>
            <a:off x="4523232" y="2314956"/>
            <a:ext cx="1467443"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Campus + Classroom</a:t>
            </a:r>
          </a:p>
        </p:txBody>
      </p:sp>
      <p:sp>
        <p:nvSpPr>
          <p:cNvPr id="15" name="TextBox 14"/>
          <p:cNvSpPr txBox="1"/>
          <p:nvPr/>
        </p:nvSpPr>
        <p:spPr>
          <a:xfrm>
            <a:off x="6117675" y="2314956"/>
            <a:ext cx="742696"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D-3</a:t>
            </a:r>
          </a:p>
        </p:txBody>
      </p:sp>
      <p:sp>
        <p:nvSpPr>
          <p:cNvPr id="16" name="TextBox 15"/>
          <p:cNvSpPr txBox="1"/>
          <p:nvPr/>
        </p:nvSpPr>
        <p:spPr>
          <a:xfrm>
            <a:off x="6987371" y="2314956"/>
            <a:ext cx="742696" cy="355600"/>
          </a:xfrm>
          <a:prstGeom prst="rect">
            <a:avLst/>
          </a:prstGeom>
          <a:noFill/>
          <a:effectLst/>
        </p:spPr>
        <p:txBody>
          <a:bodyPr wrap="square" lIns="0" rIns="0" tIns="0" bIns="0" anchor="t"/>
          <a:lstStyle/>
          <a:p>
            <a:pPr algn="ctr">
              <a:lnSpc>
                <a:spcPts val="1312"/>
              </a:lnSpc>
            </a:pPr>
            <a:r>
              <a:rPr sz="1050" b="0" dirty="0">
                <a:solidFill>
                  <a:srgbClr val="525252"/>
                </a:solidFill>
                <a:latin typeface="Inter"/>
                <a:cs typeface="Inter"/>
              </a:rPr>
              <a:t>SÍ</a:t>
            </a:r>
          </a:p>
        </p:txBody>
      </p:sp>
      <p:sp>
        <p:nvSpPr>
          <p:cNvPr id="17" name="TextBox 16"/>
          <p:cNvSpPr txBox="1"/>
          <p:nvPr/>
        </p:nvSpPr>
        <p:spPr>
          <a:xfrm>
            <a:off x="609600" y="2797556"/>
            <a:ext cx="2047240" cy="355600"/>
          </a:xfrm>
          <a:prstGeom prst="rect">
            <a:avLst/>
          </a:prstGeom>
          <a:noFill/>
          <a:effectLst/>
        </p:spPr>
        <p:txBody>
          <a:bodyPr wrap="square" lIns="0" rIns="0" tIns="0" bIns="0" anchor="t"/>
          <a:lstStyle/>
          <a:p>
            <a:pPr algn="l">
              <a:lnSpc>
                <a:spcPts val="1312"/>
              </a:lnSpc>
            </a:pPr>
            <a:r>
              <a:rPr sz="1050" b="1" dirty="0">
                <a:solidFill>
                  <a:srgbClr val="161616"/>
                </a:solidFill>
                <a:latin typeface="Inter"/>
                <a:cs typeface="Inter"/>
              </a:rPr>
              <a:t>Guion de la sesión</a:t>
            </a:r>
          </a:p>
        </p:txBody>
      </p:sp>
      <p:sp>
        <p:nvSpPr>
          <p:cNvPr id="18" name="TextBox 17"/>
          <p:cNvSpPr txBox="1"/>
          <p:nvPr/>
        </p:nvSpPr>
        <p:spPr>
          <a:xfrm>
            <a:off x="2783840" y="2797556"/>
            <a:ext cx="1612392"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Doc con bloques y minutos</a:t>
            </a:r>
          </a:p>
        </p:txBody>
      </p:sp>
      <p:sp>
        <p:nvSpPr>
          <p:cNvPr id="19" name="TextBox 18"/>
          <p:cNvSpPr txBox="1"/>
          <p:nvPr/>
        </p:nvSpPr>
        <p:spPr>
          <a:xfrm>
            <a:off x="4523232" y="2797556"/>
            <a:ext cx="1467443"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Campus (privado)</a:t>
            </a:r>
          </a:p>
        </p:txBody>
      </p:sp>
      <p:sp>
        <p:nvSpPr>
          <p:cNvPr id="20" name="TextBox 19"/>
          <p:cNvSpPr txBox="1"/>
          <p:nvPr/>
        </p:nvSpPr>
        <p:spPr>
          <a:xfrm>
            <a:off x="6117675" y="2797556"/>
            <a:ext cx="742696"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D-3</a:t>
            </a:r>
          </a:p>
        </p:txBody>
      </p:sp>
      <p:sp>
        <p:nvSpPr>
          <p:cNvPr id="21" name="TextBox 20"/>
          <p:cNvSpPr txBox="1"/>
          <p:nvPr/>
        </p:nvSpPr>
        <p:spPr>
          <a:xfrm>
            <a:off x="6987371" y="2797556"/>
            <a:ext cx="742696" cy="355600"/>
          </a:xfrm>
          <a:prstGeom prst="rect">
            <a:avLst/>
          </a:prstGeom>
          <a:noFill/>
          <a:effectLst/>
        </p:spPr>
        <p:txBody>
          <a:bodyPr wrap="square" lIns="0" rIns="0" tIns="0" bIns="0" anchor="t"/>
          <a:lstStyle/>
          <a:p>
            <a:pPr algn="ctr">
              <a:lnSpc>
                <a:spcPts val="1312"/>
              </a:lnSpc>
            </a:pPr>
            <a:r>
              <a:rPr sz="1050" b="0" dirty="0">
                <a:solidFill>
                  <a:srgbClr val="525252"/>
                </a:solidFill>
                <a:latin typeface="Inter"/>
                <a:cs typeface="Inter"/>
              </a:rPr>
              <a:t>SÍ</a:t>
            </a:r>
          </a:p>
        </p:txBody>
      </p:sp>
      <p:sp>
        <p:nvSpPr>
          <p:cNvPr id="22" name="TextBox 21"/>
          <p:cNvSpPr txBox="1"/>
          <p:nvPr/>
        </p:nvSpPr>
        <p:spPr>
          <a:xfrm>
            <a:off x="609600" y="3280156"/>
            <a:ext cx="2047240" cy="355600"/>
          </a:xfrm>
          <a:prstGeom prst="rect">
            <a:avLst/>
          </a:prstGeom>
          <a:noFill/>
          <a:effectLst/>
        </p:spPr>
        <p:txBody>
          <a:bodyPr wrap="square" lIns="0" rIns="0" tIns="0" bIns="0" anchor="t"/>
          <a:lstStyle/>
          <a:p>
            <a:pPr algn="l">
              <a:lnSpc>
                <a:spcPts val="1312"/>
              </a:lnSpc>
            </a:pPr>
            <a:r>
              <a:rPr sz="1050" b="1" dirty="0">
                <a:solidFill>
                  <a:srgbClr val="161616"/>
                </a:solidFill>
                <a:latin typeface="Inter"/>
                <a:cs typeface="Inter"/>
              </a:rPr>
              <a:t>Plantilla del ejercicio</a:t>
            </a:r>
          </a:p>
        </p:txBody>
      </p:sp>
      <p:sp>
        <p:nvSpPr>
          <p:cNvPr id="23" name="TextBox 22"/>
          <p:cNvSpPr txBox="1"/>
          <p:nvPr/>
        </p:nvSpPr>
        <p:spPr>
          <a:xfrm>
            <a:off x="2783840" y="3280156"/>
            <a:ext cx="1612392"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XLSX, DOCX o Figma</a:t>
            </a:r>
          </a:p>
        </p:txBody>
      </p:sp>
      <p:sp>
        <p:nvSpPr>
          <p:cNvPr id="24" name="TextBox 23"/>
          <p:cNvSpPr txBox="1"/>
          <p:nvPr/>
        </p:nvSpPr>
        <p:spPr>
          <a:xfrm>
            <a:off x="4523232" y="3280156"/>
            <a:ext cx="1467443"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Classroom · Material</a:t>
            </a:r>
          </a:p>
        </p:txBody>
      </p:sp>
      <p:sp>
        <p:nvSpPr>
          <p:cNvPr id="25" name="TextBox 24"/>
          <p:cNvSpPr txBox="1"/>
          <p:nvPr/>
        </p:nvSpPr>
        <p:spPr>
          <a:xfrm>
            <a:off x="6117675" y="3280156"/>
            <a:ext cx="742696"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D-3</a:t>
            </a:r>
          </a:p>
        </p:txBody>
      </p:sp>
      <p:sp>
        <p:nvSpPr>
          <p:cNvPr id="26" name="TextBox 25"/>
          <p:cNvSpPr txBox="1"/>
          <p:nvPr/>
        </p:nvSpPr>
        <p:spPr>
          <a:xfrm>
            <a:off x="6987371" y="3280156"/>
            <a:ext cx="742696" cy="355600"/>
          </a:xfrm>
          <a:prstGeom prst="rect">
            <a:avLst/>
          </a:prstGeom>
          <a:noFill/>
          <a:effectLst/>
        </p:spPr>
        <p:txBody>
          <a:bodyPr wrap="square" lIns="0" rIns="0" tIns="0" bIns="0" anchor="t"/>
          <a:lstStyle/>
          <a:p>
            <a:pPr algn="ctr">
              <a:lnSpc>
                <a:spcPts val="1312"/>
              </a:lnSpc>
            </a:pPr>
            <a:r>
              <a:rPr sz="1050" b="0" dirty="0">
                <a:solidFill>
                  <a:srgbClr val="525252"/>
                </a:solidFill>
                <a:latin typeface="Inter"/>
                <a:cs typeface="Inter"/>
              </a:rPr>
              <a:t>SÍ</a:t>
            </a:r>
          </a:p>
        </p:txBody>
      </p:sp>
      <p:sp>
        <p:nvSpPr>
          <p:cNvPr id="27" name="TextBox 26"/>
          <p:cNvSpPr txBox="1"/>
          <p:nvPr/>
        </p:nvSpPr>
        <p:spPr>
          <a:xfrm>
            <a:off x="609600" y="3762756"/>
            <a:ext cx="2047240" cy="355600"/>
          </a:xfrm>
          <a:prstGeom prst="rect">
            <a:avLst/>
          </a:prstGeom>
          <a:noFill/>
          <a:effectLst/>
        </p:spPr>
        <p:txBody>
          <a:bodyPr wrap="square" lIns="0" rIns="0" tIns="0" bIns="0" anchor="t"/>
          <a:lstStyle/>
          <a:p>
            <a:pPr algn="l">
              <a:lnSpc>
                <a:spcPts val="1312"/>
              </a:lnSpc>
            </a:pPr>
            <a:r>
              <a:rPr sz="1050" b="1" dirty="0">
                <a:solidFill>
                  <a:srgbClr val="161616"/>
                </a:solidFill>
                <a:latin typeface="Inter"/>
                <a:cs typeface="Inter"/>
              </a:rPr>
              <a:t>Tarea con rúbrica</a:t>
            </a:r>
          </a:p>
        </p:txBody>
      </p:sp>
      <p:sp>
        <p:nvSpPr>
          <p:cNvPr id="28" name="TextBox 27"/>
          <p:cNvSpPr txBox="1"/>
          <p:nvPr/>
        </p:nvSpPr>
        <p:spPr>
          <a:xfrm>
            <a:off x="2783840" y="3762756"/>
            <a:ext cx="1612392"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Tarea de Classroom</a:t>
            </a:r>
          </a:p>
        </p:txBody>
      </p:sp>
      <p:sp>
        <p:nvSpPr>
          <p:cNvPr id="29" name="TextBox 28"/>
          <p:cNvSpPr txBox="1"/>
          <p:nvPr/>
        </p:nvSpPr>
        <p:spPr>
          <a:xfrm>
            <a:off x="4523232" y="3762756"/>
            <a:ext cx="1467443"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Classroom · Tarea</a:t>
            </a:r>
          </a:p>
        </p:txBody>
      </p:sp>
      <p:sp>
        <p:nvSpPr>
          <p:cNvPr id="30" name="TextBox 29"/>
          <p:cNvSpPr txBox="1"/>
          <p:nvPr/>
        </p:nvSpPr>
        <p:spPr>
          <a:xfrm>
            <a:off x="6117675" y="3762756"/>
            <a:ext cx="742696"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D-1</a:t>
            </a:r>
          </a:p>
        </p:txBody>
      </p:sp>
      <p:sp>
        <p:nvSpPr>
          <p:cNvPr id="31" name="TextBox 30"/>
          <p:cNvSpPr txBox="1"/>
          <p:nvPr/>
        </p:nvSpPr>
        <p:spPr>
          <a:xfrm>
            <a:off x="6987371" y="3762756"/>
            <a:ext cx="742696" cy="355600"/>
          </a:xfrm>
          <a:prstGeom prst="rect">
            <a:avLst/>
          </a:prstGeom>
          <a:noFill/>
          <a:effectLst/>
        </p:spPr>
        <p:txBody>
          <a:bodyPr wrap="square" lIns="0" rIns="0" tIns="0" bIns="0" anchor="t"/>
          <a:lstStyle/>
          <a:p>
            <a:pPr algn="ctr">
              <a:lnSpc>
                <a:spcPts val="1312"/>
              </a:lnSpc>
            </a:pPr>
            <a:r>
              <a:rPr sz="1050" b="0" dirty="0">
                <a:solidFill>
                  <a:srgbClr val="525252"/>
                </a:solidFill>
                <a:latin typeface="Inter"/>
                <a:cs typeface="Inter"/>
              </a:rPr>
              <a:t>SÍ</a:t>
            </a:r>
          </a:p>
        </p:txBody>
      </p:sp>
      <p:sp>
        <p:nvSpPr>
          <p:cNvPr id="32" name="TextBox 31"/>
          <p:cNvSpPr txBox="1"/>
          <p:nvPr/>
        </p:nvSpPr>
        <p:spPr>
          <a:xfrm>
            <a:off x="609600" y="4245356"/>
            <a:ext cx="2047240" cy="355600"/>
          </a:xfrm>
          <a:prstGeom prst="rect">
            <a:avLst/>
          </a:prstGeom>
          <a:noFill/>
          <a:effectLst/>
        </p:spPr>
        <p:txBody>
          <a:bodyPr wrap="square" lIns="0" rIns="0" tIns="0" bIns="0" anchor="t"/>
          <a:lstStyle/>
          <a:p>
            <a:pPr algn="l">
              <a:lnSpc>
                <a:spcPts val="1312"/>
              </a:lnSpc>
            </a:pPr>
            <a:r>
              <a:rPr sz="1050" b="1" dirty="0">
                <a:solidFill>
                  <a:srgbClr val="161616"/>
                </a:solidFill>
                <a:latin typeface="Inter"/>
                <a:cs typeface="Inter"/>
              </a:rPr>
              <a:t>Grabación de la sesión</a:t>
            </a:r>
          </a:p>
        </p:txBody>
      </p:sp>
      <p:sp>
        <p:nvSpPr>
          <p:cNvPr id="33" name="TextBox 32"/>
          <p:cNvSpPr txBox="1"/>
          <p:nvPr/>
        </p:nvSpPr>
        <p:spPr>
          <a:xfrm>
            <a:off x="2783840" y="4245356"/>
            <a:ext cx="1612392"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MP4 con subtítulos</a:t>
            </a:r>
          </a:p>
        </p:txBody>
      </p:sp>
      <p:sp>
        <p:nvSpPr>
          <p:cNvPr id="34" name="TextBox 33"/>
          <p:cNvSpPr txBox="1"/>
          <p:nvPr/>
        </p:nvSpPr>
        <p:spPr>
          <a:xfrm>
            <a:off x="4523232" y="4245356"/>
            <a:ext cx="1467443"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Campus · Módulo NN</a:t>
            </a:r>
          </a:p>
        </p:txBody>
      </p:sp>
      <p:sp>
        <p:nvSpPr>
          <p:cNvPr id="35" name="TextBox 34"/>
          <p:cNvSpPr txBox="1"/>
          <p:nvPr/>
        </p:nvSpPr>
        <p:spPr>
          <a:xfrm>
            <a:off x="6117675" y="4245356"/>
            <a:ext cx="742696"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D+1</a:t>
            </a:r>
          </a:p>
        </p:txBody>
      </p:sp>
      <p:sp>
        <p:nvSpPr>
          <p:cNvPr id="36" name="TextBox 35"/>
          <p:cNvSpPr txBox="1"/>
          <p:nvPr/>
        </p:nvSpPr>
        <p:spPr>
          <a:xfrm>
            <a:off x="6987371" y="4245356"/>
            <a:ext cx="742696" cy="355600"/>
          </a:xfrm>
          <a:prstGeom prst="rect">
            <a:avLst/>
          </a:prstGeom>
          <a:noFill/>
          <a:effectLst/>
        </p:spPr>
        <p:txBody>
          <a:bodyPr wrap="square" lIns="0" rIns="0" tIns="0" bIns="0" anchor="t"/>
          <a:lstStyle/>
          <a:p>
            <a:pPr algn="ctr">
              <a:lnSpc>
                <a:spcPts val="1312"/>
              </a:lnSpc>
            </a:pPr>
            <a:r>
              <a:rPr sz="1050" b="0" dirty="0">
                <a:solidFill>
                  <a:srgbClr val="525252"/>
                </a:solidFill>
                <a:latin typeface="Inter"/>
                <a:cs typeface="Inter"/>
              </a:rPr>
              <a:t>SÍ</a:t>
            </a:r>
          </a:p>
        </p:txBody>
      </p:sp>
      <p:sp>
        <p:nvSpPr>
          <p:cNvPr id="37" name="TextBox 36"/>
          <p:cNvSpPr txBox="1"/>
          <p:nvPr/>
        </p:nvSpPr>
        <p:spPr>
          <a:xfrm>
            <a:off x="609600" y="4727956"/>
            <a:ext cx="2047240" cy="355600"/>
          </a:xfrm>
          <a:prstGeom prst="rect">
            <a:avLst/>
          </a:prstGeom>
          <a:noFill/>
          <a:effectLst/>
        </p:spPr>
        <p:txBody>
          <a:bodyPr wrap="square" lIns="0" rIns="0" tIns="0" bIns="0" anchor="t"/>
          <a:lstStyle/>
          <a:p>
            <a:pPr algn="l">
              <a:lnSpc>
                <a:spcPts val="1312"/>
              </a:lnSpc>
            </a:pPr>
            <a:r>
              <a:rPr sz="1050" b="1" dirty="0">
                <a:solidFill>
                  <a:srgbClr val="161616"/>
                </a:solidFill>
                <a:latin typeface="Inter"/>
                <a:cs typeface="Inter"/>
              </a:rPr>
              <a:t>Lecturas de apoyo</a:t>
            </a:r>
          </a:p>
        </p:txBody>
      </p:sp>
      <p:sp>
        <p:nvSpPr>
          <p:cNvPr id="38" name="TextBox 37"/>
          <p:cNvSpPr txBox="1"/>
          <p:nvPr/>
        </p:nvSpPr>
        <p:spPr>
          <a:xfrm>
            <a:off x="2783840" y="4727956"/>
            <a:ext cx="1612392"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PDF o enlace con fuente</a:t>
            </a:r>
          </a:p>
        </p:txBody>
      </p:sp>
      <p:sp>
        <p:nvSpPr>
          <p:cNvPr id="39" name="TextBox 38"/>
          <p:cNvSpPr txBox="1"/>
          <p:nvPr/>
        </p:nvSpPr>
        <p:spPr>
          <a:xfrm>
            <a:off x="4523232" y="4727956"/>
            <a:ext cx="1467443"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Classroom · Material</a:t>
            </a:r>
          </a:p>
        </p:txBody>
      </p:sp>
      <p:sp>
        <p:nvSpPr>
          <p:cNvPr id="40" name="TextBox 39"/>
          <p:cNvSpPr txBox="1"/>
          <p:nvPr/>
        </p:nvSpPr>
        <p:spPr>
          <a:xfrm>
            <a:off x="6117675" y="4727956"/>
            <a:ext cx="742696" cy="355600"/>
          </a:xfrm>
          <a:prstGeom prst="rect">
            <a:avLst/>
          </a:prstGeom>
          <a:noFill/>
          <a:effectLst/>
        </p:spPr>
        <p:txBody>
          <a:bodyPr wrap="square" lIns="0" rIns="0" tIns="0" bIns="0" anchor="t"/>
          <a:lstStyle/>
          <a:p>
            <a:pPr algn="l">
              <a:lnSpc>
                <a:spcPts val="1312"/>
              </a:lnSpc>
            </a:pPr>
            <a:r>
              <a:rPr sz="1050" b="0" dirty="0">
                <a:solidFill>
                  <a:srgbClr val="525252"/>
                </a:solidFill>
                <a:latin typeface="Inter"/>
                <a:cs typeface="Inter"/>
              </a:rPr>
              <a:t>D-3</a:t>
            </a:r>
          </a:p>
        </p:txBody>
      </p:sp>
      <p:sp>
        <p:nvSpPr>
          <p:cNvPr id="41" name="TextBox 40"/>
          <p:cNvSpPr txBox="1"/>
          <p:nvPr/>
        </p:nvSpPr>
        <p:spPr>
          <a:xfrm>
            <a:off x="6987371" y="4727956"/>
            <a:ext cx="742696" cy="355600"/>
          </a:xfrm>
          <a:prstGeom prst="rect">
            <a:avLst/>
          </a:prstGeom>
          <a:noFill/>
          <a:effectLst/>
        </p:spPr>
        <p:txBody>
          <a:bodyPr wrap="square" lIns="0" rIns="0" tIns="0" bIns="0" anchor="t"/>
          <a:lstStyle/>
          <a:p>
            <a:pPr algn="ctr">
              <a:lnSpc>
                <a:spcPts val="1312"/>
              </a:lnSpc>
            </a:pPr>
            <a:r>
              <a:rPr sz="1050" b="0" dirty="0">
                <a:solidFill>
                  <a:srgbClr val="525252"/>
                </a:solidFill>
                <a:latin typeface="Inter"/>
                <a:cs typeface="Inter"/>
              </a:rPr>
              <a:t>No</a:t>
            </a:r>
          </a:p>
        </p:txBody>
      </p:sp>
      <p:sp>
        <p:nvSpPr>
          <p:cNvPr id="42" name="Rectangle 41"/>
          <p:cNvSpPr/>
          <p:nvPr/>
        </p:nvSpPr>
        <p:spPr>
          <a:xfrm>
            <a:off x="8212667" y="1819656"/>
            <a:ext cx="3369733" cy="1905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403167" y="1997456"/>
            <a:ext cx="2988733" cy="190500"/>
          </a:xfrm>
          <a:prstGeom prst="rect">
            <a:avLst/>
          </a:prstGeom>
          <a:noFill/>
          <a:effectLst/>
        </p:spPr>
        <p:txBody>
          <a:bodyPr wrap="square" lIns="0" rIns="0" tIns="0" bIns="0" anchor="t"/>
          <a:lstStyle/>
          <a:p>
            <a:pPr algn="l">
              <a:lnSpc>
                <a:spcPts val="700"/>
              </a:lnSpc>
            </a:pPr>
            <a:r>
              <a:rPr sz="700" b="1" spc="126" dirty="0">
                <a:solidFill>
                  <a:srgbClr val="5B4BF5"/>
                </a:solidFill>
                <a:latin typeface="Inter"/>
                <a:cs typeface="Inter"/>
              </a:rPr>
              <a:t>NO NEGOCIABLE</a:t>
            </a:r>
          </a:p>
        </p:txBody>
      </p:sp>
      <p:sp>
        <p:nvSpPr>
          <p:cNvPr id="44" name="TextBox 43"/>
          <p:cNvSpPr txBox="1"/>
          <p:nvPr/>
        </p:nvSpPr>
        <p:spPr>
          <a:xfrm>
            <a:off x="8403167" y="2276856"/>
            <a:ext cx="2988733" cy="952500"/>
          </a:xfrm>
          <a:prstGeom prst="rect">
            <a:avLst/>
          </a:prstGeom>
          <a:noFill/>
          <a:effectLst/>
        </p:spPr>
        <p:txBody>
          <a:bodyPr wrap="square" lIns="0" rIns="0" tIns="0" bIns="0" anchor="t"/>
          <a:lstStyle/>
          <a:p>
            <a:pPr algn="l">
              <a:lnSpc>
                <a:spcPts val="1954"/>
              </a:lnSpc>
            </a:pPr>
            <a:r>
              <a:rPr sz="1700" b="1" spc="-34" dirty="0">
                <a:solidFill>
                  <a:srgbClr val="FFFFFF"/>
                </a:solidFill>
                <a:latin typeface="Inter"/>
                <a:cs typeface="Inter"/>
              </a:rPr>
              <a:t>Todo módulo tiene deck de diapositivas.</a:t>
            </a:r>
          </a:p>
        </p:txBody>
      </p:sp>
      <p:sp>
        <p:nvSpPr>
          <p:cNvPr id="45" name="TextBox 44"/>
          <p:cNvSpPr txBox="1"/>
          <p:nvPr/>
        </p:nvSpPr>
        <p:spPr>
          <a:xfrm>
            <a:off x="8403167" y="3127756"/>
            <a:ext cx="2988733" cy="571500"/>
          </a:xfrm>
          <a:prstGeom prst="rect">
            <a:avLst/>
          </a:prstGeom>
          <a:noFill/>
          <a:effectLst/>
        </p:spPr>
        <p:txBody>
          <a:bodyPr wrap="square" lIns="0" rIns="0" tIns="0" bIns="0" anchor="t"/>
          <a:lstStyle/>
          <a:p>
            <a:pPr algn="l">
              <a:lnSpc>
                <a:spcPts val="1377"/>
              </a:lnSpc>
            </a:pPr>
            <a:r>
              <a:rPr sz="950" b="0" dirty="0">
                <a:solidFill>
                  <a:srgbClr val="D2D2D2"/>
                </a:solidFill>
                <a:latin typeface="Inter"/>
                <a:cs typeface="Inter"/>
              </a:rPr>
              <a:t>Hecho con estas plantillas, en 16:9, exportado también a PDF. Sin deck no se abre el módulo en el Campus.</a:t>
            </a:r>
          </a:p>
        </p:txBody>
      </p:sp>
      <p:sp>
        <p:nvSpPr>
          <p:cNvPr id="46" name="Rectangle 45"/>
          <p:cNvSpPr/>
          <p:nvPr/>
        </p:nvSpPr>
        <p:spPr>
          <a:xfrm>
            <a:off x="8212667" y="3953256"/>
            <a:ext cx="3369733" cy="1587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403167" y="4118356"/>
            <a:ext cx="2988733"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TAMAÑO ORIENTATIVO</a:t>
            </a:r>
          </a:p>
        </p:txBody>
      </p:sp>
      <p:sp>
        <p:nvSpPr>
          <p:cNvPr id="48" name="TextBox 47"/>
          <p:cNvSpPr txBox="1"/>
          <p:nvPr/>
        </p:nvSpPr>
        <p:spPr>
          <a:xfrm>
            <a:off x="8403167" y="4372356"/>
            <a:ext cx="952500" cy="292100"/>
          </a:xfrm>
          <a:prstGeom prst="rect">
            <a:avLst/>
          </a:prstGeom>
          <a:noFill/>
          <a:effectLst/>
        </p:spPr>
        <p:txBody>
          <a:bodyPr wrap="square" lIns="0" rIns="0" tIns="0" bIns="0" anchor="t"/>
          <a:lstStyle/>
          <a:p>
            <a:pPr algn="l">
              <a:lnSpc>
                <a:spcPts val="1900"/>
              </a:lnSpc>
            </a:pPr>
            <a:r>
              <a:rPr sz="1900" b="1" spc="-57" dirty="0">
                <a:solidFill>
                  <a:srgbClr val="161616"/>
                </a:solidFill>
                <a:latin typeface="Inter"/>
                <a:cs typeface="Inter"/>
              </a:rPr>
              <a:t>40–50</a:t>
            </a:r>
          </a:p>
        </p:txBody>
      </p:sp>
      <p:sp>
        <p:nvSpPr>
          <p:cNvPr id="49" name="TextBox 48"/>
          <p:cNvSpPr txBox="1"/>
          <p:nvPr/>
        </p:nvSpPr>
        <p:spPr>
          <a:xfrm>
            <a:off x="9419167" y="4410456"/>
            <a:ext cx="1972733" cy="279400"/>
          </a:xfrm>
          <a:prstGeom prst="rect">
            <a:avLst/>
          </a:prstGeom>
          <a:noFill/>
          <a:effectLst/>
        </p:spPr>
        <p:txBody>
          <a:bodyPr wrap="square" lIns="0" rIns="0" tIns="0" bIns="0" anchor="t"/>
          <a:lstStyle/>
          <a:p>
            <a:pPr algn="l">
              <a:lnSpc>
                <a:spcPts val="1062"/>
              </a:lnSpc>
            </a:pPr>
            <a:r>
              <a:rPr sz="850" b="0" dirty="0">
                <a:solidFill>
                  <a:srgbClr val="525252"/>
                </a:solidFill>
                <a:latin typeface="Inter"/>
                <a:cs typeface="Inter"/>
              </a:rPr>
              <a:t>diapositivas por sesión de 4 h</a:t>
            </a:r>
          </a:p>
        </p:txBody>
      </p:sp>
      <p:sp>
        <p:nvSpPr>
          <p:cNvPr id="50" name="TextBox 49"/>
          <p:cNvSpPr txBox="1"/>
          <p:nvPr/>
        </p:nvSpPr>
        <p:spPr>
          <a:xfrm>
            <a:off x="8403167" y="4766056"/>
            <a:ext cx="952500" cy="292100"/>
          </a:xfrm>
          <a:prstGeom prst="rect">
            <a:avLst/>
          </a:prstGeom>
          <a:noFill/>
          <a:effectLst/>
        </p:spPr>
        <p:txBody>
          <a:bodyPr wrap="square" lIns="0" rIns="0" tIns="0" bIns="0" anchor="t"/>
          <a:lstStyle/>
          <a:p>
            <a:pPr algn="l">
              <a:lnSpc>
                <a:spcPts val="1900"/>
              </a:lnSpc>
            </a:pPr>
            <a:r>
              <a:rPr sz="1900" b="1" spc="-57" dirty="0">
                <a:solidFill>
                  <a:srgbClr val="161616"/>
                </a:solidFill>
                <a:latin typeface="Inter"/>
                <a:cs typeface="Inter"/>
              </a:rPr>
              <a:t>3</a:t>
            </a:r>
          </a:p>
        </p:txBody>
      </p:sp>
      <p:sp>
        <p:nvSpPr>
          <p:cNvPr id="51" name="TextBox 50"/>
          <p:cNvSpPr txBox="1"/>
          <p:nvPr/>
        </p:nvSpPr>
        <p:spPr>
          <a:xfrm>
            <a:off x="9419167" y="4804156"/>
            <a:ext cx="1972733" cy="279400"/>
          </a:xfrm>
          <a:prstGeom prst="rect">
            <a:avLst/>
          </a:prstGeom>
          <a:noFill/>
          <a:effectLst/>
        </p:spPr>
        <p:txBody>
          <a:bodyPr wrap="square" lIns="0" rIns="0" tIns="0" bIns="0" anchor="t"/>
          <a:lstStyle/>
          <a:p>
            <a:pPr algn="l">
              <a:lnSpc>
                <a:spcPts val="1062"/>
              </a:lnSpc>
            </a:pPr>
            <a:r>
              <a:rPr sz="850" b="0" dirty="0">
                <a:solidFill>
                  <a:srgbClr val="525252"/>
                </a:solidFill>
                <a:latin typeface="Inter"/>
                <a:cs typeface="Inter"/>
              </a:rPr>
              <a:t>ejercicios como mínimo</a:t>
            </a:r>
          </a:p>
        </p:txBody>
      </p:sp>
      <p:sp>
        <p:nvSpPr>
          <p:cNvPr id="52" name="TextBox 51"/>
          <p:cNvSpPr txBox="1"/>
          <p:nvPr/>
        </p:nvSpPr>
        <p:spPr>
          <a:xfrm>
            <a:off x="8403167" y="5159756"/>
            <a:ext cx="952500" cy="292100"/>
          </a:xfrm>
          <a:prstGeom prst="rect">
            <a:avLst/>
          </a:prstGeom>
          <a:noFill/>
          <a:effectLst/>
        </p:spPr>
        <p:txBody>
          <a:bodyPr wrap="square" lIns="0" rIns="0" tIns="0" bIns="0" anchor="t"/>
          <a:lstStyle/>
          <a:p>
            <a:pPr algn="l">
              <a:lnSpc>
                <a:spcPts val="1900"/>
              </a:lnSpc>
            </a:pPr>
            <a:r>
              <a:rPr sz="1900" b="1" spc="-57" dirty="0">
                <a:solidFill>
                  <a:srgbClr val="161616"/>
                </a:solidFill>
                <a:latin typeface="Inter"/>
                <a:cs typeface="Inter"/>
              </a:rPr>
              <a:t>40 %</a:t>
            </a:r>
          </a:p>
        </p:txBody>
      </p:sp>
      <p:sp>
        <p:nvSpPr>
          <p:cNvPr id="53" name="TextBox 52"/>
          <p:cNvSpPr txBox="1"/>
          <p:nvPr/>
        </p:nvSpPr>
        <p:spPr>
          <a:xfrm>
            <a:off x="9419167" y="5197856"/>
            <a:ext cx="1972733" cy="279400"/>
          </a:xfrm>
          <a:prstGeom prst="rect">
            <a:avLst/>
          </a:prstGeom>
          <a:noFill/>
          <a:effectLst/>
        </p:spPr>
        <p:txBody>
          <a:bodyPr wrap="square" lIns="0" rIns="0" tIns="0" bIns="0" anchor="t"/>
          <a:lstStyle/>
          <a:p>
            <a:pPr algn="l">
              <a:lnSpc>
                <a:spcPts val="1062"/>
              </a:lnSpc>
            </a:pPr>
            <a:r>
              <a:rPr sz="850" b="0" dirty="0">
                <a:solidFill>
                  <a:srgbClr val="525252"/>
                </a:solidFill>
                <a:latin typeface="Inter"/>
                <a:cs typeface="Inter"/>
              </a:rPr>
              <a:t>del tiempo, en ejercicio</a:t>
            </a:r>
          </a:p>
        </p:txBody>
      </p:sp>
      <p:cxnSp>
        <p:nvCxnSpPr>
          <p:cNvPr id="54" name="Connector 53"/>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5" name="Freeform 5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9" name="TextBox 5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GUÍA · 08</a:t>
            </a:r>
          </a:p>
        </p:txBody>
      </p:sp>
      <p:cxnSp>
        <p:nvCxnSpPr>
          <p:cNvPr id="60" name="Connector 59"/>
          <p:cNvCxnSpPr/>
          <p:nvPr/>
        </p:nvCxnSpPr>
        <p:spPr>
          <a:xfrm>
            <a:off x="609600" y="2226056"/>
            <a:ext cx="7247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09600" y="2708656"/>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09600" y="3191256"/>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09600" y="3673856"/>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09600" y="4156456"/>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09600" y="4639056"/>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09600" y="5121656"/>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EN DIRECTO</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Anatomía de una sesión de 4 horas</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RITMO Y PLANTILLAS</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9600" y="1857756"/>
            <a:ext cx="523240" cy="952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1200" y="1972056"/>
            <a:ext cx="345440" cy="1651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10 MIN</a:t>
            </a:r>
          </a:p>
        </p:txBody>
      </p:sp>
      <p:sp>
        <p:nvSpPr>
          <p:cNvPr id="9" name="TextBox 8"/>
          <p:cNvSpPr txBox="1"/>
          <p:nvPr/>
        </p:nvSpPr>
        <p:spPr>
          <a:xfrm>
            <a:off x="711200" y="2162556"/>
            <a:ext cx="345440" cy="3810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Apertura</a:t>
            </a:r>
          </a:p>
        </p:txBody>
      </p:sp>
      <p:sp>
        <p:nvSpPr>
          <p:cNvPr id="10" name="TextBox 9"/>
          <p:cNvSpPr txBox="1"/>
          <p:nvPr/>
        </p:nvSpPr>
        <p:spPr>
          <a:xfrm>
            <a:off x="711200" y="2543556"/>
            <a:ext cx="345440" cy="165100"/>
          </a:xfrm>
          <a:prstGeom prst="rect">
            <a:avLst/>
          </a:prstGeom>
          <a:noFill/>
          <a:effectLst/>
        </p:spPr>
        <p:txBody>
          <a:bodyPr wrap="square" lIns="0" rIns="0" tIns="0" bIns="0" anchor="t"/>
          <a:lstStyle/>
          <a:p>
            <a:pPr algn="l">
              <a:lnSpc>
                <a:spcPts val="750"/>
              </a:lnSpc>
            </a:pPr>
            <a:r>
              <a:rPr sz="750" b="0" dirty="0">
                <a:solidFill>
                  <a:srgbClr val="6F6F6F"/>
                </a:solidFill>
                <a:latin typeface="Inter"/>
                <a:cs typeface="Inter"/>
              </a:rPr>
              <a:t>3 diap.</a:t>
            </a:r>
          </a:p>
        </p:txBody>
      </p:sp>
      <p:sp>
        <p:nvSpPr>
          <p:cNvPr id="11" name="TextBox 10"/>
          <p:cNvSpPr txBox="1"/>
          <p:nvPr/>
        </p:nvSpPr>
        <p:spPr>
          <a:xfrm>
            <a:off x="609600" y="2911856"/>
            <a:ext cx="523240" cy="381000"/>
          </a:xfrm>
          <a:prstGeom prst="rect">
            <a:avLst/>
          </a:prstGeom>
          <a:noFill/>
          <a:effectLst/>
        </p:spPr>
        <p:txBody>
          <a:bodyPr wrap="square" lIns="0" rIns="0" tIns="0" bIns="0" anchor="t"/>
          <a:lstStyle/>
          <a:p>
            <a:pPr algn="l">
              <a:lnSpc>
                <a:spcPts val="877"/>
              </a:lnSpc>
            </a:pPr>
            <a:r>
              <a:rPr sz="650" b="1" spc="39" dirty="0">
                <a:solidFill>
                  <a:srgbClr val="6F6F6F"/>
                </a:solidFill>
                <a:latin typeface="Inter"/>
                <a:cs typeface="Inter"/>
              </a:rPr>
              <a:t>A01 · A05 · A06</a:t>
            </a:r>
          </a:p>
        </p:txBody>
      </p:sp>
      <p:sp>
        <p:nvSpPr>
          <p:cNvPr id="12" name="Rectangle 11"/>
          <p:cNvSpPr/>
          <p:nvPr/>
        </p:nvSpPr>
        <p:spPr>
          <a:xfrm>
            <a:off x="1158240" y="1857756"/>
            <a:ext cx="2443480" cy="952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259840" y="1972056"/>
            <a:ext cx="2265680" cy="1651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45 MIN</a:t>
            </a:r>
          </a:p>
        </p:txBody>
      </p:sp>
      <p:sp>
        <p:nvSpPr>
          <p:cNvPr id="14" name="TextBox 13"/>
          <p:cNvSpPr txBox="1"/>
          <p:nvPr/>
        </p:nvSpPr>
        <p:spPr>
          <a:xfrm>
            <a:off x="1259840" y="2162556"/>
            <a:ext cx="2265680" cy="3810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Bloque 1</a:t>
            </a:r>
          </a:p>
        </p:txBody>
      </p:sp>
      <p:sp>
        <p:nvSpPr>
          <p:cNvPr id="15" name="TextBox 14"/>
          <p:cNvSpPr txBox="1"/>
          <p:nvPr/>
        </p:nvSpPr>
        <p:spPr>
          <a:xfrm>
            <a:off x="1259840" y="2543556"/>
            <a:ext cx="2265680" cy="165100"/>
          </a:xfrm>
          <a:prstGeom prst="rect">
            <a:avLst/>
          </a:prstGeom>
          <a:noFill/>
          <a:effectLst/>
        </p:spPr>
        <p:txBody>
          <a:bodyPr wrap="square" lIns="0" rIns="0" tIns="0" bIns="0" anchor="t"/>
          <a:lstStyle/>
          <a:p>
            <a:pPr algn="l">
              <a:lnSpc>
                <a:spcPts val="750"/>
              </a:lnSpc>
            </a:pPr>
            <a:r>
              <a:rPr sz="750" b="0" dirty="0">
                <a:solidFill>
                  <a:srgbClr val="6F6F6F"/>
                </a:solidFill>
                <a:latin typeface="Inter"/>
                <a:cs typeface="Inter"/>
              </a:rPr>
              <a:t>10-12 diap.</a:t>
            </a:r>
          </a:p>
        </p:txBody>
      </p:sp>
      <p:sp>
        <p:nvSpPr>
          <p:cNvPr id="16" name="TextBox 15"/>
          <p:cNvSpPr txBox="1"/>
          <p:nvPr/>
        </p:nvSpPr>
        <p:spPr>
          <a:xfrm>
            <a:off x="1158240" y="2911856"/>
            <a:ext cx="2443480" cy="381000"/>
          </a:xfrm>
          <a:prstGeom prst="rect">
            <a:avLst/>
          </a:prstGeom>
          <a:noFill/>
          <a:effectLst/>
        </p:spPr>
        <p:txBody>
          <a:bodyPr wrap="square" lIns="0" rIns="0" tIns="0" bIns="0" anchor="t"/>
          <a:lstStyle/>
          <a:p>
            <a:pPr algn="l">
              <a:lnSpc>
                <a:spcPts val="877"/>
              </a:lnSpc>
            </a:pPr>
            <a:r>
              <a:rPr sz="650" b="1" spc="39" dirty="0">
                <a:solidFill>
                  <a:srgbClr val="6F6F6F"/>
                </a:solidFill>
                <a:latin typeface="Inter"/>
                <a:cs typeface="Inter"/>
              </a:rPr>
              <a:t>A03 · B0x · C01 · F0x</a:t>
            </a:r>
          </a:p>
        </p:txBody>
      </p:sp>
      <p:sp>
        <p:nvSpPr>
          <p:cNvPr id="17" name="Rectangle 16"/>
          <p:cNvSpPr/>
          <p:nvPr/>
        </p:nvSpPr>
        <p:spPr>
          <a:xfrm>
            <a:off x="3627120" y="1857756"/>
            <a:ext cx="1346200" cy="952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28720" y="1972056"/>
            <a:ext cx="1168400" cy="165100"/>
          </a:xfrm>
          <a:prstGeom prst="rect">
            <a:avLst/>
          </a:prstGeom>
          <a:noFill/>
          <a:effectLst/>
        </p:spPr>
        <p:txBody>
          <a:bodyPr wrap="square" lIns="0" rIns="0" tIns="0" bIns="0" anchor="t"/>
          <a:lstStyle/>
          <a:p>
            <a:pPr algn="l">
              <a:lnSpc>
                <a:spcPts val="700"/>
              </a:lnSpc>
            </a:pPr>
            <a:r>
              <a:rPr sz="700" b="1" spc="84" dirty="0">
                <a:solidFill>
                  <a:srgbClr val="5B4BF5"/>
                </a:solidFill>
                <a:latin typeface="Inter"/>
                <a:cs typeface="Inter"/>
              </a:rPr>
              <a:t>25 MIN</a:t>
            </a:r>
          </a:p>
        </p:txBody>
      </p:sp>
      <p:sp>
        <p:nvSpPr>
          <p:cNvPr id="19" name="TextBox 18"/>
          <p:cNvSpPr txBox="1"/>
          <p:nvPr/>
        </p:nvSpPr>
        <p:spPr>
          <a:xfrm>
            <a:off x="3728720" y="2162556"/>
            <a:ext cx="1168400" cy="381000"/>
          </a:xfrm>
          <a:prstGeom prst="rect">
            <a:avLst/>
          </a:prstGeom>
          <a:noFill/>
          <a:effectLst/>
        </p:spPr>
        <p:txBody>
          <a:bodyPr wrap="square" lIns="0" rIns="0" tIns="0" bIns="0" anchor="t"/>
          <a:lstStyle/>
          <a:p>
            <a:pPr algn="l">
              <a:lnSpc>
                <a:spcPts val="1264"/>
              </a:lnSpc>
            </a:pPr>
            <a:r>
              <a:rPr sz="1100" b="1" spc="-11" dirty="0">
                <a:solidFill>
                  <a:srgbClr val="FFFFFF"/>
                </a:solidFill>
                <a:latin typeface="Inter"/>
                <a:cs typeface="Inter"/>
              </a:rPr>
              <a:t>Ejercicio 1</a:t>
            </a:r>
          </a:p>
        </p:txBody>
      </p:sp>
      <p:sp>
        <p:nvSpPr>
          <p:cNvPr id="20" name="TextBox 19"/>
          <p:cNvSpPr txBox="1"/>
          <p:nvPr/>
        </p:nvSpPr>
        <p:spPr>
          <a:xfrm>
            <a:off x="3728720" y="2543556"/>
            <a:ext cx="1168400" cy="165100"/>
          </a:xfrm>
          <a:prstGeom prst="rect">
            <a:avLst/>
          </a:prstGeom>
          <a:noFill/>
          <a:effectLst/>
        </p:spPr>
        <p:txBody>
          <a:bodyPr wrap="square" lIns="0" rIns="0" tIns="0" bIns="0" anchor="t"/>
          <a:lstStyle/>
          <a:p>
            <a:pPr algn="l">
              <a:lnSpc>
                <a:spcPts val="750"/>
              </a:lnSpc>
            </a:pPr>
            <a:r>
              <a:rPr sz="750" b="0" dirty="0">
                <a:solidFill>
                  <a:srgbClr val="9A9A9A"/>
                </a:solidFill>
                <a:latin typeface="Inter"/>
                <a:cs typeface="Inter"/>
              </a:rPr>
              <a:t>2 diap.</a:t>
            </a:r>
          </a:p>
        </p:txBody>
      </p:sp>
      <p:sp>
        <p:nvSpPr>
          <p:cNvPr id="21" name="TextBox 20"/>
          <p:cNvSpPr txBox="1"/>
          <p:nvPr/>
        </p:nvSpPr>
        <p:spPr>
          <a:xfrm>
            <a:off x="3627120" y="2911856"/>
            <a:ext cx="1346200" cy="381000"/>
          </a:xfrm>
          <a:prstGeom prst="rect">
            <a:avLst/>
          </a:prstGeom>
          <a:noFill/>
          <a:effectLst/>
        </p:spPr>
        <p:txBody>
          <a:bodyPr wrap="square" lIns="0" rIns="0" tIns="0" bIns="0" anchor="t"/>
          <a:lstStyle/>
          <a:p>
            <a:pPr algn="l">
              <a:lnSpc>
                <a:spcPts val="877"/>
              </a:lnSpc>
            </a:pPr>
            <a:r>
              <a:rPr sz="650" b="1" spc="39" dirty="0">
                <a:solidFill>
                  <a:srgbClr val="6F6F6F"/>
                </a:solidFill>
                <a:latin typeface="Inter"/>
                <a:cs typeface="Inter"/>
              </a:rPr>
              <a:t>I01 · I04</a:t>
            </a:r>
          </a:p>
        </p:txBody>
      </p:sp>
      <p:sp>
        <p:nvSpPr>
          <p:cNvPr id="22" name="Rectangle 21"/>
          <p:cNvSpPr/>
          <p:nvPr/>
        </p:nvSpPr>
        <p:spPr>
          <a:xfrm>
            <a:off x="4998720" y="1857756"/>
            <a:ext cx="523240" cy="952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100320" y="1972056"/>
            <a:ext cx="345440" cy="1651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10 MIN</a:t>
            </a:r>
          </a:p>
        </p:txBody>
      </p:sp>
      <p:sp>
        <p:nvSpPr>
          <p:cNvPr id="24" name="TextBox 23"/>
          <p:cNvSpPr txBox="1"/>
          <p:nvPr/>
        </p:nvSpPr>
        <p:spPr>
          <a:xfrm>
            <a:off x="5100320" y="2162556"/>
            <a:ext cx="345440" cy="3810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Pausa</a:t>
            </a:r>
          </a:p>
        </p:txBody>
      </p:sp>
      <p:sp>
        <p:nvSpPr>
          <p:cNvPr id="25" name="TextBox 24"/>
          <p:cNvSpPr txBox="1"/>
          <p:nvPr/>
        </p:nvSpPr>
        <p:spPr>
          <a:xfrm>
            <a:off x="5100320" y="2543556"/>
            <a:ext cx="345440" cy="165100"/>
          </a:xfrm>
          <a:prstGeom prst="rect">
            <a:avLst/>
          </a:prstGeom>
          <a:noFill/>
          <a:effectLst/>
        </p:spPr>
        <p:txBody>
          <a:bodyPr wrap="square" lIns="0" rIns="0" tIns="0" bIns="0" anchor="t"/>
          <a:lstStyle/>
          <a:p>
            <a:pPr algn="l">
              <a:lnSpc>
                <a:spcPts val="750"/>
              </a:lnSpc>
            </a:pPr>
            <a:r>
              <a:rPr sz="750" b="0" dirty="0">
                <a:solidFill>
                  <a:srgbClr val="6F6F6F"/>
                </a:solidFill>
                <a:latin typeface="Inter"/>
                <a:cs typeface="Inter"/>
              </a:rPr>
              <a:t>1 diap.</a:t>
            </a:r>
          </a:p>
        </p:txBody>
      </p:sp>
      <p:sp>
        <p:nvSpPr>
          <p:cNvPr id="26" name="TextBox 25"/>
          <p:cNvSpPr txBox="1"/>
          <p:nvPr/>
        </p:nvSpPr>
        <p:spPr>
          <a:xfrm>
            <a:off x="4998720" y="2911856"/>
            <a:ext cx="523240" cy="381000"/>
          </a:xfrm>
          <a:prstGeom prst="rect">
            <a:avLst/>
          </a:prstGeom>
          <a:noFill/>
          <a:effectLst/>
        </p:spPr>
        <p:txBody>
          <a:bodyPr wrap="square" lIns="0" rIns="0" tIns="0" bIns="0" anchor="t"/>
          <a:lstStyle/>
          <a:p>
            <a:pPr algn="l">
              <a:lnSpc>
                <a:spcPts val="877"/>
              </a:lnSpc>
            </a:pPr>
            <a:r>
              <a:rPr sz="650" b="1" spc="39" dirty="0">
                <a:solidFill>
                  <a:srgbClr val="6F6F6F"/>
                </a:solidFill>
                <a:latin typeface="Inter"/>
                <a:cs typeface="Inter"/>
              </a:rPr>
              <a:t>A03</a:t>
            </a:r>
          </a:p>
        </p:txBody>
      </p:sp>
      <p:sp>
        <p:nvSpPr>
          <p:cNvPr id="27" name="Rectangle 26"/>
          <p:cNvSpPr/>
          <p:nvPr/>
        </p:nvSpPr>
        <p:spPr>
          <a:xfrm>
            <a:off x="5547360" y="1857756"/>
            <a:ext cx="2443480" cy="952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648960" y="1972056"/>
            <a:ext cx="2265680" cy="1651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45 MIN</a:t>
            </a:r>
          </a:p>
        </p:txBody>
      </p:sp>
      <p:sp>
        <p:nvSpPr>
          <p:cNvPr id="29" name="TextBox 28"/>
          <p:cNvSpPr txBox="1"/>
          <p:nvPr/>
        </p:nvSpPr>
        <p:spPr>
          <a:xfrm>
            <a:off x="5648960" y="2162556"/>
            <a:ext cx="2265680" cy="3810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Bloque 2</a:t>
            </a:r>
          </a:p>
        </p:txBody>
      </p:sp>
      <p:sp>
        <p:nvSpPr>
          <p:cNvPr id="30" name="TextBox 29"/>
          <p:cNvSpPr txBox="1"/>
          <p:nvPr/>
        </p:nvSpPr>
        <p:spPr>
          <a:xfrm>
            <a:off x="5648960" y="2543556"/>
            <a:ext cx="2265680" cy="165100"/>
          </a:xfrm>
          <a:prstGeom prst="rect">
            <a:avLst/>
          </a:prstGeom>
          <a:noFill/>
          <a:effectLst/>
        </p:spPr>
        <p:txBody>
          <a:bodyPr wrap="square" lIns="0" rIns="0" tIns="0" bIns="0" anchor="t"/>
          <a:lstStyle/>
          <a:p>
            <a:pPr algn="l">
              <a:lnSpc>
                <a:spcPts val="750"/>
              </a:lnSpc>
            </a:pPr>
            <a:r>
              <a:rPr sz="750" b="0" dirty="0">
                <a:solidFill>
                  <a:srgbClr val="6F6F6F"/>
                </a:solidFill>
                <a:latin typeface="Inter"/>
                <a:cs typeface="Inter"/>
              </a:rPr>
              <a:t>10-12 diap.</a:t>
            </a:r>
          </a:p>
        </p:txBody>
      </p:sp>
      <p:sp>
        <p:nvSpPr>
          <p:cNvPr id="31" name="TextBox 30"/>
          <p:cNvSpPr txBox="1"/>
          <p:nvPr/>
        </p:nvSpPr>
        <p:spPr>
          <a:xfrm>
            <a:off x="5547360" y="2911856"/>
            <a:ext cx="2443480" cy="381000"/>
          </a:xfrm>
          <a:prstGeom prst="rect">
            <a:avLst/>
          </a:prstGeom>
          <a:noFill/>
          <a:effectLst/>
        </p:spPr>
        <p:txBody>
          <a:bodyPr wrap="square" lIns="0" rIns="0" tIns="0" bIns="0" anchor="t"/>
          <a:lstStyle/>
          <a:p>
            <a:pPr algn="l">
              <a:lnSpc>
                <a:spcPts val="877"/>
              </a:lnSpc>
            </a:pPr>
            <a:r>
              <a:rPr sz="650" b="1" spc="39" dirty="0">
                <a:solidFill>
                  <a:srgbClr val="6F6F6F"/>
                </a:solidFill>
                <a:latin typeface="Inter"/>
                <a:cs typeface="Inter"/>
              </a:rPr>
              <a:t>A03 · G0x · C08</a:t>
            </a:r>
          </a:p>
        </p:txBody>
      </p:sp>
      <p:sp>
        <p:nvSpPr>
          <p:cNvPr id="32" name="Rectangle 31"/>
          <p:cNvSpPr/>
          <p:nvPr/>
        </p:nvSpPr>
        <p:spPr>
          <a:xfrm>
            <a:off x="8016240" y="1857756"/>
            <a:ext cx="1071880" cy="952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117840" y="1972056"/>
            <a:ext cx="894080" cy="1651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20 MIN</a:t>
            </a:r>
          </a:p>
        </p:txBody>
      </p:sp>
      <p:sp>
        <p:nvSpPr>
          <p:cNvPr id="34" name="TextBox 33"/>
          <p:cNvSpPr txBox="1"/>
          <p:nvPr/>
        </p:nvSpPr>
        <p:spPr>
          <a:xfrm>
            <a:off x="8117840" y="2162556"/>
            <a:ext cx="894080" cy="3810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Caso real</a:t>
            </a:r>
          </a:p>
        </p:txBody>
      </p:sp>
      <p:sp>
        <p:nvSpPr>
          <p:cNvPr id="35" name="TextBox 34"/>
          <p:cNvSpPr txBox="1"/>
          <p:nvPr/>
        </p:nvSpPr>
        <p:spPr>
          <a:xfrm>
            <a:off x="8117840" y="2543556"/>
            <a:ext cx="894080" cy="165100"/>
          </a:xfrm>
          <a:prstGeom prst="rect">
            <a:avLst/>
          </a:prstGeom>
          <a:noFill/>
          <a:effectLst/>
        </p:spPr>
        <p:txBody>
          <a:bodyPr wrap="square" lIns="0" rIns="0" tIns="0" bIns="0" anchor="t"/>
          <a:lstStyle/>
          <a:p>
            <a:pPr algn="l">
              <a:lnSpc>
                <a:spcPts val="750"/>
              </a:lnSpc>
            </a:pPr>
            <a:r>
              <a:rPr sz="750" b="0" dirty="0">
                <a:solidFill>
                  <a:srgbClr val="6F6F6F"/>
                </a:solidFill>
                <a:latin typeface="Inter"/>
                <a:cs typeface="Inter"/>
              </a:rPr>
              <a:t>4 diap.</a:t>
            </a:r>
          </a:p>
        </p:txBody>
      </p:sp>
      <p:sp>
        <p:nvSpPr>
          <p:cNvPr id="36" name="TextBox 35"/>
          <p:cNvSpPr txBox="1"/>
          <p:nvPr/>
        </p:nvSpPr>
        <p:spPr>
          <a:xfrm>
            <a:off x="8016240" y="2911856"/>
            <a:ext cx="1071880" cy="381000"/>
          </a:xfrm>
          <a:prstGeom prst="rect">
            <a:avLst/>
          </a:prstGeom>
          <a:noFill/>
          <a:effectLst/>
        </p:spPr>
        <p:txBody>
          <a:bodyPr wrap="square" lIns="0" rIns="0" tIns="0" bIns="0" anchor="t"/>
          <a:lstStyle/>
          <a:p>
            <a:pPr algn="l">
              <a:lnSpc>
                <a:spcPts val="877"/>
              </a:lnSpc>
            </a:pPr>
            <a:r>
              <a:rPr sz="650" b="1" spc="39" dirty="0">
                <a:solidFill>
                  <a:srgbClr val="6F6F6F"/>
                </a:solidFill>
                <a:latin typeface="Inter"/>
                <a:cs typeface="Inter"/>
              </a:rPr>
              <a:t>H04 · F05</a:t>
            </a:r>
          </a:p>
        </p:txBody>
      </p:sp>
      <p:sp>
        <p:nvSpPr>
          <p:cNvPr id="37" name="Rectangle 36"/>
          <p:cNvSpPr/>
          <p:nvPr/>
        </p:nvSpPr>
        <p:spPr>
          <a:xfrm>
            <a:off x="9113520" y="1857756"/>
            <a:ext cx="1620520" cy="952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215120" y="1972056"/>
            <a:ext cx="1442720" cy="165100"/>
          </a:xfrm>
          <a:prstGeom prst="rect">
            <a:avLst/>
          </a:prstGeom>
          <a:noFill/>
          <a:effectLst/>
        </p:spPr>
        <p:txBody>
          <a:bodyPr wrap="square" lIns="0" rIns="0" tIns="0" bIns="0" anchor="t"/>
          <a:lstStyle/>
          <a:p>
            <a:pPr algn="l">
              <a:lnSpc>
                <a:spcPts val="700"/>
              </a:lnSpc>
            </a:pPr>
            <a:r>
              <a:rPr sz="700" b="1" spc="84" dirty="0">
                <a:solidFill>
                  <a:srgbClr val="5B4BF5"/>
                </a:solidFill>
                <a:latin typeface="Inter"/>
                <a:cs typeface="Inter"/>
              </a:rPr>
              <a:t>30 MIN</a:t>
            </a:r>
          </a:p>
        </p:txBody>
      </p:sp>
      <p:sp>
        <p:nvSpPr>
          <p:cNvPr id="39" name="TextBox 38"/>
          <p:cNvSpPr txBox="1"/>
          <p:nvPr/>
        </p:nvSpPr>
        <p:spPr>
          <a:xfrm>
            <a:off x="9215120" y="2162556"/>
            <a:ext cx="1442720" cy="381000"/>
          </a:xfrm>
          <a:prstGeom prst="rect">
            <a:avLst/>
          </a:prstGeom>
          <a:noFill/>
          <a:effectLst/>
        </p:spPr>
        <p:txBody>
          <a:bodyPr wrap="square" lIns="0" rIns="0" tIns="0" bIns="0" anchor="t"/>
          <a:lstStyle/>
          <a:p>
            <a:pPr algn="l">
              <a:lnSpc>
                <a:spcPts val="1264"/>
              </a:lnSpc>
            </a:pPr>
            <a:r>
              <a:rPr sz="1100" b="1" spc="-11" dirty="0">
                <a:solidFill>
                  <a:srgbClr val="FFFFFF"/>
                </a:solidFill>
                <a:latin typeface="Inter"/>
                <a:cs typeface="Inter"/>
              </a:rPr>
              <a:t>Ejercicio 2</a:t>
            </a:r>
          </a:p>
        </p:txBody>
      </p:sp>
      <p:sp>
        <p:nvSpPr>
          <p:cNvPr id="40" name="TextBox 39"/>
          <p:cNvSpPr txBox="1"/>
          <p:nvPr/>
        </p:nvSpPr>
        <p:spPr>
          <a:xfrm>
            <a:off x="9215120" y="2543556"/>
            <a:ext cx="1442720" cy="165100"/>
          </a:xfrm>
          <a:prstGeom prst="rect">
            <a:avLst/>
          </a:prstGeom>
          <a:noFill/>
          <a:effectLst/>
        </p:spPr>
        <p:txBody>
          <a:bodyPr wrap="square" lIns="0" rIns="0" tIns="0" bIns="0" anchor="t"/>
          <a:lstStyle/>
          <a:p>
            <a:pPr algn="l">
              <a:lnSpc>
                <a:spcPts val="750"/>
              </a:lnSpc>
            </a:pPr>
            <a:r>
              <a:rPr sz="750" b="0" dirty="0">
                <a:solidFill>
                  <a:srgbClr val="9A9A9A"/>
                </a:solidFill>
                <a:latin typeface="Inter"/>
                <a:cs typeface="Inter"/>
              </a:rPr>
              <a:t>2 diap.</a:t>
            </a:r>
          </a:p>
        </p:txBody>
      </p:sp>
      <p:sp>
        <p:nvSpPr>
          <p:cNvPr id="41" name="TextBox 40"/>
          <p:cNvSpPr txBox="1"/>
          <p:nvPr/>
        </p:nvSpPr>
        <p:spPr>
          <a:xfrm>
            <a:off x="9113520" y="2911856"/>
            <a:ext cx="1620520" cy="381000"/>
          </a:xfrm>
          <a:prstGeom prst="rect">
            <a:avLst/>
          </a:prstGeom>
          <a:noFill/>
          <a:effectLst/>
        </p:spPr>
        <p:txBody>
          <a:bodyPr wrap="square" lIns="0" rIns="0" tIns="0" bIns="0" anchor="t"/>
          <a:lstStyle/>
          <a:p>
            <a:pPr algn="l">
              <a:lnSpc>
                <a:spcPts val="877"/>
              </a:lnSpc>
            </a:pPr>
            <a:r>
              <a:rPr sz="650" b="1" spc="39" dirty="0">
                <a:solidFill>
                  <a:srgbClr val="6F6F6F"/>
                </a:solidFill>
                <a:latin typeface="Inter"/>
                <a:cs typeface="Inter"/>
              </a:rPr>
              <a:t>I01 · I02</a:t>
            </a:r>
          </a:p>
        </p:txBody>
      </p:sp>
      <p:sp>
        <p:nvSpPr>
          <p:cNvPr id="42" name="Rectangle 41"/>
          <p:cNvSpPr/>
          <p:nvPr/>
        </p:nvSpPr>
        <p:spPr>
          <a:xfrm>
            <a:off x="10759440" y="1857756"/>
            <a:ext cx="797560" cy="952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861040" y="1972056"/>
            <a:ext cx="619760" cy="1651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15 MIN</a:t>
            </a:r>
          </a:p>
        </p:txBody>
      </p:sp>
      <p:sp>
        <p:nvSpPr>
          <p:cNvPr id="44" name="TextBox 43"/>
          <p:cNvSpPr txBox="1"/>
          <p:nvPr/>
        </p:nvSpPr>
        <p:spPr>
          <a:xfrm>
            <a:off x="10861040" y="2162556"/>
            <a:ext cx="619760" cy="381000"/>
          </a:xfrm>
          <a:prstGeom prst="rect">
            <a:avLst/>
          </a:prstGeom>
          <a:noFill/>
          <a:effectLst/>
        </p:spPr>
        <p:txBody>
          <a:bodyPr wrap="square" lIns="0" rIns="0" tIns="0" bIns="0" anchor="t"/>
          <a:lstStyle/>
          <a:p>
            <a:pPr algn="l">
              <a:lnSpc>
                <a:spcPts val="1264"/>
              </a:lnSpc>
            </a:pPr>
            <a:r>
              <a:rPr sz="1100" b="1" spc="-11" dirty="0">
                <a:solidFill>
                  <a:srgbClr val="161616"/>
                </a:solidFill>
                <a:latin typeface="Inter"/>
                <a:cs typeface="Inter"/>
              </a:rPr>
              <a:t>Cierre</a:t>
            </a:r>
          </a:p>
        </p:txBody>
      </p:sp>
      <p:sp>
        <p:nvSpPr>
          <p:cNvPr id="45" name="TextBox 44"/>
          <p:cNvSpPr txBox="1"/>
          <p:nvPr/>
        </p:nvSpPr>
        <p:spPr>
          <a:xfrm>
            <a:off x="10861040" y="2543556"/>
            <a:ext cx="619760" cy="165100"/>
          </a:xfrm>
          <a:prstGeom prst="rect">
            <a:avLst/>
          </a:prstGeom>
          <a:noFill/>
          <a:effectLst/>
        </p:spPr>
        <p:txBody>
          <a:bodyPr wrap="square" lIns="0" rIns="0" tIns="0" bIns="0" anchor="t"/>
          <a:lstStyle/>
          <a:p>
            <a:pPr algn="l">
              <a:lnSpc>
                <a:spcPts val="750"/>
              </a:lnSpc>
            </a:pPr>
            <a:r>
              <a:rPr sz="750" b="0" dirty="0">
                <a:solidFill>
                  <a:srgbClr val="6F6F6F"/>
                </a:solidFill>
                <a:latin typeface="Inter"/>
                <a:cs typeface="Inter"/>
              </a:rPr>
              <a:t>3 diap.</a:t>
            </a:r>
          </a:p>
        </p:txBody>
      </p:sp>
      <p:sp>
        <p:nvSpPr>
          <p:cNvPr id="46" name="TextBox 45"/>
          <p:cNvSpPr txBox="1"/>
          <p:nvPr/>
        </p:nvSpPr>
        <p:spPr>
          <a:xfrm>
            <a:off x="10759440" y="2911856"/>
            <a:ext cx="797560" cy="381000"/>
          </a:xfrm>
          <a:prstGeom prst="rect">
            <a:avLst/>
          </a:prstGeom>
          <a:noFill/>
          <a:effectLst/>
        </p:spPr>
        <p:txBody>
          <a:bodyPr wrap="square" lIns="0" rIns="0" tIns="0" bIns="0" anchor="t"/>
          <a:lstStyle/>
          <a:p>
            <a:pPr algn="l">
              <a:lnSpc>
                <a:spcPts val="877"/>
              </a:lnSpc>
            </a:pPr>
            <a:r>
              <a:rPr sz="650" b="1" spc="39" dirty="0">
                <a:solidFill>
                  <a:srgbClr val="6F6F6F"/>
                </a:solidFill>
                <a:latin typeface="Inter"/>
                <a:cs typeface="Inter"/>
              </a:rPr>
              <a:t>I06 · I07 · I08</a:t>
            </a:r>
          </a:p>
        </p:txBody>
      </p:sp>
      <p:cxnSp>
        <p:nvCxnSpPr>
          <p:cNvPr id="47" name="Connector 46"/>
          <p:cNvCxnSpPr/>
          <p:nvPr/>
        </p:nvCxnSpPr>
        <p:spPr>
          <a:xfrm>
            <a:off x="609600" y="33944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09600" y="3394456"/>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92100" y="3546856"/>
            <a:ext cx="635000" cy="152400"/>
          </a:xfrm>
          <a:prstGeom prst="rect">
            <a:avLst/>
          </a:prstGeom>
          <a:noFill/>
          <a:effectLst/>
        </p:spPr>
        <p:txBody>
          <a:bodyPr wrap="square" lIns="0" rIns="0" tIns="0" bIns="0" anchor="t"/>
          <a:lstStyle/>
          <a:p>
            <a:pPr algn="ctr">
              <a:lnSpc>
                <a:spcPts val="700"/>
              </a:lnSpc>
            </a:pPr>
            <a:r>
              <a:rPr sz="700" b="1" spc="84" dirty="0">
                <a:solidFill>
                  <a:srgbClr val="6F6F6F"/>
                </a:solidFill>
                <a:latin typeface="Inter"/>
                <a:cs typeface="Inter"/>
              </a:rPr>
              <a:t>0:00</a:t>
            </a:r>
          </a:p>
        </p:txBody>
      </p:sp>
      <p:cxnSp>
        <p:nvCxnSpPr>
          <p:cNvPr id="50" name="Connector 49"/>
          <p:cNvCxnSpPr/>
          <p:nvPr/>
        </p:nvCxnSpPr>
        <p:spPr>
          <a:xfrm>
            <a:off x="3352800" y="3394456"/>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035300" y="3546856"/>
            <a:ext cx="635000" cy="152400"/>
          </a:xfrm>
          <a:prstGeom prst="rect">
            <a:avLst/>
          </a:prstGeom>
          <a:noFill/>
          <a:effectLst/>
        </p:spPr>
        <p:txBody>
          <a:bodyPr wrap="square" lIns="0" rIns="0" tIns="0" bIns="0" anchor="t"/>
          <a:lstStyle/>
          <a:p>
            <a:pPr algn="ctr">
              <a:lnSpc>
                <a:spcPts val="700"/>
              </a:lnSpc>
            </a:pPr>
            <a:r>
              <a:rPr sz="700" b="1" spc="84" dirty="0">
                <a:solidFill>
                  <a:srgbClr val="6F6F6F"/>
                </a:solidFill>
                <a:latin typeface="Inter"/>
                <a:cs typeface="Inter"/>
              </a:rPr>
              <a:t>1:00</a:t>
            </a:r>
          </a:p>
        </p:txBody>
      </p:sp>
      <p:cxnSp>
        <p:nvCxnSpPr>
          <p:cNvPr id="52" name="Connector 51"/>
          <p:cNvCxnSpPr/>
          <p:nvPr/>
        </p:nvCxnSpPr>
        <p:spPr>
          <a:xfrm>
            <a:off x="6096000" y="3394456"/>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778500" y="3546856"/>
            <a:ext cx="635000" cy="152400"/>
          </a:xfrm>
          <a:prstGeom prst="rect">
            <a:avLst/>
          </a:prstGeom>
          <a:noFill/>
          <a:effectLst/>
        </p:spPr>
        <p:txBody>
          <a:bodyPr wrap="square" lIns="0" rIns="0" tIns="0" bIns="0" anchor="t"/>
          <a:lstStyle/>
          <a:p>
            <a:pPr algn="ctr">
              <a:lnSpc>
                <a:spcPts val="700"/>
              </a:lnSpc>
            </a:pPr>
            <a:r>
              <a:rPr sz="700" b="1" spc="84" dirty="0">
                <a:solidFill>
                  <a:srgbClr val="6F6F6F"/>
                </a:solidFill>
                <a:latin typeface="Inter"/>
                <a:cs typeface="Inter"/>
              </a:rPr>
              <a:t>2:00</a:t>
            </a:r>
          </a:p>
        </p:txBody>
      </p:sp>
      <p:cxnSp>
        <p:nvCxnSpPr>
          <p:cNvPr id="54" name="Connector 53"/>
          <p:cNvCxnSpPr/>
          <p:nvPr/>
        </p:nvCxnSpPr>
        <p:spPr>
          <a:xfrm>
            <a:off x="8839200" y="3394456"/>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521700" y="3546856"/>
            <a:ext cx="635000" cy="152400"/>
          </a:xfrm>
          <a:prstGeom prst="rect">
            <a:avLst/>
          </a:prstGeom>
          <a:noFill/>
          <a:effectLst/>
        </p:spPr>
        <p:txBody>
          <a:bodyPr wrap="square" lIns="0" rIns="0" tIns="0" bIns="0" anchor="t"/>
          <a:lstStyle/>
          <a:p>
            <a:pPr algn="ctr">
              <a:lnSpc>
                <a:spcPts val="700"/>
              </a:lnSpc>
            </a:pPr>
            <a:r>
              <a:rPr sz="700" b="1" spc="84" dirty="0">
                <a:solidFill>
                  <a:srgbClr val="6F6F6F"/>
                </a:solidFill>
                <a:latin typeface="Inter"/>
                <a:cs typeface="Inter"/>
              </a:rPr>
              <a:t>3:00</a:t>
            </a:r>
          </a:p>
        </p:txBody>
      </p:sp>
      <p:cxnSp>
        <p:nvCxnSpPr>
          <p:cNvPr id="56" name="Connector 55"/>
          <p:cNvCxnSpPr/>
          <p:nvPr/>
        </p:nvCxnSpPr>
        <p:spPr>
          <a:xfrm>
            <a:off x="11582400" y="3394456"/>
            <a:ext cx="0" cy="889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947400" y="3546856"/>
            <a:ext cx="635000" cy="152400"/>
          </a:xfrm>
          <a:prstGeom prst="rect">
            <a:avLst/>
          </a:prstGeom>
          <a:noFill/>
          <a:effectLst/>
        </p:spPr>
        <p:txBody>
          <a:bodyPr wrap="square" lIns="0" rIns="0" tIns="0" bIns="0" anchor="t"/>
          <a:lstStyle/>
          <a:p>
            <a:pPr algn="ctr">
              <a:lnSpc>
                <a:spcPts val="700"/>
              </a:lnSpc>
            </a:pPr>
            <a:r>
              <a:rPr sz="700" b="1" spc="84" dirty="0">
                <a:solidFill>
                  <a:srgbClr val="6F6F6F"/>
                </a:solidFill>
                <a:latin typeface="Inter"/>
                <a:cs typeface="Inter"/>
              </a:rPr>
              <a:t>4:00</a:t>
            </a:r>
          </a:p>
        </p:txBody>
      </p:sp>
      <p:cxnSp>
        <p:nvCxnSpPr>
          <p:cNvPr id="58" name="Connector 57"/>
          <p:cNvCxnSpPr/>
          <p:nvPr/>
        </p:nvCxnSpPr>
        <p:spPr>
          <a:xfrm>
            <a:off x="609600" y="3927856"/>
            <a:ext cx="26098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09600" y="4054856"/>
            <a:ext cx="2609850" cy="444500"/>
          </a:xfrm>
          <a:prstGeom prst="rect">
            <a:avLst/>
          </a:prstGeom>
          <a:noFill/>
          <a:effectLst/>
        </p:spPr>
        <p:txBody>
          <a:bodyPr wrap="square" lIns="0" rIns="0" tIns="0" bIns="0" anchor="t"/>
          <a:lstStyle/>
          <a:p>
            <a:pPr algn="l">
              <a:lnSpc>
                <a:spcPts val="1320"/>
              </a:lnSpc>
            </a:pPr>
            <a:r>
              <a:rPr sz="1100" b="1" spc="-11" dirty="0">
                <a:solidFill>
                  <a:srgbClr val="161616"/>
                </a:solidFill>
                <a:latin typeface="Inter"/>
                <a:cs typeface="Inter"/>
              </a:rPr>
              <a:t>Un separador cada 8–12 diapositivas</a:t>
            </a:r>
          </a:p>
        </p:txBody>
      </p:sp>
      <p:sp>
        <p:nvSpPr>
          <p:cNvPr id="60" name="TextBox 59"/>
          <p:cNvSpPr txBox="1"/>
          <p:nvPr/>
        </p:nvSpPr>
        <p:spPr>
          <a:xfrm>
            <a:off x="609600" y="4562856"/>
            <a:ext cx="2609850" cy="571500"/>
          </a:xfrm>
          <a:prstGeom prst="rect">
            <a:avLst/>
          </a:prstGeom>
          <a:noFill/>
          <a:effectLst/>
        </p:spPr>
        <p:txBody>
          <a:bodyPr wrap="square" lIns="0" rIns="0" tIns="0" bIns="0" anchor="t"/>
          <a:lstStyle/>
          <a:p>
            <a:pPr algn="l">
              <a:lnSpc>
                <a:spcPts val="1305"/>
              </a:lnSpc>
            </a:pPr>
            <a:r>
              <a:rPr sz="900" b="0" dirty="0">
                <a:solidFill>
                  <a:srgbClr val="525252"/>
                </a:solidFill>
                <a:latin typeface="Inter"/>
                <a:cs typeface="Inter"/>
              </a:rPr>
              <a:t>Marca el cambio de bloque con A03 o A04. Sin separadores, la sesión se hace plana.</a:t>
            </a:r>
          </a:p>
        </p:txBody>
      </p:sp>
      <p:cxnSp>
        <p:nvCxnSpPr>
          <p:cNvPr id="61" name="Connector 60"/>
          <p:cNvCxnSpPr/>
          <p:nvPr/>
        </p:nvCxnSpPr>
        <p:spPr>
          <a:xfrm>
            <a:off x="3397250" y="3927856"/>
            <a:ext cx="26098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397250" y="4054856"/>
            <a:ext cx="2609850" cy="444500"/>
          </a:xfrm>
          <a:prstGeom prst="rect">
            <a:avLst/>
          </a:prstGeom>
          <a:noFill/>
          <a:effectLst/>
        </p:spPr>
        <p:txBody>
          <a:bodyPr wrap="square" lIns="0" rIns="0" tIns="0" bIns="0" anchor="t"/>
          <a:lstStyle/>
          <a:p>
            <a:pPr algn="l">
              <a:lnSpc>
                <a:spcPts val="1320"/>
              </a:lnSpc>
            </a:pPr>
            <a:r>
              <a:rPr sz="1100" b="1" spc="-11" dirty="0">
                <a:solidFill>
                  <a:srgbClr val="161616"/>
                </a:solidFill>
                <a:latin typeface="Inter"/>
                <a:cs typeface="Inter"/>
              </a:rPr>
              <a:t>Una diapositiva de respiro cada 5–6</a:t>
            </a:r>
          </a:p>
        </p:txBody>
      </p:sp>
      <p:sp>
        <p:nvSpPr>
          <p:cNvPr id="63" name="TextBox 62"/>
          <p:cNvSpPr txBox="1"/>
          <p:nvPr/>
        </p:nvSpPr>
        <p:spPr>
          <a:xfrm>
            <a:off x="3397250" y="4562856"/>
            <a:ext cx="2609850" cy="571500"/>
          </a:xfrm>
          <a:prstGeom prst="rect">
            <a:avLst/>
          </a:prstGeom>
          <a:noFill/>
          <a:effectLst/>
        </p:spPr>
        <p:txBody>
          <a:bodyPr wrap="square" lIns="0" rIns="0" tIns="0" bIns="0" anchor="t"/>
          <a:lstStyle/>
          <a:p>
            <a:pPr algn="l">
              <a:lnSpc>
                <a:spcPts val="1305"/>
              </a:lnSpc>
            </a:pPr>
            <a:r>
              <a:rPr sz="900" b="0" dirty="0">
                <a:solidFill>
                  <a:srgbClr val="525252"/>
                </a:solidFill>
                <a:latin typeface="Inter"/>
                <a:cs typeface="Inter"/>
              </a:rPr>
              <a:t>Una cifra (F05), una cita (H01) o una imagen a sangre (C03).</a:t>
            </a:r>
          </a:p>
        </p:txBody>
      </p:sp>
      <p:cxnSp>
        <p:nvCxnSpPr>
          <p:cNvPr id="64" name="Connector 63"/>
          <p:cNvCxnSpPr/>
          <p:nvPr/>
        </p:nvCxnSpPr>
        <p:spPr>
          <a:xfrm>
            <a:off x="6184900" y="3927856"/>
            <a:ext cx="26098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184900" y="4054856"/>
            <a:ext cx="2609850" cy="444500"/>
          </a:xfrm>
          <a:prstGeom prst="rect">
            <a:avLst/>
          </a:prstGeom>
          <a:noFill/>
          <a:effectLst/>
        </p:spPr>
        <p:txBody>
          <a:bodyPr wrap="square" lIns="0" rIns="0" tIns="0" bIns="0" anchor="t"/>
          <a:lstStyle/>
          <a:p>
            <a:pPr algn="l">
              <a:lnSpc>
                <a:spcPts val="1320"/>
              </a:lnSpc>
            </a:pPr>
            <a:r>
              <a:rPr sz="1100" b="1" spc="-11" dirty="0">
                <a:solidFill>
                  <a:srgbClr val="161616"/>
                </a:solidFill>
                <a:latin typeface="Inter"/>
                <a:cs typeface="Inter"/>
              </a:rPr>
              <a:t>Nunca 5 diapositivas iguales seguidas</a:t>
            </a:r>
          </a:p>
        </p:txBody>
      </p:sp>
      <p:sp>
        <p:nvSpPr>
          <p:cNvPr id="66" name="TextBox 65"/>
          <p:cNvSpPr txBox="1"/>
          <p:nvPr/>
        </p:nvSpPr>
        <p:spPr>
          <a:xfrm>
            <a:off x="6184900" y="4562856"/>
            <a:ext cx="2609850" cy="571500"/>
          </a:xfrm>
          <a:prstGeom prst="rect">
            <a:avLst/>
          </a:prstGeom>
          <a:noFill/>
          <a:effectLst/>
        </p:spPr>
        <p:txBody>
          <a:bodyPr wrap="square" lIns="0" rIns="0" tIns="0" bIns="0" anchor="t"/>
          <a:lstStyle/>
          <a:p>
            <a:pPr algn="l">
              <a:lnSpc>
                <a:spcPts val="1305"/>
              </a:lnSpc>
            </a:pPr>
            <a:r>
              <a:rPr sz="900" b="0" dirty="0">
                <a:solidFill>
                  <a:srgbClr val="525252"/>
                </a:solidFill>
                <a:latin typeface="Inter"/>
                <a:cs typeface="Inter"/>
              </a:rPr>
              <a:t>Cambia de familia. Si repites plantilla, cambia al menos el reparto.</a:t>
            </a:r>
          </a:p>
        </p:txBody>
      </p:sp>
      <p:cxnSp>
        <p:nvCxnSpPr>
          <p:cNvPr id="67" name="Connector 66"/>
          <p:cNvCxnSpPr/>
          <p:nvPr/>
        </p:nvCxnSpPr>
        <p:spPr>
          <a:xfrm>
            <a:off x="8972550" y="3927856"/>
            <a:ext cx="26098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972550" y="4054856"/>
            <a:ext cx="2609850" cy="444500"/>
          </a:xfrm>
          <a:prstGeom prst="rect">
            <a:avLst/>
          </a:prstGeom>
          <a:noFill/>
          <a:effectLst/>
        </p:spPr>
        <p:txBody>
          <a:bodyPr wrap="square" lIns="0" rIns="0" tIns="0" bIns="0" anchor="t"/>
          <a:lstStyle/>
          <a:p>
            <a:pPr algn="l">
              <a:lnSpc>
                <a:spcPts val="1320"/>
              </a:lnSpc>
            </a:pPr>
            <a:r>
              <a:rPr sz="1100" b="1" spc="-11" dirty="0">
                <a:solidFill>
                  <a:srgbClr val="161616"/>
                </a:solidFill>
                <a:latin typeface="Inter"/>
                <a:cs typeface="Inter"/>
              </a:rPr>
              <a:t>40 % del tiempo en ejercicio</a:t>
            </a:r>
          </a:p>
        </p:txBody>
      </p:sp>
      <p:sp>
        <p:nvSpPr>
          <p:cNvPr id="69" name="TextBox 68"/>
          <p:cNvSpPr txBox="1"/>
          <p:nvPr/>
        </p:nvSpPr>
        <p:spPr>
          <a:xfrm>
            <a:off x="8972550" y="4562856"/>
            <a:ext cx="2609850" cy="571500"/>
          </a:xfrm>
          <a:prstGeom prst="rect">
            <a:avLst/>
          </a:prstGeom>
          <a:noFill/>
          <a:effectLst/>
        </p:spPr>
        <p:txBody>
          <a:bodyPr wrap="square" lIns="0" rIns="0" tIns="0" bIns="0" anchor="t"/>
          <a:lstStyle/>
          <a:p>
            <a:pPr algn="l">
              <a:lnSpc>
                <a:spcPts val="1305"/>
              </a:lnSpc>
            </a:pPr>
            <a:r>
              <a:rPr sz="900" b="0" dirty="0">
                <a:solidFill>
                  <a:srgbClr val="525252"/>
                </a:solidFill>
                <a:latin typeface="Inter"/>
                <a:cs typeface="Inter"/>
              </a:rPr>
              <a:t>Son 96 minutos de las 4 horas. El ejercicio es el contenido, no el relleno.</a:t>
            </a:r>
          </a:p>
        </p:txBody>
      </p:sp>
      <p:cxnSp>
        <p:nvCxnSpPr>
          <p:cNvPr id="70" name="Connector 69"/>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1" name="Freeform 70"/>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75" name="TextBox 74"/>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GUÍA · 09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ANTES DE ENTREGAR</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Control de 60 segundos</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CALIDAD</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57756"/>
            <a:ext cx="16975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984756"/>
            <a:ext cx="1697567"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MARCA</a:t>
            </a:r>
          </a:p>
        </p:txBody>
      </p:sp>
      <p:sp>
        <p:nvSpPr>
          <p:cNvPr id="9" name="Rectangle 8"/>
          <p:cNvSpPr/>
          <p:nvPr/>
        </p:nvSpPr>
        <p:spPr>
          <a:xfrm>
            <a:off x="609600" y="22387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12800" y="22133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Logo original, sin deformar ni recolorear</a:t>
            </a:r>
          </a:p>
        </p:txBody>
      </p:sp>
      <p:sp>
        <p:nvSpPr>
          <p:cNvPr id="11" name="Rectangle 10"/>
          <p:cNvSpPr/>
          <p:nvPr/>
        </p:nvSpPr>
        <p:spPr>
          <a:xfrm>
            <a:off x="609600" y="28229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12800" y="27975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Zona de respeto libre alrededor del logo</a:t>
            </a:r>
          </a:p>
        </p:txBody>
      </p:sp>
      <p:sp>
        <p:nvSpPr>
          <p:cNvPr id="13" name="Rectangle 12"/>
          <p:cNvSpPr/>
          <p:nvPr/>
        </p:nvSpPr>
        <p:spPr>
          <a:xfrm>
            <a:off x="609600" y="34071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2800" y="33817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«ActiveXRemote» escrito junto</a:t>
            </a:r>
          </a:p>
        </p:txBody>
      </p:sp>
      <p:sp>
        <p:nvSpPr>
          <p:cNvPr id="15" name="Rectangle 14"/>
          <p:cNvSpPr/>
          <p:nvPr/>
        </p:nvSpPr>
        <p:spPr>
          <a:xfrm>
            <a:off x="609600" y="39913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2800" y="39659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El pie, en la misma esquina toda la sesión</a:t>
            </a:r>
          </a:p>
        </p:txBody>
      </p:sp>
      <p:cxnSp>
        <p:nvCxnSpPr>
          <p:cNvPr id="17" name="Connector 16"/>
          <p:cNvCxnSpPr/>
          <p:nvPr/>
        </p:nvCxnSpPr>
        <p:spPr>
          <a:xfrm>
            <a:off x="2459567" y="1857756"/>
            <a:ext cx="1697566"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459567" y="1984756"/>
            <a:ext cx="1697567"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COLOR</a:t>
            </a:r>
          </a:p>
        </p:txBody>
      </p:sp>
      <p:sp>
        <p:nvSpPr>
          <p:cNvPr id="19" name="Rectangle 18"/>
          <p:cNvSpPr/>
          <p:nvPr/>
        </p:nvSpPr>
        <p:spPr>
          <a:xfrm>
            <a:off x="2459567" y="22387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662767" y="22133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Solo colores de la paleta</a:t>
            </a:r>
          </a:p>
        </p:txBody>
      </p:sp>
      <p:sp>
        <p:nvSpPr>
          <p:cNvPr id="21" name="Rectangle 20"/>
          <p:cNvSpPr/>
          <p:nvPr/>
        </p:nvSpPr>
        <p:spPr>
          <a:xfrm>
            <a:off x="2459567" y="28229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62767" y="27975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Un único acento, y el del camino correcto</a:t>
            </a:r>
          </a:p>
        </p:txBody>
      </p:sp>
      <p:sp>
        <p:nvSpPr>
          <p:cNvPr id="23" name="Rectangle 22"/>
          <p:cNvSpPr/>
          <p:nvPr/>
        </p:nvSpPr>
        <p:spPr>
          <a:xfrm>
            <a:off x="2459567" y="34071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662767" y="33817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Contraste de texto ≥ 4,5:1</a:t>
            </a:r>
          </a:p>
        </p:txBody>
      </p:sp>
      <p:sp>
        <p:nvSpPr>
          <p:cNvPr id="25" name="Rectangle 24"/>
          <p:cNvSpPr/>
          <p:nvPr/>
        </p:nvSpPr>
        <p:spPr>
          <a:xfrm>
            <a:off x="2459567" y="39913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662767" y="39659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Nada codificado solo por color</a:t>
            </a:r>
          </a:p>
        </p:txBody>
      </p:sp>
      <p:cxnSp>
        <p:nvCxnSpPr>
          <p:cNvPr id="27" name="Connector 26"/>
          <p:cNvCxnSpPr/>
          <p:nvPr/>
        </p:nvCxnSpPr>
        <p:spPr>
          <a:xfrm>
            <a:off x="4309533" y="1857756"/>
            <a:ext cx="16975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09533" y="1984756"/>
            <a:ext cx="1697567"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TIPOGRAFÍA</a:t>
            </a:r>
          </a:p>
        </p:txBody>
      </p:sp>
      <p:sp>
        <p:nvSpPr>
          <p:cNvPr id="29" name="Rectangle 28"/>
          <p:cNvSpPr/>
          <p:nvPr/>
        </p:nvSpPr>
        <p:spPr>
          <a:xfrm>
            <a:off x="4309533" y="22387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12733" y="22133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Inter en toda la pieza</a:t>
            </a:r>
          </a:p>
        </p:txBody>
      </p:sp>
      <p:sp>
        <p:nvSpPr>
          <p:cNvPr id="31" name="Rectangle 30"/>
          <p:cNvSpPr/>
          <p:nvPr/>
        </p:nvSpPr>
        <p:spPr>
          <a:xfrm>
            <a:off x="4309533" y="28229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12733" y="27975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Nada por debajo de 14 pt</a:t>
            </a:r>
          </a:p>
        </p:txBody>
      </p:sp>
      <p:sp>
        <p:nvSpPr>
          <p:cNvPr id="33" name="Rectangle 32"/>
          <p:cNvSpPr/>
          <p:nvPr/>
        </p:nvSpPr>
        <p:spPr>
          <a:xfrm>
            <a:off x="4309533" y="34071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12733" y="33817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Máximo tres niveles por diapositiva</a:t>
            </a:r>
          </a:p>
        </p:txBody>
      </p:sp>
      <p:sp>
        <p:nvSpPr>
          <p:cNvPr id="35" name="Rectangle 34"/>
          <p:cNvSpPr/>
          <p:nvPr/>
        </p:nvSpPr>
        <p:spPr>
          <a:xfrm>
            <a:off x="4309533" y="39913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12733" y="39659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Titulares con tracking negativo</a:t>
            </a:r>
          </a:p>
        </p:txBody>
      </p:sp>
      <p:cxnSp>
        <p:nvCxnSpPr>
          <p:cNvPr id="37" name="Connector 36"/>
          <p:cNvCxnSpPr/>
          <p:nvPr/>
        </p:nvCxnSpPr>
        <p:spPr>
          <a:xfrm>
            <a:off x="6159500" y="1857756"/>
            <a:ext cx="16975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159500" y="1984756"/>
            <a:ext cx="1697567"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CONTENIDO</a:t>
            </a:r>
          </a:p>
        </p:txBody>
      </p:sp>
      <p:sp>
        <p:nvSpPr>
          <p:cNvPr id="39" name="Rectangle 38"/>
          <p:cNvSpPr/>
          <p:nvPr/>
        </p:nvSpPr>
        <p:spPr>
          <a:xfrm>
            <a:off x="6159500" y="22387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362700" y="22133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Menos de 40 palabras por diapositiva</a:t>
            </a:r>
          </a:p>
        </p:txBody>
      </p:sp>
      <p:sp>
        <p:nvSpPr>
          <p:cNvPr id="41" name="Rectangle 40"/>
          <p:cNvSpPr/>
          <p:nvPr/>
        </p:nvSpPr>
        <p:spPr>
          <a:xfrm>
            <a:off x="6159500" y="28229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362700" y="27975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Todos los datos con fuente citada</a:t>
            </a:r>
          </a:p>
        </p:txBody>
      </p:sp>
      <p:sp>
        <p:nvSpPr>
          <p:cNvPr id="43" name="Rectangle 42"/>
          <p:cNvSpPr/>
          <p:nvPr/>
        </p:nvSpPr>
        <p:spPr>
          <a:xfrm>
            <a:off x="6159500" y="34071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362700" y="33817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Un entregable claro por bloque</a:t>
            </a:r>
          </a:p>
        </p:txBody>
      </p:sp>
      <p:sp>
        <p:nvSpPr>
          <p:cNvPr id="45" name="Rectangle 44"/>
          <p:cNvSpPr/>
          <p:nvPr/>
        </p:nvSpPr>
        <p:spPr>
          <a:xfrm>
            <a:off x="6159500" y="3991356"/>
            <a:ext cx="127000" cy="127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362700" y="3965956"/>
            <a:ext cx="14943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Cierre con acción, fecha y canal</a:t>
            </a:r>
          </a:p>
        </p:txBody>
      </p:sp>
      <p:sp>
        <p:nvSpPr>
          <p:cNvPr id="47" name="Rectangle 46"/>
          <p:cNvSpPr/>
          <p:nvPr/>
        </p:nvSpPr>
        <p:spPr>
          <a:xfrm>
            <a:off x="8212667" y="1819656"/>
            <a:ext cx="3369733" cy="3302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403167" y="2010156"/>
            <a:ext cx="2988733" cy="190500"/>
          </a:xfrm>
          <a:prstGeom prst="rect">
            <a:avLst/>
          </a:prstGeom>
          <a:noFill/>
          <a:effectLst/>
        </p:spPr>
        <p:txBody>
          <a:bodyPr wrap="square" lIns="0" rIns="0" tIns="0" bIns="0" anchor="t"/>
          <a:lstStyle/>
          <a:p>
            <a:pPr algn="l">
              <a:lnSpc>
                <a:spcPts val="700"/>
              </a:lnSpc>
            </a:pPr>
            <a:r>
              <a:rPr sz="700" b="1" spc="126" dirty="0">
                <a:solidFill>
                  <a:srgbClr val="5B4BF5"/>
                </a:solidFill>
                <a:latin typeface="Inter"/>
                <a:cs typeface="Inter"/>
              </a:rPr>
              <a:t>NUNCA</a:t>
            </a:r>
          </a:p>
        </p:txBody>
      </p:sp>
      <p:sp>
        <p:nvSpPr>
          <p:cNvPr id="49" name="TextBox 48"/>
          <p:cNvSpPr txBox="1"/>
          <p:nvPr/>
        </p:nvSpPr>
        <p:spPr>
          <a:xfrm>
            <a:off x="8403167" y="2340356"/>
            <a:ext cx="165100" cy="165100"/>
          </a:xfrm>
          <a:prstGeom prst="rect">
            <a:avLst/>
          </a:prstGeom>
          <a:noFill/>
          <a:effectLst/>
        </p:spPr>
        <p:txBody>
          <a:bodyPr wrap="square" lIns="0" rIns="0" tIns="0" bIns="0" anchor="t"/>
          <a:lstStyle/>
          <a:p>
            <a:pPr algn="l">
              <a:lnSpc>
                <a:spcPts val="1100"/>
              </a:lnSpc>
            </a:pPr>
            <a:r>
              <a:rPr sz="1100" b="1" dirty="0">
                <a:solidFill>
                  <a:srgbClr val="8C8C8C"/>
                </a:solidFill>
                <a:latin typeface="Inter"/>
                <a:cs typeface="Inter"/>
              </a:rPr>
              <a:t>×</a:t>
            </a:r>
          </a:p>
        </p:txBody>
      </p:sp>
      <p:sp>
        <p:nvSpPr>
          <p:cNvPr id="50" name="TextBox 49"/>
          <p:cNvSpPr txBox="1"/>
          <p:nvPr/>
        </p:nvSpPr>
        <p:spPr>
          <a:xfrm>
            <a:off x="8580967" y="2327656"/>
            <a:ext cx="2810933" cy="381000"/>
          </a:xfrm>
          <a:prstGeom prst="rect">
            <a:avLst/>
          </a:prstGeom>
          <a:noFill/>
          <a:effectLst/>
        </p:spPr>
        <p:txBody>
          <a:bodyPr wrap="square" lIns="0" rIns="0" tIns="0" bIns="0" anchor="t"/>
          <a:lstStyle/>
          <a:p>
            <a:pPr algn="l">
              <a:lnSpc>
                <a:spcPts val="1282"/>
              </a:lnSpc>
            </a:pPr>
            <a:r>
              <a:rPr sz="950" b="0" dirty="0">
                <a:solidFill>
                  <a:srgbClr val="D2D2D2"/>
                </a:solidFill>
                <a:latin typeface="Inter"/>
                <a:cs typeface="Inter"/>
              </a:rPr>
              <a:t>Plantillas de fábrica de PowerPoint</a:t>
            </a:r>
          </a:p>
        </p:txBody>
      </p:sp>
      <p:sp>
        <p:nvSpPr>
          <p:cNvPr id="51" name="TextBox 50"/>
          <p:cNvSpPr txBox="1"/>
          <p:nvPr/>
        </p:nvSpPr>
        <p:spPr>
          <a:xfrm>
            <a:off x="8403167" y="2721356"/>
            <a:ext cx="165100" cy="165100"/>
          </a:xfrm>
          <a:prstGeom prst="rect">
            <a:avLst/>
          </a:prstGeom>
          <a:noFill/>
          <a:effectLst/>
        </p:spPr>
        <p:txBody>
          <a:bodyPr wrap="square" lIns="0" rIns="0" tIns="0" bIns="0" anchor="t"/>
          <a:lstStyle/>
          <a:p>
            <a:pPr algn="l">
              <a:lnSpc>
                <a:spcPts val="1100"/>
              </a:lnSpc>
            </a:pPr>
            <a:r>
              <a:rPr sz="1100" b="1" dirty="0">
                <a:solidFill>
                  <a:srgbClr val="8C8C8C"/>
                </a:solidFill>
                <a:latin typeface="Inter"/>
                <a:cs typeface="Inter"/>
              </a:rPr>
              <a:t>×</a:t>
            </a:r>
          </a:p>
        </p:txBody>
      </p:sp>
      <p:sp>
        <p:nvSpPr>
          <p:cNvPr id="52" name="TextBox 51"/>
          <p:cNvSpPr txBox="1"/>
          <p:nvPr/>
        </p:nvSpPr>
        <p:spPr>
          <a:xfrm>
            <a:off x="8580967" y="2708656"/>
            <a:ext cx="2810933" cy="381000"/>
          </a:xfrm>
          <a:prstGeom prst="rect">
            <a:avLst/>
          </a:prstGeom>
          <a:noFill/>
          <a:effectLst/>
        </p:spPr>
        <p:txBody>
          <a:bodyPr wrap="square" lIns="0" rIns="0" tIns="0" bIns="0" anchor="t"/>
          <a:lstStyle/>
          <a:p>
            <a:pPr algn="l">
              <a:lnSpc>
                <a:spcPts val="1282"/>
              </a:lnSpc>
            </a:pPr>
            <a:r>
              <a:rPr sz="950" b="0" dirty="0">
                <a:solidFill>
                  <a:srgbClr val="D2D2D2"/>
                </a:solidFill>
                <a:latin typeface="Inter"/>
                <a:cs typeface="Inter"/>
              </a:rPr>
              <a:t>Emoji, clipart o fotos de stock</a:t>
            </a:r>
          </a:p>
        </p:txBody>
      </p:sp>
      <p:sp>
        <p:nvSpPr>
          <p:cNvPr id="53" name="TextBox 52"/>
          <p:cNvSpPr txBox="1"/>
          <p:nvPr/>
        </p:nvSpPr>
        <p:spPr>
          <a:xfrm>
            <a:off x="8403167" y="3102356"/>
            <a:ext cx="165100" cy="165100"/>
          </a:xfrm>
          <a:prstGeom prst="rect">
            <a:avLst/>
          </a:prstGeom>
          <a:noFill/>
          <a:effectLst/>
        </p:spPr>
        <p:txBody>
          <a:bodyPr wrap="square" lIns="0" rIns="0" tIns="0" bIns="0" anchor="t"/>
          <a:lstStyle/>
          <a:p>
            <a:pPr algn="l">
              <a:lnSpc>
                <a:spcPts val="1100"/>
              </a:lnSpc>
            </a:pPr>
            <a:r>
              <a:rPr sz="1100" b="1" dirty="0">
                <a:solidFill>
                  <a:srgbClr val="8C8C8C"/>
                </a:solidFill>
                <a:latin typeface="Inter"/>
                <a:cs typeface="Inter"/>
              </a:rPr>
              <a:t>×</a:t>
            </a:r>
          </a:p>
        </p:txBody>
      </p:sp>
      <p:sp>
        <p:nvSpPr>
          <p:cNvPr id="54" name="TextBox 53"/>
          <p:cNvSpPr txBox="1"/>
          <p:nvPr/>
        </p:nvSpPr>
        <p:spPr>
          <a:xfrm>
            <a:off x="8580967" y="3089656"/>
            <a:ext cx="2810933" cy="381000"/>
          </a:xfrm>
          <a:prstGeom prst="rect">
            <a:avLst/>
          </a:prstGeom>
          <a:noFill/>
          <a:effectLst/>
        </p:spPr>
        <p:txBody>
          <a:bodyPr wrap="square" lIns="0" rIns="0" tIns="0" bIns="0" anchor="t"/>
          <a:lstStyle/>
          <a:p>
            <a:pPr algn="l">
              <a:lnSpc>
                <a:spcPts val="1282"/>
              </a:lnSpc>
            </a:pPr>
            <a:r>
              <a:rPr sz="950" b="0" dirty="0">
                <a:solidFill>
                  <a:srgbClr val="D2D2D2"/>
                </a:solidFill>
                <a:latin typeface="Inter"/>
                <a:cs typeface="Inter"/>
              </a:rPr>
              <a:t>Texto por debajo de 14 pt</a:t>
            </a:r>
          </a:p>
        </p:txBody>
      </p:sp>
      <p:sp>
        <p:nvSpPr>
          <p:cNvPr id="55" name="TextBox 54"/>
          <p:cNvSpPr txBox="1"/>
          <p:nvPr/>
        </p:nvSpPr>
        <p:spPr>
          <a:xfrm>
            <a:off x="8403167" y="3483356"/>
            <a:ext cx="165100" cy="165100"/>
          </a:xfrm>
          <a:prstGeom prst="rect">
            <a:avLst/>
          </a:prstGeom>
          <a:noFill/>
          <a:effectLst/>
        </p:spPr>
        <p:txBody>
          <a:bodyPr wrap="square" lIns="0" rIns="0" tIns="0" bIns="0" anchor="t"/>
          <a:lstStyle/>
          <a:p>
            <a:pPr algn="l">
              <a:lnSpc>
                <a:spcPts val="1100"/>
              </a:lnSpc>
            </a:pPr>
            <a:r>
              <a:rPr sz="1100" b="1" dirty="0">
                <a:solidFill>
                  <a:srgbClr val="8C8C8C"/>
                </a:solidFill>
                <a:latin typeface="Inter"/>
                <a:cs typeface="Inter"/>
              </a:rPr>
              <a:t>×</a:t>
            </a:r>
          </a:p>
        </p:txBody>
      </p:sp>
      <p:sp>
        <p:nvSpPr>
          <p:cNvPr id="56" name="TextBox 55"/>
          <p:cNvSpPr txBox="1"/>
          <p:nvPr/>
        </p:nvSpPr>
        <p:spPr>
          <a:xfrm>
            <a:off x="8580967" y="3470656"/>
            <a:ext cx="2810933" cy="381000"/>
          </a:xfrm>
          <a:prstGeom prst="rect">
            <a:avLst/>
          </a:prstGeom>
          <a:noFill/>
          <a:effectLst/>
        </p:spPr>
        <p:txBody>
          <a:bodyPr wrap="square" lIns="0" rIns="0" tIns="0" bIns="0" anchor="t"/>
          <a:lstStyle/>
          <a:p>
            <a:pPr algn="l">
              <a:lnSpc>
                <a:spcPts val="1282"/>
              </a:lnSpc>
            </a:pPr>
            <a:r>
              <a:rPr sz="950" b="0" dirty="0">
                <a:solidFill>
                  <a:srgbClr val="D2D2D2"/>
                </a:solidFill>
                <a:latin typeface="Inter"/>
                <a:cs typeface="Inter"/>
              </a:rPr>
              <a:t>Párrafos completos proyectados</a:t>
            </a:r>
          </a:p>
        </p:txBody>
      </p:sp>
      <p:sp>
        <p:nvSpPr>
          <p:cNvPr id="57" name="TextBox 56"/>
          <p:cNvSpPr txBox="1"/>
          <p:nvPr/>
        </p:nvSpPr>
        <p:spPr>
          <a:xfrm>
            <a:off x="8403167" y="3864356"/>
            <a:ext cx="165100" cy="165100"/>
          </a:xfrm>
          <a:prstGeom prst="rect">
            <a:avLst/>
          </a:prstGeom>
          <a:noFill/>
          <a:effectLst/>
        </p:spPr>
        <p:txBody>
          <a:bodyPr wrap="square" lIns="0" rIns="0" tIns="0" bIns="0" anchor="t"/>
          <a:lstStyle/>
          <a:p>
            <a:pPr algn="l">
              <a:lnSpc>
                <a:spcPts val="1100"/>
              </a:lnSpc>
            </a:pPr>
            <a:r>
              <a:rPr sz="1100" b="1" dirty="0">
                <a:solidFill>
                  <a:srgbClr val="8C8C8C"/>
                </a:solidFill>
                <a:latin typeface="Inter"/>
                <a:cs typeface="Inter"/>
              </a:rPr>
              <a:t>×</a:t>
            </a:r>
          </a:p>
        </p:txBody>
      </p:sp>
      <p:sp>
        <p:nvSpPr>
          <p:cNvPr id="58" name="TextBox 57"/>
          <p:cNvSpPr txBox="1"/>
          <p:nvPr/>
        </p:nvSpPr>
        <p:spPr>
          <a:xfrm>
            <a:off x="8580967" y="3851656"/>
            <a:ext cx="2810933" cy="381000"/>
          </a:xfrm>
          <a:prstGeom prst="rect">
            <a:avLst/>
          </a:prstGeom>
          <a:noFill/>
          <a:effectLst/>
        </p:spPr>
        <p:txBody>
          <a:bodyPr wrap="square" lIns="0" rIns="0" tIns="0" bIns="0" anchor="t"/>
          <a:lstStyle/>
          <a:p>
            <a:pPr algn="l">
              <a:lnSpc>
                <a:spcPts val="1282"/>
              </a:lnSpc>
            </a:pPr>
            <a:r>
              <a:rPr sz="950" b="0" dirty="0">
                <a:solidFill>
                  <a:srgbClr val="D2D2D2"/>
                </a:solidFill>
                <a:latin typeface="Inter"/>
                <a:cs typeface="Inter"/>
              </a:rPr>
              <a:t>Gráficos 3D o quesitos de siete porciones</a:t>
            </a:r>
          </a:p>
        </p:txBody>
      </p:sp>
      <p:sp>
        <p:nvSpPr>
          <p:cNvPr id="59" name="TextBox 58"/>
          <p:cNvSpPr txBox="1"/>
          <p:nvPr/>
        </p:nvSpPr>
        <p:spPr>
          <a:xfrm>
            <a:off x="8403167" y="4245356"/>
            <a:ext cx="165100" cy="165100"/>
          </a:xfrm>
          <a:prstGeom prst="rect">
            <a:avLst/>
          </a:prstGeom>
          <a:noFill/>
          <a:effectLst/>
        </p:spPr>
        <p:txBody>
          <a:bodyPr wrap="square" lIns="0" rIns="0" tIns="0" bIns="0" anchor="t"/>
          <a:lstStyle/>
          <a:p>
            <a:pPr algn="l">
              <a:lnSpc>
                <a:spcPts val="1100"/>
              </a:lnSpc>
            </a:pPr>
            <a:r>
              <a:rPr sz="1100" b="1" dirty="0">
                <a:solidFill>
                  <a:srgbClr val="8C8C8C"/>
                </a:solidFill>
                <a:latin typeface="Inter"/>
                <a:cs typeface="Inter"/>
              </a:rPr>
              <a:t>×</a:t>
            </a:r>
          </a:p>
        </p:txBody>
      </p:sp>
      <p:sp>
        <p:nvSpPr>
          <p:cNvPr id="60" name="TextBox 59"/>
          <p:cNvSpPr txBox="1"/>
          <p:nvPr/>
        </p:nvSpPr>
        <p:spPr>
          <a:xfrm>
            <a:off x="8580967" y="4232656"/>
            <a:ext cx="2810933" cy="381000"/>
          </a:xfrm>
          <a:prstGeom prst="rect">
            <a:avLst/>
          </a:prstGeom>
          <a:noFill/>
          <a:effectLst/>
        </p:spPr>
        <p:txBody>
          <a:bodyPr wrap="square" lIns="0" rIns="0" tIns="0" bIns="0" anchor="t"/>
          <a:lstStyle/>
          <a:p>
            <a:pPr algn="l">
              <a:lnSpc>
                <a:spcPts val="1282"/>
              </a:lnSpc>
            </a:pPr>
            <a:r>
              <a:rPr sz="950" b="0" dirty="0">
                <a:solidFill>
                  <a:srgbClr val="D2D2D2"/>
                </a:solidFill>
                <a:latin typeface="Inter"/>
                <a:cs typeface="Inter"/>
              </a:rPr>
              <a:t>Transiciones animadas</a:t>
            </a:r>
          </a:p>
        </p:txBody>
      </p:sp>
      <p:sp>
        <p:nvSpPr>
          <p:cNvPr id="61" name="TextBox 60"/>
          <p:cNvSpPr txBox="1"/>
          <p:nvPr/>
        </p:nvSpPr>
        <p:spPr>
          <a:xfrm>
            <a:off x="8403167" y="4626356"/>
            <a:ext cx="165100" cy="165100"/>
          </a:xfrm>
          <a:prstGeom prst="rect">
            <a:avLst/>
          </a:prstGeom>
          <a:noFill/>
          <a:effectLst/>
        </p:spPr>
        <p:txBody>
          <a:bodyPr wrap="square" lIns="0" rIns="0" tIns="0" bIns="0" anchor="t"/>
          <a:lstStyle/>
          <a:p>
            <a:pPr algn="l">
              <a:lnSpc>
                <a:spcPts val="1100"/>
              </a:lnSpc>
            </a:pPr>
            <a:r>
              <a:rPr sz="1100" b="1" dirty="0">
                <a:solidFill>
                  <a:srgbClr val="8C8C8C"/>
                </a:solidFill>
                <a:latin typeface="Inter"/>
                <a:cs typeface="Inter"/>
              </a:rPr>
              <a:t>×</a:t>
            </a:r>
          </a:p>
        </p:txBody>
      </p:sp>
      <p:sp>
        <p:nvSpPr>
          <p:cNvPr id="62" name="TextBox 61"/>
          <p:cNvSpPr txBox="1"/>
          <p:nvPr/>
        </p:nvSpPr>
        <p:spPr>
          <a:xfrm>
            <a:off x="8580967" y="4613656"/>
            <a:ext cx="2810933" cy="381000"/>
          </a:xfrm>
          <a:prstGeom prst="rect">
            <a:avLst/>
          </a:prstGeom>
          <a:noFill/>
          <a:effectLst/>
        </p:spPr>
        <p:txBody>
          <a:bodyPr wrap="square" lIns="0" rIns="0" tIns="0" bIns="0" anchor="t"/>
          <a:lstStyle/>
          <a:p>
            <a:pPr algn="l">
              <a:lnSpc>
                <a:spcPts val="1282"/>
              </a:lnSpc>
            </a:pPr>
            <a:r>
              <a:rPr sz="950" b="0" dirty="0">
                <a:solidFill>
                  <a:srgbClr val="D2D2D2"/>
                </a:solidFill>
                <a:latin typeface="Inter"/>
                <a:cs typeface="Inter"/>
              </a:rPr>
              <a:t>Terminar con «¿Preguntas?» o «Gracias»</a:t>
            </a:r>
          </a:p>
        </p:txBody>
      </p:sp>
      <p:sp>
        <p:nvSpPr>
          <p:cNvPr id="63" name="Rectangle 62"/>
          <p:cNvSpPr/>
          <p:nvPr/>
        </p:nvSpPr>
        <p:spPr>
          <a:xfrm>
            <a:off x="8212667" y="5286756"/>
            <a:ext cx="3369733" cy="825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403167" y="5451856"/>
            <a:ext cx="2988733" cy="508000"/>
          </a:xfrm>
          <a:prstGeom prst="rect">
            <a:avLst/>
          </a:prstGeom>
          <a:noFill/>
          <a:effectLst/>
        </p:spPr>
        <p:txBody>
          <a:bodyPr wrap="square" lIns="0" rIns="0" tIns="0" bIns="0" anchor="t"/>
          <a:lstStyle/>
          <a:p>
            <a:pPr algn="l">
              <a:lnSpc>
                <a:spcPts val="1400"/>
              </a:lnSpc>
            </a:pPr>
            <a:r>
              <a:rPr sz="1000" b="1" dirty="0">
                <a:solidFill>
                  <a:srgbClr val="161616"/>
                </a:solidFill>
                <a:latin typeface="Inter"/>
                <a:cs typeface="Inter"/>
              </a:rPr>
              <a:t>Exporta a PDF y ábrelo en el móvil. Si un título no se lee de un vistazo, no está listo.</a:t>
            </a:r>
          </a:p>
        </p:txBody>
      </p:sp>
      <p:cxnSp>
        <p:nvCxnSpPr>
          <p:cNvPr id="65" name="Connector 64"/>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6" name="Freeform 6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70" name="TextBox 6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GUÍA ·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SISTEMA DE DISEÑO</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La retícula: 12 columnas sobre 1920 × 1080</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RETÍCULA 16:9</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9600" y="1921256"/>
            <a:ext cx="10972800" cy="2095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09600"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01</a:t>
            </a:r>
          </a:p>
        </p:txBody>
      </p:sp>
      <p:sp>
        <p:nvSpPr>
          <p:cNvPr id="10" name="Rectangle 9"/>
          <p:cNvSpPr/>
          <p:nvPr/>
        </p:nvSpPr>
        <p:spPr>
          <a:xfrm>
            <a:off x="1540933"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540933"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02</a:t>
            </a:r>
          </a:p>
        </p:txBody>
      </p:sp>
      <p:sp>
        <p:nvSpPr>
          <p:cNvPr id="12" name="Rectangle 11"/>
          <p:cNvSpPr/>
          <p:nvPr/>
        </p:nvSpPr>
        <p:spPr>
          <a:xfrm>
            <a:off x="2472267"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72267"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03</a:t>
            </a:r>
          </a:p>
        </p:txBody>
      </p:sp>
      <p:sp>
        <p:nvSpPr>
          <p:cNvPr id="14" name="Rectangle 13"/>
          <p:cNvSpPr/>
          <p:nvPr/>
        </p:nvSpPr>
        <p:spPr>
          <a:xfrm>
            <a:off x="3403600"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03600"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04</a:t>
            </a:r>
          </a:p>
        </p:txBody>
      </p:sp>
      <p:sp>
        <p:nvSpPr>
          <p:cNvPr id="16" name="Rectangle 15"/>
          <p:cNvSpPr/>
          <p:nvPr/>
        </p:nvSpPr>
        <p:spPr>
          <a:xfrm>
            <a:off x="4334933"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34933"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05</a:t>
            </a:r>
          </a:p>
        </p:txBody>
      </p:sp>
      <p:sp>
        <p:nvSpPr>
          <p:cNvPr id="18" name="Rectangle 17"/>
          <p:cNvSpPr/>
          <p:nvPr/>
        </p:nvSpPr>
        <p:spPr>
          <a:xfrm>
            <a:off x="5266267"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266267"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06</a:t>
            </a:r>
          </a:p>
        </p:txBody>
      </p:sp>
      <p:sp>
        <p:nvSpPr>
          <p:cNvPr id="20" name="Rectangle 19"/>
          <p:cNvSpPr/>
          <p:nvPr/>
        </p:nvSpPr>
        <p:spPr>
          <a:xfrm>
            <a:off x="6197600"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197600"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07</a:t>
            </a:r>
          </a:p>
        </p:txBody>
      </p:sp>
      <p:sp>
        <p:nvSpPr>
          <p:cNvPr id="22" name="Rectangle 21"/>
          <p:cNvSpPr/>
          <p:nvPr/>
        </p:nvSpPr>
        <p:spPr>
          <a:xfrm>
            <a:off x="7128933"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28933"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08</a:t>
            </a:r>
          </a:p>
        </p:txBody>
      </p:sp>
      <p:sp>
        <p:nvSpPr>
          <p:cNvPr id="24" name="Rectangle 23"/>
          <p:cNvSpPr/>
          <p:nvPr/>
        </p:nvSpPr>
        <p:spPr>
          <a:xfrm>
            <a:off x="8060267"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60267"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09</a:t>
            </a:r>
          </a:p>
        </p:txBody>
      </p:sp>
      <p:sp>
        <p:nvSpPr>
          <p:cNvPr id="26" name="Rectangle 25"/>
          <p:cNvSpPr/>
          <p:nvPr/>
        </p:nvSpPr>
        <p:spPr>
          <a:xfrm>
            <a:off x="8991600"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991600"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10</a:t>
            </a:r>
          </a:p>
        </p:txBody>
      </p:sp>
      <p:sp>
        <p:nvSpPr>
          <p:cNvPr id="28" name="Rectangle 27"/>
          <p:cNvSpPr/>
          <p:nvPr/>
        </p:nvSpPr>
        <p:spPr>
          <a:xfrm>
            <a:off x="9922933"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922933"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11</a:t>
            </a:r>
          </a:p>
        </p:txBody>
      </p:sp>
      <p:sp>
        <p:nvSpPr>
          <p:cNvPr id="30" name="Rectangle 29"/>
          <p:cNvSpPr/>
          <p:nvPr/>
        </p:nvSpPr>
        <p:spPr>
          <a:xfrm>
            <a:off x="10854267" y="1921256"/>
            <a:ext cx="728133" cy="209550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854267" y="4092956"/>
            <a:ext cx="728133" cy="152400"/>
          </a:xfrm>
          <a:prstGeom prst="rect">
            <a:avLst/>
          </a:prstGeom>
          <a:noFill/>
          <a:effectLst/>
        </p:spPr>
        <p:txBody>
          <a:bodyPr wrap="square" lIns="0" rIns="0" tIns="0" bIns="0" anchor="t"/>
          <a:lstStyle/>
          <a:p>
            <a:pPr algn="ctr">
              <a:lnSpc>
                <a:spcPts val="650"/>
              </a:lnSpc>
            </a:pPr>
            <a:r>
              <a:rPr sz="650" b="1" spc="65" dirty="0">
                <a:solidFill>
                  <a:srgbClr val="8D8D8D"/>
                </a:solidFill>
                <a:latin typeface="Inter"/>
                <a:cs typeface="Inter"/>
              </a:rPr>
              <a:t>12</a:t>
            </a:r>
          </a:p>
        </p:txBody>
      </p:sp>
      <p:cxnSp>
        <p:nvCxnSpPr>
          <p:cNvPr id="32" name="Connector 31"/>
          <p:cNvCxnSpPr/>
          <p:nvPr/>
        </p:nvCxnSpPr>
        <p:spPr>
          <a:xfrm>
            <a:off x="609600" y="1756156"/>
            <a:ext cx="728133" cy="0"/>
          </a:xfrm>
          <a:prstGeom prst="line">
            <a:avLst/>
          </a:prstGeom>
          <a:ln w="63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9600" y="1565656"/>
            <a:ext cx="728133" cy="152400"/>
          </a:xfrm>
          <a:prstGeom prst="rect">
            <a:avLst/>
          </a:prstGeom>
          <a:noFill/>
          <a:effectLst/>
        </p:spPr>
        <p:txBody>
          <a:bodyPr wrap="square" lIns="0" rIns="0" tIns="0" bIns="0" anchor="t"/>
          <a:lstStyle/>
          <a:p>
            <a:pPr algn="ctr">
              <a:lnSpc>
                <a:spcPts val="650"/>
              </a:lnSpc>
            </a:pPr>
            <a:r>
              <a:rPr sz="650" b="1" spc="65" dirty="0">
                <a:solidFill>
                  <a:srgbClr val="161616"/>
                </a:solidFill>
                <a:latin typeface="Inter"/>
                <a:cs typeface="Inter"/>
              </a:rPr>
              <a:t>114,7 PX</a:t>
            </a:r>
          </a:p>
        </p:txBody>
      </p:sp>
      <p:cxnSp>
        <p:nvCxnSpPr>
          <p:cNvPr id="34" name="Connector 33"/>
          <p:cNvCxnSpPr/>
          <p:nvPr/>
        </p:nvCxnSpPr>
        <p:spPr>
          <a:xfrm>
            <a:off x="1337733" y="1756156"/>
            <a:ext cx="203200" cy="0"/>
          </a:xfrm>
          <a:prstGeom prst="line">
            <a:avLst/>
          </a:prstGeom>
          <a:ln w="12700">
            <a:solidFill>
              <a:srgbClr val="5B4BF5"/>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83733" y="1565656"/>
            <a:ext cx="711200" cy="152400"/>
          </a:xfrm>
          <a:prstGeom prst="rect">
            <a:avLst/>
          </a:prstGeom>
          <a:noFill/>
          <a:effectLst/>
        </p:spPr>
        <p:txBody>
          <a:bodyPr wrap="square" lIns="0" rIns="0" tIns="0" bIns="0" anchor="t"/>
          <a:lstStyle/>
          <a:p>
            <a:pPr algn="ctr">
              <a:lnSpc>
                <a:spcPts val="650"/>
              </a:lnSpc>
            </a:pPr>
            <a:r>
              <a:rPr sz="650" b="1" spc="65" dirty="0">
                <a:solidFill>
                  <a:srgbClr val="5B4BF5"/>
                </a:solidFill>
                <a:latin typeface="Inter"/>
                <a:cs typeface="Inter"/>
              </a:rPr>
              <a:t>32</a:t>
            </a:r>
          </a:p>
        </p:txBody>
      </p:sp>
      <p:sp>
        <p:nvSpPr>
          <p:cNvPr id="36" name="TextBox 35"/>
          <p:cNvSpPr txBox="1"/>
          <p:nvPr/>
        </p:nvSpPr>
        <p:spPr>
          <a:xfrm>
            <a:off x="609600" y="2715006"/>
            <a:ext cx="10972800" cy="508000"/>
          </a:xfrm>
          <a:prstGeom prst="rect">
            <a:avLst/>
          </a:prstGeom>
          <a:noFill/>
          <a:effectLst/>
        </p:spPr>
        <p:txBody>
          <a:bodyPr wrap="square" lIns="0" rIns="0" tIns="0" bIns="0" anchor="ctr"/>
          <a:lstStyle/>
          <a:p>
            <a:pPr algn="ctr">
              <a:lnSpc>
                <a:spcPts val="700"/>
              </a:lnSpc>
            </a:pPr>
            <a:r>
              <a:rPr sz="700" b="1" spc="140" dirty="0">
                <a:solidFill>
                  <a:srgbClr val="8D8D8D"/>
                </a:solidFill>
                <a:latin typeface="Inter"/>
                <a:cs typeface="Inter"/>
              </a:rPr>
              <a:t>ANCHO ÚTIL · 1728 PX</a:t>
            </a:r>
          </a:p>
        </p:txBody>
      </p:sp>
      <p:cxnSp>
        <p:nvCxnSpPr>
          <p:cNvPr id="37" name="Connector 36"/>
          <p:cNvCxnSpPr/>
          <p:nvPr/>
        </p:nvCxnSpPr>
        <p:spPr>
          <a:xfrm>
            <a:off x="609600" y="44358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09600" y="4562856"/>
            <a:ext cx="1905000"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MEDIDAS</a:t>
            </a:r>
          </a:p>
        </p:txBody>
      </p:sp>
      <p:sp>
        <p:nvSpPr>
          <p:cNvPr id="39" name="TextBox 38"/>
          <p:cNvSpPr txBox="1"/>
          <p:nvPr/>
        </p:nvSpPr>
        <p:spPr>
          <a:xfrm>
            <a:off x="609600" y="4804156"/>
            <a:ext cx="1651000"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Margen lateral</a:t>
            </a:r>
          </a:p>
        </p:txBody>
      </p:sp>
      <p:sp>
        <p:nvSpPr>
          <p:cNvPr id="40" name="TextBox 39"/>
          <p:cNvSpPr txBox="1"/>
          <p:nvPr/>
        </p:nvSpPr>
        <p:spPr>
          <a:xfrm>
            <a:off x="2260600" y="4804156"/>
            <a:ext cx="889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96 px</a:t>
            </a:r>
          </a:p>
        </p:txBody>
      </p:sp>
      <p:sp>
        <p:nvSpPr>
          <p:cNvPr id="41" name="TextBox 40"/>
          <p:cNvSpPr txBox="1"/>
          <p:nvPr/>
        </p:nvSpPr>
        <p:spPr>
          <a:xfrm>
            <a:off x="609600" y="5020056"/>
            <a:ext cx="1651000"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Margen superior</a:t>
            </a:r>
          </a:p>
        </p:txBody>
      </p:sp>
      <p:sp>
        <p:nvSpPr>
          <p:cNvPr id="42" name="TextBox 41"/>
          <p:cNvSpPr txBox="1"/>
          <p:nvPr/>
        </p:nvSpPr>
        <p:spPr>
          <a:xfrm>
            <a:off x="2260600" y="5020056"/>
            <a:ext cx="889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72 px</a:t>
            </a:r>
          </a:p>
        </p:txBody>
      </p:sp>
      <p:sp>
        <p:nvSpPr>
          <p:cNvPr id="43" name="TextBox 42"/>
          <p:cNvSpPr txBox="1"/>
          <p:nvPr/>
        </p:nvSpPr>
        <p:spPr>
          <a:xfrm>
            <a:off x="609600" y="5235956"/>
            <a:ext cx="1651000"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Margen inferior</a:t>
            </a:r>
          </a:p>
        </p:txBody>
      </p:sp>
      <p:sp>
        <p:nvSpPr>
          <p:cNvPr id="44" name="TextBox 43"/>
          <p:cNvSpPr txBox="1"/>
          <p:nvPr/>
        </p:nvSpPr>
        <p:spPr>
          <a:xfrm>
            <a:off x="2260600" y="5235956"/>
            <a:ext cx="889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100 px</a:t>
            </a:r>
          </a:p>
        </p:txBody>
      </p:sp>
      <p:sp>
        <p:nvSpPr>
          <p:cNvPr id="45" name="TextBox 44"/>
          <p:cNvSpPr txBox="1"/>
          <p:nvPr/>
        </p:nvSpPr>
        <p:spPr>
          <a:xfrm>
            <a:off x="609600" y="5451856"/>
            <a:ext cx="1651000"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Columnas</a:t>
            </a:r>
          </a:p>
        </p:txBody>
      </p:sp>
      <p:sp>
        <p:nvSpPr>
          <p:cNvPr id="46" name="TextBox 45"/>
          <p:cNvSpPr txBox="1"/>
          <p:nvPr/>
        </p:nvSpPr>
        <p:spPr>
          <a:xfrm>
            <a:off x="2260600" y="5451856"/>
            <a:ext cx="889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12 × 114,7 px</a:t>
            </a:r>
          </a:p>
        </p:txBody>
      </p:sp>
      <p:sp>
        <p:nvSpPr>
          <p:cNvPr id="47" name="TextBox 46"/>
          <p:cNvSpPr txBox="1"/>
          <p:nvPr/>
        </p:nvSpPr>
        <p:spPr>
          <a:xfrm>
            <a:off x="609600" y="5667756"/>
            <a:ext cx="1651000"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Medianil</a:t>
            </a:r>
          </a:p>
        </p:txBody>
      </p:sp>
      <p:sp>
        <p:nvSpPr>
          <p:cNvPr id="48" name="TextBox 47"/>
          <p:cNvSpPr txBox="1"/>
          <p:nvPr/>
        </p:nvSpPr>
        <p:spPr>
          <a:xfrm>
            <a:off x="2260600" y="5667756"/>
            <a:ext cx="889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32 px</a:t>
            </a:r>
          </a:p>
        </p:txBody>
      </p:sp>
      <p:sp>
        <p:nvSpPr>
          <p:cNvPr id="49" name="TextBox 48"/>
          <p:cNvSpPr txBox="1"/>
          <p:nvPr/>
        </p:nvSpPr>
        <p:spPr>
          <a:xfrm>
            <a:off x="609600" y="5883656"/>
            <a:ext cx="1651000"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Rejilla base</a:t>
            </a:r>
          </a:p>
        </p:txBody>
      </p:sp>
      <p:sp>
        <p:nvSpPr>
          <p:cNvPr id="50" name="TextBox 49"/>
          <p:cNvSpPr txBox="1"/>
          <p:nvPr/>
        </p:nvSpPr>
        <p:spPr>
          <a:xfrm>
            <a:off x="2260600" y="5883656"/>
            <a:ext cx="889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8 px</a:t>
            </a:r>
          </a:p>
        </p:txBody>
      </p:sp>
      <p:sp>
        <p:nvSpPr>
          <p:cNvPr id="51" name="TextBox 50"/>
          <p:cNvSpPr txBox="1"/>
          <p:nvPr/>
        </p:nvSpPr>
        <p:spPr>
          <a:xfrm>
            <a:off x="4334933" y="4562856"/>
            <a:ext cx="2540000"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REPARTOS HABITUALES</a:t>
            </a:r>
          </a:p>
        </p:txBody>
      </p:sp>
      <p:sp>
        <p:nvSpPr>
          <p:cNvPr id="52" name="TextBox 51"/>
          <p:cNvSpPr txBox="1"/>
          <p:nvPr/>
        </p:nvSpPr>
        <p:spPr>
          <a:xfrm>
            <a:off x="4334933" y="4804156"/>
            <a:ext cx="1016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7 + 5</a:t>
            </a:r>
          </a:p>
        </p:txBody>
      </p:sp>
      <p:sp>
        <p:nvSpPr>
          <p:cNvPr id="53" name="TextBox 52"/>
          <p:cNvSpPr txBox="1"/>
          <p:nvPr/>
        </p:nvSpPr>
        <p:spPr>
          <a:xfrm>
            <a:off x="5414433" y="4804156"/>
            <a:ext cx="6316133"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Texto e imagen. El reparto que más se usa.</a:t>
            </a:r>
          </a:p>
        </p:txBody>
      </p:sp>
      <p:sp>
        <p:nvSpPr>
          <p:cNvPr id="54" name="TextBox 53"/>
          <p:cNvSpPr txBox="1"/>
          <p:nvPr/>
        </p:nvSpPr>
        <p:spPr>
          <a:xfrm>
            <a:off x="4334933" y="5020056"/>
            <a:ext cx="1016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6 + 6</a:t>
            </a:r>
          </a:p>
        </p:txBody>
      </p:sp>
      <p:sp>
        <p:nvSpPr>
          <p:cNvPr id="55" name="TextBox 54"/>
          <p:cNvSpPr txBox="1"/>
          <p:nvPr/>
        </p:nvSpPr>
        <p:spPr>
          <a:xfrm>
            <a:off x="5414433" y="5020056"/>
            <a:ext cx="6316133"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Comparativa, dos tarjetas de la misma altura.</a:t>
            </a:r>
          </a:p>
        </p:txBody>
      </p:sp>
      <p:sp>
        <p:nvSpPr>
          <p:cNvPr id="56" name="TextBox 55"/>
          <p:cNvSpPr txBox="1"/>
          <p:nvPr/>
        </p:nvSpPr>
        <p:spPr>
          <a:xfrm>
            <a:off x="4334933" y="5235956"/>
            <a:ext cx="1016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4 + 4 + 4</a:t>
            </a:r>
          </a:p>
        </p:txBody>
      </p:sp>
      <p:sp>
        <p:nvSpPr>
          <p:cNvPr id="57" name="TextBox 56"/>
          <p:cNvSpPr txBox="1"/>
          <p:nvPr/>
        </p:nvSpPr>
        <p:spPr>
          <a:xfrm>
            <a:off x="5414433" y="5235956"/>
            <a:ext cx="6316133"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Tres bloques, tres ideas.</a:t>
            </a:r>
          </a:p>
        </p:txBody>
      </p:sp>
      <p:sp>
        <p:nvSpPr>
          <p:cNvPr id="58" name="TextBox 57"/>
          <p:cNvSpPr txBox="1"/>
          <p:nvPr/>
        </p:nvSpPr>
        <p:spPr>
          <a:xfrm>
            <a:off x="4334933" y="5451856"/>
            <a:ext cx="1016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8 centrado</a:t>
            </a:r>
          </a:p>
        </p:txBody>
      </p:sp>
      <p:sp>
        <p:nvSpPr>
          <p:cNvPr id="59" name="TextBox 58"/>
          <p:cNvSpPr txBox="1"/>
          <p:nvPr/>
        </p:nvSpPr>
        <p:spPr>
          <a:xfrm>
            <a:off x="5414433" y="5451856"/>
            <a:ext cx="6316133"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Citas y frases manifiesto.</a:t>
            </a:r>
          </a:p>
        </p:txBody>
      </p:sp>
      <p:sp>
        <p:nvSpPr>
          <p:cNvPr id="60" name="TextBox 59"/>
          <p:cNvSpPr txBox="1"/>
          <p:nvPr/>
        </p:nvSpPr>
        <p:spPr>
          <a:xfrm>
            <a:off x="4334933" y="5667756"/>
            <a:ext cx="1016000" cy="177800"/>
          </a:xfrm>
          <a:prstGeom prst="rect">
            <a:avLst/>
          </a:prstGeom>
          <a:noFill/>
          <a:effectLst/>
        </p:spPr>
        <p:txBody>
          <a:bodyPr wrap="square" lIns="0" rIns="0" tIns="0" bIns="0" anchor="t"/>
          <a:lstStyle/>
          <a:p>
            <a:pPr algn="l">
              <a:lnSpc>
                <a:spcPts val="1140"/>
              </a:lnSpc>
            </a:pPr>
            <a:r>
              <a:rPr sz="950" b="1" dirty="0">
                <a:solidFill>
                  <a:srgbClr val="161616"/>
                </a:solidFill>
                <a:latin typeface="Inter"/>
                <a:cs typeface="Inter"/>
              </a:rPr>
              <a:t>12 a sangre</a:t>
            </a:r>
          </a:p>
        </p:txBody>
      </p:sp>
      <p:sp>
        <p:nvSpPr>
          <p:cNvPr id="61" name="TextBox 60"/>
          <p:cNvSpPr txBox="1"/>
          <p:nvPr/>
        </p:nvSpPr>
        <p:spPr>
          <a:xfrm>
            <a:off x="5414433" y="5667756"/>
            <a:ext cx="6316133" cy="177800"/>
          </a:xfrm>
          <a:prstGeom prst="rect">
            <a:avLst/>
          </a:prstGeom>
          <a:noFill/>
          <a:effectLst/>
        </p:spPr>
        <p:txBody>
          <a:bodyPr wrap="square" lIns="0" rIns="0" tIns="0" bIns="0" anchor="t"/>
          <a:lstStyle/>
          <a:p>
            <a:pPr algn="l">
              <a:lnSpc>
                <a:spcPts val="1140"/>
              </a:lnSpc>
            </a:pPr>
            <a:r>
              <a:rPr sz="950" b="0" dirty="0">
                <a:solidFill>
                  <a:srgbClr val="525252"/>
                </a:solidFill>
                <a:latin typeface="Inter"/>
                <a:cs typeface="Inter"/>
              </a:rPr>
              <a:t>Portadas, separadores e imagen completa.</a:t>
            </a:r>
          </a:p>
        </p:txBody>
      </p:sp>
      <p:cxnSp>
        <p:nvCxnSpPr>
          <p:cNvPr id="62" name="Connector 6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67" name="TextBox 6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SISTEMA · 01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SISTEMA DE DISEÑO</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Escala tipográfica de proyección</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INTER · UN SOLO TIPO</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57756"/>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933956"/>
            <a:ext cx="1270000" cy="1905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PORTADA</a:t>
            </a:r>
          </a:p>
        </p:txBody>
      </p:sp>
      <p:sp>
        <p:nvSpPr>
          <p:cNvPr id="9" name="TextBox 8"/>
          <p:cNvSpPr txBox="1"/>
          <p:nvPr/>
        </p:nvSpPr>
        <p:spPr>
          <a:xfrm>
            <a:off x="1943100" y="1895856"/>
            <a:ext cx="5384800" cy="644652"/>
          </a:xfrm>
          <a:prstGeom prst="rect">
            <a:avLst/>
          </a:prstGeom>
          <a:noFill/>
          <a:effectLst/>
        </p:spPr>
        <p:txBody>
          <a:bodyPr wrap="square" lIns="0" rIns="0" tIns="0" bIns="0" anchor="t"/>
          <a:lstStyle/>
          <a:p>
            <a:pPr algn="l">
              <a:lnSpc>
                <a:spcPts val="3872"/>
              </a:lnSpc>
            </a:pPr>
            <a:r>
              <a:rPr sz="3520" b="1" spc="-123" dirty="0">
                <a:solidFill>
                  <a:srgbClr val="161616"/>
                </a:solidFill>
                <a:latin typeface="Inter"/>
                <a:cs typeface="Inter"/>
              </a:rPr>
              <a:t>Aa Título de portada</a:t>
            </a:r>
          </a:p>
        </p:txBody>
      </p:sp>
      <p:sp>
        <p:nvSpPr>
          <p:cNvPr id="10" name="TextBox 9"/>
          <p:cNvSpPr txBox="1"/>
          <p:nvPr/>
        </p:nvSpPr>
        <p:spPr>
          <a:xfrm>
            <a:off x="8928100" y="1933956"/>
            <a:ext cx="2590800" cy="190500"/>
          </a:xfrm>
          <a:prstGeom prst="rect">
            <a:avLst/>
          </a:prstGeom>
          <a:noFill/>
          <a:effectLst/>
        </p:spPr>
        <p:txBody>
          <a:bodyPr wrap="square" lIns="0" rIns="0" tIns="0" bIns="0" anchor="t"/>
          <a:lstStyle/>
          <a:p>
            <a:pPr algn="r">
              <a:lnSpc>
                <a:spcPts val="750"/>
              </a:lnSpc>
            </a:pPr>
            <a:r>
              <a:rPr sz="750" b="1" spc="60" dirty="0">
                <a:solidFill>
                  <a:srgbClr val="6F6F6F"/>
                </a:solidFill>
                <a:latin typeface="Inter"/>
                <a:cs typeface="Inter"/>
              </a:rPr>
              <a:t>128 px · 96 pt</a:t>
            </a:r>
          </a:p>
        </p:txBody>
      </p:sp>
      <p:cxnSp>
        <p:nvCxnSpPr>
          <p:cNvPr id="11" name="Connector 10"/>
          <p:cNvCxnSpPr/>
          <p:nvPr/>
        </p:nvCxnSpPr>
        <p:spPr>
          <a:xfrm>
            <a:off x="609600" y="2626360"/>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2702560"/>
            <a:ext cx="1270000" cy="1905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SEPARADOR</a:t>
            </a:r>
          </a:p>
        </p:txBody>
      </p:sp>
      <p:sp>
        <p:nvSpPr>
          <p:cNvPr id="13" name="TextBox 12"/>
          <p:cNvSpPr txBox="1"/>
          <p:nvPr/>
        </p:nvSpPr>
        <p:spPr>
          <a:xfrm>
            <a:off x="1943100" y="2664460"/>
            <a:ext cx="5384800" cy="554838"/>
          </a:xfrm>
          <a:prstGeom prst="rect">
            <a:avLst/>
          </a:prstGeom>
          <a:noFill/>
          <a:effectLst/>
        </p:spPr>
        <p:txBody>
          <a:bodyPr wrap="square" lIns="0" rIns="0" tIns="0" bIns="0" anchor="t"/>
          <a:lstStyle/>
          <a:p>
            <a:pPr algn="l">
              <a:lnSpc>
                <a:spcPts val="3273"/>
              </a:lnSpc>
            </a:pPr>
            <a:r>
              <a:rPr sz="2976" b="1" spc="-89" dirty="0">
                <a:solidFill>
                  <a:srgbClr val="161616"/>
                </a:solidFill>
                <a:latin typeface="Inter"/>
                <a:cs typeface="Inter"/>
              </a:rPr>
              <a:t>Aa Separador de bloque</a:t>
            </a:r>
          </a:p>
        </p:txBody>
      </p:sp>
      <p:sp>
        <p:nvSpPr>
          <p:cNvPr id="14" name="TextBox 13"/>
          <p:cNvSpPr txBox="1"/>
          <p:nvPr/>
        </p:nvSpPr>
        <p:spPr>
          <a:xfrm>
            <a:off x="8928100" y="2702560"/>
            <a:ext cx="2590800" cy="190500"/>
          </a:xfrm>
          <a:prstGeom prst="rect">
            <a:avLst/>
          </a:prstGeom>
          <a:noFill/>
          <a:effectLst/>
        </p:spPr>
        <p:txBody>
          <a:bodyPr wrap="square" lIns="0" rIns="0" tIns="0" bIns="0" anchor="t"/>
          <a:lstStyle/>
          <a:p>
            <a:pPr algn="r">
              <a:lnSpc>
                <a:spcPts val="750"/>
              </a:lnSpc>
            </a:pPr>
            <a:r>
              <a:rPr sz="750" b="1" spc="60" dirty="0">
                <a:solidFill>
                  <a:srgbClr val="6F6F6F"/>
                </a:solidFill>
                <a:latin typeface="Inter"/>
                <a:cs typeface="Inter"/>
              </a:rPr>
              <a:t>96 px · 72 pt</a:t>
            </a:r>
          </a:p>
        </p:txBody>
      </p:sp>
      <p:cxnSp>
        <p:nvCxnSpPr>
          <p:cNvPr id="15" name="Connector 14"/>
          <p:cNvCxnSpPr/>
          <p:nvPr/>
        </p:nvCxnSpPr>
        <p:spPr>
          <a:xfrm>
            <a:off x="609600" y="3301695"/>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3377895"/>
            <a:ext cx="1270000" cy="1905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TÍTULO</a:t>
            </a:r>
          </a:p>
        </p:txBody>
      </p:sp>
      <p:sp>
        <p:nvSpPr>
          <p:cNvPr id="17" name="TextBox 16"/>
          <p:cNvSpPr txBox="1"/>
          <p:nvPr/>
        </p:nvSpPr>
        <p:spPr>
          <a:xfrm>
            <a:off x="1943100" y="3339795"/>
            <a:ext cx="5384800" cy="591820"/>
          </a:xfrm>
          <a:prstGeom prst="rect">
            <a:avLst/>
          </a:prstGeom>
          <a:noFill/>
          <a:effectLst/>
        </p:spPr>
        <p:txBody>
          <a:bodyPr wrap="square" lIns="0" rIns="0" tIns="0" bIns="0" anchor="t"/>
          <a:lstStyle/>
          <a:p>
            <a:pPr algn="l">
              <a:lnSpc>
                <a:spcPts val="3520"/>
              </a:lnSpc>
            </a:pPr>
            <a:r>
              <a:rPr sz="3200" b="1" spc="-96" dirty="0">
                <a:solidFill>
                  <a:srgbClr val="161616"/>
                </a:solidFill>
                <a:latin typeface="Inter"/>
                <a:cs typeface="Inter"/>
              </a:rPr>
              <a:t>Aa Título de diapositiva</a:t>
            </a:r>
          </a:p>
        </p:txBody>
      </p:sp>
      <p:sp>
        <p:nvSpPr>
          <p:cNvPr id="18" name="TextBox 17"/>
          <p:cNvSpPr txBox="1"/>
          <p:nvPr/>
        </p:nvSpPr>
        <p:spPr>
          <a:xfrm>
            <a:off x="8928100" y="3377895"/>
            <a:ext cx="2590800" cy="190500"/>
          </a:xfrm>
          <a:prstGeom prst="rect">
            <a:avLst/>
          </a:prstGeom>
          <a:noFill/>
          <a:effectLst/>
        </p:spPr>
        <p:txBody>
          <a:bodyPr wrap="square" lIns="0" rIns="0" tIns="0" bIns="0" anchor="t"/>
          <a:lstStyle/>
          <a:p>
            <a:pPr algn="r">
              <a:lnSpc>
                <a:spcPts val="750"/>
              </a:lnSpc>
            </a:pPr>
            <a:r>
              <a:rPr sz="750" b="1" spc="60" dirty="0">
                <a:solidFill>
                  <a:srgbClr val="6F6F6F"/>
                </a:solidFill>
                <a:latin typeface="Inter"/>
                <a:cs typeface="Inter"/>
              </a:rPr>
              <a:t>64 px · 48 pt</a:t>
            </a:r>
          </a:p>
        </p:txBody>
      </p:sp>
      <p:cxnSp>
        <p:nvCxnSpPr>
          <p:cNvPr id="19" name="Connector 18"/>
          <p:cNvCxnSpPr/>
          <p:nvPr/>
        </p:nvCxnSpPr>
        <p:spPr>
          <a:xfrm>
            <a:off x="609600" y="4015435"/>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4091635"/>
            <a:ext cx="1270000" cy="1905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SUBTÍTULO</a:t>
            </a:r>
          </a:p>
        </p:txBody>
      </p:sp>
      <p:sp>
        <p:nvSpPr>
          <p:cNvPr id="21" name="TextBox 20"/>
          <p:cNvSpPr txBox="1"/>
          <p:nvPr/>
        </p:nvSpPr>
        <p:spPr>
          <a:xfrm>
            <a:off x="1943100" y="4053535"/>
            <a:ext cx="5384800" cy="360680"/>
          </a:xfrm>
          <a:prstGeom prst="rect">
            <a:avLst/>
          </a:prstGeom>
          <a:noFill/>
          <a:effectLst/>
        </p:spPr>
        <p:txBody>
          <a:bodyPr wrap="square" lIns="0" rIns="0" tIns="0" bIns="0" anchor="t"/>
          <a:lstStyle/>
          <a:p>
            <a:pPr algn="l">
              <a:lnSpc>
                <a:spcPts val="1980"/>
              </a:lnSpc>
            </a:pPr>
            <a:r>
              <a:rPr sz="1800" b="1" spc="-18" dirty="0">
                <a:solidFill>
                  <a:srgbClr val="161616"/>
                </a:solidFill>
                <a:latin typeface="Inter"/>
                <a:cs typeface="Inter"/>
              </a:rPr>
              <a:t>Aa Subtítulo de apoyo</a:t>
            </a:r>
          </a:p>
        </p:txBody>
      </p:sp>
      <p:sp>
        <p:nvSpPr>
          <p:cNvPr id="22" name="TextBox 21"/>
          <p:cNvSpPr txBox="1"/>
          <p:nvPr/>
        </p:nvSpPr>
        <p:spPr>
          <a:xfrm>
            <a:off x="8928100" y="4091635"/>
            <a:ext cx="2590800" cy="190500"/>
          </a:xfrm>
          <a:prstGeom prst="rect">
            <a:avLst/>
          </a:prstGeom>
          <a:noFill/>
          <a:effectLst/>
        </p:spPr>
        <p:txBody>
          <a:bodyPr wrap="square" lIns="0" rIns="0" tIns="0" bIns="0" anchor="t"/>
          <a:lstStyle/>
          <a:p>
            <a:pPr algn="r">
              <a:lnSpc>
                <a:spcPts val="750"/>
              </a:lnSpc>
            </a:pPr>
            <a:r>
              <a:rPr sz="750" b="1" spc="60" dirty="0">
                <a:solidFill>
                  <a:srgbClr val="6F6F6F"/>
                </a:solidFill>
                <a:latin typeface="Inter"/>
                <a:cs typeface="Inter"/>
              </a:rPr>
              <a:t>36 px · 27 pt</a:t>
            </a:r>
          </a:p>
        </p:txBody>
      </p:sp>
      <p:cxnSp>
        <p:nvCxnSpPr>
          <p:cNvPr id="23" name="Connector 22"/>
          <p:cNvCxnSpPr/>
          <p:nvPr/>
        </p:nvCxnSpPr>
        <p:spPr>
          <a:xfrm>
            <a:off x="609600" y="4489145"/>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9600" y="4565345"/>
            <a:ext cx="1270000" cy="1905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CUERPO</a:t>
            </a:r>
          </a:p>
        </p:txBody>
      </p:sp>
      <p:sp>
        <p:nvSpPr>
          <p:cNvPr id="25" name="TextBox 24"/>
          <p:cNvSpPr txBox="1"/>
          <p:nvPr/>
        </p:nvSpPr>
        <p:spPr>
          <a:xfrm>
            <a:off x="1943100" y="4527245"/>
            <a:ext cx="5384800" cy="294640"/>
          </a:xfrm>
          <a:prstGeom prst="rect">
            <a:avLst/>
          </a:prstGeom>
          <a:noFill/>
          <a:effectLst/>
        </p:spPr>
        <p:txBody>
          <a:bodyPr wrap="square" lIns="0" rIns="0" tIns="0" bIns="0" anchor="t"/>
          <a:lstStyle/>
          <a:p>
            <a:pPr algn="l">
              <a:lnSpc>
                <a:spcPts val="1540"/>
              </a:lnSpc>
            </a:pPr>
            <a:r>
              <a:rPr sz="1400" b="0" dirty="0">
                <a:solidFill>
                  <a:srgbClr val="161616"/>
                </a:solidFill>
                <a:latin typeface="Inter"/>
                <a:cs typeface="Inter"/>
              </a:rPr>
              <a:t>Aa Cuerpo y viñetas</a:t>
            </a:r>
          </a:p>
        </p:txBody>
      </p:sp>
      <p:sp>
        <p:nvSpPr>
          <p:cNvPr id="26" name="TextBox 25"/>
          <p:cNvSpPr txBox="1"/>
          <p:nvPr/>
        </p:nvSpPr>
        <p:spPr>
          <a:xfrm>
            <a:off x="8928100" y="4565345"/>
            <a:ext cx="2590800" cy="190500"/>
          </a:xfrm>
          <a:prstGeom prst="rect">
            <a:avLst/>
          </a:prstGeom>
          <a:noFill/>
          <a:effectLst/>
        </p:spPr>
        <p:txBody>
          <a:bodyPr wrap="square" lIns="0" rIns="0" tIns="0" bIns="0" anchor="t"/>
          <a:lstStyle/>
          <a:p>
            <a:pPr algn="r">
              <a:lnSpc>
                <a:spcPts val="750"/>
              </a:lnSpc>
            </a:pPr>
            <a:r>
              <a:rPr sz="750" b="1" spc="60" dirty="0">
                <a:solidFill>
                  <a:srgbClr val="6F6F6F"/>
                </a:solidFill>
                <a:latin typeface="Inter"/>
                <a:cs typeface="Inter"/>
              </a:rPr>
              <a:t>28 px · 21 pt</a:t>
            </a:r>
          </a:p>
        </p:txBody>
      </p:sp>
      <p:cxnSp>
        <p:nvCxnSpPr>
          <p:cNvPr id="27" name="Connector 26"/>
          <p:cNvCxnSpPr/>
          <p:nvPr/>
        </p:nvCxnSpPr>
        <p:spPr>
          <a:xfrm>
            <a:off x="609600" y="4894275"/>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9600" y="4970475"/>
            <a:ext cx="1270000" cy="1905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SECUNDARIO</a:t>
            </a:r>
          </a:p>
        </p:txBody>
      </p:sp>
      <p:sp>
        <p:nvSpPr>
          <p:cNvPr id="29" name="TextBox 28"/>
          <p:cNvSpPr txBox="1"/>
          <p:nvPr/>
        </p:nvSpPr>
        <p:spPr>
          <a:xfrm>
            <a:off x="1943100" y="4932375"/>
            <a:ext cx="5384800" cy="261620"/>
          </a:xfrm>
          <a:prstGeom prst="rect">
            <a:avLst/>
          </a:prstGeom>
          <a:noFill/>
          <a:effectLst/>
        </p:spPr>
        <p:txBody>
          <a:bodyPr wrap="square" lIns="0" rIns="0" tIns="0" bIns="0" anchor="t"/>
          <a:lstStyle/>
          <a:p>
            <a:pPr algn="l">
              <a:lnSpc>
                <a:spcPts val="1320"/>
              </a:lnSpc>
            </a:pPr>
            <a:r>
              <a:rPr sz="1200" b="0" dirty="0">
                <a:solidFill>
                  <a:srgbClr val="161616"/>
                </a:solidFill>
                <a:latin typeface="Inter"/>
                <a:cs typeface="Inter"/>
              </a:rPr>
              <a:t>Aa Cuerpo secundario</a:t>
            </a:r>
          </a:p>
        </p:txBody>
      </p:sp>
      <p:sp>
        <p:nvSpPr>
          <p:cNvPr id="30" name="TextBox 29"/>
          <p:cNvSpPr txBox="1"/>
          <p:nvPr/>
        </p:nvSpPr>
        <p:spPr>
          <a:xfrm>
            <a:off x="8928100" y="4970475"/>
            <a:ext cx="2590800" cy="190500"/>
          </a:xfrm>
          <a:prstGeom prst="rect">
            <a:avLst/>
          </a:prstGeom>
          <a:noFill/>
          <a:effectLst/>
        </p:spPr>
        <p:txBody>
          <a:bodyPr wrap="square" lIns="0" rIns="0" tIns="0" bIns="0" anchor="t"/>
          <a:lstStyle/>
          <a:p>
            <a:pPr algn="r">
              <a:lnSpc>
                <a:spcPts val="750"/>
              </a:lnSpc>
            </a:pPr>
            <a:r>
              <a:rPr sz="750" b="1" spc="60" dirty="0">
                <a:solidFill>
                  <a:srgbClr val="6F6F6F"/>
                </a:solidFill>
                <a:latin typeface="Inter"/>
                <a:cs typeface="Inter"/>
              </a:rPr>
              <a:t>24 px · 18 pt</a:t>
            </a:r>
          </a:p>
        </p:txBody>
      </p:sp>
      <p:cxnSp>
        <p:nvCxnSpPr>
          <p:cNvPr id="31" name="Connector 30"/>
          <p:cNvCxnSpPr/>
          <p:nvPr/>
        </p:nvCxnSpPr>
        <p:spPr>
          <a:xfrm>
            <a:off x="609600" y="5287975"/>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09600" y="5364175"/>
            <a:ext cx="1270000" cy="1905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ETIQUETA</a:t>
            </a:r>
          </a:p>
        </p:txBody>
      </p:sp>
      <p:sp>
        <p:nvSpPr>
          <p:cNvPr id="33" name="TextBox 32"/>
          <p:cNvSpPr txBox="1"/>
          <p:nvPr/>
        </p:nvSpPr>
        <p:spPr>
          <a:xfrm>
            <a:off x="1943100" y="5326075"/>
            <a:ext cx="5384800" cy="212090"/>
          </a:xfrm>
          <a:prstGeom prst="rect">
            <a:avLst/>
          </a:prstGeom>
          <a:noFill/>
          <a:effectLst/>
        </p:spPr>
        <p:txBody>
          <a:bodyPr wrap="square" lIns="0" rIns="0" tIns="0" bIns="0" anchor="t"/>
          <a:lstStyle/>
          <a:p>
            <a:pPr algn="l">
              <a:lnSpc>
                <a:spcPts val="990"/>
              </a:lnSpc>
            </a:pPr>
            <a:r>
              <a:rPr sz="900" b="1" spc="144" dirty="0">
                <a:solidFill>
                  <a:srgbClr val="161616"/>
                </a:solidFill>
                <a:latin typeface="Inter"/>
                <a:cs typeface="Inter"/>
              </a:rPr>
              <a:t>ETIQUETA / EYEBROW</a:t>
            </a:r>
          </a:p>
        </p:txBody>
      </p:sp>
      <p:sp>
        <p:nvSpPr>
          <p:cNvPr id="34" name="TextBox 33"/>
          <p:cNvSpPr txBox="1"/>
          <p:nvPr/>
        </p:nvSpPr>
        <p:spPr>
          <a:xfrm>
            <a:off x="8928100" y="5364175"/>
            <a:ext cx="2590800" cy="190500"/>
          </a:xfrm>
          <a:prstGeom prst="rect">
            <a:avLst/>
          </a:prstGeom>
          <a:noFill/>
          <a:effectLst/>
        </p:spPr>
        <p:txBody>
          <a:bodyPr wrap="square" lIns="0" rIns="0" tIns="0" bIns="0" anchor="t"/>
          <a:lstStyle/>
          <a:p>
            <a:pPr algn="r">
              <a:lnSpc>
                <a:spcPts val="750"/>
              </a:lnSpc>
            </a:pPr>
            <a:r>
              <a:rPr sz="750" b="1" spc="60" dirty="0">
                <a:solidFill>
                  <a:srgbClr val="6F6F6F"/>
                </a:solidFill>
                <a:latin typeface="Inter"/>
                <a:cs typeface="Inter"/>
              </a:rPr>
              <a:t>18 px · 13 pt</a:t>
            </a:r>
          </a:p>
        </p:txBody>
      </p:sp>
      <p:cxnSp>
        <p:nvCxnSpPr>
          <p:cNvPr id="35" name="Connector 34"/>
          <p:cNvCxnSpPr/>
          <p:nvPr/>
        </p:nvCxnSpPr>
        <p:spPr>
          <a:xfrm>
            <a:off x="609600" y="5681675"/>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09600" y="5757875"/>
            <a:ext cx="1270000" cy="190500"/>
          </a:xfrm>
          <a:prstGeom prst="rect">
            <a:avLst/>
          </a:prstGeom>
          <a:noFill/>
          <a:effectLst/>
        </p:spPr>
        <p:txBody>
          <a:bodyPr wrap="square" lIns="0" rIns="0" tIns="0" bIns="0" anchor="t"/>
          <a:lstStyle/>
          <a:p>
            <a:pPr algn="l">
              <a:lnSpc>
                <a:spcPts val="650"/>
              </a:lnSpc>
            </a:pPr>
            <a:r>
              <a:rPr sz="650" b="1" spc="91" dirty="0">
                <a:solidFill>
                  <a:srgbClr val="8D8D8D"/>
                </a:solidFill>
                <a:latin typeface="Inter"/>
                <a:cs typeface="Inter"/>
              </a:rPr>
              <a:t>PIE</a:t>
            </a:r>
          </a:p>
        </p:txBody>
      </p:sp>
      <p:sp>
        <p:nvSpPr>
          <p:cNvPr id="37" name="TextBox 36"/>
          <p:cNvSpPr txBox="1"/>
          <p:nvPr/>
        </p:nvSpPr>
        <p:spPr>
          <a:xfrm>
            <a:off x="1943100" y="5719775"/>
            <a:ext cx="5384800" cy="179070"/>
          </a:xfrm>
          <a:prstGeom prst="rect">
            <a:avLst/>
          </a:prstGeom>
          <a:noFill/>
          <a:effectLst/>
        </p:spPr>
        <p:txBody>
          <a:bodyPr wrap="square" lIns="0" rIns="0" tIns="0" bIns="0" anchor="t"/>
          <a:lstStyle/>
          <a:p>
            <a:pPr algn="l">
              <a:lnSpc>
                <a:spcPts val="770"/>
              </a:lnSpc>
            </a:pPr>
            <a:r>
              <a:rPr sz="700" b="0" spc="70" dirty="0">
                <a:solidFill>
                  <a:srgbClr val="161616"/>
                </a:solidFill>
                <a:latin typeface="Inter"/>
                <a:cs typeface="Inter"/>
              </a:rPr>
              <a:t>PIE Y FUENTE CITADA</a:t>
            </a:r>
          </a:p>
        </p:txBody>
      </p:sp>
      <p:sp>
        <p:nvSpPr>
          <p:cNvPr id="38" name="TextBox 37"/>
          <p:cNvSpPr txBox="1"/>
          <p:nvPr/>
        </p:nvSpPr>
        <p:spPr>
          <a:xfrm>
            <a:off x="8928100" y="5757875"/>
            <a:ext cx="2590800" cy="190500"/>
          </a:xfrm>
          <a:prstGeom prst="rect">
            <a:avLst/>
          </a:prstGeom>
          <a:noFill/>
          <a:effectLst/>
        </p:spPr>
        <p:txBody>
          <a:bodyPr wrap="square" lIns="0" rIns="0" tIns="0" bIns="0" anchor="t"/>
          <a:lstStyle/>
          <a:p>
            <a:pPr algn="r">
              <a:lnSpc>
                <a:spcPts val="750"/>
              </a:lnSpc>
            </a:pPr>
            <a:r>
              <a:rPr sz="750" b="1" spc="60" dirty="0">
                <a:solidFill>
                  <a:srgbClr val="6F6F6F"/>
                </a:solidFill>
                <a:latin typeface="Inter"/>
                <a:cs typeface="Inter"/>
              </a:rPr>
              <a:t>14 px · 10 pt</a:t>
            </a:r>
          </a:p>
        </p:txBody>
      </p:sp>
      <p:sp>
        <p:nvSpPr>
          <p:cNvPr id="39" name="Rectangle 38"/>
          <p:cNvSpPr/>
          <p:nvPr/>
        </p:nvSpPr>
        <p:spPr>
          <a:xfrm>
            <a:off x="8991600" y="1730756"/>
            <a:ext cx="6350" cy="436524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182100" y="1984756"/>
            <a:ext cx="2400300" cy="1905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REGLAS</a:t>
            </a:r>
          </a:p>
        </p:txBody>
      </p:sp>
      <p:sp>
        <p:nvSpPr>
          <p:cNvPr id="41" name="TextBox 40"/>
          <p:cNvSpPr txBox="1"/>
          <p:nvPr/>
        </p:nvSpPr>
        <p:spPr>
          <a:xfrm>
            <a:off x="9182100" y="2276856"/>
            <a:ext cx="2400300" cy="635000"/>
          </a:xfrm>
          <a:prstGeom prst="rect">
            <a:avLst/>
          </a:prstGeom>
          <a:noFill/>
          <a:effectLst/>
        </p:spPr>
        <p:txBody>
          <a:bodyPr wrap="square" lIns="0" rIns="0" tIns="0" bIns="0" anchor="t"/>
          <a:lstStyle/>
          <a:p>
            <a:pPr algn="l">
              <a:lnSpc>
                <a:spcPts val="1377"/>
              </a:lnSpc>
            </a:pPr>
            <a:r>
              <a:rPr sz="950" b="0" dirty="0">
                <a:solidFill>
                  <a:srgbClr val="525252"/>
                </a:solidFill>
                <a:latin typeface="Inter"/>
                <a:cs typeface="Inter"/>
              </a:rPr>
              <a:t>Titular: tracking negativo.</a:t>
            </a:r>
            <a:br/>
            <a:r>
              <a:rPr sz="950" b="0" dirty="0">
                <a:solidFill>
                  <a:srgbClr val="525252"/>
                </a:solidFill>
                <a:latin typeface="Inter"/>
                <a:cs typeface="Inter"/>
              </a:rPr>
              <a:t>Etiqueta: tracking positivo.</a:t>
            </a:r>
            <a:br/>
            <a:r>
              <a:rPr sz="950" b="0" dirty="0">
                <a:solidFill>
                  <a:srgbClr val="525252"/>
                </a:solidFill>
                <a:latin typeface="Inter"/>
                <a:cs typeface="Inter"/>
              </a:rPr>
              <a:t>Cuerpo: cero.</a:t>
            </a:r>
          </a:p>
        </p:txBody>
      </p:sp>
      <p:sp>
        <p:nvSpPr>
          <p:cNvPr id="42" name="TextBox 41"/>
          <p:cNvSpPr txBox="1"/>
          <p:nvPr/>
        </p:nvSpPr>
        <p:spPr>
          <a:xfrm>
            <a:off x="9182100" y="2962656"/>
            <a:ext cx="2400300" cy="635000"/>
          </a:xfrm>
          <a:prstGeom prst="rect">
            <a:avLst/>
          </a:prstGeom>
          <a:noFill/>
          <a:effectLst/>
        </p:spPr>
        <p:txBody>
          <a:bodyPr wrap="square" lIns="0" rIns="0" tIns="0" bIns="0" anchor="t"/>
          <a:lstStyle/>
          <a:p>
            <a:pPr algn="l">
              <a:lnSpc>
                <a:spcPts val="1377"/>
              </a:lnSpc>
            </a:pPr>
            <a:r>
              <a:rPr sz="950" b="0" dirty="0">
                <a:solidFill>
                  <a:srgbClr val="525252"/>
                </a:solidFill>
                <a:latin typeface="Inter"/>
                <a:cs typeface="Inter"/>
              </a:rPr>
              <a:t>Cuanto mayor el cuerpo,</a:t>
            </a:r>
            <a:br/>
            <a:r>
              <a:rPr sz="950" b="0" dirty="0">
                <a:solidFill>
                  <a:srgbClr val="525252"/>
                </a:solidFill>
                <a:latin typeface="Inter"/>
                <a:cs typeface="Inter"/>
              </a:rPr>
              <a:t>más apretada la interlínea.</a:t>
            </a:r>
          </a:p>
        </p:txBody>
      </p:sp>
      <p:sp>
        <p:nvSpPr>
          <p:cNvPr id="43" name="TextBox 42"/>
          <p:cNvSpPr txBox="1"/>
          <p:nvPr/>
        </p:nvSpPr>
        <p:spPr>
          <a:xfrm>
            <a:off x="9182100" y="3648456"/>
            <a:ext cx="2400300" cy="635000"/>
          </a:xfrm>
          <a:prstGeom prst="rect">
            <a:avLst/>
          </a:prstGeom>
          <a:noFill/>
          <a:effectLst/>
        </p:spPr>
        <p:txBody>
          <a:bodyPr wrap="square" lIns="0" rIns="0" tIns="0" bIns="0" anchor="t"/>
          <a:lstStyle/>
          <a:p>
            <a:pPr algn="l">
              <a:lnSpc>
                <a:spcPts val="1377"/>
              </a:lnSpc>
            </a:pPr>
            <a:r>
              <a:rPr sz="950" b="0" dirty="0">
                <a:solidFill>
                  <a:srgbClr val="525252"/>
                </a:solidFill>
                <a:latin typeface="Inter"/>
                <a:cs typeface="Inter"/>
              </a:rPr>
              <a:t>Máximo tres niveles</a:t>
            </a:r>
            <a:br/>
            <a:r>
              <a:rPr sz="950" b="0" dirty="0">
                <a:solidFill>
                  <a:srgbClr val="525252"/>
                </a:solidFill>
                <a:latin typeface="Inter"/>
                <a:cs typeface="Inter"/>
              </a:rPr>
              <a:t>por diapositiva.</a:t>
            </a:r>
          </a:p>
        </p:txBody>
      </p:sp>
      <p:sp>
        <p:nvSpPr>
          <p:cNvPr id="44" name="TextBox 43"/>
          <p:cNvSpPr txBox="1"/>
          <p:nvPr/>
        </p:nvSpPr>
        <p:spPr>
          <a:xfrm>
            <a:off x="9182100" y="4334256"/>
            <a:ext cx="2400300" cy="635000"/>
          </a:xfrm>
          <a:prstGeom prst="rect">
            <a:avLst/>
          </a:prstGeom>
          <a:noFill/>
          <a:effectLst/>
        </p:spPr>
        <p:txBody>
          <a:bodyPr wrap="square" lIns="0" rIns="0" tIns="0" bIns="0" anchor="t"/>
          <a:lstStyle/>
          <a:p>
            <a:pPr algn="l">
              <a:lnSpc>
                <a:spcPts val="1377"/>
              </a:lnSpc>
            </a:pPr>
            <a:r>
              <a:rPr sz="950" b="0" dirty="0">
                <a:solidFill>
                  <a:srgbClr val="525252"/>
                </a:solidFill>
                <a:latin typeface="Inter"/>
                <a:cs typeface="Inter"/>
              </a:rPr>
              <a:t>Mínimo absoluto 14 pt.</a:t>
            </a:r>
            <a:br/>
            <a:r>
              <a:rPr sz="950" b="0" dirty="0">
                <a:solidFill>
                  <a:srgbClr val="525252"/>
                </a:solidFill>
                <a:latin typeface="Inter"/>
                <a:cs typeface="Inter"/>
              </a:rPr>
              <a:t>Ni en las notas al pie.</a:t>
            </a:r>
          </a:p>
        </p:txBody>
      </p:sp>
      <p:sp>
        <p:nvSpPr>
          <p:cNvPr id="45" name="TextBox 44"/>
          <p:cNvSpPr txBox="1"/>
          <p:nvPr/>
        </p:nvSpPr>
        <p:spPr>
          <a:xfrm>
            <a:off x="9182100" y="5020056"/>
            <a:ext cx="2400300" cy="635000"/>
          </a:xfrm>
          <a:prstGeom prst="rect">
            <a:avLst/>
          </a:prstGeom>
          <a:noFill/>
          <a:effectLst/>
        </p:spPr>
        <p:txBody>
          <a:bodyPr wrap="square" lIns="0" rIns="0" tIns="0" bIns="0" anchor="t"/>
          <a:lstStyle/>
          <a:p>
            <a:pPr algn="l">
              <a:lnSpc>
                <a:spcPts val="1377"/>
              </a:lnSpc>
            </a:pPr>
            <a:r>
              <a:rPr sz="950" b="0" dirty="0">
                <a:solidFill>
                  <a:srgbClr val="525252"/>
                </a:solidFill>
                <a:latin typeface="Inter"/>
                <a:cs typeface="Inter"/>
              </a:rPr>
              <a:t>Sin cursiva y sin 800/900:</a:t>
            </a:r>
            <a:br/>
            <a:r>
              <a:rPr sz="950" b="0" dirty="0">
                <a:solidFill>
                  <a:srgbClr val="525252"/>
                </a:solidFill>
                <a:latin typeface="Inter"/>
                <a:cs typeface="Inter"/>
              </a:rPr>
              <a:t>el énfasis es peso o color.</a:t>
            </a:r>
          </a:p>
        </p:txBody>
      </p:sp>
      <p:cxnSp>
        <p:nvCxnSpPr>
          <p:cNvPr id="46" name="Connector 45"/>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1" name="TextBox 50"/>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SISTEMA · 02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SISTEMA DE DISEÑO</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Paleta: contraste primero, color al final</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MONOCROMO + 1 ACENTO</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9600" y="1857756"/>
            <a:ext cx="839258" cy="1333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8500" y="2810256"/>
            <a:ext cx="661458" cy="152400"/>
          </a:xfrm>
          <a:prstGeom prst="rect">
            <a:avLst/>
          </a:prstGeom>
          <a:noFill/>
          <a:effectLst/>
        </p:spPr>
        <p:txBody>
          <a:bodyPr wrap="square" lIns="0" rIns="0" tIns="0" bIns="0" anchor="t"/>
          <a:lstStyle/>
          <a:p>
            <a:pPr algn="l">
              <a:lnSpc>
                <a:spcPts val="700"/>
              </a:lnSpc>
            </a:pPr>
            <a:r>
              <a:rPr sz="700" b="1" spc="42" dirty="0">
                <a:solidFill>
                  <a:srgbClr val="FFFFFF"/>
                </a:solidFill>
                <a:latin typeface="Inter"/>
                <a:cs typeface="Inter"/>
              </a:rPr>
              <a:t>#161616</a:t>
            </a:r>
          </a:p>
        </p:txBody>
      </p:sp>
      <p:sp>
        <p:nvSpPr>
          <p:cNvPr id="9" name="TextBox 8"/>
          <p:cNvSpPr txBox="1"/>
          <p:nvPr/>
        </p:nvSpPr>
        <p:spPr>
          <a:xfrm>
            <a:off x="698500" y="2975356"/>
            <a:ext cx="661458" cy="139700"/>
          </a:xfrm>
          <a:prstGeom prst="rect">
            <a:avLst/>
          </a:prstGeom>
          <a:noFill/>
          <a:effectLst/>
        </p:spPr>
        <p:txBody>
          <a:bodyPr wrap="square" lIns="0" rIns="0" tIns="0" bIns="0" anchor="t"/>
          <a:lstStyle/>
          <a:p>
            <a:pPr algn="l">
              <a:lnSpc>
                <a:spcPts val="650"/>
              </a:lnSpc>
            </a:pPr>
            <a:r>
              <a:rPr sz="650" b="0" dirty="0">
                <a:solidFill>
                  <a:srgbClr val="FFFFFF"/>
                </a:solidFill>
                <a:latin typeface="Inter"/>
                <a:cs typeface="Inter"/>
              </a:rPr>
              <a:t>18,9:1</a:t>
            </a:r>
          </a:p>
        </p:txBody>
      </p:sp>
      <p:sp>
        <p:nvSpPr>
          <p:cNvPr id="10" name="TextBox 9"/>
          <p:cNvSpPr txBox="1"/>
          <p:nvPr/>
        </p:nvSpPr>
        <p:spPr>
          <a:xfrm>
            <a:off x="609600" y="3267456"/>
            <a:ext cx="839258" cy="165100"/>
          </a:xfrm>
          <a:prstGeom prst="rect">
            <a:avLst/>
          </a:prstGeom>
          <a:noFill/>
          <a:effectLst/>
        </p:spPr>
        <p:txBody>
          <a:bodyPr wrap="square" lIns="0" rIns="0" tIns="0" bIns="0" anchor="t"/>
          <a:lstStyle/>
          <a:p>
            <a:pPr algn="l">
              <a:lnSpc>
                <a:spcPts val="750"/>
              </a:lnSpc>
            </a:pPr>
            <a:r>
              <a:rPr sz="750" b="1" dirty="0">
                <a:solidFill>
                  <a:srgbClr val="161616"/>
                </a:solidFill>
                <a:latin typeface="Inter"/>
                <a:cs typeface="Inter"/>
              </a:rPr>
              <a:t>Ink</a:t>
            </a:r>
          </a:p>
        </p:txBody>
      </p:sp>
      <p:sp>
        <p:nvSpPr>
          <p:cNvPr id="11" name="Rectangle 10"/>
          <p:cNvSpPr/>
          <p:nvPr/>
        </p:nvSpPr>
        <p:spPr>
          <a:xfrm>
            <a:off x="1525058" y="1857756"/>
            <a:ext cx="839258" cy="13335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613958" y="2810256"/>
            <a:ext cx="661458" cy="152400"/>
          </a:xfrm>
          <a:prstGeom prst="rect">
            <a:avLst/>
          </a:prstGeom>
          <a:noFill/>
          <a:effectLst/>
        </p:spPr>
        <p:txBody>
          <a:bodyPr wrap="square" lIns="0" rIns="0" tIns="0" bIns="0" anchor="t"/>
          <a:lstStyle/>
          <a:p>
            <a:pPr algn="l">
              <a:lnSpc>
                <a:spcPts val="700"/>
              </a:lnSpc>
            </a:pPr>
            <a:r>
              <a:rPr sz="700" b="1" spc="42" dirty="0">
                <a:solidFill>
                  <a:srgbClr val="FFFFFF"/>
                </a:solidFill>
                <a:latin typeface="Inter"/>
                <a:cs typeface="Inter"/>
              </a:rPr>
              <a:t>#262626</a:t>
            </a:r>
          </a:p>
        </p:txBody>
      </p:sp>
      <p:sp>
        <p:nvSpPr>
          <p:cNvPr id="13" name="TextBox 12"/>
          <p:cNvSpPr txBox="1"/>
          <p:nvPr/>
        </p:nvSpPr>
        <p:spPr>
          <a:xfrm>
            <a:off x="1613958" y="2975356"/>
            <a:ext cx="661458" cy="139700"/>
          </a:xfrm>
          <a:prstGeom prst="rect">
            <a:avLst/>
          </a:prstGeom>
          <a:noFill/>
          <a:effectLst/>
        </p:spPr>
        <p:txBody>
          <a:bodyPr wrap="square" lIns="0" rIns="0" tIns="0" bIns="0" anchor="t"/>
          <a:lstStyle/>
          <a:p>
            <a:pPr algn="l">
              <a:lnSpc>
                <a:spcPts val="650"/>
              </a:lnSpc>
            </a:pPr>
            <a:r>
              <a:rPr sz="650" b="0" dirty="0">
                <a:solidFill>
                  <a:srgbClr val="FFFFFF"/>
                </a:solidFill>
                <a:latin typeface="Inter"/>
                <a:cs typeface="Inter"/>
              </a:rPr>
              <a:t>16,1:1</a:t>
            </a:r>
          </a:p>
        </p:txBody>
      </p:sp>
      <p:sp>
        <p:nvSpPr>
          <p:cNvPr id="14" name="TextBox 13"/>
          <p:cNvSpPr txBox="1"/>
          <p:nvPr/>
        </p:nvSpPr>
        <p:spPr>
          <a:xfrm>
            <a:off x="1525058" y="3267456"/>
            <a:ext cx="839258" cy="165100"/>
          </a:xfrm>
          <a:prstGeom prst="rect">
            <a:avLst/>
          </a:prstGeom>
          <a:noFill/>
          <a:effectLst/>
        </p:spPr>
        <p:txBody>
          <a:bodyPr wrap="square" lIns="0" rIns="0" tIns="0" bIns="0" anchor="t"/>
          <a:lstStyle/>
          <a:p>
            <a:pPr algn="l">
              <a:lnSpc>
                <a:spcPts val="750"/>
              </a:lnSpc>
            </a:pPr>
            <a:r>
              <a:rPr sz="750" b="1" dirty="0">
                <a:solidFill>
                  <a:srgbClr val="161616"/>
                </a:solidFill>
                <a:latin typeface="Inter"/>
                <a:cs typeface="Inter"/>
              </a:rPr>
              <a:t>Gray 90</a:t>
            </a:r>
          </a:p>
        </p:txBody>
      </p:sp>
      <p:sp>
        <p:nvSpPr>
          <p:cNvPr id="15" name="Rectangle 14"/>
          <p:cNvSpPr/>
          <p:nvPr/>
        </p:nvSpPr>
        <p:spPr>
          <a:xfrm>
            <a:off x="2440517" y="1857756"/>
            <a:ext cx="839258" cy="133350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529417" y="2810256"/>
            <a:ext cx="661458" cy="152400"/>
          </a:xfrm>
          <a:prstGeom prst="rect">
            <a:avLst/>
          </a:prstGeom>
          <a:noFill/>
          <a:effectLst/>
        </p:spPr>
        <p:txBody>
          <a:bodyPr wrap="square" lIns="0" rIns="0" tIns="0" bIns="0" anchor="t"/>
          <a:lstStyle/>
          <a:p>
            <a:pPr algn="l">
              <a:lnSpc>
                <a:spcPts val="700"/>
              </a:lnSpc>
            </a:pPr>
            <a:r>
              <a:rPr sz="700" b="1" spc="42" dirty="0">
                <a:solidFill>
                  <a:srgbClr val="FFFFFF"/>
                </a:solidFill>
                <a:latin typeface="Inter"/>
                <a:cs typeface="Inter"/>
              </a:rPr>
              <a:t>#525252</a:t>
            </a:r>
          </a:p>
        </p:txBody>
      </p:sp>
      <p:sp>
        <p:nvSpPr>
          <p:cNvPr id="17" name="TextBox 16"/>
          <p:cNvSpPr txBox="1"/>
          <p:nvPr/>
        </p:nvSpPr>
        <p:spPr>
          <a:xfrm>
            <a:off x="2529417" y="2975356"/>
            <a:ext cx="661458" cy="139700"/>
          </a:xfrm>
          <a:prstGeom prst="rect">
            <a:avLst/>
          </a:prstGeom>
          <a:noFill/>
          <a:effectLst/>
        </p:spPr>
        <p:txBody>
          <a:bodyPr wrap="square" lIns="0" rIns="0" tIns="0" bIns="0" anchor="t"/>
          <a:lstStyle/>
          <a:p>
            <a:pPr algn="l">
              <a:lnSpc>
                <a:spcPts val="650"/>
              </a:lnSpc>
            </a:pPr>
            <a:r>
              <a:rPr sz="650" b="0" dirty="0">
                <a:solidFill>
                  <a:srgbClr val="FFFFFF"/>
                </a:solidFill>
                <a:latin typeface="Inter"/>
                <a:cs typeface="Inter"/>
              </a:rPr>
              <a:t>7,5:1</a:t>
            </a:r>
          </a:p>
        </p:txBody>
      </p:sp>
      <p:sp>
        <p:nvSpPr>
          <p:cNvPr id="18" name="TextBox 17"/>
          <p:cNvSpPr txBox="1"/>
          <p:nvPr/>
        </p:nvSpPr>
        <p:spPr>
          <a:xfrm>
            <a:off x="2440517" y="3267456"/>
            <a:ext cx="839258" cy="165100"/>
          </a:xfrm>
          <a:prstGeom prst="rect">
            <a:avLst/>
          </a:prstGeom>
          <a:noFill/>
          <a:effectLst/>
        </p:spPr>
        <p:txBody>
          <a:bodyPr wrap="square" lIns="0" rIns="0" tIns="0" bIns="0" anchor="t"/>
          <a:lstStyle/>
          <a:p>
            <a:pPr algn="l">
              <a:lnSpc>
                <a:spcPts val="750"/>
              </a:lnSpc>
            </a:pPr>
            <a:r>
              <a:rPr sz="750" b="1" dirty="0">
                <a:solidFill>
                  <a:srgbClr val="161616"/>
                </a:solidFill>
                <a:latin typeface="Inter"/>
                <a:cs typeface="Inter"/>
              </a:rPr>
              <a:t>Gray 70</a:t>
            </a:r>
          </a:p>
        </p:txBody>
      </p:sp>
      <p:sp>
        <p:nvSpPr>
          <p:cNvPr id="19" name="Rectangle 18"/>
          <p:cNvSpPr/>
          <p:nvPr/>
        </p:nvSpPr>
        <p:spPr>
          <a:xfrm>
            <a:off x="3355975" y="1857756"/>
            <a:ext cx="839258" cy="13335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44875" y="2810256"/>
            <a:ext cx="661458" cy="152400"/>
          </a:xfrm>
          <a:prstGeom prst="rect">
            <a:avLst/>
          </a:prstGeom>
          <a:noFill/>
          <a:effectLst/>
        </p:spPr>
        <p:txBody>
          <a:bodyPr wrap="square" lIns="0" rIns="0" tIns="0" bIns="0" anchor="t"/>
          <a:lstStyle/>
          <a:p>
            <a:pPr algn="l">
              <a:lnSpc>
                <a:spcPts val="700"/>
              </a:lnSpc>
            </a:pPr>
            <a:r>
              <a:rPr sz="700" b="1" spc="42" dirty="0">
                <a:solidFill>
                  <a:srgbClr val="FFFFFF"/>
                </a:solidFill>
                <a:latin typeface="Inter"/>
                <a:cs typeface="Inter"/>
              </a:rPr>
              <a:t>#6F6F6F</a:t>
            </a:r>
          </a:p>
        </p:txBody>
      </p:sp>
      <p:sp>
        <p:nvSpPr>
          <p:cNvPr id="21" name="TextBox 20"/>
          <p:cNvSpPr txBox="1"/>
          <p:nvPr/>
        </p:nvSpPr>
        <p:spPr>
          <a:xfrm>
            <a:off x="3444875" y="2975356"/>
            <a:ext cx="661458" cy="139700"/>
          </a:xfrm>
          <a:prstGeom prst="rect">
            <a:avLst/>
          </a:prstGeom>
          <a:noFill/>
          <a:effectLst/>
        </p:spPr>
        <p:txBody>
          <a:bodyPr wrap="square" lIns="0" rIns="0" tIns="0" bIns="0" anchor="t"/>
          <a:lstStyle/>
          <a:p>
            <a:pPr algn="l">
              <a:lnSpc>
                <a:spcPts val="650"/>
              </a:lnSpc>
            </a:pPr>
            <a:r>
              <a:rPr sz="650" b="0" dirty="0">
                <a:solidFill>
                  <a:srgbClr val="FFFFFF"/>
                </a:solidFill>
                <a:latin typeface="Inter"/>
                <a:cs typeface="Inter"/>
              </a:rPr>
              <a:t>5,3:1</a:t>
            </a:r>
          </a:p>
        </p:txBody>
      </p:sp>
      <p:sp>
        <p:nvSpPr>
          <p:cNvPr id="22" name="TextBox 21"/>
          <p:cNvSpPr txBox="1"/>
          <p:nvPr/>
        </p:nvSpPr>
        <p:spPr>
          <a:xfrm>
            <a:off x="3355975" y="3267456"/>
            <a:ext cx="839258" cy="165100"/>
          </a:xfrm>
          <a:prstGeom prst="rect">
            <a:avLst/>
          </a:prstGeom>
          <a:noFill/>
          <a:effectLst/>
        </p:spPr>
        <p:txBody>
          <a:bodyPr wrap="square" lIns="0" rIns="0" tIns="0" bIns="0" anchor="t"/>
          <a:lstStyle/>
          <a:p>
            <a:pPr algn="l">
              <a:lnSpc>
                <a:spcPts val="750"/>
              </a:lnSpc>
            </a:pPr>
            <a:r>
              <a:rPr sz="750" b="1" dirty="0">
                <a:solidFill>
                  <a:srgbClr val="161616"/>
                </a:solidFill>
                <a:latin typeface="Inter"/>
                <a:cs typeface="Inter"/>
              </a:rPr>
              <a:t>Gray 60</a:t>
            </a:r>
          </a:p>
        </p:txBody>
      </p:sp>
      <p:sp>
        <p:nvSpPr>
          <p:cNvPr id="23" name="Rectangle 22"/>
          <p:cNvSpPr/>
          <p:nvPr/>
        </p:nvSpPr>
        <p:spPr>
          <a:xfrm>
            <a:off x="4271433" y="1857756"/>
            <a:ext cx="839258" cy="1333500"/>
          </a:xfrm>
          <a:prstGeom prst="rect">
            <a:avLst/>
          </a:prstGeom>
          <a:solidFill>
            <a:srgbClr val="8D8D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60333" y="2810256"/>
            <a:ext cx="661458" cy="152400"/>
          </a:xfrm>
          <a:prstGeom prst="rect">
            <a:avLst/>
          </a:prstGeom>
          <a:noFill/>
          <a:effectLst/>
        </p:spPr>
        <p:txBody>
          <a:bodyPr wrap="square" lIns="0" rIns="0" tIns="0" bIns="0" anchor="t"/>
          <a:lstStyle/>
          <a:p>
            <a:pPr algn="l">
              <a:lnSpc>
                <a:spcPts val="700"/>
              </a:lnSpc>
            </a:pPr>
            <a:r>
              <a:rPr sz="700" b="1" spc="42" dirty="0">
                <a:solidFill>
                  <a:srgbClr val="161616"/>
                </a:solidFill>
                <a:latin typeface="Inter"/>
                <a:cs typeface="Inter"/>
              </a:rPr>
              <a:t>#8D8D8D</a:t>
            </a:r>
          </a:p>
        </p:txBody>
      </p:sp>
      <p:sp>
        <p:nvSpPr>
          <p:cNvPr id="25" name="TextBox 24"/>
          <p:cNvSpPr txBox="1"/>
          <p:nvPr/>
        </p:nvSpPr>
        <p:spPr>
          <a:xfrm>
            <a:off x="4360333" y="2975356"/>
            <a:ext cx="661458" cy="139700"/>
          </a:xfrm>
          <a:prstGeom prst="rect">
            <a:avLst/>
          </a:prstGeom>
          <a:noFill/>
          <a:effectLst/>
        </p:spPr>
        <p:txBody>
          <a:bodyPr wrap="square" lIns="0" rIns="0" tIns="0" bIns="0" anchor="t"/>
          <a:lstStyle/>
          <a:p>
            <a:pPr algn="l">
              <a:lnSpc>
                <a:spcPts val="650"/>
              </a:lnSpc>
            </a:pPr>
            <a:r>
              <a:rPr sz="650" b="0" dirty="0">
                <a:solidFill>
                  <a:srgbClr val="161616"/>
                </a:solidFill>
                <a:latin typeface="Inter"/>
                <a:cs typeface="Inter"/>
              </a:rPr>
              <a:t>3,2:1</a:t>
            </a:r>
          </a:p>
        </p:txBody>
      </p:sp>
      <p:sp>
        <p:nvSpPr>
          <p:cNvPr id="26" name="TextBox 25"/>
          <p:cNvSpPr txBox="1"/>
          <p:nvPr/>
        </p:nvSpPr>
        <p:spPr>
          <a:xfrm>
            <a:off x="4271433" y="3267456"/>
            <a:ext cx="839258" cy="165100"/>
          </a:xfrm>
          <a:prstGeom prst="rect">
            <a:avLst/>
          </a:prstGeom>
          <a:noFill/>
          <a:effectLst/>
        </p:spPr>
        <p:txBody>
          <a:bodyPr wrap="square" lIns="0" rIns="0" tIns="0" bIns="0" anchor="t"/>
          <a:lstStyle/>
          <a:p>
            <a:pPr algn="l">
              <a:lnSpc>
                <a:spcPts val="750"/>
              </a:lnSpc>
            </a:pPr>
            <a:r>
              <a:rPr sz="750" b="1" dirty="0">
                <a:solidFill>
                  <a:srgbClr val="161616"/>
                </a:solidFill>
                <a:latin typeface="Inter"/>
                <a:cs typeface="Inter"/>
              </a:rPr>
              <a:t>Gray 50</a:t>
            </a:r>
          </a:p>
        </p:txBody>
      </p:sp>
      <p:sp>
        <p:nvSpPr>
          <p:cNvPr id="27" name="Rectangle 26"/>
          <p:cNvSpPr/>
          <p:nvPr/>
        </p:nvSpPr>
        <p:spPr>
          <a:xfrm>
            <a:off x="5186892" y="1857756"/>
            <a:ext cx="839258" cy="13335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75792" y="2810256"/>
            <a:ext cx="661458" cy="152400"/>
          </a:xfrm>
          <a:prstGeom prst="rect">
            <a:avLst/>
          </a:prstGeom>
          <a:noFill/>
          <a:effectLst/>
        </p:spPr>
        <p:txBody>
          <a:bodyPr wrap="square" lIns="0" rIns="0" tIns="0" bIns="0" anchor="t"/>
          <a:lstStyle/>
          <a:p>
            <a:pPr algn="l">
              <a:lnSpc>
                <a:spcPts val="700"/>
              </a:lnSpc>
            </a:pPr>
            <a:r>
              <a:rPr sz="700" b="1" spc="42" dirty="0">
                <a:solidFill>
                  <a:srgbClr val="161616"/>
                </a:solidFill>
                <a:latin typeface="Inter"/>
                <a:cs typeface="Inter"/>
              </a:rPr>
              <a:t>#E0E0E0</a:t>
            </a:r>
          </a:p>
        </p:txBody>
      </p:sp>
      <p:sp>
        <p:nvSpPr>
          <p:cNvPr id="29" name="TextBox 28"/>
          <p:cNvSpPr txBox="1"/>
          <p:nvPr/>
        </p:nvSpPr>
        <p:spPr>
          <a:xfrm>
            <a:off x="5275792" y="2975356"/>
            <a:ext cx="661458" cy="139700"/>
          </a:xfrm>
          <a:prstGeom prst="rect">
            <a:avLst/>
          </a:prstGeom>
          <a:noFill/>
          <a:effectLst/>
        </p:spPr>
        <p:txBody>
          <a:bodyPr wrap="square" lIns="0" rIns="0" tIns="0" bIns="0" anchor="t"/>
          <a:lstStyle/>
          <a:p>
            <a:pPr algn="l">
              <a:lnSpc>
                <a:spcPts val="650"/>
              </a:lnSpc>
            </a:pPr>
            <a:r>
              <a:rPr sz="650" b="0" dirty="0">
                <a:solidFill>
                  <a:srgbClr val="161616"/>
                </a:solidFill>
                <a:latin typeface="Inter"/>
                <a:cs typeface="Inter"/>
              </a:rPr>
              <a:t>—</a:t>
            </a:r>
          </a:p>
        </p:txBody>
      </p:sp>
      <p:sp>
        <p:nvSpPr>
          <p:cNvPr id="30" name="TextBox 29"/>
          <p:cNvSpPr txBox="1"/>
          <p:nvPr/>
        </p:nvSpPr>
        <p:spPr>
          <a:xfrm>
            <a:off x="5186892" y="3267456"/>
            <a:ext cx="839258" cy="165100"/>
          </a:xfrm>
          <a:prstGeom prst="rect">
            <a:avLst/>
          </a:prstGeom>
          <a:noFill/>
          <a:effectLst/>
        </p:spPr>
        <p:txBody>
          <a:bodyPr wrap="square" lIns="0" rIns="0" tIns="0" bIns="0" anchor="t"/>
          <a:lstStyle/>
          <a:p>
            <a:pPr algn="l">
              <a:lnSpc>
                <a:spcPts val="750"/>
              </a:lnSpc>
            </a:pPr>
            <a:r>
              <a:rPr sz="750" b="1" dirty="0">
                <a:solidFill>
                  <a:srgbClr val="161616"/>
                </a:solidFill>
                <a:latin typeface="Inter"/>
                <a:cs typeface="Inter"/>
              </a:rPr>
              <a:t>Border</a:t>
            </a:r>
          </a:p>
        </p:txBody>
      </p:sp>
      <p:sp>
        <p:nvSpPr>
          <p:cNvPr id="31" name="Rectangle 30"/>
          <p:cNvSpPr/>
          <p:nvPr/>
        </p:nvSpPr>
        <p:spPr>
          <a:xfrm>
            <a:off x="6102350" y="1857756"/>
            <a:ext cx="839258" cy="13335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191250" y="2810256"/>
            <a:ext cx="661458" cy="152400"/>
          </a:xfrm>
          <a:prstGeom prst="rect">
            <a:avLst/>
          </a:prstGeom>
          <a:noFill/>
          <a:effectLst/>
        </p:spPr>
        <p:txBody>
          <a:bodyPr wrap="square" lIns="0" rIns="0" tIns="0" bIns="0" anchor="t"/>
          <a:lstStyle/>
          <a:p>
            <a:pPr algn="l">
              <a:lnSpc>
                <a:spcPts val="700"/>
              </a:lnSpc>
            </a:pPr>
            <a:r>
              <a:rPr sz="700" b="1" spc="42" dirty="0">
                <a:solidFill>
                  <a:srgbClr val="161616"/>
                </a:solidFill>
                <a:latin typeface="Inter"/>
                <a:cs typeface="Inter"/>
              </a:rPr>
              <a:t>#F4F4F4</a:t>
            </a:r>
          </a:p>
        </p:txBody>
      </p:sp>
      <p:sp>
        <p:nvSpPr>
          <p:cNvPr id="33" name="TextBox 32"/>
          <p:cNvSpPr txBox="1"/>
          <p:nvPr/>
        </p:nvSpPr>
        <p:spPr>
          <a:xfrm>
            <a:off x="6191250" y="2975356"/>
            <a:ext cx="661458" cy="139700"/>
          </a:xfrm>
          <a:prstGeom prst="rect">
            <a:avLst/>
          </a:prstGeom>
          <a:noFill/>
          <a:effectLst/>
        </p:spPr>
        <p:txBody>
          <a:bodyPr wrap="square" lIns="0" rIns="0" tIns="0" bIns="0" anchor="t"/>
          <a:lstStyle/>
          <a:p>
            <a:pPr algn="l">
              <a:lnSpc>
                <a:spcPts val="650"/>
              </a:lnSpc>
            </a:pPr>
            <a:r>
              <a:rPr sz="650" b="0" dirty="0">
                <a:solidFill>
                  <a:srgbClr val="161616"/>
                </a:solidFill>
                <a:latin typeface="Inter"/>
                <a:cs typeface="Inter"/>
              </a:rPr>
              <a:t>—</a:t>
            </a:r>
          </a:p>
        </p:txBody>
      </p:sp>
      <p:sp>
        <p:nvSpPr>
          <p:cNvPr id="34" name="TextBox 33"/>
          <p:cNvSpPr txBox="1"/>
          <p:nvPr/>
        </p:nvSpPr>
        <p:spPr>
          <a:xfrm>
            <a:off x="6102350" y="3267456"/>
            <a:ext cx="839258" cy="165100"/>
          </a:xfrm>
          <a:prstGeom prst="rect">
            <a:avLst/>
          </a:prstGeom>
          <a:noFill/>
          <a:effectLst/>
        </p:spPr>
        <p:txBody>
          <a:bodyPr wrap="square" lIns="0" rIns="0" tIns="0" bIns="0" anchor="t"/>
          <a:lstStyle/>
          <a:p>
            <a:pPr algn="l">
              <a:lnSpc>
                <a:spcPts val="750"/>
              </a:lnSpc>
            </a:pPr>
            <a:r>
              <a:rPr sz="750" b="1" dirty="0">
                <a:solidFill>
                  <a:srgbClr val="161616"/>
                </a:solidFill>
                <a:latin typeface="Inter"/>
                <a:cs typeface="Inter"/>
              </a:rPr>
              <a:t>Layer 01</a:t>
            </a:r>
          </a:p>
        </p:txBody>
      </p:sp>
      <p:sp>
        <p:nvSpPr>
          <p:cNvPr id="35" name="Rectangle 34"/>
          <p:cNvSpPr/>
          <p:nvPr/>
        </p:nvSpPr>
        <p:spPr>
          <a:xfrm>
            <a:off x="7017808" y="1857756"/>
            <a:ext cx="839258" cy="1333500"/>
          </a:xfrm>
          <a:prstGeom prst="rect">
            <a:avLst/>
          </a:prstGeom>
          <a:solidFill>
            <a:srgbClr val="FFFFFF"/>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106708" y="2810256"/>
            <a:ext cx="661458" cy="152400"/>
          </a:xfrm>
          <a:prstGeom prst="rect">
            <a:avLst/>
          </a:prstGeom>
          <a:noFill/>
          <a:effectLst/>
        </p:spPr>
        <p:txBody>
          <a:bodyPr wrap="square" lIns="0" rIns="0" tIns="0" bIns="0" anchor="t"/>
          <a:lstStyle/>
          <a:p>
            <a:pPr algn="l">
              <a:lnSpc>
                <a:spcPts val="700"/>
              </a:lnSpc>
            </a:pPr>
            <a:r>
              <a:rPr sz="700" b="1" spc="42" dirty="0">
                <a:solidFill>
                  <a:srgbClr val="161616"/>
                </a:solidFill>
                <a:latin typeface="Inter"/>
                <a:cs typeface="Inter"/>
              </a:rPr>
              <a:t>#FFFFFF</a:t>
            </a:r>
          </a:p>
        </p:txBody>
      </p:sp>
      <p:sp>
        <p:nvSpPr>
          <p:cNvPr id="37" name="TextBox 36"/>
          <p:cNvSpPr txBox="1"/>
          <p:nvPr/>
        </p:nvSpPr>
        <p:spPr>
          <a:xfrm>
            <a:off x="7106708" y="2975356"/>
            <a:ext cx="661458" cy="139700"/>
          </a:xfrm>
          <a:prstGeom prst="rect">
            <a:avLst/>
          </a:prstGeom>
          <a:noFill/>
          <a:effectLst/>
        </p:spPr>
        <p:txBody>
          <a:bodyPr wrap="square" lIns="0" rIns="0" tIns="0" bIns="0" anchor="t"/>
          <a:lstStyle/>
          <a:p>
            <a:pPr algn="l">
              <a:lnSpc>
                <a:spcPts val="650"/>
              </a:lnSpc>
            </a:pPr>
            <a:r>
              <a:rPr sz="650" b="0" dirty="0">
                <a:solidFill>
                  <a:srgbClr val="161616"/>
                </a:solidFill>
                <a:latin typeface="Inter"/>
                <a:cs typeface="Inter"/>
              </a:rPr>
              <a:t>—</a:t>
            </a:r>
          </a:p>
        </p:txBody>
      </p:sp>
      <p:sp>
        <p:nvSpPr>
          <p:cNvPr id="38" name="TextBox 37"/>
          <p:cNvSpPr txBox="1"/>
          <p:nvPr/>
        </p:nvSpPr>
        <p:spPr>
          <a:xfrm>
            <a:off x="7017808" y="3267456"/>
            <a:ext cx="839258" cy="165100"/>
          </a:xfrm>
          <a:prstGeom prst="rect">
            <a:avLst/>
          </a:prstGeom>
          <a:noFill/>
          <a:effectLst/>
        </p:spPr>
        <p:txBody>
          <a:bodyPr wrap="square" lIns="0" rIns="0" tIns="0" bIns="0" anchor="t"/>
          <a:lstStyle/>
          <a:p>
            <a:pPr algn="l">
              <a:lnSpc>
                <a:spcPts val="750"/>
              </a:lnSpc>
            </a:pPr>
            <a:r>
              <a:rPr sz="750" b="1" dirty="0">
                <a:solidFill>
                  <a:srgbClr val="161616"/>
                </a:solidFill>
                <a:latin typeface="Inter"/>
                <a:cs typeface="Inter"/>
              </a:rPr>
              <a:t>Papel</a:t>
            </a:r>
          </a:p>
        </p:txBody>
      </p:sp>
      <p:cxnSp>
        <p:nvCxnSpPr>
          <p:cNvPr id="39" name="Connector 38"/>
          <p:cNvCxnSpPr/>
          <p:nvPr/>
        </p:nvCxnSpPr>
        <p:spPr>
          <a:xfrm>
            <a:off x="609600" y="3699256"/>
            <a:ext cx="7247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09600" y="3838956"/>
            <a:ext cx="2540000" cy="1905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EL ACENTO DEL CAMINO</a:t>
            </a:r>
          </a:p>
        </p:txBody>
      </p:sp>
      <p:sp>
        <p:nvSpPr>
          <p:cNvPr id="41" name="Rectangle 40"/>
          <p:cNvSpPr/>
          <p:nvPr/>
        </p:nvSpPr>
        <p:spPr>
          <a:xfrm>
            <a:off x="609600" y="4118356"/>
            <a:ext cx="3395133" cy="8255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62000" y="4270756"/>
            <a:ext cx="3090333" cy="215900"/>
          </a:xfrm>
          <a:prstGeom prst="rect">
            <a:avLst/>
          </a:prstGeom>
          <a:noFill/>
          <a:effectLst/>
        </p:spPr>
        <p:txBody>
          <a:bodyPr wrap="square" lIns="0" rIns="0" tIns="0" bIns="0" anchor="t"/>
          <a:lstStyle/>
          <a:p>
            <a:pPr algn="l">
              <a:lnSpc>
                <a:spcPts val="1430"/>
              </a:lnSpc>
            </a:pPr>
            <a:r>
              <a:rPr sz="1300" b="1" spc="-13" dirty="0">
                <a:solidFill>
                  <a:srgbClr val="FFFFFF"/>
                </a:solidFill>
                <a:latin typeface="Inter"/>
                <a:cs typeface="Inter"/>
              </a:rPr>
              <a:t>Remote Professional</a:t>
            </a:r>
          </a:p>
        </p:txBody>
      </p:sp>
      <p:sp>
        <p:nvSpPr>
          <p:cNvPr id="43" name="TextBox 42"/>
          <p:cNvSpPr txBox="1"/>
          <p:nvPr/>
        </p:nvSpPr>
        <p:spPr>
          <a:xfrm>
            <a:off x="762000" y="4537456"/>
            <a:ext cx="3090333" cy="190500"/>
          </a:xfrm>
          <a:prstGeom prst="rect">
            <a:avLst/>
          </a:prstGeom>
          <a:noFill/>
          <a:effectLst/>
        </p:spPr>
        <p:txBody>
          <a:bodyPr wrap="square" lIns="0" rIns="0" tIns="0" bIns="0" anchor="t"/>
          <a:lstStyle/>
          <a:p>
            <a:pPr algn="l">
              <a:lnSpc>
                <a:spcPts val="960"/>
              </a:lnSpc>
            </a:pPr>
            <a:r>
              <a:rPr sz="800" b="0" dirty="0">
                <a:solidFill>
                  <a:srgbClr val="FFFFFF"/>
                </a:solidFill>
                <a:latin typeface="Inter"/>
                <a:cs typeface="Inter"/>
              </a:rPr>
              <a:t>#5B4BF5 · Career Accelerator</a:t>
            </a:r>
          </a:p>
        </p:txBody>
      </p:sp>
      <p:sp>
        <p:nvSpPr>
          <p:cNvPr id="44" name="Rectangle 43"/>
          <p:cNvSpPr/>
          <p:nvPr/>
        </p:nvSpPr>
        <p:spPr>
          <a:xfrm>
            <a:off x="4258733" y="4118356"/>
            <a:ext cx="3395133" cy="825500"/>
          </a:xfrm>
          <a:prstGeom prst="rect">
            <a:avLst/>
          </a:prstGeom>
          <a:solidFill>
            <a:srgbClr val="E446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4411133" y="4270756"/>
            <a:ext cx="3090333" cy="215900"/>
          </a:xfrm>
          <a:prstGeom prst="rect">
            <a:avLst/>
          </a:prstGeom>
          <a:noFill/>
          <a:effectLst/>
        </p:spPr>
        <p:txBody>
          <a:bodyPr wrap="square" lIns="0" rIns="0" tIns="0" bIns="0" anchor="t"/>
          <a:lstStyle/>
          <a:p>
            <a:pPr algn="l">
              <a:lnSpc>
                <a:spcPts val="1430"/>
              </a:lnSpc>
            </a:pPr>
            <a:r>
              <a:rPr sz="1300" b="1" spc="-13" dirty="0">
                <a:solidFill>
                  <a:srgbClr val="FFFFFF"/>
                </a:solidFill>
                <a:latin typeface="Inter"/>
                <a:cs typeface="Inter"/>
              </a:rPr>
              <a:t>Remote Founder</a:t>
            </a:r>
          </a:p>
        </p:txBody>
      </p:sp>
      <p:sp>
        <p:nvSpPr>
          <p:cNvPr id="46" name="TextBox 45"/>
          <p:cNvSpPr txBox="1"/>
          <p:nvPr/>
        </p:nvSpPr>
        <p:spPr>
          <a:xfrm>
            <a:off x="4411133" y="4537456"/>
            <a:ext cx="3090333" cy="190500"/>
          </a:xfrm>
          <a:prstGeom prst="rect">
            <a:avLst/>
          </a:prstGeom>
          <a:noFill/>
          <a:effectLst/>
        </p:spPr>
        <p:txBody>
          <a:bodyPr wrap="square" lIns="0" rIns="0" tIns="0" bIns="0" anchor="t"/>
          <a:lstStyle/>
          <a:p>
            <a:pPr algn="l">
              <a:lnSpc>
                <a:spcPts val="960"/>
              </a:lnSpc>
            </a:pPr>
            <a:r>
              <a:rPr sz="800" b="0" dirty="0">
                <a:solidFill>
                  <a:srgbClr val="FFFFFF"/>
                </a:solidFill>
                <a:latin typeface="Inter"/>
                <a:cs typeface="Inter"/>
              </a:rPr>
              <a:t>#E4462F · Global Builder</a:t>
            </a:r>
          </a:p>
        </p:txBody>
      </p:sp>
      <p:sp>
        <p:nvSpPr>
          <p:cNvPr id="47" name="TextBox 46"/>
          <p:cNvSpPr txBox="1"/>
          <p:nvPr/>
        </p:nvSpPr>
        <p:spPr>
          <a:xfrm>
            <a:off x="609600" y="5070856"/>
            <a:ext cx="7247467" cy="381000"/>
          </a:xfrm>
          <a:prstGeom prst="rect">
            <a:avLst/>
          </a:prstGeom>
          <a:noFill/>
          <a:effectLst/>
        </p:spPr>
        <p:txBody>
          <a:bodyPr wrap="square" lIns="0" rIns="0" tIns="0" bIns="0" anchor="t"/>
          <a:lstStyle/>
          <a:p>
            <a:pPr algn="l">
              <a:lnSpc>
                <a:spcPts val="1377"/>
              </a:lnSpc>
            </a:pPr>
            <a:r>
              <a:rPr sz="950" b="0" dirty="0">
                <a:solidFill>
                  <a:srgbClr val="525252"/>
                </a:solidFill>
                <a:latin typeface="Inter"/>
                <a:cs typeface="Inter"/>
              </a:rPr>
              <a:t>Se usa en la etiqueta de la portada, en la atribución de una cita y en el rectángulo que destaca una captura. Nunca como fondo ni como color de titular.</a:t>
            </a:r>
          </a:p>
        </p:txBody>
      </p:sp>
      <p:sp>
        <p:nvSpPr>
          <p:cNvPr id="48" name="TextBox 47"/>
          <p:cNvSpPr txBox="1"/>
          <p:nvPr/>
        </p:nvSpPr>
        <p:spPr>
          <a:xfrm>
            <a:off x="8212667" y="1857756"/>
            <a:ext cx="3369733" cy="254000"/>
          </a:xfrm>
          <a:prstGeom prst="rect">
            <a:avLst/>
          </a:prstGeom>
          <a:noFill/>
          <a:effectLst/>
        </p:spPr>
        <p:txBody>
          <a:bodyPr wrap="square" lIns="0" rIns="0" tIns="0" bIns="0" anchor="t"/>
          <a:lstStyle/>
          <a:p>
            <a:pPr algn="l">
              <a:lnSpc>
                <a:spcPts val="2200"/>
              </a:lnSpc>
            </a:pPr>
            <a:r>
              <a:rPr sz="2200" b="1" spc="-66" dirty="0">
                <a:solidFill>
                  <a:srgbClr val="161616"/>
                </a:solidFill>
                <a:latin typeface="Inter"/>
                <a:cs typeface="Inter"/>
              </a:rPr>
              <a:t>70 / 20 / 10</a:t>
            </a:r>
          </a:p>
        </p:txBody>
      </p:sp>
      <p:sp>
        <p:nvSpPr>
          <p:cNvPr id="49" name="TextBox 48"/>
          <p:cNvSpPr txBox="1"/>
          <p:nvPr/>
        </p:nvSpPr>
        <p:spPr>
          <a:xfrm>
            <a:off x="8212667" y="2226056"/>
            <a:ext cx="3369733" cy="571500"/>
          </a:xfrm>
          <a:prstGeom prst="rect">
            <a:avLst/>
          </a:prstGeom>
          <a:noFill/>
          <a:effectLst/>
        </p:spPr>
        <p:txBody>
          <a:bodyPr wrap="square" lIns="0" rIns="0" tIns="0" bIns="0" anchor="t"/>
          <a:lstStyle/>
          <a:p>
            <a:pPr algn="l">
              <a:lnSpc>
                <a:spcPts val="1377"/>
              </a:lnSpc>
            </a:pPr>
            <a:r>
              <a:rPr sz="950" b="0" dirty="0">
                <a:solidFill>
                  <a:srgbClr val="525252"/>
                </a:solidFill>
                <a:latin typeface="Inter"/>
                <a:cs typeface="Inter"/>
              </a:rPr>
              <a:t>Papel, tinta y acento. El acento aparece una vez por diapositiva: repetido cinco veces deja de ser acento.</a:t>
            </a:r>
          </a:p>
        </p:txBody>
      </p:sp>
      <p:sp>
        <p:nvSpPr>
          <p:cNvPr id="50" name="Rectangle 49"/>
          <p:cNvSpPr/>
          <p:nvPr/>
        </p:nvSpPr>
        <p:spPr>
          <a:xfrm>
            <a:off x="8212667" y="2975356"/>
            <a:ext cx="2333413" cy="571500"/>
          </a:xfrm>
          <a:prstGeom prst="rect">
            <a:avLst/>
          </a:prstGeom>
          <a:solidFill>
            <a:srgbClr val="FFFFFF"/>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212667" y="3610356"/>
            <a:ext cx="1905000" cy="152400"/>
          </a:xfrm>
          <a:prstGeom prst="rect">
            <a:avLst/>
          </a:prstGeom>
          <a:noFill/>
          <a:effectLst/>
        </p:spPr>
        <p:txBody>
          <a:bodyPr wrap="square" lIns="0" rIns="0" tIns="0" bIns="0" anchor="t"/>
          <a:lstStyle/>
          <a:p>
            <a:pPr algn="l">
              <a:lnSpc>
                <a:spcPts val="650"/>
              </a:lnSpc>
            </a:pPr>
            <a:r>
              <a:rPr sz="650" b="1" spc="78" dirty="0">
                <a:solidFill>
                  <a:srgbClr val="6F6F6F"/>
                </a:solidFill>
                <a:latin typeface="Inter"/>
                <a:cs typeface="Inter"/>
              </a:rPr>
              <a:t>70 % PAPEL</a:t>
            </a:r>
          </a:p>
        </p:txBody>
      </p:sp>
      <p:sp>
        <p:nvSpPr>
          <p:cNvPr id="52" name="Rectangle 51"/>
          <p:cNvSpPr/>
          <p:nvPr/>
        </p:nvSpPr>
        <p:spPr>
          <a:xfrm>
            <a:off x="10571480" y="2975356"/>
            <a:ext cx="648547" cy="571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10571480" y="3610356"/>
            <a:ext cx="1010920" cy="152400"/>
          </a:xfrm>
          <a:prstGeom prst="rect">
            <a:avLst/>
          </a:prstGeom>
          <a:noFill/>
          <a:effectLst/>
        </p:spPr>
        <p:txBody>
          <a:bodyPr wrap="square" lIns="0" rIns="0" tIns="0" bIns="0" anchor="t"/>
          <a:lstStyle/>
          <a:p>
            <a:pPr algn="l">
              <a:lnSpc>
                <a:spcPts val="650"/>
              </a:lnSpc>
            </a:pPr>
            <a:r>
              <a:rPr sz="650" b="1" spc="78" dirty="0">
                <a:solidFill>
                  <a:srgbClr val="6F6F6F"/>
                </a:solidFill>
                <a:latin typeface="Inter"/>
                <a:cs typeface="Inter"/>
              </a:rPr>
              <a:t>20 % TINTA</a:t>
            </a:r>
          </a:p>
        </p:txBody>
      </p:sp>
      <p:sp>
        <p:nvSpPr>
          <p:cNvPr id="54" name="Rectangle 53"/>
          <p:cNvSpPr/>
          <p:nvPr/>
        </p:nvSpPr>
        <p:spPr>
          <a:xfrm>
            <a:off x="11245427" y="2975356"/>
            <a:ext cx="311573" cy="5715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212667" y="3610356"/>
            <a:ext cx="3369733" cy="152400"/>
          </a:xfrm>
          <a:prstGeom prst="rect">
            <a:avLst/>
          </a:prstGeom>
          <a:noFill/>
          <a:effectLst/>
        </p:spPr>
        <p:txBody>
          <a:bodyPr wrap="square" lIns="0" rIns="0" tIns="0" bIns="0" anchor="t"/>
          <a:lstStyle/>
          <a:p>
            <a:pPr algn="r">
              <a:lnSpc>
                <a:spcPts val="650"/>
              </a:lnSpc>
            </a:pPr>
            <a:r>
              <a:rPr sz="650" b="1" spc="78" dirty="0">
                <a:solidFill>
                  <a:srgbClr val="6F6F6F"/>
                </a:solidFill>
                <a:latin typeface="Inter"/>
                <a:cs typeface="Inter"/>
              </a:rPr>
              <a:t>10 % ACENTO</a:t>
            </a:r>
          </a:p>
        </p:txBody>
      </p:sp>
      <p:sp>
        <p:nvSpPr>
          <p:cNvPr id="56" name="TextBox 55"/>
          <p:cNvSpPr txBox="1"/>
          <p:nvPr/>
        </p:nvSpPr>
        <p:spPr>
          <a:xfrm>
            <a:off x="8212667" y="3927856"/>
            <a:ext cx="3369733" cy="1905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REGLA DE ORO</a:t>
            </a:r>
          </a:p>
        </p:txBody>
      </p:sp>
      <p:sp>
        <p:nvSpPr>
          <p:cNvPr id="57" name="TextBox 56"/>
          <p:cNvSpPr txBox="1"/>
          <p:nvPr/>
        </p:nvSpPr>
        <p:spPr>
          <a:xfrm>
            <a:off x="8212667" y="4156456"/>
            <a:ext cx="3369733" cy="1270000"/>
          </a:xfrm>
          <a:prstGeom prst="rect">
            <a:avLst/>
          </a:prstGeom>
          <a:noFill/>
          <a:effectLst/>
        </p:spPr>
        <p:txBody>
          <a:bodyPr wrap="square" lIns="0" rIns="0" tIns="0" bIns="0" anchor="t"/>
          <a:lstStyle/>
          <a:p>
            <a:pPr algn="l">
              <a:lnSpc>
                <a:spcPts val="1425"/>
              </a:lnSpc>
            </a:pPr>
            <a:r>
              <a:rPr sz="950" b="0" dirty="0">
                <a:solidFill>
                  <a:srgbClr val="525252"/>
                </a:solidFill>
                <a:latin typeface="Inter"/>
                <a:cs typeface="Inter"/>
              </a:rPr>
              <a:t>El campus no tiene color de marca: tiene contraste. El color entra en el contenido —una captura, un gráfico— no en la decoración.</a:t>
            </a:r>
          </a:p>
        </p:txBody>
      </p:sp>
      <p:cxnSp>
        <p:nvCxnSpPr>
          <p:cNvPr id="58" name="Connector 57"/>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63" name="TextBox 62"/>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SISTEMA · 03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SISTEMA DE DISEÑO</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El símbolo, el lockup y los cinco gestos</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MARCA</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1857756"/>
            <a:ext cx="3522133" cy="1905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CONSTRUCCIÓN</a:t>
            </a:r>
          </a:p>
        </p:txBody>
      </p:sp>
      <p:sp>
        <p:nvSpPr>
          <p:cNvPr id="8" name="Rectangle 7"/>
          <p:cNvSpPr/>
          <p:nvPr/>
        </p:nvSpPr>
        <p:spPr>
          <a:xfrm>
            <a:off x="609600" y="2175256"/>
            <a:ext cx="1635760" cy="995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9" name="Connector 8"/>
          <p:cNvCxnSpPr/>
          <p:nvPr/>
        </p:nvCxnSpPr>
        <p:spPr>
          <a:xfrm>
            <a:off x="60960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072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84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2296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9408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6520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3632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0744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7856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24968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2080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9192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6304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53416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0528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7640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74752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81864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88976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96088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3200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10312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17424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245360" y="2175256"/>
            <a:ext cx="0" cy="99568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09600" y="217525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9600" y="224637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09600" y="231749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09600" y="238861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09600" y="245973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9600" y="253085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9600" y="260197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9600" y="267309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09600" y="274421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09600" y="281533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09600" y="288645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09600" y="295757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09600" y="302869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09600" y="309981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09600" y="3170936"/>
            <a:ext cx="1635760" cy="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sp>
        <p:nvSpPr>
          <p:cNvPr id="48" name="Freeform 47"/>
          <p:cNvSpPr/>
          <p:nvPr/>
        </p:nvSpPr>
        <p:spPr>
          <a:xfrm>
            <a:off x="680720" y="2246376"/>
            <a:ext cx="640080" cy="853440"/>
          </a:xfrm>
          <a:custGeom>
            <a:avLst/>
            <a:gdLst/>
            <a:ahLst/>
            <a:cxnLst/>
            <a:rect l="l" t="t" r="r" b="b"/>
            <a:pathLst>
              <a:path w="640080" h="853440">
                <a:moveTo>
                  <a:pt x="320040" y="0"/>
                </a:moveTo>
                <a:lnTo>
                  <a:pt x="640080" y="853440"/>
                </a:lnTo>
                <a:lnTo>
                  <a:pt x="0" y="853440"/>
                </a:lnTo>
                <a:close/>
              </a:path>
            </a:pathLst>
          </a:custGeom>
          <a:noFill/>
          <a:ln w="7112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534160" y="2246376"/>
            <a:ext cx="640080" cy="426720"/>
          </a:xfrm>
          <a:custGeom>
            <a:avLst/>
            <a:gdLst/>
            <a:ahLst/>
            <a:cxnLst/>
            <a:rect l="l" t="t" r="r" b="b"/>
            <a:pathLst>
              <a:path w="640080" h="426720">
                <a:moveTo>
                  <a:pt x="0" y="0"/>
                </a:moveTo>
                <a:lnTo>
                  <a:pt x="640080" y="0"/>
                </a:lnTo>
                <a:lnTo>
                  <a:pt x="320040" y="426720"/>
                </a:lnTo>
                <a:close/>
              </a:path>
            </a:pathLst>
          </a:custGeom>
          <a:noFill/>
          <a:ln w="7112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534160" y="2673096"/>
            <a:ext cx="640080" cy="426720"/>
          </a:xfrm>
          <a:custGeom>
            <a:avLst/>
            <a:gdLst/>
            <a:ahLst/>
            <a:cxnLst/>
            <a:rect l="l" t="t" r="r" b="b"/>
            <a:pathLst>
              <a:path w="640080" h="426720">
                <a:moveTo>
                  <a:pt x="0" y="426720"/>
                </a:moveTo>
                <a:lnTo>
                  <a:pt x="640080" y="426720"/>
                </a:lnTo>
                <a:lnTo>
                  <a:pt x="320040" y="0"/>
                </a:lnTo>
                <a:close/>
              </a:path>
            </a:pathLst>
          </a:custGeom>
          <a:noFill/>
          <a:ln w="7112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9600" y="3297936"/>
            <a:ext cx="1635760" cy="165100"/>
          </a:xfrm>
          <a:prstGeom prst="rect">
            <a:avLst/>
          </a:prstGeom>
          <a:noFill/>
          <a:effectLst/>
        </p:spPr>
        <p:txBody>
          <a:bodyPr wrap="square" lIns="0" rIns="0" tIns="0" bIns="0" anchor="t"/>
          <a:lstStyle/>
          <a:p>
            <a:pPr algn="l">
              <a:lnSpc>
                <a:spcPts val="650"/>
              </a:lnSpc>
            </a:pPr>
            <a:r>
              <a:rPr sz="650" b="1" spc="65" dirty="0">
                <a:solidFill>
                  <a:srgbClr val="6F6F6F"/>
                </a:solidFill>
                <a:latin typeface="Inter"/>
                <a:cs typeface="Inter"/>
              </a:rPr>
              <a:t>CAJA 46 × 28 · TRAZO 2 · INGLETE</a:t>
            </a:r>
          </a:p>
        </p:txBody>
      </p:sp>
      <p:sp>
        <p:nvSpPr>
          <p:cNvPr id="52" name="TextBox 51"/>
          <p:cNvSpPr txBox="1"/>
          <p:nvPr/>
        </p:nvSpPr>
        <p:spPr>
          <a:xfrm>
            <a:off x="4398433" y="1857756"/>
            <a:ext cx="3522133" cy="1905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LOCKUP</a:t>
            </a:r>
          </a:p>
        </p:txBody>
      </p:sp>
      <p:sp>
        <p:nvSpPr>
          <p:cNvPr id="53" name="Rectangle 52"/>
          <p:cNvSpPr/>
          <p:nvPr/>
        </p:nvSpPr>
        <p:spPr>
          <a:xfrm>
            <a:off x="4398433" y="2175256"/>
            <a:ext cx="3522133" cy="6350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Freeform 53"/>
          <p:cNvSpPr/>
          <p:nvPr/>
        </p:nvSpPr>
        <p:spPr>
          <a:xfrm>
            <a:off x="4601633" y="2416556"/>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4754033" y="2416556"/>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4754033" y="2492756"/>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57233" y="2403856"/>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8" name="Rectangle 57"/>
          <p:cNvSpPr/>
          <p:nvPr/>
        </p:nvSpPr>
        <p:spPr>
          <a:xfrm>
            <a:off x="4398433" y="2911856"/>
            <a:ext cx="3522133" cy="635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Freeform 58"/>
          <p:cNvSpPr/>
          <p:nvPr/>
        </p:nvSpPr>
        <p:spPr>
          <a:xfrm>
            <a:off x="4601633" y="3153156"/>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4754033" y="3153156"/>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4754033" y="3229356"/>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957233" y="3140456"/>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63" name="TextBox 62"/>
          <p:cNvSpPr txBox="1"/>
          <p:nvPr/>
        </p:nvSpPr>
        <p:spPr>
          <a:xfrm>
            <a:off x="4398433" y="3673856"/>
            <a:ext cx="3522133" cy="381000"/>
          </a:xfrm>
          <a:prstGeom prst="rect">
            <a:avLst/>
          </a:prstGeom>
          <a:noFill/>
          <a:effectLst/>
        </p:spPr>
        <p:txBody>
          <a:bodyPr wrap="square" lIns="0" rIns="0" tIns="0" bIns="0" anchor="t"/>
          <a:lstStyle/>
          <a:p>
            <a:pPr algn="l">
              <a:lnSpc>
                <a:spcPts val="1189"/>
              </a:lnSpc>
            </a:pPr>
            <a:r>
              <a:rPr sz="850" b="0" dirty="0">
                <a:solidFill>
                  <a:srgbClr val="525252"/>
                </a:solidFill>
                <a:latin typeface="Inter"/>
                <a:cs typeface="Inter"/>
              </a:rPr>
              <a:t>Zona de respeto: la altura del símbolo por cada lado. Mínimo en diapositiva: 28 px de alto.</a:t>
            </a:r>
          </a:p>
        </p:txBody>
      </p:sp>
      <p:sp>
        <p:nvSpPr>
          <p:cNvPr id="64" name="TextBox 63"/>
          <p:cNvSpPr txBox="1"/>
          <p:nvPr/>
        </p:nvSpPr>
        <p:spPr>
          <a:xfrm>
            <a:off x="8212667" y="1857756"/>
            <a:ext cx="3369733" cy="1905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LOS CINCO GESTOS</a:t>
            </a:r>
          </a:p>
        </p:txBody>
      </p:sp>
      <p:cxnSp>
        <p:nvCxnSpPr>
          <p:cNvPr id="65" name="Connector 64"/>
          <p:cNvCxnSpPr/>
          <p:nvPr/>
        </p:nvCxnSpPr>
        <p:spPr>
          <a:xfrm>
            <a:off x="8212667" y="2175256"/>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212667" y="2264156"/>
            <a:ext cx="3369733" cy="190500"/>
          </a:xfrm>
          <a:prstGeom prst="rect">
            <a:avLst/>
          </a:prstGeom>
          <a:noFill/>
          <a:effectLst/>
        </p:spPr>
        <p:txBody>
          <a:bodyPr wrap="square" lIns="0" rIns="0" tIns="0" bIns="0" anchor="t"/>
          <a:lstStyle/>
          <a:p>
            <a:pPr algn="l">
              <a:lnSpc>
                <a:spcPts val="1207"/>
              </a:lnSpc>
            </a:pPr>
            <a:r>
              <a:rPr sz="1050" b="1" dirty="0">
                <a:solidFill>
                  <a:srgbClr val="161616"/>
                </a:solidFill>
                <a:latin typeface="Inter"/>
                <a:cs typeface="Inter"/>
              </a:rPr>
              <a:t>Esquina recta</a:t>
            </a:r>
          </a:p>
        </p:txBody>
      </p:sp>
      <p:sp>
        <p:nvSpPr>
          <p:cNvPr id="67" name="TextBox 66"/>
          <p:cNvSpPr txBox="1"/>
          <p:nvPr/>
        </p:nvSpPr>
        <p:spPr>
          <a:xfrm>
            <a:off x="8212667" y="2467356"/>
            <a:ext cx="3369733" cy="1905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Radio 0 px en todo el campus.</a:t>
            </a:r>
          </a:p>
        </p:txBody>
      </p:sp>
      <p:cxnSp>
        <p:nvCxnSpPr>
          <p:cNvPr id="68" name="Connector 67"/>
          <p:cNvCxnSpPr/>
          <p:nvPr/>
        </p:nvCxnSpPr>
        <p:spPr>
          <a:xfrm>
            <a:off x="8212667" y="2759456"/>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8212667" y="2848356"/>
            <a:ext cx="3369733" cy="190500"/>
          </a:xfrm>
          <a:prstGeom prst="rect">
            <a:avLst/>
          </a:prstGeom>
          <a:noFill/>
          <a:effectLst/>
        </p:spPr>
        <p:txBody>
          <a:bodyPr wrap="square" lIns="0" rIns="0" tIns="0" bIns="0" anchor="t"/>
          <a:lstStyle/>
          <a:p>
            <a:pPr algn="l">
              <a:lnSpc>
                <a:spcPts val="1207"/>
              </a:lnSpc>
            </a:pPr>
            <a:r>
              <a:rPr sz="1050" b="1" dirty="0">
                <a:solidFill>
                  <a:srgbClr val="161616"/>
                </a:solidFill>
                <a:latin typeface="Inter"/>
                <a:cs typeface="Inter"/>
              </a:rPr>
              <a:t>Sombra dura</a:t>
            </a:r>
          </a:p>
        </p:txBody>
      </p:sp>
      <p:sp>
        <p:nvSpPr>
          <p:cNvPr id="70" name="TextBox 69"/>
          <p:cNvSpPr txBox="1"/>
          <p:nvPr/>
        </p:nvSpPr>
        <p:spPr>
          <a:xfrm>
            <a:off x="8212667" y="3051556"/>
            <a:ext cx="3369733" cy="1905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8 px 8 px 0 en tinta. Sin difuminar.</a:t>
            </a:r>
          </a:p>
        </p:txBody>
      </p:sp>
      <p:cxnSp>
        <p:nvCxnSpPr>
          <p:cNvPr id="71" name="Connector 70"/>
          <p:cNvCxnSpPr/>
          <p:nvPr/>
        </p:nvCxnSpPr>
        <p:spPr>
          <a:xfrm>
            <a:off x="8212667" y="3343656"/>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8212667" y="3432556"/>
            <a:ext cx="3369733" cy="190500"/>
          </a:xfrm>
          <a:prstGeom prst="rect">
            <a:avLst/>
          </a:prstGeom>
          <a:noFill/>
          <a:effectLst/>
        </p:spPr>
        <p:txBody>
          <a:bodyPr wrap="square" lIns="0" rIns="0" tIns="0" bIns="0" anchor="t"/>
          <a:lstStyle/>
          <a:p>
            <a:pPr algn="l">
              <a:lnSpc>
                <a:spcPts val="1207"/>
              </a:lnSpc>
            </a:pPr>
            <a:r>
              <a:rPr sz="1050" b="1" dirty="0">
                <a:solidFill>
                  <a:srgbClr val="161616"/>
                </a:solidFill>
                <a:latin typeface="Inter"/>
                <a:cs typeface="Inter"/>
              </a:rPr>
              <a:t>Retícula de puntos</a:t>
            </a:r>
          </a:p>
        </p:txBody>
      </p:sp>
      <p:sp>
        <p:nvSpPr>
          <p:cNvPr id="73" name="TextBox 72"/>
          <p:cNvSpPr txBox="1"/>
          <p:nvPr/>
        </p:nvSpPr>
        <p:spPr>
          <a:xfrm>
            <a:off x="8212667" y="3635756"/>
            <a:ext cx="3369733" cy="1905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1 px cada 22 px. Fondos y vacíos.</a:t>
            </a:r>
          </a:p>
        </p:txBody>
      </p:sp>
      <p:cxnSp>
        <p:nvCxnSpPr>
          <p:cNvPr id="74" name="Connector 73"/>
          <p:cNvCxnSpPr/>
          <p:nvPr/>
        </p:nvCxnSpPr>
        <p:spPr>
          <a:xfrm>
            <a:off x="8212667" y="3927856"/>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212667" y="4016756"/>
            <a:ext cx="3369733" cy="190500"/>
          </a:xfrm>
          <a:prstGeom prst="rect">
            <a:avLst/>
          </a:prstGeom>
          <a:noFill/>
          <a:effectLst/>
        </p:spPr>
        <p:txBody>
          <a:bodyPr wrap="square" lIns="0" rIns="0" tIns="0" bIns="0" anchor="t"/>
          <a:lstStyle/>
          <a:p>
            <a:pPr algn="l">
              <a:lnSpc>
                <a:spcPts val="1207"/>
              </a:lnSpc>
            </a:pPr>
            <a:r>
              <a:rPr sz="1050" b="1" dirty="0">
                <a:solidFill>
                  <a:srgbClr val="161616"/>
                </a:solidFill>
                <a:latin typeface="Inter"/>
                <a:cs typeface="Inter"/>
              </a:rPr>
              <a:t>Cuadrado indicador</a:t>
            </a:r>
          </a:p>
        </p:txBody>
      </p:sp>
      <p:sp>
        <p:nvSpPr>
          <p:cNvPr id="76" name="TextBox 75"/>
          <p:cNvSpPr txBox="1"/>
          <p:nvPr/>
        </p:nvSpPr>
        <p:spPr>
          <a:xfrm>
            <a:off x="8212667" y="4219956"/>
            <a:ext cx="3369733" cy="1905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7 px sólidos antes de cada etiqueta.</a:t>
            </a:r>
          </a:p>
        </p:txBody>
      </p:sp>
      <p:cxnSp>
        <p:nvCxnSpPr>
          <p:cNvPr id="77" name="Connector 76"/>
          <p:cNvCxnSpPr/>
          <p:nvPr/>
        </p:nvCxnSpPr>
        <p:spPr>
          <a:xfrm>
            <a:off x="8212667" y="4512056"/>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8212667" y="4600956"/>
            <a:ext cx="3369733" cy="190500"/>
          </a:xfrm>
          <a:prstGeom prst="rect">
            <a:avLst/>
          </a:prstGeom>
          <a:noFill/>
          <a:effectLst/>
        </p:spPr>
        <p:txBody>
          <a:bodyPr wrap="square" lIns="0" rIns="0" tIns="0" bIns="0" anchor="t"/>
          <a:lstStyle/>
          <a:p>
            <a:pPr algn="l">
              <a:lnSpc>
                <a:spcPts val="1207"/>
              </a:lnSpc>
            </a:pPr>
            <a:r>
              <a:rPr sz="1050" b="1" dirty="0">
                <a:solidFill>
                  <a:srgbClr val="161616"/>
                </a:solidFill>
                <a:latin typeface="Inter"/>
                <a:cs typeface="Inter"/>
              </a:rPr>
              <a:t>Strip de cabecera</a:t>
            </a:r>
          </a:p>
        </p:txBody>
      </p:sp>
      <p:sp>
        <p:nvSpPr>
          <p:cNvPr id="79" name="TextBox 78"/>
          <p:cNvSpPr txBox="1"/>
          <p:nvPr/>
        </p:nvSpPr>
        <p:spPr>
          <a:xfrm>
            <a:off x="8212667" y="4804156"/>
            <a:ext cx="3369733" cy="190500"/>
          </a:xfrm>
          <a:prstGeom prst="rect">
            <a:avLst/>
          </a:prstGeom>
          <a:noFill/>
          <a:effectLst/>
        </p:spPr>
        <p:txBody>
          <a:bodyPr wrap="square" lIns="0" rIns="0" tIns="0" bIns="0" anchor="t"/>
          <a:lstStyle/>
          <a:p>
            <a:pPr algn="l">
              <a:lnSpc>
                <a:spcPts val="1105"/>
              </a:lnSpc>
            </a:pPr>
            <a:r>
              <a:rPr sz="850" b="0" dirty="0">
                <a:solidFill>
                  <a:srgbClr val="525252"/>
                </a:solidFill>
                <a:latin typeface="Inter"/>
                <a:cs typeface="Inter"/>
              </a:rPr>
              <a:t>Filete con etiqueta y contador.</a:t>
            </a:r>
          </a:p>
        </p:txBody>
      </p:sp>
      <p:cxnSp>
        <p:nvCxnSpPr>
          <p:cNvPr id="80" name="Connector 79"/>
          <p:cNvCxnSpPr/>
          <p:nvPr/>
        </p:nvCxnSpPr>
        <p:spPr>
          <a:xfrm>
            <a:off x="609600" y="4270756"/>
            <a:ext cx="7247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81" name="sombra"/>
          <p:cNvSpPr/>
          <p:nvPr/>
        </p:nvSpPr>
        <p:spPr>
          <a:xfrm>
            <a:off x="698500" y="4550156"/>
            <a:ext cx="1524000" cy="952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ectangle 81"/>
          <p:cNvSpPr/>
          <p:nvPr/>
        </p:nvSpPr>
        <p:spPr>
          <a:xfrm>
            <a:off x="609600" y="4461256"/>
            <a:ext cx="1524000" cy="952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762000" y="4639056"/>
            <a:ext cx="1270000" cy="571500"/>
          </a:xfrm>
          <a:prstGeom prst="rect">
            <a:avLst/>
          </a:prstGeom>
          <a:noFill/>
          <a:effectLst/>
        </p:spPr>
        <p:txBody>
          <a:bodyPr wrap="square" lIns="0" rIns="0" tIns="0" bIns="0" anchor="t"/>
          <a:lstStyle/>
          <a:p>
            <a:pPr algn="l">
              <a:lnSpc>
                <a:spcPts val="1375"/>
              </a:lnSpc>
            </a:pPr>
            <a:r>
              <a:rPr sz="1100" b="1" dirty="0">
                <a:solidFill>
                  <a:srgbClr val="161616"/>
                </a:solidFill>
                <a:latin typeface="Inter"/>
                <a:cs typeface="Inter"/>
              </a:rPr>
              <a:t>Tarjeta con</a:t>
            </a:r>
            <a:br/>
            <a:r>
              <a:rPr sz="1100" b="1" dirty="0">
                <a:solidFill>
                  <a:srgbClr val="161616"/>
                </a:solidFill>
                <a:latin typeface="Inter"/>
                <a:cs typeface="Inter"/>
              </a:rPr>
              <a:t>sombra dura</a:t>
            </a:r>
          </a:p>
        </p:txBody>
      </p:sp>
      <p:sp>
        <p:nvSpPr>
          <p:cNvPr id="84" name="Rectangle 83"/>
          <p:cNvSpPr/>
          <p:nvPr/>
        </p:nvSpPr>
        <p:spPr>
          <a:xfrm>
            <a:off x="2514600" y="4461256"/>
            <a:ext cx="1524000" cy="952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25654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27051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28448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29845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31242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32639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34036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35433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36830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38227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3962400" y="45120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25654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27051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28448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29845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31242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32639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34036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35433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36830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38227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3962400" y="46517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25654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Rectangle 107"/>
          <p:cNvSpPr/>
          <p:nvPr/>
        </p:nvSpPr>
        <p:spPr>
          <a:xfrm>
            <a:off x="27051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28448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ectangle 109"/>
          <p:cNvSpPr/>
          <p:nvPr/>
        </p:nvSpPr>
        <p:spPr>
          <a:xfrm>
            <a:off x="29845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Rectangle 110"/>
          <p:cNvSpPr/>
          <p:nvPr/>
        </p:nvSpPr>
        <p:spPr>
          <a:xfrm>
            <a:off x="31242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2" name="Rectangle 111"/>
          <p:cNvSpPr/>
          <p:nvPr/>
        </p:nvSpPr>
        <p:spPr>
          <a:xfrm>
            <a:off x="32639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34036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ectangle 113"/>
          <p:cNvSpPr/>
          <p:nvPr/>
        </p:nvSpPr>
        <p:spPr>
          <a:xfrm>
            <a:off x="35433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Rectangle 114"/>
          <p:cNvSpPr/>
          <p:nvPr/>
        </p:nvSpPr>
        <p:spPr>
          <a:xfrm>
            <a:off x="36830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Rectangle 115"/>
          <p:cNvSpPr/>
          <p:nvPr/>
        </p:nvSpPr>
        <p:spPr>
          <a:xfrm>
            <a:off x="38227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ectangle 116"/>
          <p:cNvSpPr/>
          <p:nvPr/>
        </p:nvSpPr>
        <p:spPr>
          <a:xfrm>
            <a:off x="3962400" y="47914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ectangle 117"/>
          <p:cNvSpPr/>
          <p:nvPr/>
        </p:nvSpPr>
        <p:spPr>
          <a:xfrm>
            <a:off x="25654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Rectangle 118"/>
          <p:cNvSpPr/>
          <p:nvPr/>
        </p:nvSpPr>
        <p:spPr>
          <a:xfrm>
            <a:off x="27051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ectangle 119"/>
          <p:cNvSpPr/>
          <p:nvPr/>
        </p:nvSpPr>
        <p:spPr>
          <a:xfrm>
            <a:off x="28448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ectangle 120"/>
          <p:cNvSpPr/>
          <p:nvPr/>
        </p:nvSpPr>
        <p:spPr>
          <a:xfrm>
            <a:off x="29845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31242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Rectangle 122"/>
          <p:cNvSpPr/>
          <p:nvPr/>
        </p:nvSpPr>
        <p:spPr>
          <a:xfrm>
            <a:off x="32639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ectangle 123"/>
          <p:cNvSpPr/>
          <p:nvPr/>
        </p:nvSpPr>
        <p:spPr>
          <a:xfrm>
            <a:off x="34036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Rectangle 124"/>
          <p:cNvSpPr/>
          <p:nvPr/>
        </p:nvSpPr>
        <p:spPr>
          <a:xfrm>
            <a:off x="35433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Rectangle 125"/>
          <p:cNvSpPr/>
          <p:nvPr/>
        </p:nvSpPr>
        <p:spPr>
          <a:xfrm>
            <a:off x="36830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ectangle 126"/>
          <p:cNvSpPr/>
          <p:nvPr/>
        </p:nvSpPr>
        <p:spPr>
          <a:xfrm>
            <a:off x="38227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Rectangle 127"/>
          <p:cNvSpPr/>
          <p:nvPr/>
        </p:nvSpPr>
        <p:spPr>
          <a:xfrm>
            <a:off x="3962400" y="49311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ectangle 128"/>
          <p:cNvSpPr/>
          <p:nvPr/>
        </p:nvSpPr>
        <p:spPr>
          <a:xfrm>
            <a:off x="25654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Rectangle 129"/>
          <p:cNvSpPr/>
          <p:nvPr/>
        </p:nvSpPr>
        <p:spPr>
          <a:xfrm>
            <a:off x="27051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1" name="Rectangle 130"/>
          <p:cNvSpPr/>
          <p:nvPr/>
        </p:nvSpPr>
        <p:spPr>
          <a:xfrm>
            <a:off x="28448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ectangle 131"/>
          <p:cNvSpPr/>
          <p:nvPr/>
        </p:nvSpPr>
        <p:spPr>
          <a:xfrm>
            <a:off x="29845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Rectangle 132"/>
          <p:cNvSpPr/>
          <p:nvPr/>
        </p:nvSpPr>
        <p:spPr>
          <a:xfrm>
            <a:off x="31242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32639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Rectangle 134"/>
          <p:cNvSpPr/>
          <p:nvPr/>
        </p:nvSpPr>
        <p:spPr>
          <a:xfrm>
            <a:off x="34036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Rectangle 135"/>
          <p:cNvSpPr/>
          <p:nvPr/>
        </p:nvSpPr>
        <p:spPr>
          <a:xfrm>
            <a:off x="35433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7" name="Rectangle 136"/>
          <p:cNvSpPr/>
          <p:nvPr/>
        </p:nvSpPr>
        <p:spPr>
          <a:xfrm>
            <a:off x="36830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Rectangle 137"/>
          <p:cNvSpPr/>
          <p:nvPr/>
        </p:nvSpPr>
        <p:spPr>
          <a:xfrm>
            <a:off x="38227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9" name="Rectangle 138"/>
          <p:cNvSpPr/>
          <p:nvPr/>
        </p:nvSpPr>
        <p:spPr>
          <a:xfrm>
            <a:off x="3962400" y="50708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Rectangle 139"/>
          <p:cNvSpPr/>
          <p:nvPr/>
        </p:nvSpPr>
        <p:spPr>
          <a:xfrm>
            <a:off x="25654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Rectangle 140"/>
          <p:cNvSpPr/>
          <p:nvPr/>
        </p:nvSpPr>
        <p:spPr>
          <a:xfrm>
            <a:off x="27051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Rectangle 141"/>
          <p:cNvSpPr/>
          <p:nvPr/>
        </p:nvSpPr>
        <p:spPr>
          <a:xfrm>
            <a:off x="28448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3" name="Rectangle 142"/>
          <p:cNvSpPr/>
          <p:nvPr/>
        </p:nvSpPr>
        <p:spPr>
          <a:xfrm>
            <a:off x="29845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Rectangle 143"/>
          <p:cNvSpPr/>
          <p:nvPr/>
        </p:nvSpPr>
        <p:spPr>
          <a:xfrm>
            <a:off x="31242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5" name="Rectangle 144"/>
          <p:cNvSpPr/>
          <p:nvPr/>
        </p:nvSpPr>
        <p:spPr>
          <a:xfrm>
            <a:off x="32639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Rectangle 145"/>
          <p:cNvSpPr/>
          <p:nvPr/>
        </p:nvSpPr>
        <p:spPr>
          <a:xfrm>
            <a:off x="34036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7" name="Rectangle 146"/>
          <p:cNvSpPr/>
          <p:nvPr/>
        </p:nvSpPr>
        <p:spPr>
          <a:xfrm>
            <a:off x="35433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8" name="Rectangle 147"/>
          <p:cNvSpPr/>
          <p:nvPr/>
        </p:nvSpPr>
        <p:spPr>
          <a:xfrm>
            <a:off x="36830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9" name="Rectangle 148"/>
          <p:cNvSpPr/>
          <p:nvPr/>
        </p:nvSpPr>
        <p:spPr>
          <a:xfrm>
            <a:off x="38227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0" name="Rectangle 149"/>
          <p:cNvSpPr/>
          <p:nvPr/>
        </p:nvSpPr>
        <p:spPr>
          <a:xfrm>
            <a:off x="3962400" y="52105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1" name="Rectangle 150"/>
          <p:cNvSpPr/>
          <p:nvPr/>
        </p:nvSpPr>
        <p:spPr>
          <a:xfrm>
            <a:off x="25654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2" name="Rectangle 151"/>
          <p:cNvSpPr/>
          <p:nvPr/>
        </p:nvSpPr>
        <p:spPr>
          <a:xfrm>
            <a:off x="27051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 name="Rectangle 152"/>
          <p:cNvSpPr/>
          <p:nvPr/>
        </p:nvSpPr>
        <p:spPr>
          <a:xfrm>
            <a:off x="28448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 name="Rectangle 153"/>
          <p:cNvSpPr/>
          <p:nvPr/>
        </p:nvSpPr>
        <p:spPr>
          <a:xfrm>
            <a:off x="29845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5" name="Rectangle 154"/>
          <p:cNvSpPr/>
          <p:nvPr/>
        </p:nvSpPr>
        <p:spPr>
          <a:xfrm>
            <a:off x="31242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6" name="Rectangle 155"/>
          <p:cNvSpPr/>
          <p:nvPr/>
        </p:nvSpPr>
        <p:spPr>
          <a:xfrm>
            <a:off x="32639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7" name="Rectangle 156"/>
          <p:cNvSpPr/>
          <p:nvPr/>
        </p:nvSpPr>
        <p:spPr>
          <a:xfrm>
            <a:off x="34036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8" name="Rectangle 157"/>
          <p:cNvSpPr/>
          <p:nvPr/>
        </p:nvSpPr>
        <p:spPr>
          <a:xfrm>
            <a:off x="35433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9" name="Rectangle 158"/>
          <p:cNvSpPr/>
          <p:nvPr/>
        </p:nvSpPr>
        <p:spPr>
          <a:xfrm>
            <a:off x="36830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0" name="Rectangle 159"/>
          <p:cNvSpPr/>
          <p:nvPr/>
        </p:nvSpPr>
        <p:spPr>
          <a:xfrm>
            <a:off x="38227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1" name="Rectangle 160"/>
          <p:cNvSpPr/>
          <p:nvPr/>
        </p:nvSpPr>
        <p:spPr>
          <a:xfrm>
            <a:off x="3962400" y="5350256"/>
            <a:ext cx="12700" cy="1270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2" name="TextBox 161"/>
          <p:cNvSpPr txBox="1"/>
          <p:nvPr/>
        </p:nvSpPr>
        <p:spPr>
          <a:xfrm>
            <a:off x="2514600" y="5489956"/>
            <a:ext cx="1524000" cy="165100"/>
          </a:xfrm>
          <a:prstGeom prst="rect">
            <a:avLst/>
          </a:prstGeom>
          <a:noFill/>
          <a:effectLst/>
        </p:spPr>
        <p:txBody>
          <a:bodyPr wrap="square" lIns="0" rIns="0" tIns="0" bIns="0" anchor="t"/>
          <a:lstStyle/>
          <a:p>
            <a:pPr algn="l">
              <a:lnSpc>
                <a:spcPts val="650"/>
              </a:lnSpc>
            </a:pPr>
            <a:r>
              <a:rPr sz="650" b="1" spc="65" dirty="0">
                <a:solidFill>
                  <a:srgbClr val="6F6F6F"/>
                </a:solidFill>
                <a:latin typeface="Inter"/>
                <a:cs typeface="Inter"/>
              </a:rPr>
              <a:t>RETÍCULA DE PUNTOS</a:t>
            </a:r>
          </a:p>
        </p:txBody>
      </p:sp>
      <p:sp>
        <p:nvSpPr>
          <p:cNvPr id="163" name="Rectangle 162"/>
          <p:cNvSpPr/>
          <p:nvPr/>
        </p:nvSpPr>
        <p:spPr>
          <a:xfrm>
            <a:off x="4419600" y="4461256"/>
            <a:ext cx="44450" cy="444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4" name="TextBox 163"/>
          <p:cNvSpPr txBox="1"/>
          <p:nvPr/>
        </p:nvSpPr>
        <p:spPr>
          <a:xfrm>
            <a:off x="4546600" y="4435856"/>
            <a:ext cx="1905000" cy="16510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CUADRADO INDICADOR</a:t>
            </a:r>
          </a:p>
        </p:txBody>
      </p:sp>
      <p:cxnSp>
        <p:nvCxnSpPr>
          <p:cNvPr id="165" name="Connector 164"/>
          <p:cNvCxnSpPr/>
          <p:nvPr/>
        </p:nvCxnSpPr>
        <p:spPr>
          <a:xfrm>
            <a:off x="4419600" y="4740656"/>
            <a:ext cx="3522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4419600" y="4829556"/>
            <a:ext cx="1905000" cy="165100"/>
          </a:xfrm>
          <a:prstGeom prst="rect">
            <a:avLst/>
          </a:prstGeom>
          <a:noFill/>
          <a:effectLst/>
        </p:spPr>
        <p:txBody>
          <a:bodyPr wrap="square" lIns="0" rIns="0" tIns="0" bIns="0" anchor="t"/>
          <a:lstStyle/>
          <a:p>
            <a:pPr algn="l">
              <a:lnSpc>
                <a:spcPts val="650"/>
              </a:lnSpc>
            </a:pPr>
            <a:r>
              <a:rPr sz="650" b="1" spc="65" dirty="0">
                <a:solidFill>
                  <a:srgbClr val="6F6F6F"/>
                </a:solidFill>
                <a:latin typeface="Inter"/>
                <a:cs typeface="Inter"/>
              </a:rPr>
              <a:t>STRIP DE CABECERA</a:t>
            </a:r>
          </a:p>
        </p:txBody>
      </p:sp>
      <p:sp>
        <p:nvSpPr>
          <p:cNvPr id="167" name="TextBox 166"/>
          <p:cNvSpPr txBox="1"/>
          <p:nvPr/>
        </p:nvSpPr>
        <p:spPr>
          <a:xfrm>
            <a:off x="6671733" y="4829556"/>
            <a:ext cx="1270000" cy="165100"/>
          </a:xfrm>
          <a:prstGeom prst="rect">
            <a:avLst/>
          </a:prstGeom>
          <a:noFill/>
          <a:effectLst/>
        </p:spPr>
        <p:txBody>
          <a:bodyPr wrap="square" lIns="0" rIns="0" tIns="0" bIns="0" anchor="t"/>
          <a:lstStyle/>
          <a:p>
            <a:pPr algn="r">
              <a:lnSpc>
                <a:spcPts val="650"/>
              </a:lnSpc>
            </a:pPr>
            <a:r>
              <a:rPr sz="650" b="1" spc="65" dirty="0">
                <a:solidFill>
                  <a:srgbClr val="6F6F6F"/>
                </a:solidFill>
                <a:latin typeface="Inter"/>
                <a:cs typeface="Inter"/>
              </a:rPr>
              <a:t>03 / 12</a:t>
            </a:r>
          </a:p>
        </p:txBody>
      </p:sp>
      <p:sp>
        <p:nvSpPr>
          <p:cNvPr id="168" name="TextBox 167"/>
          <p:cNvSpPr txBox="1"/>
          <p:nvPr/>
        </p:nvSpPr>
        <p:spPr>
          <a:xfrm>
            <a:off x="4419600" y="5159756"/>
            <a:ext cx="3522133" cy="381000"/>
          </a:xfrm>
          <a:prstGeom prst="rect">
            <a:avLst/>
          </a:prstGeom>
          <a:noFill/>
          <a:effectLst/>
        </p:spPr>
        <p:txBody>
          <a:bodyPr wrap="square" lIns="0" rIns="0" tIns="0" bIns="0" anchor="t"/>
          <a:lstStyle/>
          <a:p>
            <a:pPr algn="l">
              <a:lnSpc>
                <a:spcPts val="1189"/>
              </a:lnSpc>
            </a:pPr>
            <a:r>
              <a:rPr sz="850" b="0" dirty="0">
                <a:solidFill>
                  <a:srgbClr val="525252"/>
                </a:solidFill>
                <a:latin typeface="Inter"/>
                <a:cs typeface="Inter"/>
              </a:rPr>
              <a:t>Nunca redibujes el símbolo a mano: se usa siempre el original del repositorio.</a:t>
            </a:r>
          </a:p>
        </p:txBody>
      </p:sp>
      <p:cxnSp>
        <p:nvCxnSpPr>
          <p:cNvPr id="169" name="Connector 168"/>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70" name="Freeform 169"/>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Freeform 170"/>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74" name="TextBox 173"/>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SISTEMA · 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ÍNDICE DE PLANTILLAS</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64 layouts en 10 familias</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1 DE 2</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960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3660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A</a:t>
            </a:r>
          </a:p>
        </p:txBody>
      </p:sp>
      <p:sp>
        <p:nvSpPr>
          <p:cNvPr id="9" name="TextBox 8"/>
          <p:cNvSpPr txBox="1"/>
          <p:nvPr/>
        </p:nvSpPr>
        <p:spPr>
          <a:xfrm>
            <a:off x="109220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APERTURA</a:t>
            </a:r>
          </a:p>
        </p:txBody>
      </p:sp>
      <p:sp>
        <p:nvSpPr>
          <p:cNvPr id="10" name="TextBox 9"/>
          <p:cNvSpPr txBox="1"/>
          <p:nvPr/>
        </p:nvSpPr>
        <p:spPr>
          <a:xfrm>
            <a:off x="109220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7 plantillas</a:t>
            </a:r>
          </a:p>
        </p:txBody>
      </p:sp>
      <p:sp>
        <p:nvSpPr>
          <p:cNvPr id="11" name="TextBox 10"/>
          <p:cNvSpPr txBox="1"/>
          <p:nvPr/>
        </p:nvSpPr>
        <p:spPr>
          <a:xfrm>
            <a:off x="60960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A01</a:t>
            </a:r>
          </a:p>
        </p:txBody>
      </p:sp>
      <p:sp>
        <p:nvSpPr>
          <p:cNvPr id="12" name="TextBox 11"/>
          <p:cNvSpPr txBox="1"/>
          <p:nvPr/>
        </p:nvSpPr>
        <p:spPr>
          <a:xfrm>
            <a:off x="100330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Portada de módulo</a:t>
            </a:r>
          </a:p>
        </p:txBody>
      </p:sp>
      <p:cxnSp>
        <p:nvCxnSpPr>
          <p:cNvPr id="13" name="Connector 12"/>
          <p:cNvCxnSpPr/>
          <p:nvPr/>
        </p:nvCxnSpPr>
        <p:spPr>
          <a:xfrm>
            <a:off x="60960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A02</a:t>
            </a:r>
          </a:p>
        </p:txBody>
      </p:sp>
      <p:sp>
        <p:nvSpPr>
          <p:cNvPr id="15" name="TextBox 14"/>
          <p:cNvSpPr txBox="1"/>
          <p:nvPr/>
        </p:nvSpPr>
        <p:spPr>
          <a:xfrm>
            <a:off x="100330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Portada con fotografía</a:t>
            </a:r>
          </a:p>
        </p:txBody>
      </p:sp>
      <p:cxnSp>
        <p:nvCxnSpPr>
          <p:cNvPr id="16" name="Connector 15"/>
          <p:cNvCxnSpPr/>
          <p:nvPr/>
        </p:nvCxnSpPr>
        <p:spPr>
          <a:xfrm>
            <a:off x="60960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A03</a:t>
            </a:r>
          </a:p>
        </p:txBody>
      </p:sp>
      <p:sp>
        <p:nvSpPr>
          <p:cNvPr id="18" name="TextBox 17"/>
          <p:cNvSpPr txBox="1"/>
          <p:nvPr/>
        </p:nvSpPr>
        <p:spPr>
          <a:xfrm>
            <a:off x="100330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Separador de bloque</a:t>
            </a:r>
          </a:p>
        </p:txBody>
      </p:sp>
      <p:cxnSp>
        <p:nvCxnSpPr>
          <p:cNvPr id="19" name="Connector 18"/>
          <p:cNvCxnSpPr/>
          <p:nvPr/>
        </p:nvCxnSpPr>
        <p:spPr>
          <a:xfrm>
            <a:off x="60960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A04</a:t>
            </a:r>
          </a:p>
        </p:txBody>
      </p:sp>
      <p:sp>
        <p:nvSpPr>
          <p:cNvPr id="21" name="TextBox 20"/>
          <p:cNvSpPr txBox="1"/>
          <p:nvPr/>
        </p:nvSpPr>
        <p:spPr>
          <a:xfrm>
            <a:off x="100330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Separador con fotografía</a:t>
            </a:r>
          </a:p>
        </p:txBody>
      </p:sp>
      <p:cxnSp>
        <p:nvCxnSpPr>
          <p:cNvPr id="22" name="Connector 21"/>
          <p:cNvCxnSpPr/>
          <p:nvPr/>
        </p:nvCxnSpPr>
        <p:spPr>
          <a:xfrm>
            <a:off x="60960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60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A05</a:t>
            </a:r>
          </a:p>
        </p:txBody>
      </p:sp>
      <p:sp>
        <p:nvSpPr>
          <p:cNvPr id="24" name="TextBox 23"/>
          <p:cNvSpPr txBox="1"/>
          <p:nvPr/>
        </p:nvSpPr>
        <p:spPr>
          <a:xfrm>
            <a:off x="100330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Agenda / índice</a:t>
            </a:r>
          </a:p>
        </p:txBody>
      </p:sp>
      <p:cxnSp>
        <p:nvCxnSpPr>
          <p:cNvPr id="25" name="Connector 24"/>
          <p:cNvCxnSpPr/>
          <p:nvPr/>
        </p:nvCxnSpPr>
        <p:spPr>
          <a:xfrm>
            <a:off x="60960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09600" y="4232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A06</a:t>
            </a:r>
          </a:p>
        </p:txBody>
      </p:sp>
      <p:sp>
        <p:nvSpPr>
          <p:cNvPr id="27" name="TextBox 26"/>
          <p:cNvSpPr txBox="1"/>
          <p:nvPr/>
        </p:nvSpPr>
        <p:spPr>
          <a:xfrm>
            <a:off x="1003300" y="4219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Objetivos de aprendizaje</a:t>
            </a:r>
          </a:p>
        </p:txBody>
      </p:sp>
      <p:cxnSp>
        <p:nvCxnSpPr>
          <p:cNvPr id="28" name="Connector 27"/>
          <p:cNvCxnSpPr/>
          <p:nvPr/>
        </p:nvCxnSpPr>
        <p:spPr>
          <a:xfrm>
            <a:off x="609600" y="4486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4562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A07</a:t>
            </a:r>
          </a:p>
        </p:txBody>
      </p:sp>
      <p:sp>
        <p:nvSpPr>
          <p:cNvPr id="30" name="TextBox 29"/>
          <p:cNvSpPr txBox="1"/>
          <p:nvPr/>
        </p:nvSpPr>
        <p:spPr>
          <a:xfrm>
            <a:off x="1003300" y="4550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Mapa del curso</a:t>
            </a:r>
          </a:p>
        </p:txBody>
      </p:sp>
      <p:cxnSp>
        <p:nvCxnSpPr>
          <p:cNvPr id="31" name="Connector 30"/>
          <p:cNvCxnSpPr/>
          <p:nvPr/>
        </p:nvCxnSpPr>
        <p:spPr>
          <a:xfrm>
            <a:off x="609600" y="4816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0960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Abrir la sesión, cambiar de bloque y situar al alumno.</a:t>
            </a:r>
          </a:p>
        </p:txBody>
      </p:sp>
      <p:sp>
        <p:nvSpPr>
          <p:cNvPr id="33" name="Rectangle 32"/>
          <p:cNvSpPr/>
          <p:nvPr/>
        </p:nvSpPr>
        <p:spPr>
          <a:xfrm>
            <a:off x="283464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96164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B</a:t>
            </a:r>
          </a:p>
        </p:txBody>
      </p:sp>
      <p:sp>
        <p:nvSpPr>
          <p:cNvPr id="35" name="TextBox 34"/>
          <p:cNvSpPr txBox="1"/>
          <p:nvPr/>
        </p:nvSpPr>
        <p:spPr>
          <a:xfrm>
            <a:off x="331724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TEXTO</a:t>
            </a:r>
          </a:p>
        </p:txBody>
      </p:sp>
      <p:sp>
        <p:nvSpPr>
          <p:cNvPr id="36" name="TextBox 35"/>
          <p:cNvSpPr txBox="1"/>
          <p:nvPr/>
        </p:nvSpPr>
        <p:spPr>
          <a:xfrm>
            <a:off x="331724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9 plantillas</a:t>
            </a:r>
          </a:p>
        </p:txBody>
      </p:sp>
      <p:sp>
        <p:nvSpPr>
          <p:cNvPr id="37" name="TextBox 36"/>
          <p:cNvSpPr txBox="1"/>
          <p:nvPr/>
        </p:nvSpPr>
        <p:spPr>
          <a:xfrm>
            <a:off x="283464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B01</a:t>
            </a:r>
          </a:p>
        </p:txBody>
      </p:sp>
      <p:sp>
        <p:nvSpPr>
          <p:cNvPr id="38" name="TextBox 37"/>
          <p:cNvSpPr txBox="1"/>
          <p:nvPr/>
        </p:nvSpPr>
        <p:spPr>
          <a:xfrm>
            <a:off x="322834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Título + texto</a:t>
            </a:r>
          </a:p>
        </p:txBody>
      </p:sp>
      <p:cxnSp>
        <p:nvCxnSpPr>
          <p:cNvPr id="39" name="Connector 38"/>
          <p:cNvCxnSpPr/>
          <p:nvPr/>
        </p:nvCxnSpPr>
        <p:spPr>
          <a:xfrm>
            <a:off x="283464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83464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B02</a:t>
            </a:r>
          </a:p>
        </p:txBody>
      </p:sp>
      <p:sp>
        <p:nvSpPr>
          <p:cNvPr id="41" name="TextBox 40"/>
          <p:cNvSpPr txBox="1"/>
          <p:nvPr/>
        </p:nvSpPr>
        <p:spPr>
          <a:xfrm>
            <a:off x="322834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Viñetas</a:t>
            </a:r>
          </a:p>
        </p:txBody>
      </p:sp>
      <p:cxnSp>
        <p:nvCxnSpPr>
          <p:cNvPr id="42" name="Connector 41"/>
          <p:cNvCxnSpPr/>
          <p:nvPr/>
        </p:nvCxnSpPr>
        <p:spPr>
          <a:xfrm>
            <a:off x="283464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83464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B03</a:t>
            </a:r>
          </a:p>
        </p:txBody>
      </p:sp>
      <p:sp>
        <p:nvSpPr>
          <p:cNvPr id="44" name="TextBox 43"/>
          <p:cNvSpPr txBox="1"/>
          <p:nvPr/>
        </p:nvSpPr>
        <p:spPr>
          <a:xfrm>
            <a:off x="322834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Viñetas en dos columnas</a:t>
            </a:r>
          </a:p>
        </p:txBody>
      </p:sp>
      <p:cxnSp>
        <p:nvCxnSpPr>
          <p:cNvPr id="45" name="Connector 44"/>
          <p:cNvCxnSpPr/>
          <p:nvPr/>
        </p:nvCxnSpPr>
        <p:spPr>
          <a:xfrm>
            <a:off x="283464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83464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B04</a:t>
            </a:r>
          </a:p>
        </p:txBody>
      </p:sp>
      <p:sp>
        <p:nvSpPr>
          <p:cNvPr id="47" name="TextBox 46"/>
          <p:cNvSpPr txBox="1"/>
          <p:nvPr/>
        </p:nvSpPr>
        <p:spPr>
          <a:xfrm>
            <a:off x="322834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Dos columnas de texto</a:t>
            </a:r>
          </a:p>
        </p:txBody>
      </p:sp>
      <p:cxnSp>
        <p:nvCxnSpPr>
          <p:cNvPr id="48" name="Connector 47"/>
          <p:cNvCxnSpPr/>
          <p:nvPr/>
        </p:nvCxnSpPr>
        <p:spPr>
          <a:xfrm>
            <a:off x="283464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83464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B05</a:t>
            </a:r>
          </a:p>
        </p:txBody>
      </p:sp>
      <p:sp>
        <p:nvSpPr>
          <p:cNvPr id="50" name="TextBox 49"/>
          <p:cNvSpPr txBox="1"/>
          <p:nvPr/>
        </p:nvSpPr>
        <p:spPr>
          <a:xfrm>
            <a:off x="322834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Tres columnas de texto</a:t>
            </a:r>
          </a:p>
        </p:txBody>
      </p:sp>
      <p:cxnSp>
        <p:nvCxnSpPr>
          <p:cNvPr id="51" name="Connector 50"/>
          <p:cNvCxnSpPr/>
          <p:nvPr/>
        </p:nvCxnSpPr>
        <p:spPr>
          <a:xfrm>
            <a:off x="283464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834640" y="4232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B06</a:t>
            </a:r>
          </a:p>
        </p:txBody>
      </p:sp>
      <p:sp>
        <p:nvSpPr>
          <p:cNvPr id="53" name="TextBox 52"/>
          <p:cNvSpPr txBox="1"/>
          <p:nvPr/>
        </p:nvSpPr>
        <p:spPr>
          <a:xfrm>
            <a:off x="3228340" y="4219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Definición / concepto clave</a:t>
            </a:r>
          </a:p>
        </p:txBody>
      </p:sp>
      <p:cxnSp>
        <p:nvCxnSpPr>
          <p:cNvPr id="54" name="Connector 53"/>
          <p:cNvCxnSpPr/>
          <p:nvPr/>
        </p:nvCxnSpPr>
        <p:spPr>
          <a:xfrm>
            <a:off x="2834640" y="4486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834640" y="4562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B07</a:t>
            </a:r>
          </a:p>
        </p:txBody>
      </p:sp>
      <p:sp>
        <p:nvSpPr>
          <p:cNvPr id="56" name="TextBox 55"/>
          <p:cNvSpPr txBox="1"/>
          <p:nvPr/>
        </p:nvSpPr>
        <p:spPr>
          <a:xfrm>
            <a:off x="3228340" y="4550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Texto + nota lateral</a:t>
            </a:r>
          </a:p>
        </p:txBody>
      </p:sp>
      <p:cxnSp>
        <p:nvCxnSpPr>
          <p:cNvPr id="57" name="Connector 56"/>
          <p:cNvCxnSpPr/>
          <p:nvPr/>
        </p:nvCxnSpPr>
        <p:spPr>
          <a:xfrm>
            <a:off x="2834640" y="4816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834640" y="4893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B08</a:t>
            </a:r>
          </a:p>
        </p:txBody>
      </p:sp>
      <p:sp>
        <p:nvSpPr>
          <p:cNvPr id="59" name="TextBox 58"/>
          <p:cNvSpPr txBox="1"/>
          <p:nvPr/>
        </p:nvSpPr>
        <p:spPr>
          <a:xfrm>
            <a:off x="3228340" y="4880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Frase manifiesto</a:t>
            </a:r>
          </a:p>
        </p:txBody>
      </p:sp>
      <p:cxnSp>
        <p:nvCxnSpPr>
          <p:cNvPr id="60" name="Connector 59"/>
          <p:cNvCxnSpPr/>
          <p:nvPr/>
        </p:nvCxnSpPr>
        <p:spPr>
          <a:xfrm>
            <a:off x="2834640" y="5147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2834640" y="5223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B09</a:t>
            </a:r>
          </a:p>
        </p:txBody>
      </p:sp>
      <p:sp>
        <p:nvSpPr>
          <p:cNvPr id="62" name="TextBox 61"/>
          <p:cNvSpPr txBox="1"/>
          <p:nvPr/>
        </p:nvSpPr>
        <p:spPr>
          <a:xfrm>
            <a:off x="3228340" y="5210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Pregunta detonante</a:t>
            </a:r>
          </a:p>
        </p:txBody>
      </p:sp>
      <p:cxnSp>
        <p:nvCxnSpPr>
          <p:cNvPr id="63" name="Connector 62"/>
          <p:cNvCxnSpPr/>
          <p:nvPr/>
        </p:nvCxnSpPr>
        <p:spPr>
          <a:xfrm>
            <a:off x="2834640" y="5477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283464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Cuando la idea se sostiene sola, sin medio ni dato.</a:t>
            </a:r>
          </a:p>
        </p:txBody>
      </p:sp>
      <p:sp>
        <p:nvSpPr>
          <p:cNvPr id="65" name="Rectangle 64"/>
          <p:cNvSpPr/>
          <p:nvPr/>
        </p:nvSpPr>
        <p:spPr>
          <a:xfrm>
            <a:off x="505968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518668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C</a:t>
            </a:r>
          </a:p>
        </p:txBody>
      </p:sp>
      <p:sp>
        <p:nvSpPr>
          <p:cNvPr id="67" name="TextBox 66"/>
          <p:cNvSpPr txBox="1"/>
          <p:nvPr/>
        </p:nvSpPr>
        <p:spPr>
          <a:xfrm>
            <a:off x="554228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IMAGEN</a:t>
            </a:r>
          </a:p>
        </p:txBody>
      </p:sp>
      <p:sp>
        <p:nvSpPr>
          <p:cNvPr id="68" name="TextBox 67"/>
          <p:cNvSpPr txBox="1"/>
          <p:nvPr/>
        </p:nvSpPr>
        <p:spPr>
          <a:xfrm>
            <a:off x="554228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8 plantillas</a:t>
            </a:r>
          </a:p>
        </p:txBody>
      </p:sp>
      <p:sp>
        <p:nvSpPr>
          <p:cNvPr id="69" name="TextBox 68"/>
          <p:cNvSpPr txBox="1"/>
          <p:nvPr/>
        </p:nvSpPr>
        <p:spPr>
          <a:xfrm>
            <a:off x="505968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C01</a:t>
            </a:r>
          </a:p>
        </p:txBody>
      </p:sp>
      <p:sp>
        <p:nvSpPr>
          <p:cNvPr id="70" name="TextBox 69"/>
          <p:cNvSpPr txBox="1"/>
          <p:nvPr/>
        </p:nvSpPr>
        <p:spPr>
          <a:xfrm>
            <a:off x="545338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Texto + imagen (7+5)</a:t>
            </a:r>
          </a:p>
        </p:txBody>
      </p:sp>
      <p:cxnSp>
        <p:nvCxnSpPr>
          <p:cNvPr id="71" name="Connector 70"/>
          <p:cNvCxnSpPr/>
          <p:nvPr/>
        </p:nvCxnSpPr>
        <p:spPr>
          <a:xfrm>
            <a:off x="505968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05968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C02</a:t>
            </a:r>
          </a:p>
        </p:txBody>
      </p:sp>
      <p:sp>
        <p:nvSpPr>
          <p:cNvPr id="73" name="TextBox 72"/>
          <p:cNvSpPr txBox="1"/>
          <p:nvPr/>
        </p:nvSpPr>
        <p:spPr>
          <a:xfrm>
            <a:off x="545338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Imagen + texto (5+7)</a:t>
            </a:r>
          </a:p>
        </p:txBody>
      </p:sp>
      <p:cxnSp>
        <p:nvCxnSpPr>
          <p:cNvPr id="74" name="Connector 73"/>
          <p:cNvCxnSpPr/>
          <p:nvPr/>
        </p:nvCxnSpPr>
        <p:spPr>
          <a:xfrm>
            <a:off x="505968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5968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C03</a:t>
            </a:r>
          </a:p>
        </p:txBody>
      </p:sp>
      <p:sp>
        <p:nvSpPr>
          <p:cNvPr id="76" name="TextBox 75"/>
          <p:cNvSpPr txBox="1"/>
          <p:nvPr/>
        </p:nvSpPr>
        <p:spPr>
          <a:xfrm>
            <a:off x="545338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Foto a sangre con texto</a:t>
            </a:r>
          </a:p>
        </p:txBody>
      </p:sp>
      <p:cxnSp>
        <p:nvCxnSpPr>
          <p:cNvPr id="77" name="Connector 76"/>
          <p:cNvCxnSpPr/>
          <p:nvPr/>
        </p:nvCxnSpPr>
        <p:spPr>
          <a:xfrm>
            <a:off x="505968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5968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C04</a:t>
            </a:r>
          </a:p>
        </p:txBody>
      </p:sp>
      <p:sp>
        <p:nvSpPr>
          <p:cNvPr id="79" name="TextBox 78"/>
          <p:cNvSpPr txBox="1"/>
          <p:nvPr/>
        </p:nvSpPr>
        <p:spPr>
          <a:xfrm>
            <a:off x="545338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Imagen a pantalla completa</a:t>
            </a:r>
          </a:p>
        </p:txBody>
      </p:sp>
      <p:cxnSp>
        <p:nvCxnSpPr>
          <p:cNvPr id="80" name="Connector 79"/>
          <p:cNvCxnSpPr/>
          <p:nvPr/>
        </p:nvCxnSpPr>
        <p:spPr>
          <a:xfrm>
            <a:off x="505968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05968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C05</a:t>
            </a:r>
          </a:p>
        </p:txBody>
      </p:sp>
      <p:sp>
        <p:nvSpPr>
          <p:cNvPr id="82" name="TextBox 81"/>
          <p:cNvSpPr txBox="1"/>
          <p:nvPr/>
        </p:nvSpPr>
        <p:spPr>
          <a:xfrm>
            <a:off x="545338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Galería de tres</a:t>
            </a:r>
          </a:p>
        </p:txBody>
      </p:sp>
      <p:cxnSp>
        <p:nvCxnSpPr>
          <p:cNvPr id="83" name="Connector 82"/>
          <p:cNvCxnSpPr/>
          <p:nvPr/>
        </p:nvCxnSpPr>
        <p:spPr>
          <a:xfrm>
            <a:off x="505968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059680" y="4232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C06</a:t>
            </a:r>
          </a:p>
        </p:txBody>
      </p:sp>
      <p:sp>
        <p:nvSpPr>
          <p:cNvPr id="85" name="TextBox 84"/>
          <p:cNvSpPr txBox="1"/>
          <p:nvPr/>
        </p:nvSpPr>
        <p:spPr>
          <a:xfrm>
            <a:off x="5453380" y="4219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Mosaico de cuatro</a:t>
            </a:r>
          </a:p>
        </p:txBody>
      </p:sp>
      <p:cxnSp>
        <p:nvCxnSpPr>
          <p:cNvPr id="86" name="Connector 85"/>
          <p:cNvCxnSpPr/>
          <p:nvPr/>
        </p:nvCxnSpPr>
        <p:spPr>
          <a:xfrm>
            <a:off x="5059680" y="4486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059680" y="4562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C07</a:t>
            </a:r>
          </a:p>
        </p:txBody>
      </p:sp>
      <p:sp>
        <p:nvSpPr>
          <p:cNvPr id="88" name="TextBox 87"/>
          <p:cNvSpPr txBox="1"/>
          <p:nvPr/>
        </p:nvSpPr>
        <p:spPr>
          <a:xfrm>
            <a:off x="5453380" y="4550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Antes / después</a:t>
            </a:r>
          </a:p>
        </p:txBody>
      </p:sp>
      <p:cxnSp>
        <p:nvCxnSpPr>
          <p:cNvPr id="89" name="Connector 88"/>
          <p:cNvCxnSpPr/>
          <p:nvPr/>
        </p:nvCxnSpPr>
        <p:spPr>
          <a:xfrm>
            <a:off x="5059680" y="4816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059680" y="4893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C08</a:t>
            </a:r>
          </a:p>
        </p:txBody>
      </p:sp>
      <p:sp>
        <p:nvSpPr>
          <p:cNvPr id="91" name="TextBox 90"/>
          <p:cNvSpPr txBox="1"/>
          <p:nvPr/>
        </p:nvSpPr>
        <p:spPr>
          <a:xfrm>
            <a:off x="5453380" y="4880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Captura anotada</a:t>
            </a:r>
          </a:p>
        </p:txBody>
      </p:sp>
      <p:cxnSp>
        <p:nvCxnSpPr>
          <p:cNvPr id="92" name="Connector 91"/>
          <p:cNvCxnSpPr/>
          <p:nvPr/>
        </p:nvCxnSpPr>
        <p:spPr>
          <a:xfrm>
            <a:off x="5059680" y="5147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05968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Cuando la prueba es visual: captura, foto o diagrama.</a:t>
            </a:r>
          </a:p>
        </p:txBody>
      </p:sp>
      <p:sp>
        <p:nvSpPr>
          <p:cNvPr id="94" name="Rectangle 93"/>
          <p:cNvSpPr/>
          <p:nvPr/>
        </p:nvSpPr>
        <p:spPr>
          <a:xfrm>
            <a:off x="728472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741172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D</a:t>
            </a:r>
          </a:p>
        </p:txBody>
      </p:sp>
      <p:sp>
        <p:nvSpPr>
          <p:cNvPr id="96" name="TextBox 95"/>
          <p:cNvSpPr txBox="1"/>
          <p:nvPr/>
        </p:nvSpPr>
        <p:spPr>
          <a:xfrm>
            <a:off x="776732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VÍDEO</a:t>
            </a:r>
          </a:p>
        </p:txBody>
      </p:sp>
      <p:sp>
        <p:nvSpPr>
          <p:cNvPr id="97" name="TextBox 96"/>
          <p:cNvSpPr txBox="1"/>
          <p:nvPr/>
        </p:nvSpPr>
        <p:spPr>
          <a:xfrm>
            <a:off x="776732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5 plantillas</a:t>
            </a:r>
          </a:p>
        </p:txBody>
      </p:sp>
      <p:sp>
        <p:nvSpPr>
          <p:cNvPr id="98" name="TextBox 97"/>
          <p:cNvSpPr txBox="1"/>
          <p:nvPr/>
        </p:nvSpPr>
        <p:spPr>
          <a:xfrm>
            <a:off x="728472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D01</a:t>
            </a:r>
          </a:p>
        </p:txBody>
      </p:sp>
      <p:sp>
        <p:nvSpPr>
          <p:cNvPr id="99" name="TextBox 98"/>
          <p:cNvSpPr txBox="1"/>
          <p:nvPr/>
        </p:nvSpPr>
        <p:spPr>
          <a:xfrm>
            <a:off x="767842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Vídeo a pantalla completa</a:t>
            </a:r>
          </a:p>
        </p:txBody>
      </p:sp>
      <p:cxnSp>
        <p:nvCxnSpPr>
          <p:cNvPr id="100" name="Connector 99"/>
          <p:cNvCxnSpPr/>
          <p:nvPr/>
        </p:nvCxnSpPr>
        <p:spPr>
          <a:xfrm>
            <a:off x="728472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28472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D02</a:t>
            </a:r>
          </a:p>
        </p:txBody>
      </p:sp>
      <p:sp>
        <p:nvSpPr>
          <p:cNvPr id="102" name="TextBox 101"/>
          <p:cNvSpPr txBox="1"/>
          <p:nvPr/>
        </p:nvSpPr>
        <p:spPr>
          <a:xfrm>
            <a:off x="767842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Vídeo + puntos clave</a:t>
            </a:r>
          </a:p>
        </p:txBody>
      </p:sp>
      <p:cxnSp>
        <p:nvCxnSpPr>
          <p:cNvPr id="103" name="Connector 102"/>
          <p:cNvCxnSpPr/>
          <p:nvPr/>
        </p:nvCxnSpPr>
        <p:spPr>
          <a:xfrm>
            <a:off x="728472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728472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D03</a:t>
            </a:r>
          </a:p>
        </p:txBody>
      </p:sp>
      <p:sp>
        <p:nvSpPr>
          <p:cNvPr id="105" name="TextBox 104"/>
          <p:cNvSpPr txBox="1"/>
          <p:nvPr/>
        </p:nvSpPr>
        <p:spPr>
          <a:xfrm>
            <a:off x="767842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Demo en vivo</a:t>
            </a:r>
          </a:p>
        </p:txBody>
      </p:sp>
      <p:cxnSp>
        <p:nvCxnSpPr>
          <p:cNvPr id="106" name="Connector 105"/>
          <p:cNvCxnSpPr/>
          <p:nvPr/>
        </p:nvCxnSpPr>
        <p:spPr>
          <a:xfrm>
            <a:off x="728472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728472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D04</a:t>
            </a:r>
          </a:p>
        </p:txBody>
      </p:sp>
      <p:sp>
        <p:nvSpPr>
          <p:cNvPr id="108" name="TextBox 107"/>
          <p:cNvSpPr txBox="1"/>
          <p:nvPr/>
        </p:nvSpPr>
        <p:spPr>
          <a:xfrm>
            <a:off x="767842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Audio / entrevista</a:t>
            </a:r>
          </a:p>
        </p:txBody>
      </p:sp>
      <p:cxnSp>
        <p:nvCxnSpPr>
          <p:cNvPr id="109" name="Connector 108"/>
          <p:cNvCxnSpPr/>
          <p:nvPr/>
        </p:nvCxnSpPr>
        <p:spPr>
          <a:xfrm>
            <a:off x="728472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728472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D05</a:t>
            </a:r>
          </a:p>
        </p:txBody>
      </p:sp>
      <p:sp>
        <p:nvSpPr>
          <p:cNvPr id="111" name="TextBox 110"/>
          <p:cNvSpPr txBox="1"/>
          <p:nvPr/>
        </p:nvSpPr>
        <p:spPr>
          <a:xfrm>
            <a:off x="767842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Bucle / GIF + explicación</a:t>
            </a:r>
          </a:p>
        </p:txBody>
      </p:sp>
      <p:cxnSp>
        <p:nvCxnSpPr>
          <p:cNvPr id="112" name="Connector 111"/>
          <p:cNvCxnSpPr/>
          <p:nvPr/>
        </p:nvCxnSpPr>
        <p:spPr>
          <a:xfrm>
            <a:off x="728472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728472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Vídeo, audio y demo en vivo. Siempre con subtítulos.</a:t>
            </a:r>
          </a:p>
        </p:txBody>
      </p:sp>
      <p:sp>
        <p:nvSpPr>
          <p:cNvPr id="114" name="Rectangle 113"/>
          <p:cNvSpPr/>
          <p:nvPr/>
        </p:nvSpPr>
        <p:spPr>
          <a:xfrm>
            <a:off x="950976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TextBox 114"/>
          <p:cNvSpPr txBox="1"/>
          <p:nvPr/>
        </p:nvSpPr>
        <p:spPr>
          <a:xfrm>
            <a:off x="963676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E</a:t>
            </a:r>
          </a:p>
        </p:txBody>
      </p:sp>
      <p:sp>
        <p:nvSpPr>
          <p:cNvPr id="116" name="TextBox 115"/>
          <p:cNvSpPr txBox="1"/>
          <p:nvPr/>
        </p:nvSpPr>
        <p:spPr>
          <a:xfrm>
            <a:off x="999236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RECURSOS</a:t>
            </a:r>
          </a:p>
        </p:txBody>
      </p:sp>
      <p:sp>
        <p:nvSpPr>
          <p:cNvPr id="117" name="TextBox 116"/>
          <p:cNvSpPr txBox="1"/>
          <p:nvPr/>
        </p:nvSpPr>
        <p:spPr>
          <a:xfrm>
            <a:off x="999236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5 plantillas</a:t>
            </a:r>
          </a:p>
        </p:txBody>
      </p:sp>
      <p:sp>
        <p:nvSpPr>
          <p:cNvPr id="118" name="TextBox 117"/>
          <p:cNvSpPr txBox="1"/>
          <p:nvPr/>
        </p:nvSpPr>
        <p:spPr>
          <a:xfrm>
            <a:off x="950976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E01</a:t>
            </a:r>
          </a:p>
        </p:txBody>
      </p:sp>
      <p:sp>
        <p:nvSpPr>
          <p:cNvPr id="119" name="TextBox 118"/>
          <p:cNvSpPr txBox="1"/>
          <p:nvPr/>
        </p:nvSpPr>
        <p:spPr>
          <a:xfrm>
            <a:off x="990346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Recurso destacado</a:t>
            </a:r>
          </a:p>
        </p:txBody>
      </p:sp>
      <p:cxnSp>
        <p:nvCxnSpPr>
          <p:cNvPr id="120" name="Connector 119"/>
          <p:cNvCxnSpPr/>
          <p:nvPr/>
        </p:nvCxnSpPr>
        <p:spPr>
          <a:xfrm>
            <a:off x="950976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950976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E02</a:t>
            </a:r>
          </a:p>
        </p:txBody>
      </p:sp>
      <p:sp>
        <p:nvSpPr>
          <p:cNvPr id="122" name="TextBox 121"/>
          <p:cNvSpPr txBox="1"/>
          <p:nvPr/>
        </p:nvSpPr>
        <p:spPr>
          <a:xfrm>
            <a:off x="990346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Lista de recursos</a:t>
            </a:r>
          </a:p>
        </p:txBody>
      </p:sp>
      <p:cxnSp>
        <p:nvCxnSpPr>
          <p:cNvPr id="123" name="Connector 122"/>
          <p:cNvCxnSpPr/>
          <p:nvPr/>
        </p:nvCxnSpPr>
        <p:spPr>
          <a:xfrm>
            <a:off x="950976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50976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E03</a:t>
            </a:r>
          </a:p>
        </p:txBody>
      </p:sp>
      <p:sp>
        <p:nvSpPr>
          <p:cNvPr id="125" name="TextBox 124"/>
          <p:cNvSpPr txBox="1"/>
          <p:nvPr/>
        </p:nvSpPr>
        <p:spPr>
          <a:xfrm>
            <a:off x="990346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Descarga de plantilla</a:t>
            </a:r>
          </a:p>
        </p:txBody>
      </p:sp>
      <p:cxnSp>
        <p:nvCxnSpPr>
          <p:cNvPr id="126" name="Connector 125"/>
          <p:cNvCxnSpPr/>
          <p:nvPr/>
        </p:nvCxnSpPr>
        <p:spPr>
          <a:xfrm>
            <a:off x="950976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950976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E04</a:t>
            </a:r>
          </a:p>
        </p:txBody>
      </p:sp>
      <p:sp>
        <p:nvSpPr>
          <p:cNvPr id="128" name="TextBox 127"/>
          <p:cNvSpPr txBox="1"/>
          <p:nvPr/>
        </p:nvSpPr>
        <p:spPr>
          <a:xfrm>
            <a:off x="990346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Herramienta del stack</a:t>
            </a:r>
          </a:p>
        </p:txBody>
      </p:sp>
      <p:cxnSp>
        <p:nvCxnSpPr>
          <p:cNvPr id="129" name="Connector 128"/>
          <p:cNvCxnSpPr/>
          <p:nvPr/>
        </p:nvCxnSpPr>
        <p:spPr>
          <a:xfrm>
            <a:off x="950976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950976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E05</a:t>
            </a:r>
          </a:p>
        </p:txBody>
      </p:sp>
      <p:sp>
        <p:nvSpPr>
          <p:cNvPr id="131" name="TextBox 130"/>
          <p:cNvSpPr txBox="1"/>
          <p:nvPr/>
        </p:nvSpPr>
        <p:spPr>
          <a:xfrm>
            <a:off x="990346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Stack completo</a:t>
            </a:r>
          </a:p>
        </p:txBody>
      </p:sp>
      <p:cxnSp>
        <p:nvCxnSpPr>
          <p:cNvPr id="132" name="Connector 131"/>
          <p:cNvCxnSpPr/>
          <p:nvPr/>
        </p:nvCxnSpPr>
        <p:spPr>
          <a:xfrm>
            <a:off x="950976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950976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Enlaces, plantillas, herramientas y descargas.</a:t>
            </a:r>
          </a:p>
        </p:txBody>
      </p:sp>
      <p:cxnSp>
        <p:nvCxnSpPr>
          <p:cNvPr id="134" name="Connector 133"/>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35" name="Freeform 13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39" name="TextBox 13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ÍNDICE · 01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835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812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ÍNDICE DE PLANTILLAS</a:t>
            </a:r>
          </a:p>
        </p:txBody>
      </p:sp>
      <p:sp>
        <p:nvSpPr>
          <p:cNvPr id="4" name="TextBox 3"/>
          <p:cNvSpPr txBox="1"/>
          <p:nvPr/>
        </p:nvSpPr>
        <p:spPr>
          <a:xfrm>
            <a:off x="609600" y="1066800"/>
            <a:ext cx="10972800" cy="379984"/>
          </a:xfrm>
          <a:prstGeom prst="rect">
            <a:avLst/>
          </a:prstGeom>
          <a:noFill/>
          <a:effectLst/>
        </p:spPr>
        <p:txBody>
          <a:bodyPr wrap="square" lIns="0" rIns="0" tIns="0" bIns="0" anchor="t"/>
          <a:lstStyle/>
          <a:p>
            <a:pPr algn="l">
              <a:lnSpc>
                <a:spcPts val="2592"/>
              </a:lnSpc>
            </a:pPr>
            <a:r>
              <a:rPr sz="2400" b="1" spc="-72" dirty="0">
                <a:solidFill>
                  <a:srgbClr val="161616"/>
                </a:solidFill>
                <a:latin typeface="Inter"/>
                <a:cs typeface="Inter"/>
              </a:rPr>
              <a:t>64 layouts en 10 familias</a:t>
            </a:r>
          </a:p>
        </p:txBody>
      </p:sp>
      <p:sp>
        <p:nvSpPr>
          <p:cNvPr id="5" name="TextBox 4"/>
          <p:cNvSpPr txBox="1"/>
          <p:nvPr/>
        </p:nvSpPr>
        <p:spPr>
          <a:xfrm>
            <a:off x="7137400" y="812800"/>
            <a:ext cx="4445000" cy="1651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2 DE 2</a:t>
            </a:r>
          </a:p>
        </p:txBody>
      </p:sp>
      <p:cxnSp>
        <p:nvCxnSpPr>
          <p:cNvPr id="6" name="Connector 5"/>
          <p:cNvCxnSpPr/>
          <p:nvPr/>
        </p:nvCxnSpPr>
        <p:spPr>
          <a:xfrm>
            <a:off x="609600" y="1603756"/>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0960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3660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F</a:t>
            </a:r>
          </a:p>
        </p:txBody>
      </p:sp>
      <p:sp>
        <p:nvSpPr>
          <p:cNvPr id="9" name="TextBox 8"/>
          <p:cNvSpPr txBox="1"/>
          <p:nvPr/>
        </p:nvSpPr>
        <p:spPr>
          <a:xfrm>
            <a:off x="109220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DATOS</a:t>
            </a:r>
          </a:p>
        </p:txBody>
      </p:sp>
      <p:sp>
        <p:nvSpPr>
          <p:cNvPr id="10" name="TextBox 9"/>
          <p:cNvSpPr txBox="1"/>
          <p:nvPr/>
        </p:nvSpPr>
        <p:spPr>
          <a:xfrm>
            <a:off x="109220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8 plantillas</a:t>
            </a:r>
          </a:p>
        </p:txBody>
      </p:sp>
      <p:sp>
        <p:nvSpPr>
          <p:cNvPr id="11" name="TextBox 10"/>
          <p:cNvSpPr txBox="1"/>
          <p:nvPr/>
        </p:nvSpPr>
        <p:spPr>
          <a:xfrm>
            <a:off x="60960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F01</a:t>
            </a:r>
          </a:p>
        </p:txBody>
      </p:sp>
      <p:sp>
        <p:nvSpPr>
          <p:cNvPr id="12" name="TextBox 11"/>
          <p:cNvSpPr txBox="1"/>
          <p:nvPr/>
        </p:nvSpPr>
        <p:spPr>
          <a:xfrm>
            <a:off x="100330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Tabla</a:t>
            </a:r>
          </a:p>
        </p:txBody>
      </p:sp>
      <p:cxnSp>
        <p:nvCxnSpPr>
          <p:cNvPr id="13" name="Connector 12"/>
          <p:cNvCxnSpPr/>
          <p:nvPr/>
        </p:nvCxnSpPr>
        <p:spPr>
          <a:xfrm>
            <a:off x="60960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F02</a:t>
            </a:r>
          </a:p>
        </p:txBody>
      </p:sp>
      <p:sp>
        <p:nvSpPr>
          <p:cNvPr id="15" name="TextBox 14"/>
          <p:cNvSpPr txBox="1"/>
          <p:nvPr/>
        </p:nvSpPr>
        <p:spPr>
          <a:xfrm>
            <a:off x="100330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Tabla de decisión</a:t>
            </a:r>
          </a:p>
        </p:txBody>
      </p:sp>
      <p:cxnSp>
        <p:nvCxnSpPr>
          <p:cNvPr id="16" name="Connector 15"/>
          <p:cNvCxnSpPr/>
          <p:nvPr/>
        </p:nvCxnSpPr>
        <p:spPr>
          <a:xfrm>
            <a:off x="60960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F03</a:t>
            </a:r>
          </a:p>
        </p:txBody>
      </p:sp>
      <p:sp>
        <p:nvSpPr>
          <p:cNvPr id="18" name="TextBox 17"/>
          <p:cNvSpPr txBox="1"/>
          <p:nvPr/>
        </p:nvSpPr>
        <p:spPr>
          <a:xfrm>
            <a:off x="100330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Gráfico de barras</a:t>
            </a:r>
          </a:p>
        </p:txBody>
      </p:sp>
      <p:cxnSp>
        <p:nvCxnSpPr>
          <p:cNvPr id="19" name="Connector 18"/>
          <p:cNvCxnSpPr/>
          <p:nvPr/>
        </p:nvCxnSpPr>
        <p:spPr>
          <a:xfrm>
            <a:off x="60960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F04</a:t>
            </a:r>
          </a:p>
        </p:txBody>
      </p:sp>
      <p:sp>
        <p:nvSpPr>
          <p:cNvPr id="21" name="TextBox 20"/>
          <p:cNvSpPr txBox="1"/>
          <p:nvPr/>
        </p:nvSpPr>
        <p:spPr>
          <a:xfrm>
            <a:off x="100330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Evolución / línea</a:t>
            </a:r>
          </a:p>
        </p:txBody>
      </p:sp>
      <p:cxnSp>
        <p:nvCxnSpPr>
          <p:cNvPr id="22" name="Connector 21"/>
          <p:cNvCxnSpPr/>
          <p:nvPr/>
        </p:nvCxnSpPr>
        <p:spPr>
          <a:xfrm>
            <a:off x="60960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60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F05</a:t>
            </a:r>
          </a:p>
        </p:txBody>
      </p:sp>
      <p:sp>
        <p:nvSpPr>
          <p:cNvPr id="24" name="TextBox 23"/>
          <p:cNvSpPr txBox="1"/>
          <p:nvPr/>
        </p:nvSpPr>
        <p:spPr>
          <a:xfrm>
            <a:off x="100330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Cifra destacada</a:t>
            </a:r>
          </a:p>
        </p:txBody>
      </p:sp>
      <p:cxnSp>
        <p:nvCxnSpPr>
          <p:cNvPr id="25" name="Connector 24"/>
          <p:cNvCxnSpPr/>
          <p:nvPr/>
        </p:nvCxnSpPr>
        <p:spPr>
          <a:xfrm>
            <a:off x="60960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09600" y="4232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F06</a:t>
            </a:r>
          </a:p>
        </p:txBody>
      </p:sp>
      <p:sp>
        <p:nvSpPr>
          <p:cNvPr id="27" name="TextBox 26"/>
          <p:cNvSpPr txBox="1"/>
          <p:nvPr/>
        </p:nvSpPr>
        <p:spPr>
          <a:xfrm>
            <a:off x="1003300" y="4219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Panel de KPIs</a:t>
            </a:r>
          </a:p>
        </p:txBody>
      </p:sp>
      <p:cxnSp>
        <p:nvCxnSpPr>
          <p:cNvPr id="28" name="Connector 27"/>
          <p:cNvCxnSpPr/>
          <p:nvPr/>
        </p:nvCxnSpPr>
        <p:spPr>
          <a:xfrm>
            <a:off x="609600" y="4486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4562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F07</a:t>
            </a:r>
          </a:p>
        </p:txBody>
      </p:sp>
      <p:sp>
        <p:nvSpPr>
          <p:cNvPr id="30" name="TextBox 29"/>
          <p:cNvSpPr txBox="1"/>
          <p:nvPr/>
        </p:nvSpPr>
        <p:spPr>
          <a:xfrm>
            <a:off x="1003300" y="4550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Distribución en porcentajes</a:t>
            </a:r>
          </a:p>
        </p:txBody>
      </p:sp>
      <p:cxnSp>
        <p:nvCxnSpPr>
          <p:cNvPr id="31" name="Connector 30"/>
          <p:cNvCxnSpPr/>
          <p:nvPr/>
        </p:nvCxnSpPr>
        <p:spPr>
          <a:xfrm>
            <a:off x="609600" y="4816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09600" y="4893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F08</a:t>
            </a:r>
          </a:p>
        </p:txBody>
      </p:sp>
      <p:sp>
        <p:nvSpPr>
          <p:cNvPr id="33" name="TextBox 32"/>
          <p:cNvSpPr txBox="1"/>
          <p:nvPr/>
        </p:nvSpPr>
        <p:spPr>
          <a:xfrm>
            <a:off x="1003300" y="4880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Mapa / geografía</a:t>
            </a:r>
          </a:p>
        </p:txBody>
      </p:sp>
      <p:cxnSp>
        <p:nvCxnSpPr>
          <p:cNvPr id="34" name="Connector 33"/>
          <p:cNvCxnSpPr/>
          <p:nvPr/>
        </p:nvCxnSpPr>
        <p:spPr>
          <a:xfrm>
            <a:off x="609600" y="5147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0960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Cifras con fuente. Nunca un dato sin de dónde sale.</a:t>
            </a:r>
          </a:p>
        </p:txBody>
      </p:sp>
      <p:sp>
        <p:nvSpPr>
          <p:cNvPr id="36" name="Rectangle 35"/>
          <p:cNvSpPr/>
          <p:nvPr/>
        </p:nvSpPr>
        <p:spPr>
          <a:xfrm>
            <a:off x="283464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96164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G</a:t>
            </a:r>
          </a:p>
        </p:txBody>
      </p:sp>
      <p:sp>
        <p:nvSpPr>
          <p:cNvPr id="38" name="TextBox 37"/>
          <p:cNvSpPr txBox="1"/>
          <p:nvPr/>
        </p:nvSpPr>
        <p:spPr>
          <a:xfrm>
            <a:off x="331724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ESTRUCTURA</a:t>
            </a:r>
          </a:p>
        </p:txBody>
      </p:sp>
      <p:sp>
        <p:nvSpPr>
          <p:cNvPr id="39" name="TextBox 38"/>
          <p:cNvSpPr txBox="1"/>
          <p:nvPr/>
        </p:nvSpPr>
        <p:spPr>
          <a:xfrm>
            <a:off x="331724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9 plantillas</a:t>
            </a:r>
          </a:p>
        </p:txBody>
      </p:sp>
      <p:sp>
        <p:nvSpPr>
          <p:cNvPr id="40" name="TextBox 39"/>
          <p:cNvSpPr txBox="1"/>
          <p:nvPr/>
        </p:nvSpPr>
        <p:spPr>
          <a:xfrm>
            <a:off x="283464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G01</a:t>
            </a:r>
          </a:p>
        </p:txBody>
      </p:sp>
      <p:sp>
        <p:nvSpPr>
          <p:cNvPr id="41" name="TextBox 40"/>
          <p:cNvSpPr txBox="1"/>
          <p:nvPr/>
        </p:nvSpPr>
        <p:spPr>
          <a:xfrm>
            <a:off x="322834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Proceso en pasos</a:t>
            </a:r>
          </a:p>
        </p:txBody>
      </p:sp>
      <p:cxnSp>
        <p:nvCxnSpPr>
          <p:cNvPr id="42" name="Connector 41"/>
          <p:cNvCxnSpPr/>
          <p:nvPr/>
        </p:nvCxnSpPr>
        <p:spPr>
          <a:xfrm>
            <a:off x="283464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83464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G02</a:t>
            </a:r>
          </a:p>
        </p:txBody>
      </p:sp>
      <p:sp>
        <p:nvSpPr>
          <p:cNvPr id="44" name="TextBox 43"/>
          <p:cNvSpPr txBox="1"/>
          <p:nvPr/>
        </p:nvSpPr>
        <p:spPr>
          <a:xfrm>
            <a:off x="322834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Cronología</a:t>
            </a:r>
          </a:p>
        </p:txBody>
      </p:sp>
      <p:cxnSp>
        <p:nvCxnSpPr>
          <p:cNvPr id="45" name="Connector 44"/>
          <p:cNvCxnSpPr/>
          <p:nvPr/>
        </p:nvCxnSpPr>
        <p:spPr>
          <a:xfrm>
            <a:off x="283464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83464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G03</a:t>
            </a:r>
          </a:p>
        </p:txBody>
      </p:sp>
      <p:sp>
        <p:nvSpPr>
          <p:cNvPr id="47" name="TextBox 46"/>
          <p:cNvSpPr txBox="1"/>
          <p:nvPr/>
        </p:nvSpPr>
        <p:spPr>
          <a:xfrm>
            <a:off x="322834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Comparativa A / B</a:t>
            </a:r>
          </a:p>
        </p:txBody>
      </p:sp>
      <p:cxnSp>
        <p:nvCxnSpPr>
          <p:cNvPr id="48" name="Connector 47"/>
          <p:cNvCxnSpPr/>
          <p:nvPr/>
        </p:nvCxnSpPr>
        <p:spPr>
          <a:xfrm>
            <a:off x="283464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83464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G04</a:t>
            </a:r>
          </a:p>
        </p:txBody>
      </p:sp>
      <p:sp>
        <p:nvSpPr>
          <p:cNvPr id="50" name="TextBox 49"/>
          <p:cNvSpPr txBox="1"/>
          <p:nvPr/>
        </p:nvSpPr>
        <p:spPr>
          <a:xfrm>
            <a:off x="322834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Matriz 2×2</a:t>
            </a:r>
          </a:p>
        </p:txBody>
      </p:sp>
      <p:cxnSp>
        <p:nvCxnSpPr>
          <p:cNvPr id="51" name="Connector 50"/>
          <p:cNvCxnSpPr/>
          <p:nvPr/>
        </p:nvCxnSpPr>
        <p:spPr>
          <a:xfrm>
            <a:off x="283464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83464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G05</a:t>
            </a:r>
          </a:p>
        </p:txBody>
      </p:sp>
      <p:sp>
        <p:nvSpPr>
          <p:cNvPr id="53" name="TextBox 52"/>
          <p:cNvSpPr txBox="1"/>
          <p:nvPr/>
        </p:nvSpPr>
        <p:spPr>
          <a:xfrm>
            <a:off x="322834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Jerarquía / pirámide</a:t>
            </a:r>
          </a:p>
        </p:txBody>
      </p:sp>
      <p:cxnSp>
        <p:nvCxnSpPr>
          <p:cNvPr id="54" name="Connector 53"/>
          <p:cNvCxnSpPr/>
          <p:nvPr/>
        </p:nvCxnSpPr>
        <p:spPr>
          <a:xfrm>
            <a:off x="283464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834640" y="4232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G06</a:t>
            </a:r>
          </a:p>
        </p:txBody>
      </p:sp>
      <p:sp>
        <p:nvSpPr>
          <p:cNvPr id="56" name="TextBox 55"/>
          <p:cNvSpPr txBox="1"/>
          <p:nvPr/>
        </p:nvSpPr>
        <p:spPr>
          <a:xfrm>
            <a:off x="3228340" y="4219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Diagrama de flujo</a:t>
            </a:r>
          </a:p>
        </p:txBody>
      </p:sp>
      <p:cxnSp>
        <p:nvCxnSpPr>
          <p:cNvPr id="57" name="Connector 56"/>
          <p:cNvCxnSpPr/>
          <p:nvPr/>
        </p:nvCxnSpPr>
        <p:spPr>
          <a:xfrm>
            <a:off x="2834640" y="4486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834640" y="4562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G07</a:t>
            </a:r>
          </a:p>
        </p:txBody>
      </p:sp>
      <p:sp>
        <p:nvSpPr>
          <p:cNvPr id="59" name="TextBox 58"/>
          <p:cNvSpPr txBox="1"/>
          <p:nvPr/>
        </p:nvSpPr>
        <p:spPr>
          <a:xfrm>
            <a:off x="3228340" y="4550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Checklist</a:t>
            </a:r>
          </a:p>
        </p:txBody>
      </p:sp>
      <p:cxnSp>
        <p:nvCxnSpPr>
          <p:cNvPr id="60" name="Connector 59"/>
          <p:cNvCxnSpPr/>
          <p:nvPr/>
        </p:nvCxnSpPr>
        <p:spPr>
          <a:xfrm>
            <a:off x="2834640" y="4816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2834640" y="4893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G08</a:t>
            </a:r>
          </a:p>
        </p:txBody>
      </p:sp>
      <p:sp>
        <p:nvSpPr>
          <p:cNvPr id="62" name="TextBox 61"/>
          <p:cNvSpPr txBox="1"/>
          <p:nvPr/>
        </p:nvSpPr>
        <p:spPr>
          <a:xfrm>
            <a:off x="3228340" y="4880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Do / Don't</a:t>
            </a:r>
          </a:p>
        </p:txBody>
      </p:sp>
      <p:cxnSp>
        <p:nvCxnSpPr>
          <p:cNvPr id="63" name="Connector 62"/>
          <p:cNvCxnSpPr/>
          <p:nvPr/>
        </p:nvCxnSpPr>
        <p:spPr>
          <a:xfrm>
            <a:off x="2834640" y="5147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2834640" y="5223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G09</a:t>
            </a:r>
          </a:p>
        </p:txBody>
      </p:sp>
      <p:sp>
        <p:nvSpPr>
          <p:cNvPr id="65" name="TextBox 64"/>
          <p:cNvSpPr txBox="1"/>
          <p:nvPr/>
        </p:nvSpPr>
        <p:spPr>
          <a:xfrm>
            <a:off x="3228340" y="5210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Framework con siglas</a:t>
            </a:r>
          </a:p>
        </p:txBody>
      </p:sp>
      <p:cxnSp>
        <p:nvCxnSpPr>
          <p:cNvPr id="66" name="Connector 65"/>
          <p:cNvCxnSpPr/>
          <p:nvPr/>
        </p:nvCxnSpPr>
        <p:spPr>
          <a:xfrm>
            <a:off x="2834640" y="5477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83464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Procesos, comparativas y marcos de decisión.</a:t>
            </a:r>
          </a:p>
        </p:txBody>
      </p:sp>
      <p:sp>
        <p:nvSpPr>
          <p:cNvPr id="68" name="Rectangle 67"/>
          <p:cNvSpPr/>
          <p:nvPr/>
        </p:nvSpPr>
        <p:spPr>
          <a:xfrm>
            <a:off x="505968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518668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H</a:t>
            </a:r>
          </a:p>
        </p:txBody>
      </p:sp>
      <p:sp>
        <p:nvSpPr>
          <p:cNvPr id="70" name="TextBox 69"/>
          <p:cNvSpPr txBox="1"/>
          <p:nvPr/>
        </p:nvSpPr>
        <p:spPr>
          <a:xfrm>
            <a:off x="554228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PERSONAS</a:t>
            </a:r>
          </a:p>
        </p:txBody>
      </p:sp>
      <p:sp>
        <p:nvSpPr>
          <p:cNvPr id="71" name="TextBox 70"/>
          <p:cNvSpPr txBox="1"/>
          <p:nvPr/>
        </p:nvSpPr>
        <p:spPr>
          <a:xfrm>
            <a:off x="554228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5 plantillas</a:t>
            </a:r>
          </a:p>
        </p:txBody>
      </p:sp>
      <p:sp>
        <p:nvSpPr>
          <p:cNvPr id="72" name="TextBox 71"/>
          <p:cNvSpPr txBox="1"/>
          <p:nvPr/>
        </p:nvSpPr>
        <p:spPr>
          <a:xfrm>
            <a:off x="505968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H01</a:t>
            </a:r>
          </a:p>
        </p:txBody>
      </p:sp>
      <p:sp>
        <p:nvSpPr>
          <p:cNvPr id="73" name="TextBox 72"/>
          <p:cNvSpPr txBox="1"/>
          <p:nvPr/>
        </p:nvSpPr>
        <p:spPr>
          <a:xfrm>
            <a:off x="545338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Cita</a:t>
            </a:r>
          </a:p>
        </p:txBody>
      </p:sp>
      <p:cxnSp>
        <p:nvCxnSpPr>
          <p:cNvPr id="74" name="Connector 73"/>
          <p:cNvCxnSpPr/>
          <p:nvPr/>
        </p:nvCxnSpPr>
        <p:spPr>
          <a:xfrm>
            <a:off x="505968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5968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H02</a:t>
            </a:r>
          </a:p>
        </p:txBody>
      </p:sp>
      <p:sp>
        <p:nvSpPr>
          <p:cNvPr id="76" name="TextBox 75"/>
          <p:cNvSpPr txBox="1"/>
          <p:nvPr/>
        </p:nvSpPr>
        <p:spPr>
          <a:xfrm>
            <a:off x="545338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Testimonio con foto</a:t>
            </a:r>
          </a:p>
        </p:txBody>
      </p:sp>
      <p:cxnSp>
        <p:nvCxnSpPr>
          <p:cNvPr id="77" name="Connector 76"/>
          <p:cNvCxnSpPr/>
          <p:nvPr/>
        </p:nvCxnSpPr>
        <p:spPr>
          <a:xfrm>
            <a:off x="505968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5968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H03</a:t>
            </a:r>
          </a:p>
        </p:txBody>
      </p:sp>
      <p:sp>
        <p:nvSpPr>
          <p:cNvPr id="79" name="TextBox 78"/>
          <p:cNvSpPr txBox="1"/>
          <p:nvPr/>
        </p:nvSpPr>
        <p:spPr>
          <a:xfrm>
            <a:off x="545338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Perfil del ponente</a:t>
            </a:r>
          </a:p>
        </p:txBody>
      </p:sp>
      <p:cxnSp>
        <p:nvCxnSpPr>
          <p:cNvPr id="80" name="Connector 79"/>
          <p:cNvCxnSpPr/>
          <p:nvPr/>
        </p:nvCxnSpPr>
        <p:spPr>
          <a:xfrm>
            <a:off x="505968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05968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H04</a:t>
            </a:r>
          </a:p>
        </p:txBody>
      </p:sp>
      <p:sp>
        <p:nvSpPr>
          <p:cNvPr id="82" name="TextBox 81"/>
          <p:cNvSpPr txBox="1"/>
          <p:nvPr/>
        </p:nvSpPr>
        <p:spPr>
          <a:xfrm>
            <a:off x="545338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Caso real</a:t>
            </a:r>
          </a:p>
        </p:txBody>
      </p:sp>
      <p:cxnSp>
        <p:nvCxnSpPr>
          <p:cNvPr id="83" name="Connector 82"/>
          <p:cNvCxnSpPr/>
          <p:nvPr/>
        </p:nvCxnSpPr>
        <p:spPr>
          <a:xfrm>
            <a:off x="505968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05968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H05</a:t>
            </a:r>
          </a:p>
        </p:txBody>
      </p:sp>
      <p:sp>
        <p:nvSpPr>
          <p:cNvPr id="85" name="TextBox 84"/>
          <p:cNvSpPr txBox="1"/>
          <p:nvPr/>
        </p:nvSpPr>
        <p:spPr>
          <a:xfrm>
            <a:off x="545338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Logos de empresas</a:t>
            </a:r>
          </a:p>
        </p:txBody>
      </p:sp>
      <p:cxnSp>
        <p:nvCxnSpPr>
          <p:cNvPr id="86" name="Connector 85"/>
          <p:cNvCxnSpPr/>
          <p:nvPr/>
        </p:nvCxnSpPr>
        <p:spPr>
          <a:xfrm>
            <a:off x="505968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05968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Citas, casos y perfiles. La prueba social del programa.</a:t>
            </a:r>
          </a:p>
        </p:txBody>
      </p:sp>
      <p:sp>
        <p:nvSpPr>
          <p:cNvPr id="88" name="Rectangle 87"/>
          <p:cNvSpPr/>
          <p:nvPr/>
        </p:nvSpPr>
        <p:spPr>
          <a:xfrm>
            <a:off x="728472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741172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I</a:t>
            </a:r>
          </a:p>
        </p:txBody>
      </p:sp>
      <p:sp>
        <p:nvSpPr>
          <p:cNvPr id="90" name="TextBox 89"/>
          <p:cNvSpPr txBox="1"/>
          <p:nvPr/>
        </p:nvSpPr>
        <p:spPr>
          <a:xfrm>
            <a:off x="776732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ACTIVIDAD</a:t>
            </a:r>
          </a:p>
        </p:txBody>
      </p:sp>
      <p:sp>
        <p:nvSpPr>
          <p:cNvPr id="91" name="TextBox 90"/>
          <p:cNvSpPr txBox="1"/>
          <p:nvPr/>
        </p:nvSpPr>
        <p:spPr>
          <a:xfrm>
            <a:off x="776732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5 plantillas</a:t>
            </a:r>
          </a:p>
        </p:txBody>
      </p:sp>
      <p:sp>
        <p:nvSpPr>
          <p:cNvPr id="92" name="TextBox 91"/>
          <p:cNvSpPr txBox="1"/>
          <p:nvPr/>
        </p:nvSpPr>
        <p:spPr>
          <a:xfrm>
            <a:off x="728472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I01</a:t>
            </a:r>
          </a:p>
        </p:txBody>
      </p:sp>
      <p:sp>
        <p:nvSpPr>
          <p:cNvPr id="93" name="TextBox 92"/>
          <p:cNvSpPr txBox="1"/>
          <p:nvPr/>
        </p:nvSpPr>
        <p:spPr>
          <a:xfrm>
            <a:off x="767842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Ejercicio práctico</a:t>
            </a:r>
          </a:p>
        </p:txBody>
      </p:sp>
      <p:cxnSp>
        <p:nvCxnSpPr>
          <p:cNvPr id="94" name="Connector 93"/>
          <p:cNvCxnSpPr/>
          <p:nvPr/>
        </p:nvCxnSpPr>
        <p:spPr>
          <a:xfrm>
            <a:off x="728472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28472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I02</a:t>
            </a:r>
          </a:p>
        </p:txBody>
      </p:sp>
      <p:sp>
        <p:nvSpPr>
          <p:cNvPr id="96" name="TextBox 95"/>
          <p:cNvSpPr txBox="1"/>
          <p:nvPr/>
        </p:nvSpPr>
        <p:spPr>
          <a:xfrm>
            <a:off x="767842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Trabajo en grupo</a:t>
            </a:r>
          </a:p>
        </p:txBody>
      </p:sp>
      <p:cxnSp>
        <p:nvCxnSpPr>
          <p:cNvPr id="97" name="Connector 96"/>
          <p:cNvCxnSpPr/>
          <p:nvPr/>
        </p:nvCxnSpPr>
        <p:spPr>
          <a:xfrm>
            <a:off x="728472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728472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I03</a:t>
            </a:r>
          </a:p>
        </p:txBody>
      </p:sp>
      <p:sp>
        <p:nvSpPr>
          <p:cNvPr id="99" name="TextBox 98"/>
          <p:cNvSpPr txBox="1"/>
          <p:nvPr/>
        </p:nvSpPr>
        <p:spPr>
          <a:xfrm>
            <a:off x="767842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Quiz de repaso</a:t>
            </a:r>
          </a:p>
        </p:txBody>
      </p:sp>
      <p:cxnSp>
        <p:nvCxnSpPr>
          <p:cNvPr id="100" name="Connector 99"/>
          <p:cNvCxnSpPr/>
          <p:nvPr/>
        </p:nvCxnSpPr>
        <p:spPr>
          <a:xfrm>
            <a:off x="728472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284720" y="35722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I04</a:t>
            </a:r>
          </a:p>
        </p:txBody>
      </p:sp>
      <p:sp>
        <p:nvSpPr>
          <p:cNvPr id="102" name="TextBox 101"/>
          <p:cNvSpPr txBox="1"/>
          <p:nvPr/>
        </p:nvSpPr>
        <p:spPr>
          <a:xfrm>
            <a:off x="7678420" y="35595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Plantilla a rellenar</a:t>
            </a:r>
          </a:p>
        </p:txBody>
      </p:sp>
      <p:cxnSp>
        <p:nvCxnSpPr>
          <p:cNvPr id="103" name="Connector 102"/>
          <p:cNvCxnSpPr/>
          <p:nvPr/>
        </p:nvCxnSpPr>
        <p:spPr>
          <a:xfrm>
            <a:off x="7284720" y="38262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7284720" y="39024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I05</a:t>
            </a:r>
          </a:p>
        </p:txBody>
      </p:sp>
      <p:sp>
        <p:nvSpPr>
          <p:cNvPr id="105" name="TextBox 104"/>
          <p:cNvSpPr txBox="1"/>
          <p:nvPr/>
        </p:nvSpPr>
        <p:spPr>
          <a:xfrm>
            <a:off x="7678420" y="38897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Errores comunes</a:t>
            </a:r>
          </a:p>
        </p:txBody>
      </p:sp>
      <p:cxnSp>
        <p:nvCxnSpPr>
          <p:cNvPr id="106" name="Connector 105"/>
          <p:cNvCxnSpPr/>
          <p:nvPr/>
        </p:nvCxnSpPr>
        <p:spPr>
          <a:xfrm>
            <a:off x="7284720" y="41564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728472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El 40 % del tiempo de clase. Siempre con entregable.</a:t>
            </a:r>
          </a:p>
        </p:txBody>
      </p:sp>
      <p:sp>
        <p:nvSpPr>
          <p:cNvPr id="108" name="Rectangle 107"/>
          <p:cNvSpPr/>
          <p:nvPr/>
        </p:nvSpPr>
        <p:spPr>
          <a:xfrm>
            <a:off x="9509760" y="1857756"/>
            <a:ext cx="2072640" cy="584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TextBox 108"/>
          <p:cNvSpPr txBox="1"/>
          <p:nvPr/>
        </p:nvSpPr>
        <p:spPr>
          <a:xfrm>
            <a:off x="9636760" y="1959356"/>
            <a:ext cx="381000" cy="381000"/>
          </a:xfrm>
          <a:prstGeom prst="rect">
            <a:avLst/>
          </a:prstGeom>
          <a:noFill/>
          <a:effectLst/>
        </p:spPr>
        <p:txBody>
          <a:bodyPr wrap="square" lIns="0" rIns="0" tIns="0" bIns="0" anchor="t"/>
          <a:lstStyle/>
          <a:p>
            <a:pPr algn="l">
              <a:lnSpc>
                <a:spcPts val="2200"/>
              </a:lnSpc>
            </a:pPr>
            <a:r>
              <a:rPr sz="2200" b="1" spc="-66" dirty="0">
                <a:solidFill>
                  <a:srgbClr val="FFFFFF"/>
                </a:solidFill>
                <a:latin typeface="Inter"/>
                <a:cs typeface="Inter"/>
              </a:rPr>
              <a:t>I</a:t>
            </a:r>
          </a:p>
        </p:txBody>
      </p:sp>
      <p:sp>
        <p:nvSpPr>
          <p:cNvPr id="110" name="TextBox 109"/>
          <p:cNvSpPr txBox="1"/>
          <p:nvPr/>
        </p:nvSpPr>
        <p:spPr>
          <a:xfrm>
            <a:off x="9992360" y="1997456"/>
            <a:ext cx="1463040" cy="190500"/>
          </a:xfrm>
          <a:prstGeom prst="rect">
            <a:avLst/>
          </a:prstGeom>
          <a:noFill/>
          <a:effectLst/>
        </p:spPr>
        <p:txBody>
          <a:bodyPr wrap="square" lIns="0" rIns="0" tIns="0" bIns="0" anchor="t"/>
          <a:lstStyle/>
          <a:p>
            <a:pPr algn="l">
              <a:lnSpc>
                <a:spcPts val="700"/>
              </a:lnSpc>
            </a:pPr>
            <a:r>
              <a:rPr sz="700" b="1" spc="112" dirty="0">
                <a:solidFill>
                  <a:srgbClr val="9A9A9A"/>
                </a:solidFill>
                <a:latin typeface="Inter"/>
                <a:cs typeface="Inter"/>
              </a:rPr>
              <a:t>CIERRE</a:t>
            </a:r>
          </a:p>
        </p:txBody>
      </p:sp>
      <p:sp>
        <p:nvSpPr>
          <p:cNvPr id="111" name="TextBox 110"/>
          <p:cNvSpPr txBox="1"/>
          <p:nvPr/>
        </p:nvSpPr>
        <p:spPr>
          <a:xfrm>
            <a:off x="9992360" y="2187956"/>
            <a:ext cx="1463040" cy="190500"/>
          </a:xfrm>
          <a:prstGeom prst="rect">
            <a:avLst/>
          </a:prstGeom>
          <a:noFill/>
          <a:effectLst/>
        </p:spPr>
        <p:txBody>
          <a:bodyPr wrap="square" lIns="0" rIns="0" tIns="0" bIns="0" anchor="t"/>
          <a:lstStyle/>
          <a:p>
            <a:pPr algn="l">
              <a:lnSpc>
                <a:spcPts val="900"/>
              </a:lnSpc>
            </a:pPr>
            <a:r>
              <a:rPr sz="900" b="0" dirty="0">
                <a:solidFill>
                  <a:srgbClr val="8C8C8C"/>
                </a:solidFill>
                <a:latin typeface="Inter"/>
                <a:cs typeface="Inter"/>
              </a:rPr>
              <a:t>3 plantillas</a:t>
            </a:r>
          </a:p>
        </p:txBody>
      </p:sp>
      <p:sp>
        <p:nvSpPr>
          <p:cNvPr id="112" name="TextBox 111"/>
          <p:cNvSpPr txBox="1"/>
          <p:nvPr/>
        </p:nvSpPr>
        <p:spPr>
          <a:xfrm>
            <a:off x="9509760" y="25816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I06</a:t>
            </a:r>
          </a:p>
        </p:txBody>
      </p:sp>
      <p:sp>
        <p:nvSpPr>
          <p:cNvPr id="113" name="TextBox 112"/>
          <p:cNvSpPr txBox="1"/>
          <p:nvPr/>
        </p:nvSpPr>
        <p:spPr>
          <a:xfrm>
            <a:off x="9903460" y="25689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Resumen del bloque</a:t>
            </a:r>
          </a:p>
        </p:txBody>
      </p:sp>
      <p:cxnSp>
        <p:nvCxnSpPr>
          <p:cNvPr id="114" name="Connector 113"/>
          <p:cNvCxnSpPr/>
          <p:nvPr/>
        </p:nvCxnSpPr>
        <p:spPr>
          <a:xfrm>
            <a:off x="9509760" y="28356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9509760" y="29118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I07</a:t>
            </a:r>
          </a:p>
        </p:txBody>
      </p:sp>
      <p:sp>
        <p:nvSpPr>
          <p:cNvPr id="116" name="TextBox 115"/>
          <p:cNvSpPr txBox="1"/>
          <p:nvPr/>
        </p:nvSpPr>
        <p:spPr>
          <a:xfrm>
            <a:off x="9903460" y="28991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Tarea con plazo</a:t>
            </a:r>
          </a:p>
        </p:txBody>
      </p:sp>
      <p:cxnSp>
        <p:nvCxnSpPr>
          <p:cNvPr id="117" name="Connector 116"/>
          <p:cNvCxnSpPr/>
          <p:nvPr/>
        </p:nvCxnSpPr>
        <p:spPr>
          <a:xfrm>
            <a:off x="9509760" y="31658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9509760" y="3242056"/>
            <a:ext cx="3810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I08</a:t>
            </a:r>
          </a:p>
        </p:txBody>
      </p:sp>
      <p:sp>
        <p:nvSpPr>
          <p:cNvPr id="119" name="TextBox 118"/>
          <p:cNvSpPr txBox="1"/>
          <p:nvPr/>
        </p:nvSpPr>
        <p:spPr>
          <a:xfrm>
            <a:off x="9903460" y="3229356"/>
            <a:ext cx="1678940" cy="330200"/>
          </a:xfrm>
          <a:prstGeom prst="rect">
            <a:avLst/>
          </a:prstGeom>
          <a:noFill/>
          <a:effectLst/>
        </p:spPr>
        <p:txBody>
          <a:bodyPr wrap="square" lIns="0" rIns="0" tIns="0" bIns="0" anchor="t"/>
          <a:lstStyle/>
          <a:p>
            <a:pPr algn="l">
              <a:lnSpc>
                <a:spcPts val="1125"/>
              </a:lnSpc>
            </a:pPr>
            <a:r>
              <a:rPr sz="900" b="0" dirty="0">
                <a:solidFill>
                  <a:srgbClr val="525252"/>
                </a:solidFill>
                <a:latin typeface="Inter"/>
                <a:cs typeface="Inter"/>
              </a:rPr>
              <a:t>Cierre y siguiente paso</a:t>
            </a:r>
          </a:p>
        </p:txBody>
      </p:sp>
      <p:cxnSp>
        <p:nvCxnSpPr>
          <p:cNvPr id="120" name="Connector 119"/>
          <p:cNvCxnSpPr/>
          <p:nvPr/>
        </p:nvCxnSpPr>
        <p:spPr>
          <a:xfrm>
            <a:off x="9509760" y="3496056"/>
            <a:ext cx="207264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9509760" y="5667756"/>
            <a:ext cx="2072640" cy="381000"/>
          </a:xfrm>
          <a:prstGeom prst="rect">
            <a:avLst/>
          </a:prstGeom>
          <a:noFill/>
          <a:effectLst/>
        </p:spPr>
        <p:txBody>
          <a:bodyPr wrap="square" lIns="0" rIns="0" tIns="0" bIns="0" anchor="t"/>
          <a:lstStyle/>
          <a:p>
            <a:pPr algn="l">
              <a:lnSpc>
                <a:spcPts val="877"/>
              </a:lnSpc>
            </a:pPr>
            <a:r>
              <a:rPr sz="650" b="0" dirty="0">
                <a:solidFill>
                  <a:srgbClr val="6F6F6F"/>
                </a:solidFill>
                <a:latin typeface="Inter"/>
                <a:cs typeface="Inter"/>
              </a:rPr>
              <a:t>Resumir, mandar tarea y salir con una acción concreta.</a:t>
            </a:r>
          </a:p>
        </p:txBody>
      </p:sp>
      <p:cxnSp>
        <p:nvCxnSpPr>
          <p:cNvPr id="122" name="Connector 12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3" name="Freeform 12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27" name="TextBox 12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ÍNDICE · 02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Apertura</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Abrir la sesión, cambiar de bloque y situar al alumno.</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7 PLANTILLAS · A01–A07</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A01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Portada de módulo</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Portada con fotografía</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Separador de bloque</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Separador con fotografía</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Agenda / índice</a:t>
            </a:r>
          </a:p>
        </p:txBody>
      </p:sp>
      <p:cxnSp>
        <p:nvCxnSpPr>
          <p:cNvPr id="25" name="Connector 24"/>
          <p:cNvCxnSpPr/>
          <p:nvPr/>
        </p:nvCxnSpPr>
        <p:spPr>
          <a:xfrm>
            <a:off x="7128933" y="3429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128933" y="3517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A06</a:t>
            </a:r>
          </a:p>
        </p:txBody>
      </p:sp>
      <p:sp>
        <p:nvSpPr>
          <p:cNvPr id="27" name="TextBox 26"/>
          <p:cNvSpPr txBox="1"/>
          <p:nvPr/>
        </p:nvSpPr>
        <p:spPr>
          <a:xfrm>
            <a:off x="7636933" y="3505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Objetivos de aprendizaje</a:t>
            </a:r>
          </a:p>
        </p:txBody>
      </p:sp>
      <p:cxnSp>
        <p:nvCxnSpPr>
          <p:cNvPr id="28" name="Connector 27"/>
          <p:cNvCxnSpPr/>
          <p:nvPr/>
        </p:nvCxnSpPr>
        <p:spPr>
          <a:xfrm>
            <a:off x="7128933" y="3784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128933" y="3873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A07</a:t>
            </a:r>
          </a:p>
        </p:txBody>
      </p:sp>
      <p:sp>
        <p:nvSpPr>
          <p:cNvPr id="30" name="TextBox 29"/>
          <p:cNvSpPr txBox="1"/>
          <p:nvPr/>
        </p:nvSpPr>
        <p:spPr>
          <a:xfrm>
            <a:off x="7636933" y="3860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Mapa del curso</a:t>
            </a:r>
          </a:p>
        </p:txBody>
      </p:sp>
      <p:cxnSp>
        <p:nvCxnSpPr>
          <p:cNvPr id="31" name="Connector 30"/>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36" name="TextBox 3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cxnSp>
        <p:nvCxnSpPr>
          <p:cNvPr id="3" name="Connector 2"/>
          <p:cNvCxnSpPr/>
          <p:nvPr/>
        </p:nvCxnSpPr>
        <p:spPr>
          <a:xfrm>
            <a:off x="254000" y="254000"/>
            <a:ext cx="1143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254000" y="254000"/>
            <a:ext cx="0" cy="1143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823700" y="254000"/>
            <a:ext cx="1143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938000" y="254000"/>
            <a:ext cx="0" cy="1143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54000" y="6604000"/>
            <a:ext cx="1143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54000" y="6489700"/>
            <a:ext cx="0" cy="1143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1823700" y="6604000"/>
            <a:ext cx="1143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938000" y="6489700"/>
            <a:ext cx="0" cy="1143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627743" y="475343"/>
            <a:ext cx="163286" cy="217714"/>
          </a:xfrm>
          <a:custGeom>
            <a:avLst/>
            <a:gdLst/>
            <a:ahLst/>
            <a:cxnLst/>
            <a:rect l="l" t="t" r="r" b="b"/>
            <a:pathLst>
              <a:path w="163286" h="217714">
                <a:moveTo>
                  <a:pt x="81643" y="0"/>
                </a:moveTo>
                <a:lnTo>
                  <a:pt x="163286" y="217714"/>
                </a:lnTo>
                <a:lnTo>
                  <a:pt x="0" y="217714"/>
                </a:lnTo>
                <a:close/>
              </a:path>
            </a:pathLst>
          </a:custGeom>
          <a:noFill/>
          <a:ln w="18143">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45457" y="475343"/>
            <a:ext cx="163286" cy="108857"/>
          </a:xfrm>
          <a:custGeom>
            <a:avLst/>
            <a:gdLst/>
            <a:ahLst/>
            <a:cxnLst/>
            <a:rect l="l" t="t" r="r" b="b"/>
            <a:pathLst>
              <a:path w="163286" h="108857">
                <a:moveTo>
                  <a:pt x="0" y="0"/>
                </a:moveTo>
                <a:lnTo>
                  <a:pt x="163286" y="0"/>
                </a:lnTo>
                <a:lnTo>
                  <a:pt x="81643" y="108857"/>
                </a:lnTo>
                <a:close/>
              </a:path>
            </a:pathLst>
          </a:custGeom>
          <a:noFill/>
          <a:ln w="18143">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845457" y="584200"/>
            <a:ext cx="163286" cy="108857"/>
          </a:xfrm>
          <a:custGeom>
            <a:avLst/>
            <a:gdLst/>
            <a:ahLst/>
            <a:cxnLst/>
            <a:rect l="l" t="t" r="r" b="b"/>
            <a:pathLst>
              <a:path w="163286" h="108857">
                <a:moveTo>
                  <a:pt x="0" y="108857"/>
                </a:moveTo>
                <a:lnTo>
                  <a:pt x="163286" y="108857"/>
                </a:lnTo>
                <a:lnTo>
                  <a:pt x="81643" y="0"/>
                </a:lnTo>
                <a:close/>
              </a:path>
            </a:pathLst>
          </a:custGeom>
          <a:noFill/>
          <a:ln w="18143">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508000"/>
            <a:ext cx="3810000" cy="165100"/>
          </a:xfrm>
          <a:prstGeom prst="rect">
            <a:avLst/>
          </a:prstGeom>
          <a:noFill/>
          <a:effectLst/>
        </p:spPr>
        <p:txBody>
          <a:bodyPr wrap="square" lIns="0" rIns="0" tIns="0" bIns="0" anchor="t"/>
          <a:lstStyle/>
          <a:p>
            <a:pPr algn="r">
              <a:lnSpc>
                <a:spcPts val="700"/>
              </a:lnSpc>
            </a:pPr>
            <a:r>
              <a:rPr sz="700" b="1" spc="112" dirty="0">
                <a:solidFill>
                  <a:srgbClr val="5A5A5A"/>
                </a:solidFill>
                <a:latin typeface="Inter"/>
                <a:cs typeface="Inter"/>
              </a:rPr>
              <a:t>REMOTE PROFESSIONAL · COHORTE 2026-01</a:t>
            </a:r>
          </a:p>
        </p:txBody>
      </p:sp>
      <p:sp>
        <p:nvSpPr>
          <p:cNvPr id="15" name="Rectangle 14"/>
          <p:cNvSpPr/>
          <p:nvPr/>
        </p:nvSpPr>
        <p:spPr>
          <a:xfrm>
            <a:off x="609600" y="38582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9300" y="38354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LOREM IPSUM · DOLOR SIT</a:t>
            </a:r>
          </a:p>
        </p:txBody>
      </p:sp>
      <p:sp>
        <p:nvSpPr>
          <p:cNvPr id="17" name="TextBox 16"/>
          <p:cNvSpPr txBox="1"/>
          <p:nvPr/>
        </p:nvSpPr>
        <p:spPr>
          <a:xfrm>
            <a:off x="609600" y="4102100"/>
            <a:ext cx="9110133" cy="1294384"/>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Lorem ipsum dolor sit amet consectetur</a:t>
            </a:r>
          </a:p>
        </p:txBody>
      </p:sp>
      <p:cxnSp>
        <p:nvCxnSpPr>
          <p:cNvPr id="18" name="Connector 17"/>
          <p:cNvCxnSpPr/>
          <p:nvPr/>
        </p:nvCxnSpPr>
        <p:spPr>
          <a:xfrm>
            <a:off x="609600" y="5537200"/>
            <a:ext cx="1143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9600" y="5753100"/>
            <a:ext cx="7247467" cy="228600"/>
          </a:xfrm>
          <a:prstGeom prst="rect">
            <a:avLst/>
          </a:prstGeom>
          <a:noFill/>
          <a:effectLst/>
        </p:spPr>
        <p:txBody>
          <a:bodyPr wrap="square" lIns="0" rIns="0" tIns="0" bIns="0" anchor="t"/>
          <a:lstStyle/>
          <a:p>
            <a:pPr algn="l">
              <a:lnSpc>
                <a:spcPts val="1560"/>
              </a:lnSpc>
            </a:pPr>
            <a:r>
              <a:rPr sz="1200" b="0" dirty="0">
                <a:solidFill>
                  <a:srgbClr val="D2D2D2"/>
                </a:solidFill>
                <a:latin typeface="Inter"/>
                <a:cs typeface="Inter"/>
              </a:rPr>
              <a:t>Lorem Ipsum · lorem ipsum dolor · 4 h en directo</a:t>
            </a:r>
          </a:p>
        </p:txBody>
      </p:sp>
      <p:cxnSp>
        <p:nvCxnSpPr>
          <p:cNvPr id="20" name="Connector 19"/>
          <p:cNvCxnSpPr/>
          <p:nvPr/>
        </p:nvCxnSpPr>
        <p:spPr>
          <a:xfrm>
            <a:off x="11569700" y="3835400"/>
            <a:ext cx="0" cy="190500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550400" y="3835400"/>
            <a:ext cx="1905000" cy="165100"/>
          </a:xfrm>
          <a:prstGeom prst="rect">
            <a:avLst/>
          </a:prstGeom>
          <a:noFill/>
          <a:effectLst/>
        </p:spPr>
        <p:txBody>
          <a:bodyPr wrap="square" lIns="0" rIns="0" tIns="0" bIns="0" anchor="t"/>
          <a:lstStyle/>
          <a:p>
            <a:pPr algn="r">
              <a:lnSpc>
                <a:spcPts val="700"/>
              </a:lnSpc>
            </a:pPr>
            <a:r>
              <a:rPr sz="700" b="1" spc="98" dirty="0">
                <a:solidFill>
                  <a:srgbClr val="8C8C8C"/>
                </a:solidFill>
                <a:latin typeface="Inter"/>
                <a:cs typeface="Inter"/>
              </a:rPr>
              <a:t>MÓDULO 00 · HORA 1</a:t>
            </a:r>
          </a:p>
        </p:txBody>
      </p:sp>
      <p:sp>
        <p:nvSpPr>
          <p:cNvPr id="22" name="TextBox 21"/>
          <p:cNvSpPr txBox="1"/>
          <p:nvPr/>
        </p:nvSpPr>
        <p:spPr>
          <a:xfrm>
            <a:off x="9550400" y="5575300"/>
            <a:ext cx="1905000" cy="165100"/>
          </a:xfrm>
          <a:prstGeom prst="rect">
            <a:avLst/>
          </a:prstGeom>
          <a:noFill/>
          <a:effectLst/>
        </p:spPr>
        <p:txBody>
          <a:bodyPr wrap="square" lIns="0" rIns="0" tIns="0" bIns="0" anchor="t"/>
          <a:lstStyle/>
          <a:p>
            <a:pPr algn="r">
              <a:lnSpc>
                <a:spcPts val="700"/>
              </a:lnSpc>
            </a:pPr>
            <a:r>
              <a:rPr sz="700" b="1" spc="98" dirty="0">
                <a:solidFill>
                  <a:srgbClr val="5A5A5A"/>
                </a:solidFill>
                <a:latin typeface="Inter"/>
                <a:cs typeface="Inter"/>
              </a:rPr>
              <a:t>45 DIAPOSITIVAS</a:t>
            </a:r>
          </a:p>
        </p:txBody>
      </p:sp>
      <p:cxnSp>
        <p:nvCxnSpPr>
          <p:cNvPr id="23" name="Connector 22"/>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4" name="Freeform 23"/>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28" name="TextBox 27"/>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MÓDULO 00 · 00</a:t>
            </a:r>
          </a:p>
        </p:txBody>
      </p:sp>
      <p:sp>
        <p:nvSpPr>
          <p:cNvPr id="29" name="TextBox 28"/>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A01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flipH="1">
            <a:off x="0" y="0"/>
            <a:ext cx="355600" cy="355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0" y="0"/>
            <a:ext cx="711200" cy="711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0" y="0"/>
            <a:ext cx="1066800" cy="1066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1422400" cy="1422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1778000" cy="177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0" y="0"/>
            <a:ext cx="2133600" cy="2133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0" y="0"/>
            <a:ext cx="2489200" cy="2489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0" y="0"/>
            <a:ext cx="2844800" cy="2844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0" y="0"/>
            <a:ext cx="3200400" cy="3200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0" y="0"/>
            <a:ext cx="3556000" cy="3556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0" y="0"/>
            <a:ext cx="3911600" cy="3911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0" y="0"/>
            <a:ext cx="4267200" cy="4267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0" y="0"/>
            <a:ext cx="4622800" cy="4622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0" y="0"/>
            <a:ext cx="4978400" cy="4978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0" y="0"/>
            <a:ext cx="5334000" cy="5334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5689600" cy="5689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6045200" cy="6045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0"/>
            <a:ext cx="6400800" cy="6400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0"/>
            <a:ext cx="6756400" cy="6756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54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09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65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320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676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2032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2387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743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098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3454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10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4165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4521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4876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5232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588000" y="254000"/>
            <a:ext cx="6604000" cy="6604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943600" y="609600"/>
            <a:ext cx="6248400" cy="6248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299200" y="965200"/>
            <a:ext cx="5892800" cy="5892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654800" y="1320800"/>
            <a:ext cx="5537200" cy="5537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7010400" y="1676400"/>
            <a:ext cx="5181600" cy="5181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366000" y="2032000"/>
            <a:ext cx="4826000" cy="4826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721600" y="2387600"/>
            <a:ext cx="4470400" cy="4470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8077200" y="2743200"/>
            <a:ext cx="4114800" cy="4114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432800" y="3098800"/>
            <a:ext cx="3759200" cy="3759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8788400" y="3454400"/>
            <a:ext cx="3403600" cy="3403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9144000" y="3810000"/>
            <a:ext cx="3048000" cy="304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9499600" y="4165600"/>
            <a:ext cx="2692400" cy="2692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9855200" y="4521200"/>
            <a:ext cx="2336800" cy="2336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0210800" y="4876800"/>
            <a:ext cx="1981200" cy="1981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0566400" y="5232400"/>
            <a:ext cx="1625600" cy="1625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0922000" y="5588000"/>
            <a:ext cx="1270000" cy="1270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1277600" y="5943600"/>
            <a:ext cx="914400" cy="914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1633200" y="6299200"/>
            <a:ext cx="558800" cy="558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1988800" y="6654800"/>
            <a:ext cx="203200" cy="203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0" y="3302000"/>
            <a:ext cx="12192000" cy="254000"/>
          </a:xfrm>
          <a:prstGeom prst="rect">
            <a:avLst/>
          </a:prstGeom>
          <a:noFill/>
          <a:effectLst/>
        </p:spPr>
        <p:txBody>
          <a:bodyPr wrap="square" lIns="0" rIns="0" tIns="0" bIns="0" anchor="ctr"/>
          <a:lstStyle/>
          <a:p>
            <a:pPr algn="ctr">
              <a:lnSpc>
                <a:spcPts val="800"/>
              </a:lnSpc>
            </a:pPr>
            <a:r>
              <a:rPr sz="800" b="0" spc="112" dirty="0">
                <a:solidFill>
                  <a:srgbClr val="8C8C8C"/>
                </a:solidFill>
                <a:latin typeface="Inter"/>
                <a:cs typeface="Inter"/>
              </a:rPr>
              <a:t>FOTOGRAFÍA A SANGRE · 1920 × 1080 PX</a:t>
            </a:r>
          </a:p>
        </p:txBody>
      </p:sp>
      <p:pic>
        <p:nvPicPr>
          <p:cNvPr id="57" name="Picture 56" descr="veil_161616_030_030_v.png"/>
          <p:cNvPicPr>
            <a:picLocks noChangeAspect="1"/>
          </p:cNvPicPr>
          <p:nvPr/>
        </p:nvPicPr>
        <p:blipFill>
          <a:blip r:embed="rId2"/>
          <a:stretch>
            <a:fillRect/>
          </a:stretch>
        </p:blipFill>
        <p:spPr>
          <a:xfrm>
            <a:off x="0" y="0"/>
            <a:ext cx="12192000" cy="6858000"/>
          </a:xfrm>
          <a:prstGeom prst="rect">
            <a:avLst/>
          </a:prstGeom>
        </p:spPr>
      </p:pic>
      <p:pic>
        <p:nvPicPr>
          <p:cNvPr id="58" name="Picture 57" descr="veil_161616_000_092_v.png"/>
          <p:cNvPicPr>
            <a:picLocks noChangeAspect="1"/>
          </p:cNvPicPr>
          <p:nvPr/>
        </p:nvPicPr>
        <p:blipFill>
          <a:blip r:embed="rId3"/>
          <a:stretch>
            <a:fillRect/>
          </a:stretch>
        </p:blipFill>
        <p:spPr>
          <a:xfrm>
            <a:off x="0" y="2921000"/>
            <a:ext cx="12192000" cy="3937000"/>
          </a:xfrm>
          <a:prstGeom prst="rect">
            <a:avLst/>
          </a:prstGeom>
        </p:spPr>
      </p:pic>
      <p:sp>
        <p:nvSpPr>
          <p:cNvPr id="59" name="Freeform 58"/>
          <p:cNvSpPr/>
          <p:nvPr/>
        </p:nvSpPr>
        <p:spPr>
          <a:xfrm>
            <a:off x="627743" y="475343"/>
            <a:ext cx="163286" cy="217714"/>
          </a:xfrm>
          <a:custGeom>
            <a:avLst/>
            <a:gdLst/>
            <a:ahLst/>
            <a:cxnLst/>
            <a:rect l="l" t="t" r="r" b="b"/>
            <a:pathLst>
              <a:path w="163286" h="217714">
                <a:moveTo>
                  <a:pt x="81643" y="0"/>
                </a:moveTo>
                <a:lnTo>
                  <a:pt x="163286" y="217714"/>
                </a:lnTo>
                <a:lnTo>
                  <a:pt x="0" y="217714"/>
                </a:lnTo>
                <a:close/>
              </a:path>
            </a:pathLst>
          </a:custGeom>
          <a:noFill/>
          <a:ln w="18143">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845457" y="475343"/>
            <a:ext cx="163286" cy="108857"/>
          </a:xfrm>
          <a:custGeom>
            <a:avLst/>
            <a:gdLst/>
            <a:ahLst/>
            <a:cxnLst/>
            <a:rect l="l" t="t" r="r" b="b"/>
            <a:pathLst>
              <a:path w="163286" h="108857">
                <a:moveTo>
                  <a:pt x="0" y="0"/>
                </a:moveTo>
                <a:lnTo>
                  <a:pt x="163286" y="0"/>
                </a:lnTo>
                <a:lnTo>
                  <a:pt x="81643" y="108857"/>
                </a:lnTo>
                <a:close/>
              </a:path>
            </a:pathLst>
          </a:custGeom>
          <a:noFill/>
          <a:ln w="18143">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845457" y="584200"/>
            <a:ext cx="163286" cy="108857"/>
          </a:xfrm>
          <a:custGeom>
            <a:avLst/>
            <a:gdLst/>
            <a:ahLst/>
            <a:cxnLst/>
            <a:rect l="l" t="t" r="r" b="b"/>
            <a:pathLst>
              <a:path w="163286" h="108857">
                <a:moveTo>
                  <a:pt x="0" y="108857"/>
                </a:moveTo>
                <a:lnTo>
                  <a:pt x="163286" y="108857"/>
                </a:lnTo>
                <a:lnTo>
                  <a:pt x="81643" y="0"/>
                </a:lnTo>
                <a:close/>
              </a:path>
            </a:pathLst>
          </a:custGeom>
          <a:noFill/>
          <a:ln w="18143">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09600" y="40868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49300" y="40640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LOREM IPSUM · DOLOR SIT</a:t>
            </a:r>
          </a:p>
        </p:txBody>
      </p:sp>
      <p:sp>
        <p:nvSpPr>
          <p:cNvPr id="64" name="TextBox 63"/>
          <p:cNvSpPr txBox="1"/>
          <p:nvPr/>
        </p:nvSpPr>
        <p:spPr>
          <a:xfrm>
            <a:off x="609600" y="4330700"/>
            <a:ext cx="8178800" cy="1294384"/>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Lorem ipsum dolor sit amet consectetur</a:t>
            </a:r>
          </a:p>
        </p:txBody>
      </p:sp>
      <p:sp>
        <p:nvSpPr>
          <p:cNvPr id="65" name="TextBox 64"/>
          <p:cNvSpPr txBox="1"/>
          <p:nvPr/>
        </p:nvSpPr>
        <p:spPr>
          <a:xfrm>
            <a:off x="609600" y="5651500"/>
            <a:ext cx="7247467" cy="228600"/>
          </a:xfrm>
          <a:prstGeom prst="rect">
            <a:avLst/>
          </a:prstGeom>
          <a:noFill/>
          <a:effectLst/>
        </p:spPr>
        <p:txBody>
          <a:bodyPr wrap="square" lIns="0" rIns="0" tIns="0" bIns="0" anchor="t"/>
          <a:lstStyle/>
          <a:p>
            <a:pPr algn="l">
              <a:lnSpc>
                <a:spcPts val="1560"/>
              </a:lnSpc>
            </a:pPr>
            <a:r>
              <a:rPr sz="1200" b="0" dirty="0">
                <a:solidFill>
                  <a:srgbClr val="D2D2D2"/>
                </a:solidFill>
                <a:latin typeface="Inter"/>
                <a:cs typeface="Inter"/>
              </a:rPr>
              <a:t>Lorem Ipsum · lorem ipsum dolor</a:t>
            </a:r>
          </a:p>
        </p:txBody>
      </p:sp>
      <p:sp>
        <p:nvSpPr>
          <p:cNvPr id="66" name="TextBox 65"/>
          <p:cNvSpPr txBox="1"/>
          <p:nvPr/>
        </p:nvSpPr>
        <p:spPr>
          <a:xfrm>
            <a:off x="8407400" y="508000"/>
            <a:ext cx="3175000" cy="165100"/>
          </a:xfrm>
          <a:prstGeom prst="rect">
            <a:avLst/>
          </a:prstGeom>
          <a:noFill/>
          <a:effectLst/>
        </p:spPr>
        <p:txBody>
          <a:bodyPr wrap="square" lIns="0" rIns="0" tIns="0" bIns="0" anchor="t"/>
          <a:lstStyle/>
          <a:p>
            <a:pPr algn="r">
              <a:lnSpc>
                <a:spcPts val="700"/>
              </a:lnSpc>
            </a:pPr>
            <a:r>
              <a:rPr sz="700" b="1" spc="98" dirty="0">
                <a:solidFill>
                  <a:srgbClr val="5A5A5A"/>
                </a:solidFill>
                <a:latin typeface="Inter"/>
                <a:cs typeface="Inter"/>
              </a:rPr>
              <a:t>FOTO A SANGRE · VELO 55 %</a:t>
            </a:r>
          </a:p>
        </p:txBody>
      </p:sp>
      <p:cxnSp>
        <p:nvCxnSpPr>
          <p:cNvPr id="67" name="Connector 66"/>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68" name="Freeform 6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72" name="TextBox 7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MÓDULO 00 · 00</a:t>
            </a:r>
          </a:p>
        </p:txBody>
      </p:sp>
      <p:sp>
        <p:nvSpPr>
          <p:cNvPr id="73" name="TextBox 7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A02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1905000"/>
            <a:ext cx="2540000" cy="1270000"/>
          </a:xfrm>
          <a:prstGeom prst="rect">
            <a:avLst/>
          </a:prstGeom>
          <a:noFill/>
          <a:effectLst/>
        </p:spPr>
        <p:txBody>
          <a:bodyPr wrap="square" lIns="0" rIns="0" tIns="0" bIns="0" anchor="t"/>
          <a:lstStyle/>
          <a:p>
            <a:pPr algn="l">
              <a:lnSpc>
                <a:spcPts val="9000"/>
              </a:lnSpc>
            </a:pPr>
            <a:r>
              <a:rPr sz="9000" b="1" spc="-360" dirty="0">
                <a:solidFill>
                  <a:srgbClr val="5A5A5A"/>
                </a:solidFill>
                <a:latin typeface="Inter"/>
                <a:cs typeface="Inter"/>
              </a:rPr>
              <a:t>01</a:t>
            </a:r>
          </a:p>
        </p:txBody>
      </p:sp>
      <p:sp>
        <p:nvSpPr>
          <p:cNvPr id="4" name="TextBox 3"/>
          <p:cNvSpPr txBox="1"/>
          <p:nvPr/>
        </p:nvSpPr>
        <p:spPr>
          <a:xfrm>
            <a:off x="609600" y="3175000"/>
            <a:ext cx="6316133" cy="1294384"/>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Lorem Ipsum Dolor</a:t>
            </a:r>
          </a:p>
        </p:txBody>
      </p:sp>
      <p:cxnSp>
        <p:nvCxnSpPr>
          <p:cNvPr id="5" name="Connector 4"/>
          <p:cNvCxnSpPr/>
          <p:nvPr/>
        </p:nvCxnSpPr>
        <p:spPr>
          <a:xfrm>
            <a:off x="609600" y="45720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4800600"/>
            <a:ext cx="5384800"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Lorem ipsum dolor sit amet, consectetur adipiscing.</a:t>
            </a:r>
          </a:p>
        </p:txBody>
      </p:sp>
      <p:sp>
        <p:nvSpPr>
          <p:cNvPr id="7" name="TextBox 6"/>
          <p:cNvSpPr txBox="1"/>
          <p:nvPr/>
        </p:nvSpPr>
        <p:spPr>
          <a:xfrm>
            <a:off x="8060267" y="1905000"/>
            <a:ext cx="3522133" cy="1651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EN ESTE BLOQUE</a:t>
            </a:r>
          </a:p>
        </p:txBody>
      </p:sp>
      <p:cxnSp>
        <p:nvCxnSpPr>
          <p:cNvPr id="8" name="Connector 7"/>
          <p:cNvCxnSpPr/>
          <p:nvPr/>
        </p:nvCxnSpPr>
        <p:spPr>
          <a:xfrm>
            <a:off x="8060267" y="2184400"/>
            <a:ext cx="3522133"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060267" y="2286000"/>
            <a:ext cx="254000" cy="165100"/>
          </a:xfrm>
          <a:prstGeom prst="rect">
            <a:avLst/>
          </a:prstGeom>
          <a:noFill/>
          <a:effectLst/>
        </p:spPr>
        <p:txBody>
          <a:bodyPr wrap="square" lIns="0" rIns="0" tIns="0" bIns="0" anchor="t"/>
          <a:lstStyle/>
          <a:p>
            <a:pPr algn="l">
              <a:lnSpc>
                <a:spcPts val="900"/>
              </a:lnSpc>
            </a:pPr>
            <a:r>
              <a:rPr sz="900" b="1" spc="72" dirty="0">
                <a:solidFill>
                  <a:srgbClr val="5B4BF5"/>
                </a:solidFill>
                <a:latin typeface="Inter"/>
                <a:cs typeface="Inter"/>
              </a:rPr>
              <a:t>01</a:t>
            </a:r>
          </a:p>
        </p:txBody>
      </p:sp>
      <p:sp>
        <p:nvSpPr>
          <p:cNvPr id="10" name="TextBox 9"/>
          <p:cNvSpPr txBox="1"/>
          <p:nvPr/>
        </p:nvSpPr>
        <p:spPr>
          <a:xfrm>
            <a:off x="8390467" y="2273300"/>
            <a:ext cx="3191933" cy="381000"/>
          </a:xfrm>
          <a:prstGeom prst="rect">
            <a:avLst/>
          </a:prstGeom>
          <a:noFill/>
          <a:effectLst/>
        </p:spPr>
        <p:txBody>
          <a:bodyPr wrap="square" lIns="0" rIns="0" tIns="0" bIns="0" anchor="t"/>
          <a:lstStyle/>
          <a:p>
            <a:pPr algn="l">
              <a:lnSpc>
                <a:spcPts val="1560"/>
              </a:lnSpc>
            </a:pPr>
            <a:r>
              <a:rPr sz="1200" b="0" dirty="0">
                <a:solidFill>
                  <a:srgbClr val="FFFFFF"/>
                </a:solidFill>
                <a:latin typeface="Inter"/>
                <a:cs typeface="Inter"/>
              </a:rPr>
              <a:t>Lorem ipsum dolor</a:t>
            </a:r>
          </a:p>
        </p:txBody>
      </p:sp>
      <p:cxnSp>
        <p:nvCxnSpPr>
          <p:cNvPr id="11" name="Connector 10"/>
          <p:cNvCxnSpPr/>
          <p:nvPr/>
        </p:nvCxnSpPr>
        <p:spPr>
          <a:xfrm>
            <a:off x="8060267" y="2679700"/>
            <a:ext cx="3522133"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60267" y="2781300"/>
            <a:ext cx="254000" cy="165100"/>
          </a:xfrm>
          <a:prstGeom prst="rect">
            <a:avLst/>
          </a:prstGeom>
          <a:noFill/>
          <a:effectLst/>
        </p:spPr>
        <p:txBody>
          <a:bodyPr wrap="square" lIns="0" rIns="0" tIns="0" bIns="0" anchor="t"/>
          <a:lstStyle/>
          <a:p>
            <a:pPr algn="l">
              <a:lnSpc>
                <a:spcPts val="900"/>
              </a:lnSpc>
            </a:pPr>
            <a:r>
              <a:rPr sz="900" b="1" spc="72" dirty="0">
                <a:solidFill>
                  <a:srgbClr val="5A5A5A"/>
                </a:solidFill>
                <a:latin typeface="Inter"/>
                <a:cs typeface="Inter"/>
              </a:rPr>
              <a:t>02</a:t>
            </a:r>
          </a:p>
        </p:txBody>
      </p:sp>
      <p:sp>
        <p:nvSpPr>
          <p:cNvPr id="13" name="TextBox 12"/>
          <p:cNvSpPr txBox="1"/>
          <p:nvPr/>
        </p:nvSpPr>
        <p:spPr>
          <a:xfrm>
            <a:off x="8390467" y="2768600"/>
            <a:ext cx="3191933" cy="381000"/>
          </a:xfrm>
          <a:prstGeom prst="rect">
            <a:avLst/>
          </a:prstGeom>
          <a:noFill/>
          <a:effectLst/>
        </p:spPr>
        <p:txBody>
          <a:bodyPr wrap="square" lIns="0" rIns="0" tIns="0" bIns="0" anchor="t"/>
          <a:lstStyle/>
          <a:p>
            <a:pPr algn="l">
              <a:lnSpc>
                <a:spcPts val="1560"/>
              </a:lnSpc>
            </a:pPr>
            <a:r>
              <a:rPr sz="1200" b="0" dirty="0">
                <a:solidFill>
                  <a:srgbClr val="9A9A9A"/>
                </a:solidFill>
                <a:latin typeface="Inter"/>
                <a:cs typeface="Inter"/>
              </a:rPr>
              <a:t>Lorem ipsum dolor</a:t>
            </a:r>
          </a:p>
        </p:txBody>
      </p:sp>
      <p:cxnSp>
        <p:nvCxnSpPr>
          <p:cNvPr id="14" name="Connector 13"/>
          <p:cNvCxnSpPr/>
          <p:nvPr/>
        </p:nvCxnSpPr>
        <p:spPr>
          <a:xfrm>
            <a:off x="8060267" y="3175000"/>
            <a:ext cx="3522133"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60267" y="3276600"/>
            <a:ext cx="254000" cy="165100"/>
          </a:xfrm>
          <a:prstGeom prst="rect">
            <a:avLst/>
          </a:prstGeom>
          <a:noFill/>
          <a:effectLst/>
        </p:spPr>
        <p:txBody>
          <a:bodyPr wrap="square" lIns="0" rIns="0" tIns="0" bIns="0" anchor="t"/>
          <a:lstStyle/>
          <a:p>
            <a:pPr algn="l">
              <a:lnSpc>
                <a:spcPts val="900"/>
              </a:lnSpc>
            </a:pPr>
            <a:r>
              <a:rPr sz="900" b="1" spc="72" dirty="0">
                <a:solidFill>
                  <a:srgbClr val="5A5A5A"/>
                </a:solidFill>
                <a:latin typeface="Inter"/>
                <a:cs typeface="Inter"/>
              </a:rPr>
              <a:t>03</a:t>
            </a:r>
          </a:p>
        </p:txBody>
      </p:sp>
      <p:sp>
        <p:nvSpPr>
          <p:cNvPr id="16" name="TextBox 15"/>
          <p:cNvSpPr txBox="1"/>
          <p:nvPr/>
        </p:nvSpPr>
        <p:spPr>
          <a:xfrm>
            <a:off x="8390467" y="3263900"/>
            <a:ext cx="3191933" cy="381000"/>
          </a:xfrm>
          <a:prstGeom prst="rect">
            <a:avLst/>
          </a:prstGeom>
          <a:noFill/>
          <a:effectLst/>
        </p:spPr>
        <p:txBody>
          <a:bodyPr wrap="square" lIns="0" rIns="0" tIns="0" bIns="0" anchor="t"/>
          <a:lstStyle/>
          <a:p>
            <a:pPr algn="l">
              <a:lnSpc>
                <a:spcPts val="1560"/>
              </a:lnSpc>
            </a:pPr>
            <a:r>
              <a:rPr sz="1200" b="0" dirty="0">
                <a:solidFill>
                  <a:srgbClr val="9A9A9A"/>
                </a:solidFill>
                <a:latin typeface="Inter"/>
                <a:cs typeface="Inter"/>
              </a:rPr>
              <a:t>Lorem ipsum dolor</a:t>
            </a:r>
          </a:p>
        </p:txBody>
      </p:sp>
      <p:cxnSp>
        <p:nvCxnSpPr>
          <p:cNvPr id="17" name="Connector 16"/>
          <p:cNvCxnSpPr/>
          <p:nvPr/>
        </p:nvCxnSpPr>
        <p:spPr>
          <a:xfrm>
            <a:off x="8060267" y="3670300"/>
            <a:ext cx="3522133"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60267" y="3771900"/>
            <a:ext cx="254000" cy="165100"/>
          </a:xfrm>
          <a:prstGeom prst="rect">
            <a:avLst/>
          </a:prstGeom>
          <a:noFill/>
          <a:effectLst/>
        </p:spPr>
        <p:txBody>
          <a:bodyPr wrap="square" lIns="0" rIns="0" tIns="0" bIns="0" anchor="t"/>
          <a:lstStyle/>
          <a:p>
            <a:pPr algn="l">
              <a:lnSpc>
                <a:spcPts val="900"/>
              </a:lnSpc>
            </a:pPr>
            <a:r>
              <a:rPr sz="900" b="1" spc="72" dirty="0">
                <a:solidFill>
                  <a:srgbClr val="5A5A5A"/>
                </a:solidFill>
                <a:latin typeface="Inter"/>
                <a:cs typeface="Inter"/>
              </a:rPr>
              <a:t>04</a:t>
            </a:r>
          </a:p>
        </p:txBody>
      </p:sp>
      <p:sp>
        <p:nvSpPr>
          <p:cNvPr id="19" name="TextBox 18"/>
          <p:cNvSpPr txBox="1"/>
          <p:nvPr/>
        </p:nvSpPr>
        <p:spPr>
          <a:xfrm>
            <a:off x="8390467" y="3759200"/>
            <a:ext cx="3191933" cy="381000"/>
          </a:xfrm>
          <a:prstGeom prst="rect">
            <a:avLst/>
          </a:prstGeom>
          <a:noFill/>
          <a:effectLst/>
        </p:spPr>
        <p:txBody>
          <a:bodyPr wrap="square" lIns="0" rIns="0" tIns="0" bIns="0" anchor="t"/>
          <a:lstStyle/>
          <a:p>
            <a:pPr algn="l">
              <a:lnSpc>
                <a:spcPts val="1560"/>
              </a:lnSpc>
            </a:pPr>
            <a:r>
              <a:rPr sz="1200" b="0" dirty="0">
                <a:solidFill>
                  <a:srgbClr val="9A9A9A"/>
                </a:solidFill>
                <a:latin typeface="Inter"/>
                <a:cs typeface="Inter"/>
              </a:rPr>
              <a:t>Lorem ipsum dolor</a:t>
            </a:r>
          </a:p>
        </p:txBody>
      </p:sp>
      <p:cxnSp>
        <p:nvCxnSpPr>
          <p:cNvPr id="20" name="Connector 19"/>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25" name="TextBox 24"/>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MÓDULO 00 · 00</a:t>
            </a:r>
          </a:p>
        </p:txBody>
      </p:sp>
      <p:sp>
        <p:nvSpPr>
          <p:cNvPr id="26" name="TextBox 25"/>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A03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flipH="1">
            <a:off x="0" y="0"/>
            <a:ext cx="355600" cy="355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0" y="0"/>
            <a:ext cx="711200" cy="711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0" y="0"/>
            <a:ext cx="1066800" cy="1066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1422400" cy="1422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1778000" cy="177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0" y="0"/>
            <a:ext cx="2133600" cy="2133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0" y="0"/>
            <a:ext cx="2489200" cy="2489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0" y="0"/>
            <a:ext cx="2844800" cy="2844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0" y="0"/>
            <a:ext cx="3200400" cy="3200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0" y="0"/>
            <a:ext cx="3556000" cy="3556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0" y="0"/>
            <a:ext cx="3911600" cy="3911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0" y="0"/>
            <a:ext cx="4267200" cy="4267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0" y="0"/>
            <a:ext cx="4622800" cy="4622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0" y="0"/>
            <a:ext cx="4978400" cy="4978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0" y="0"/>
            <a:ext cx="5334000" cy="5334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5689600" cy="5689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6045200" cy="6045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0"/>
            <a:ext cx="6400800" cy="6400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0"/>
            <a:ext cx="6756400" cy="6756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54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09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65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320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676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2032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2387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743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098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3454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10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4165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4521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4876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5232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588000" y="254000"/>
            <a:ext cx="6604000" cy="6604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943600" y="609600"/>
            <a:ext cx="6248400" cy="6248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299200" y="965200"/>
            <a:ext cx="5892800" cy="5892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654800" y="1320800"/>
            <a:ext cx="5537200" cy="5537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7010400" y="1676400"/>
            <a:ext cx="5181600" cy="5181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366000" y="2032000"/>
            <a:ext cx="4826000" cy="4826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721600" y="2387600"/>
            <a:ext cx="4470400" cy="4470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8077200" y="2743200"/>
            <a:ext cx="4114800" cy="4114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432800" y="3098800"/>
            <a:ext cx="3759200" cy="3759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8788400" y="3454400"/>
            <a:ext cx="3403600" cy="3403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9144000" y="3810000"/>
            <a:ext cx="3048000" cy="304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9499600" y="4165600"/>
            <a:ext cx="2692400" cy="2692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9855200" y="4521200"/>
            <a:ext cx="2336800" cy="2336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0210800" y="4876800"/>
            <a:ext cx="1981200" cy="1981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0566400" y="5232400"/>
            <a:ext cx="1625600" cy="1625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0922000" y="5588000"/>
            <a:ext cx="1270000" cy="1270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1277600" y="5943600"/>
            <a:ext cx="914400" cy="914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1633200" y="6299200"/>
            <a:ext cx="558800" cy="558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1988800" y="6654800"/>
            <a:ext cx="203200" cy="203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0" y="3302000"/>
            <a:ext cx="12192000" cy="254000"/>
          </a:xfrm>
          <a:prstGeom prst="rect">
            <a:avLst/>
          </a:prstGeom>
          <a:noFill/>
          <a:effectLst/>
        </p:spPr>
        <p:txBody>
          <a:bodyPr wrap="square" lIns="0" rIns="0" tIns="0" bIns="0" anchor="ctr"/>
          <a:lstStyle/>
          <a:p>
            <a:pPr algn="ctr">
              <a:lnSpc>
                <a:spcPts val="800"/>
              </a:lnSpc>
            </a:pPr>
            <a:r>
              <a:rPr sz="800" b="0" spc="112" dirty="0">
                <a:solidFill>
                  <a:srgbClr val="8C8C8C"/>
                </a:solidFill>
                <a:latin typeface="Inter"/>
                <a:cs typeface="Inter"/>
              </a:rPr>
              <a:t>FOTOGRAFÍA A SANGRE · 1920 × 1080 PX</a:t>
            </a:r>
          </a:p>
        </p:txBody>
      </p:sp>
      <p:pic>
        <p:nvPicPr>
          <p:cNvPr id="57" name="Picture 56" descr="veil_161616_055_072_v.png"/>
          <p:cNvPicPr>
            <a:picLocks noChangeAspect="1"/>
          </p:cNvPicPr>
          <p:nvPr/>
        </p:nvPicPr>
        <p:blipFill>
          <a:blip r:embed="rId2"/>
          <a:stretch>
            <a:fillRect/>
          </a:stretch>
        </p:blipFill>
        <p:spPr>
          <a:xfrm>
            <a:off x="0" y="0"/>
            <a:ext cx="12192000" cy="6858000"/>
          </a:xfrm>
          <a:prstGeom prst="rect">
            <a:avLst/>
          </a:prstGeom>
        </p:spPr>
      </p:pic>
      <p:sp>
        <p:nvSpPr>
          <p:cNvPr id="58" name="TextBox 57"/>
          <p:cNvSpPr txBox="1"/>
          <p:nvPr/>
        </p:nvSpPr>
        <p:spPr>
          <a:xfrm>
            <a:off x="0" y="2095500"/>
            <a:ext cx="12192000" cy="825500"/>
          </a:xfrm>
          <a:prstGeom prst="rect">
            <a:avLst/>
          </a:prstGeom>
          <a:noFill/>
          <a:effectLst/>
        </p:spPr>
        <p:txBody>
          <a:bodyPr wrap="square" lIns="0" rIns="0" tIns="0" bIns="0" anchor="t"/>
          <a:lstStyle/>
          <a:p>
            <a:pPr algn="ctr">
              <a:lnSpc>
                <a:spcPts val="6000"/>
              </a:lnSpc>
            </a:pPr>
            <a:r>
              <a:rPr sz="6000" b="1" spc="-240" dirty="0">
                <a:solidFill>
                  <a:srgbClr val="9A9A9A"/>
                </a:solidFill>
                <a:latin typeface="Inter"/>
                <a:cs typeface="Inter"/>
              </a:rPr>
              <a:t>02</a:t>
            </a:r>
          </a:p>
        </p:txBody>
      </p:sp>
      <p:sp>
        <p:nvSpPr>
          <p:cNvPr id="59" name="TextBox 58"/>
          <p:cNvSpPr txBox="1"/>
          <p:nvPr/>
        </p:nvSpPr>
        <p:spPr>
          <a:xfrm>
            <a:off x="0" y="2984500"/>
            <a:ext cx="12192000" cy="698500"/>
          </a:xfrm>
          <a:prstGeom prst="rect">
            <a:avLst/>
          </a:prstGeom>
          <a:noFill/>
          <a:effectLst/>
        </p:spPr>
        <p:txBody>
          <a:bodyPr wrap="square" lIns="0" rIns="0" tIns="0" bIns="0" anchor="t"/>
          <a:lstStyle/>
          <a:p>
            <a:pPr algn="ctr">
              <a:lnSpc>
                <a:spcPts val="4896"/>
              </a:lnSpc>
            </a:pPr>
            <a:r>
              <a:rPr sz="4800" b="1" spc="-144" dirty="0">
                <a:solidFill>
                  <a:srgbClr val="FFFFFF"/>
                </a:solidFill>
                <a:latin typeface="Inter"/>
                <a:cs typeface="Inter"/>
              </a:rPr>
              <a:t>Lorem Ipsum Dolor</a:t>
            </a:r>
          </a:p>
        </p:txBody>
      </p:sp>
      <p:cxnSp>
        <p:nvCxnSpPr>
          <p:cNvPr id="60" name="Connector 59"/>
          <p:cNvCxnSpPr/>
          <p:nvPr/>
        </p:nvCxnSpPr>
        <p:spPr>
          <a:xfrm>
            <a:off x="5715000" y="40005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0" y="4216400"/>
            <a:ext cx="12192000" cy="254000"/>
          </a:xfrm>
          <a:prstGeom prst="rect">
            <a:avLst/>
          </a:prstGeom>
          <a:noFill/>
          <a:effectLst/>
        </p:spPr>
        <p:txBody>
          <a:bodyPr wrap="square" lIns="0" rIns="0" tIns="0" bIns="0" anchor="t"/>
          <a:lstStyle/>
          <a:p>
            <a:pPr algn="ctr">
              <a:lnSpc>
                <a:spcPts val="1679"/>
              </a:lnSpc>
            </a:pPr>
            <a:r>
              <a:rPr sz="1200" b="0" dirty="0">
                <a:solidFill>
                  <a:srgbClr val="D2D2D2"/>
                </a:solidFill>
                <a:latin typeface="Inter"/>
                <a:cs typeface="Inter"/>
              </a:rPr>
              <a:t>Lorem ipsum dolor sit amet, consectetur adipiscing.</a:t>
            </a:r>
          </a:p>
        </p:txBody>
      </p:sp>
      <p:cxnSp>
        <p:nvCxnSpPr>
          <p:cNvPr id="62" name="Connector 61"/>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67" name="TextBox 6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MÓDULO 00 · 00</a:t>
            </a:r>
          </a:p>
        </p:txBody>
      </p:sp>
      <p:sp>
        <p:nvSpPr>
          <p:cNvPr id="68" name="TextBox 6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A04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HOY</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089912"/>
            <a:ext cx="8178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2216912"/>
            <a:ext cx="381000" cy="254000"/>
          </a:xfrm>
          <a:prstGeom prst="rect">
            <a:avLst/>
          </a:prstGeom>
          <a:noFill/>
          <a:effectLst/>
        </p:spPr>
        <p:txBody>
          <a:bodyPr wrap="square" lIns="0" rIns="0" tIns="0" bIns="0" anchor="t"/>
          <a:lstStyle/>
          <a:p>
            <a:pPr algn="l">
              <a:lnSpc>
                <a:spcPts val="1540"/>
              </a:lnSpc>
            </a:pPr>
            <a:r>
              <a:rPr sz="1400" b="1" dirty="0">
                <a:solidFill>
                  <a:srgbClr val="161616"/>
                </a:solidFill>
                <a:latin typeface="Inter"/>
                <a:cs typeface="Inter"/>
              </a:rPr>
              <a:t>01</a:t>
            </a:r>
          </a:p>
        </p:txBody>
      </p:sp>
      <p:sp>
        <p:nvSpPr>
          <p:cNvPr id="22" name="TextBox 21"/>
          <p:cNvSpPr txBox="1"/>
          <p:nvPr/>
        </p:nvSpPr>
        <p:spPr>
          <a:xfrm>
            <a:off x="1066800" y="2204212"/>
            <a:ext cx="5384800" cy="279400"/>
          </a:xfrm>
          <a:prstGeom prst="rect">
            <a:avLst/>
          </a:prstGeom>
          <a:noFill/>
          <a:effectLst/>
        </p:spPr>
        <p:txBody>
          <a:bodyPr wrap="square" lIns="0" rIns="0" tIns="0" bIns="0" anchor="t"/>
          <a:lstStyle/>
          <a:p>
            <a:pPr algn="l">
              <a:lnSpc>
                <a:spcPts val="1750"/>
              </a:lnSpc>
            </a:pPr>
            <a:r>
              <a:rPr sz="1400" b="0" dirty="0">
                <a:solidFill>
                  <a:srgbClr val="525252"/>
                </a:solidFill>
                <a:latin typeface="Inter"/>
                <a:cs typeface="Inter"/>
              </a:rPr>
              <a:t>Lorem ipsum dolor sit amet, consectetur adipiscing elit</a:t>
            </a:r>
          </a:p>
        </p:txBody>
      </p:sp>
      <p:sp>
        <p:nvSpPr>
          <p:cNvPr id="23" name="TextBox 22"/>
          <p:cNvSpPr txBox="1"/>
          <p:nvPr/>
        </p:nvSpPr>
        <p:spPr>
          <a:xfrm>
            <a:off x="8060267" y="2216912"/>
            <a:ext cx="728133" cy="215900"/>
          </a:xfrm>
          <a:prstGeom prst="rect">
            <a:avLst/>
          </a:prstGeom>
          <a:noFill/>
          <a:effectLst/>
        </p:spPr>
        <p:txBody>
          <a:bodyPr wrap="square" lIns="0" rIns="0" tIns="0" bIns="0" anchor="t"/>
          <a:lstStyle/>
          <a:p>
            <a:pPr algn="r">
              <a:lnSpc>
                <a:spcPts val="900"/>
              </a:lnSpc>
            </a:pPr>
            <a:r>
              <a:rPr sz="900" b="1" dirty="0">
                <a:solidFill>
                  <a:srgbClr val="8D8D8D"/>
                </a:solidFill>
                <a:latin typeface="Inter"/>
                <a:cs typeface="Inter"/>
              </a:rPr>
              <a:t>20 min</a:t>
            </a:r>
          </a:p>
        </p:txBody>
      </p:sp>
      <p:cxnSp>
        <p:nvCxnSpPr>
          <p:cNvPr id="24" name="Connector 23"/>
          <p:cNvCxnSpPr/>
          <p:nvPr/>
        </p:nvCxnSpPr>
        <p:spPr>
          <a:xfrm>
            <a:off x="609600" y="2865730"/>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9600" y="2992730"/>
            <a:ext cx="381000" cy="254000"/>
          </a:xfrm>
          <a:prstGeom prst="rect">
            <a:avLst/>
          </a:prstGeom>
          <a:noFill/>
          <a:effectLst/>
        </p:spPr>
        <p:txBody>
          <a:bodyPr wrap="square" lIns="0" rIns="0" tIns="0" bIns="0" anchor="t"/>
          <a:lstStyle/>
          <a:p>
            <a:pPr algn="l">
              <a:lnSpc>
                <a:spcPts val="1540"/>
              </a:lnSpc>
            </a:pPr>
            <a:r>
              <a:rPr sz="1400" b="1" dirty="0">
                <a:solidFill>
                  <a:srgbClr val="161616"/>
                </a:solidFill>
                <a:latin typeface="Inter"/>
                <a:cs typeface="Inter"/>
              </a:rPr>
              <a:t>02</a:t>
            </a:r>
          </a:p>
        </p:txBody>
      </p:sp>
      <p:sp>
        <p:nvSpPr>
          <p:cNvPr id="26" name="TextBox 25"/>
          <p:cNvSpPr txBox="1"/>
          <p:nvPr/>
        </p:nvSpPr>
        <p:spPr>
          <a:xfrm>
            <a:off x="1066800" y="2980030"/>
            <a:ext cx="5384800" cy="279400"/>
          </a:xfrm>
          <a:prstGeom prst="rect">
            <a:avLst/>
          </a:prstGeom>
          <a:noFill/>
          <a:effectLst/>
        </p:spPr>
        <p:txBody>
          <a:bodyPr wrap="square" lIns="0" rIns="0" tIns="0" bIns="0" anchor="t"/>
          <a:lstStyle/>
          <a:p>
            <a:pPr algn="l">
              <a:lnSpc>
                <a:spcPts val="1750"/>
              </a:lnSpc>
            </a:pPr>
            <a:r>
              <a:rPr sz="1400" b="0" dirty="0">
                <a:solidFill>
                  <a:srgbClr val="525252"/>
                </a:solidFill>
                <a:latin typeface="Inter"/>
                <a:cs typeface="Inter"/>
              </a:rPr>
              <a:t>Lorem ipsum dolor sit amet, consectetur adipiscing elit</a:t>
            </a:r>
          </a:p>
        </p:txBody>
      </p:sp>
      <p:sp>
        <p:nvSpPr>
          <p:cNvPr id="27" name="TextBox 26"/>
          <p:cNvSpPr txBox="1"/>
          <p:nvPr/>
        </p:nvSpPr>
        <p:spPr>
          <a:xfrm>
            <a:off x="8060267" y="2992730"/>
            <a:ext cx="728133" cy="215900"/>
          </a:xfrm>
          <a:prstGeom prst="rect">
            <a:avLst/>
          </a:prstGeom>
          <a:noFill/>
          <a:effectLst/>
        </p:spPr>
        <p:txBody>
          <a:bodyPr wrap="square" lIns="0" rIns="0" tIns="0" bIns="0" anchor="t"/>
          <a:lstStyle/>
          <a:p>
            <a:pPr algn="r">
              <a:lnSpc>
                <a:spcPts val="900"/>
              </a:lnSpc>
            </a:pPr>
            <a:r>
              <a:rPr sz="900" b="1" dirty="0">
                <a:solidFill>
                  <a:srgbClr val="8D8D8D"/>
                </a:solidFill>
                <a:latin typeface="Inter"/>
                <a:cs typeface="Inter"/>
              </a:rPr>
              <a:t>30 min</a:t>
            </a:r>
          </a:p>
        </p:txBody>
      </p:sp>
      <p:cxnSp>
        <p:nvCxnSpPr>
          <p:cNvPr id="28" name="Connector 27"/>
          <p:cNvCxnSpPr/>
          <p:nvPr/>
        </p:nvCxnSpPr>
        <p:spPr>
          <a:xfrm>
            <a:off x="609600" y="3641547"/>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3768547"/>
            <a:ext cx="381000" cy="254000"/>
          </a:xfrm>
          <a:prstGeom prst="rect">
            <a:avLst/>
          </a:prstGeom>
          <a:noFill/>
          <a:effectLst/>
        </p:spPr>
        <p:txBody>
          <a:bodyPr wrap="square" lIns="0" rIns="0" tIns="0" bIns="0" anchor="t"/>
          <a:lstStyle/>
          <a:p>
            <a:pPr algn="l">
              <a:lnSpc>
                <a:spcPts val="1540"/>
              </a:lnSpc>
            </a:pPr>
            <a:r>
              <a:rPr sz="1400" b="1" dirty="0">
                <a:solidFill>
                  <a:srgbClr val="161616"/>
                </a:solidFill>
                <a:latin typeface="Inter"/>
                <a:cs typeface="Inter"/>
              </a:rPr>
              <a:t>03</a:t>
            </a:r>
          </a:p>
        </p:txBody>
      </p:sp>
      <p:sp>
        <p:nvSpPr>
          <p:cNvPr id="30" name="TextBox 29"/>
          <p:cNvSpPr txBox="1"/>
          <p:nvPr/>
        </p:nvSpPr>
        <p:spPr>
          <a:xfrm>
            <a:off x="1066800" y="3755847"/>
            <a:ext cx="5384800" cy="279400"/>
          </a:xfrm>
          <a:prstGeom prst="rect">
            <a:avLst/>
          </a:prstGeom>
          <a:noFill/>
          <a:effectLst/>
        </p:spPr>
        <p:txBody>
          <a:bodyPr wrap="square" lIns="0" rIns="0" tIns="0" bIns="0" anchor="t"/>
          <a:lstStyle/>
          <a:p>
            <a:pPr algn="l">
              <a:lnSpc>
                <a:spcPts val="1750"/>
              </a:lnSpc>
            </a:pPr>
            <a:r>
              <a:rPr sz="1400" b="0" dirty="0">
                <a:solidFill>
                  <a:srgbClr val="525252"/>
                </a:solidFill>
                <a:latin typeface="Inter"/>
                <a:cs typeface="Inter"/>
              </a:rPr>
              <a:t>Lorem ipsum dolor sit amet, consectetur adipiscing elit</a:t>
            </a:r>
          </a:p>
        </p:txBody>
      </p:sp>
      <p:sp>
        <p:nvSpPr>
          <p:cNvPr id="31" name="TextBox 30"/>
          <p:cNvSpPr txBox="1"/>
          <p:nvPr/>
        </p:nvSpPr>
        <p:spPr>
          <a:xfrm>
            <a:off x="8060267" y="3768547"/>
            <a:ext cx="728133" cy="215900"/>
          </a:xfrm>
          <a:prstGeom prst="rect">
            <a:avLst/>
          </a:prstGeom>
          <a:noFill/>
          <a:effectLst/>
        </p:spPr>
        <p:txBody>
          <a:bodyPr wrap="square" lIns="0" rIns="0" tIns="0" bIns="0" anchor="t"/>
          <a:lstStyle/>
          <a:p>
            <a:pPr algn="r">
              <a:lnSpc>
                <a:spcPts val="900"/>
              </a:lnSpc>
            </a:pPr>
            <a:r>
              <a:rPr sz="900" b="1" dirty="0">
                <a:solidFill>
                  <a:srgbClr val="8D8D8D"/>
                </a:solidFill>
                <a:latin typeface="Inter"/>
                <a:cs typeface="Inter"/>
              </a:rPr>
              <a:t>40 min</a:t>
            </a:r>
          </a:p>
        </p:txBody>
      </p:sp>
      <p:cxnSp>
        <p:nvCxnSpPr>
          <p:cNvPr id="32" name="Connector 31"/>
          <p:cNvCxnSpPr/>
          <p:nvPr/>
        </p:nvCxnSpPr>
        <p:spPr>
          <a:xfrm>
            <a:off x="609600" y="4417365"/>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9600" y="4544365"/>
            <a:ext cx="381000" cy="254000"/>
          </a:xfrm>
          <a:prstGeom prst="rect">
            <a:avLst/>
          </a:prstGeom>
          <a:noFill/>
          <a:effectLst/>
        </p:spPr>
        <p:txBody>
          <a:bodyPr wrap="square" lIns="0" rIns="0" tIns="0" bIns="0" anchor="t"/>
          <a:lstStyle/>
          <a:p>
            <a:pPr algn="l">
              <a:lnSpc>
                <a:spcPts val="1540"/>
              </a:lnSpc>
            </a:pPr>
            <a:r>
              <a:rPr sz="1400" b="1" dirty="0">
                <a:solidFill>
                  <a:srgbClr val="161616"/>
                </a:solidFill>
                <a:latin typeface="Inter"/>
                <a:cs typeface="Inter"/>
              </a:rPr>
              <a:t>04</a:t>
            </a:r>
          </a:p>
        </p:txBody>
      </p:sp>
      <p:sp>
        <p:nvSpPr>
          <p:cNvPr id="34" name="TextBox 33"/>
          <p:cNvSpPr txBox="1"/>
          <p:nvPr/>
        </p:nvSpPr>
        <p:spPr>
          <a:xfrm>
            <a:off x="1066800" y="4531665"/>
            <a:ext cx="5384800" cy="279400"/>
          </a:xfrm>
          <a:prstGeom prst="rect">
            <a:avLst/>
          </a:prstGeom>
          <a:noFill/>
          <a:effectLst/>
        </p:spPr>
        <p:txBody>
          <a:bodyPr wrap="square" lIns="0" rIns="0" tIns="0" bIns="0" anchor="t"/>
          <a:lstStyle/>
          <a:p>
            <a:pPr algn="l">
              <a:lnSpc>
                <a:spcPts val="1750"/>
              </a:lnSpc>
            </a:pPr>
            <a:r>
              <a:rPr sz="1400" b="0" dirty="0">
                <a:solidFill>
                  <a:srgbClr val="525252"/>
                </a:solidFill>
                <a:latin typeface="Inter"/>
                <a:cs typeface="Inter"/>
              </a:rPr>
              <a:t>Lorem ipsum dolor sit amet, consectetur adipiscing elit</a:t>
            </a:r>
          </a:p>
        </p:txBody>
      </p:sp>
      <p:sp>
        <p:nvSpPr>
          <p:cNvPr id="35" name="TextBox 34"/>
          <p:cNvSpPr txBox="1"/>
          <p:nvPr/>
        </p:nvSpPr>
        <p:spPr>
          <a:xfrm>
            <a:off x="8060267" y="4544365"/>
            <a:ext cx="728133" cy="215900"/>
          </a:xfrm>
          <a:prstGeom prst="rect">
            <a:avLst/>
          </a:prstGeom>
          <a:noFill/>
          <a:effectLst/>
        </p:spPr>
        <p:txBody>
          <a:bodyPr wrap="square" lIns="0" rIns="0" tIns="0" bIns="0" anchor="t"/>
          <a:lstStyle/>
          <a:p>
            <a:pPr algn="r">
              <a:lnSpc>
                <a:spcPts val="900"/>
              </a:lnSpc>
            </a:pPr>
            <a:r>
              <a:rPr sz="900" b="1" dirty="0">
                <a:solidFill>
                  <a:srgbClr val="8D8D8D"/>
                </a:solidFill>
                <a:latin typeface="Inter"/>
                <a:cs typeface="Inter"/>
              </a:rPr>
              <a:t>50 min</a:t>
            </a:r>
          </a:p>
        </p:txBody>
      </p:sp>
      <p:cxnSp>
        <p:nvCxnSpPr>
          <p:cNvPr id="36" name="Connector 35"/>
          <p:cNvCxnSpPr/>
          <p:nvPr/>
        </p:nvCxnSpPr>
        <p:spPr>
          <a:xfrm>
            <a:off x="609600" y="519318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09600" y="5320182"/>
            <a:ext cx="381000" cy="254000"/>
          </a:xfrm>
          <a:prstGeom prst="rect">
            <a:avLst/>
          </a:prstGeom>
          <a:noFill/>
          <a:effectLst/>
        </p:spPr>
        <p:txBody>
          <a:bodyPr wrap="square" lIns="0" rIns="0" tIns="0" bIns="0" anchor="t"/>
          <a:lstStyle/>
          <a:p>
            <a:pPr algn="l">
              <a:lnSpc>
                <a:spcPts val="1540"/>
              </a:lnSpc>
            </a:pPr>
            <a:r>
              <a:rPr sz="1400" b="1" dirty="0">
                <a:solidFill>
                  <a:srgbClr val="161616"/>
                </a:solidFill>
                <a:latin typeface="Inter"/>
                <a:cs typeface="Inter"/>
              </a:rPr>
              <a:t>05</a:t>
            </a:r>
          </a:p>
        </p:txBody>
      </p:sp>
      <p:sp>
        <p:nvSpPr>
          <p:cNvPr id="38" name="TextBox 37"/>
          <p:cNvSpPr txBox="1"/>
          <p:nvPr/>
        </p:nvSpPr>
        <p:spPr>
          <a:xfrm>
            <a:off x="1066800" y="5307482"/>
            <a:ext cx="5384800" cy="279400"/>
          </a:xfrm>
          <a:prstGeom prst="rect">
            <a:avLst/>
          </a:prstGeom>
          <a:noFill/>
          <a:effectLst/>
        </p:spPr>
        <p:txBody>
          <a:bodyPr wrap="square" lIns="0" rIns="0" tIns="0" bIns="0" anchor="t"/>
          <a:lstStyle/>
          <a:p>
            <a:pPr algn="l">
              <a:lnSpc>
                <a:spcPts val="1750"/>
              </a:lnSpc>
            </a:pPr>
            <a:r>
              <a:rPr sz="1400" b="0" dirty="0">
                <a:solidFill>
                  <a:srgbClr val="525252"/>
                </a:solidFill>
                <a:latin typeface="Inter"/>
                <a:cs typeface="Inter"/>
              </a:rPr>
              <a:t>Lorem ipsum dolor sit amet, consectetur adipiscing elit</a:t>
            </a:r>
          </a:p>
        </p:txBody>
      </p:sp>
      <p:sp>
        <p:nvSpPr>
          <p:cNvPr id="39" name="TextBox 38"/>
          <p:cNvSpPr txBox="1"/>
          <p:nvPr/>
        </p:nvSpPr>
        <p:spPr>
          <a:xfrm>
            <a:off x="8060267" y="5320182"/>
            <a:ext cx="728133" cy="215900"/>
          </a:xfrm>
          <a:prstGeom prst="rect">
            <a:avLst/>
          </a:prstGeom>
          <a:noFill/>
          <a:effectLst/>
        </p:spPr>
        <p:txBody>
          <a:bodyPr wrap="square" lIns="0" rIns="0" tIns="0" bIns="0" anchor="t"/>
          <a:lstStyle/>
          <a:p>
            <a:pPr algn="r">
              <a:lnSpc>
                <a:spcPts val="900"/>
              </a:lnSpc>
            </a:pPr>
            <a:r>
              <a:rPr sz="900" b="1" dirty="0">
                <a:solidFill>
                  <a:srgbClr val="8D8D8D"/>
                </a:solidFill>
                <a:latin typeface="Inter"/>
                <a:cs typeface="Inter"/>
              </a:rPr>
              <a:t>60 min</a:t>
            </a:r>
          </a:p>
        </p:txBody>
      </p:sp>
      <p:sp>
        <p:nvSpPr>
          <p:cNvPr id="40" name="Rectangle 39"/>
          <p:cNvSpPr/>
          <p:nvPr/>
        </p:nvSpPr>
        <p:spPr>
          <a:xfrm>
            <a:off x="9055100" y="2051812"/>
            <a:ext cx="2527300" cy="1905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9055100" y="2051812"/>
            <a:ext cx="31750" cy="1905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220200" y="2229612"/>
            <a:ext cx="21971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SALES CON</a:t>
            </a:r>
          </a:p>
        </p:txBody>
      </p:sp>
      <p:sp>
        <p:nvSpPr>
          <p:cNvPr id="43" name="TextBox 42"/>
          <p:cNvSpPr txBox="1"/>
          <p:nvPr/>
        </p:nvSpPr>
        <p:spPr>
          <a:xfrm>
            <a:off x="9220200" y="2470912"/>
            <a:ext cx="2197100" cy="11430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Lorem ipsum dolor sit amet, consectetur adipiscing elit.</a:t>
            </a:r>
          </a:p>
        </p:txBody>
      </p:sp>
      <p:cxnSp>
        <p:nvCxnSpPr>
          <p:cNvPr id="44" name="Connector 43"/>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9" name="TextBox 4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0" name="TextBox 49"/>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A05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AL TERMINAR SABRÁS</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2638425" cy="2730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09600" y="2089912"/>
            <a:ext cx="2638425" cy="381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4700" y="2305812"/>
            <a:ext cx="2308225"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OBJETIVO 01</a:t>
            </a:r>
          </a:p>
        </p:txBody>
      </p:sp>
      <p:sp>
        <p:nvSpPr>
          <p:cNvPr id="23" name="TextBox 22"/>
          <p:cNvSpPr txBox="1"/>
          <p:nvPr/>
        </p:nvSpPr>
        <p:spPr>
          <a:xfrm>
            <a:off x="774700" y="2559812"/>
            <a:ext cx="2308225" cy="317500"/>
          </a:xfrm>
          <a:prstGeom prst="rect">
            <a:avLst/>
          </a:prstGeom>
          <a:noFill/>
          <a:effectLst/>
        </p:spPr>
        <p:txBody>
          <a:bodyPr wrap="square" lIns="0" rIns="0" tIns="0" bIns="0" anchor="t"/>
          <a:lstStyle/>
          <a:p>
            <a:pPr algn="l">
              <a:lnSpc>
                <a:spcPts val="1870"/>
              </a:lnSpc>
            </a:pPr>
            <a:r>
              <a:rPr sz="1700" b="1" spc="-34" dirty="0">
                <a:solidFill>
                  <a:srgbClr val="161616"/>
                </a:solidFill>
                <a:latin typeface="Inter"/>
                <a:cs typeface="Inter"/>
              </a:rPr>
              <a:t>Analizar</a:t>
            </a:r>
          </a:p>
        </p:txBody>
      </p:sp>
      <p:sp>
        <p:nvSpPr>
          <p:cNvPr id="24" name="TextBox 23"/>
          <p:cNvSpPr txBox="1"/>
          <p:nvPr/>
        </p:nvSpPr>
        <p:spPr>
          <a:xfrm>
            <a:off x="774700" y="2978912"/>
            <a:ext cx="2308225" cy="1016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sp>
        <p:nvSpPr>
          <p:cNvPr id="25" name="Rectangle 24"/>
          <p:cNvSpPr/>
          <p:nvPr/>
        </p:nvSpPr>
        <p:spPr>
          <a:xfrm>
            <a:off x="3387725" y="2089912"/>
            <a:ext cx="2638425" cy="2730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387725" y="2089912"/>
            <a:ext cx="2638425" cy="381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52825" y="2305812"/>
            <a:ext cx="2308225"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OBJETIVO 02</a:t>
            </a:r>
          </a:p>
        </p:txBody>
      </p:sp>
      <p:sp>
        <p:nvSpPr>
          <p:cNvPr id="28" name="TextBox 27"/>
          <p:cNvSpPr txBox="1"/>
          <p:nvPr/>
        </p:nvSpPr>
        <p:spPr>
          <a:xfrm>
            <a:off x="3552825" y="2559812"/>
            <a:ext cx="2308225" cy="317500"/>
          </a:xfrm>
          <a:prstGeom prst="rect">
            <a:avLst/>
          </a:prstGeom>
          <a:noFill/>
          <a:effectLst/>
        </p:spPr>
        <p:txBody>
          <a:bodyPr wrap="square" lIns="0" rIns="0" tIns="0" bIns="0" anchor="t"/>
          <a:lstStyle/>
          <a:p>
            <a:pPr algn="l">
              <a:lnSpc>
                <a:spcPts val="1870"/>
              </a:lnSpc>
            </a:pPr>
            <a:r>
              <a:rPr sz="1700" b="1" spc="-34" dirty="0">
                <a:solidFill>
                  <a:srgbClr val="161616"/>
                </a:solidFill>
                <a:latin typeface="Inter"/>
                <a:cs typeface="Inter"/>
              </a:rPr>
              <a:t>Construir</a:t>
            </a:r>
          </a:p>
        </p:txBody>
      </p:sp>
      <p:sp>
        <p:nvSpPr>
          <p:cNvPr id="29" name="TextBox 28"/>
          <p:cNvSpPr txBox="1"/>
          <p:nvPr/>
        </p:nvSpPr>
        <p:spPr>
          <a:xfrm>
            <a:off x="3552825" y="2978912"/>
            <a:ext cx="2308225" cy="1016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sp>
        <p:nvSpPr>
          <p:cNvPr id="30" name="Rectangle 29"/>
          <p:cNvSpPr/>
          <p:nvPr/>
        </p:nvSpPr>
        <p:spPr>
          <a:xfrm>
            <a:off x="6165850" y="2089912"/>
            <a:ext cx="2638425" cy="2730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165850" y="2089912"/>
            <a:ext cx="2638425" cy="381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330950" y="2305812"/>
            <a:ext cx="2308225"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OBJETIVO 03</a:t>
            </a:r>
          </a:p>
        </p:txBody>
      </p:sp>
      <p:sp>
        <p:nvSpPr>
          <p:cNvPr id="33" name="TextBox 32"/>
          <p:cNvSpPr txBox="1"/>
          <p:nvPr/>
        </p:nvSpPr>
        <p:spPr>
          <a:xfrm>
            <a:off x="6330950" y="2559812"/>
            <a:ext cx="2308225" cy="317500"/>
          </a:xfrm>
          <a:prstGeom prst="rect">
            <a:avLst/>
          </a:prstGeom>
          <a:noFill/>
          <a:effectLst/>
        </p:spPr>
        <p:txBody>
          <a:bodyPr wrap="square" lIns="0" rIns="0" tIns="0" bIns="0" anchor="t"/>
          <a:lstStyle/>
          <a:p>
            <a:pPr algn="l">
              <a:lnSpc>
                <a:spcPts val="1870"/>
              </a:lnSpc>
            </a:pPr>
            <a:r>
              <a:rPr sz="1700" b="1" spc="-34" dirty="0">
                <a:solidFill>
                  <a:srgbClr val="161616"/>
                </a:solidFill>
                <a:latin typeface="Inter"/>
                <a:cs typeface="Inter"/>
              </a:rPr>
              <a:t>Decidir</a:t>
            </a:r>
          </a:p>
        </p:txBody>
      </p:sp>
      <p:sp>
        <p:nvSpPr>
          <p:cNvPr id="34" name="TextBox 33"/>
          <p:cNvSpPr txBox="1"/>
          <p:nvPr/>
        </p:nvSpPr>
        <p:spPr>
          <a:xfrm>
            <a:off x="6330950" y="2978912"/>
            <a:ext cx="2308225" cy="1016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sp>
        <p:nvSpPr>
          <p:cNvPr id="35" name="Rectangle 34"/>
          <p:cNvSpPr/>
          <p:nvPr/>
        </p:nvSpPr>
        <p:spPr>
          <a:xfrm>
            <a:off x="8943975" y="2089912"/>
            <a:ext cx="2638425" cy="2730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8943975" y="2089912"/>
            <a:ext cx="2638425" cy="381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109075" y="2305812"/>
            <a:ext cx="2308225"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OBJETIVO 04</a:t>
            </a:r>
          </a:p>
        </p:txBody>
      </p:sp>
      <p:sp>
        <p:nvSpPr>
          <p:cNvPr id="38" name="TextBox 37"/>
          <p:cNvSpPr txBox="1"/>
          <p:nvPr/>
        </p:nvSpPr>
        <p:spPr>
          <a:xfrm>
            <a:off x="9109075" y="2559812"/>
            <a:ext cx="2308225" cy="317500"/>
          </a:xfrm>
          <a:prstGeom prst="rect">
            <a:avLst/>
          </a:prstGeom>
          <a:noFill/>
          <a:effectLst/>
        </p:spPr>
        <p:txBody>
          <a:bodyPr wrap="square" lIns="0" rIns="0" tIns="0" bIns="0" anchor="t"/>
          <a:lstStyle/>
          <a:p>
            <a:pPr algn="l">
              <a:lnSpc>
                <a:spcPts val="1870"/>
              </a:lnSpc>
            </a:pPr>
            <a:r>
              <a:rPr sz="1700" b="1" spc="-34" dirty="0">
                <a:solidFill>
                  <a:srgbClr val="161616"/>
                </a:solidFill>
                <a:latin typeface="Inter"/>
                <a:cs typeface="Inter"/>
              </a:rPr>
              <a:t>Entregar</a:t>
            </a:r>
          </a:p>
        </p:txBody>
      </p:sp>
      <p:sp>
        <p:nvSpPr>
          <p:cNvPr id="39" name="TextBox 38"/>
          <p:cNvSpPr txBox="1"/>
          <p:nvPr/>
        </p:nvSpPr>
        <p:spPr>
          <a:xfrm>
            <a:off x="9109075" y="2978912"/>
            <a:ext cx="2308225" cy="1016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sp>
        <p:nvSpPr>
          <p:cNvPr id="40" name="TextBox 39"/>
          <p:cNvSpPr txBox="1"/>
          <p:nvPr/>
        </p:nvSpPr>
        <p:spPr>
          <a:xfrm>
            <a:off x="609600" y="5049012"/>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CADA OBJETIVO EMPIEZA POR UN VERBO DE ACCIÓN</a:t>
            </a:r>
          </a:p>
        </p:txBody>
      </p:sp>
      <p:cxnSp>
        <p:nvCxnSpPr>
          <p:cNvPr id="41" name="Connector 4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6" name="TextBox 4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7" name="TextBox 4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A06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MAPA DEL CURSO</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661412"/>
            <a:ext cx="10972800" cy="0"/>
          </a:xfrm>
          <a:prstGeom prst="line">
            <a:avLst/>
          </a:prstGeom>
          <a:ln w="1270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52450" y="2604262"/>
            <a:ext cx="114300" cy="11430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9600" y="2267712"/>
            <a:ext cx="1016000" cy="165100"/>
          </a:xfrm>
          <a:prstGeom prst="rect">
            <a:avLst/>
          </a:prstGeom>
          <a:noFill/>
          <a:effectLst/>
        </p:spPr>
        <p:txBody>
          <a:bodyPr wrap="square" lIns="0" rIns="0" tIns="0" bIns="0" anchor="t"/>
          <a:lstStyle/>
          <a:p>
            <a:pPr algn="ctr">
              <a:lnSpc>
                <a:spcPts val="700"/>
              </a:lnSpc>
            </a:pPr>
            <a:r>
              <a:rPr sz="700" b="1" spc="70" dirty="0">
                <a:solidFill>
                  <a:srgbClr val="8D8D8D"/>
                </a:solidFill>
                <a:latin typeface="Inter"/>
                <a:cs typeface="Inter"/>
              </a:rPr>
              <a:t>MOD 01</a:t>
            </a:r>
          </a:p>
        </p:txBody>
      </p:sp>
      <p:sp>
        <p:nvSpPr>
          <p:cNvPr id="23" name="TextBox 22"/>
          <p:cNvSpPr txBox="1"/>
          <p:nvPr/>
        </p:nvSpPr>
        <p:spPr>
          <a:xfrm>
            <a:off x="609600" y="2877312"/>
            <a:ext cx="1016000" cy="444500"/>
          </a:xfrm>
          <a:prstGeom prst="rect">
            <a:avLst/>
          </a:prstGeom>
          <a:noFill/>
          <a:effectLst/>
        </p:spPr>
        <p:txBody>
          <a:bodyPr wrap="square" lIns="0" rIns="0" tIns="0" bIns="0" anchor="t"/>
          <a:lstStyle/>
          <a:p>
            <a:pPr algn="ctr">
              <a:lnSpc>
                <a:spcPts val="1170"/>
              </a:lnSpc>
            </a:pPr>
            <a:r>
              <a:rPr sz="900" b="0" dirty="0">
                <a:solidFill>
                  <a:srgbClr val="6F6F6F"/>
                </a:solidFill>
                <a:latin typeface="Inter"/>
                <a:cs typeface="Inter"/>
              </a:rPr>
              <a:t>Lorem ipsum dolor</a:t>
            </a:r>
          </a:p>
        </p:txBody>
      </p:sp>
      <p:sp>
        <p:nvSpPr>
          <p:cNvPr id="24" name="Rectangle 23"/>
          <p:cNvSpPr/>
          <p:nvPr/>
        </p:nvSpPr>
        <p:spPr>
          <a:xfrm>
            <a:off x="2381250" y="2604262"/>
            <a:ext cx="114300" cy="11430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930400" y="2267712"/>
            <a:ext cx="1016000" cy="165100"/>
          </a:xfrm>
          <a:prstGeom prst="rect">
            <a:avLst/>
          </a:prstGeom>
          <a:noFill/>
          <a:effectLst/>
        </p:spPr>
        <p:txBody>
          <a:bodyPr wrap="square" lIns="0" rIns="0" tIns="0" bIns="0" anchor="t"/>
          <a:lstStyle/>
          <a:p>
            <a:pPr algn="ctr">
              <a:lnSpc>
                <a:spcPts val="700"/>
              </a:lnSpc>
            </a:pPr>
            <a:r>
              <a:rPr sz="700" b="1" spc="70" dirty="0">
                <a:solidFill>
                  <a:srgbClr val="8D8D8D"/>
                </a:solidFill>
                <a:latin typeface="Inter"/>
                <a:cs typeface="Inter"/>
              </a:rPr>
              <a:t>MOD 02</a:t>
            </a:r>
          </a:p>
        </p:txBody>
      </p:sp>
      <p:sp>
        <p:nvSpPr>
          <p:cNvPr id="26" name="TextBox 25"/>
          <p:cNvSpPr txBox="1"/>
          <p:nvPr/>
        </p:nvSpPr>
        <p:spPr>
          <a:xfrm>
            <a:off x="1930400" y="2877312"/>
            <a:ext cx="1016000" cy="444500"/>
          </a:xfrm>
          <a:prstGeom prst="rect">
            <a:avLst/>
          </a:prstGeom>
          <a:noFill/>
          <a:effectLst/>
        </p:spPr>
        <p:txBody>
          <a:bodyPr wrap="square" lIns="0" rIns="0" tIns="0" bIns="0" anchor="t"/>
          <a:lstStyle/>
          <a:p>
            <a:pPr algn="ctr">
              <a:lnSpc>
                <a:spcPts val="1170"/>
              </a:lnSpc>
            </a:pPr>
            <a:r>
              <a:rPr sz="900" b="0" dirty="0">
                <a:solidFill>
                  <a:srgbClr val="6F6F6F"/>
                </a:solidFill>
                <a:latin typeface="Inter"/>
                <a:cs typeface="Inter"/>
              </a:rPr>
              <a:t>Lorem ipsum dolor</a:t>
            </a:r>
          </a:p>
        </p:txBody>
      </p:sp>
      <p:sp>
        <p:nvSpPr>
          <p:cNvPr id="27" name="Rectangle 26"/>
          <p:cNvSpPr/>
          <p:nvPr/>
        </p:nvSpPr>
        <p:spPr>
          <a:xfrm>
            <a:off x="4210050" y="2604262"/>
            <a:ext cx="114300" cy="1143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159250" y="2553462"/>
            <a:ext cx="215900" cy="2159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759200" y="2267712"/>
            <a:ext cx="1016000" cy="165100"/>
          </a:xfrm>
          <a:prstGeom prst="rect">
            <a:avLst/>
          </a:prstGeom>
          <a:noFill/>
          <a:effectLst/>
        </p:spPr>
        <p:txBody>
          <a:bodyPr wrap="square" lIns="0" rIns="0" tIns="0" bIns="0" anchor="t"/>
          <a:lstStyle/>
          <a:p>
            <a:pPr algn="ctr">
              <a:lnSpc>
                <a:spcPts val="700"/>
              </a:lnSpc>
            </a:pPr>
            <a:r>
              <a:rPr sz="700" b="1" spc="70" dirty="0">
                <a:solidFill>
                  <a:srgbClr val="161616"/>
                </a:solidFill>
                <a:latin typeface="Inter"/>
                <a:cs typeface="Inter"/>
              </a:rPr>
              <a:t>MOD 03</a:t>
            </a:r>
          </a:p>
        </p:txBody>
      </p:sp>
      <p:sp>
        <p:nvSpPr>
          <p:cNvPr id="30" name="TextBox 29"/>
          <p:cNvSpPr txBox="1"/>
          <p:nvPr/>
        </p:nvSpPr>
        <p:spPr>
          <a:xfrm>
            <a:off x="3759200" y="2877312"/>
            <a:ext cx="1016000" cy="444500"/>
          </a:xfrm>
          <a:prstGeom prst="rect">
            <a:avLst/>
          </a:prstGeom>
          <a:noFill/>
          <a:effectLst/>
        </p:spPr>
        <p:txBody>
          <a:bodyPr wrap="square" lIns="0" rIns="0" tIns="0" bIns="0" anchor="t"/>
          <a:lstStyle/>
          <a:p>
            <a:pPr algn="ctr">
              <a:lnSpc>
                <a:spcPts val="1170"/>
              </a:lnSpc>
            </a:pPr>
            <a:r>
              <a:rPr sz="900" b="1" dirty="0">
                <a:solidFill>
                  <a:srgbClr val="161616"/>
                </a:solidFill>
                <a:latin typeface="Inter"/>
                <a:cs typeface="Inter"/>
              </a:rPr>
              <a:t>Lorem ipsum dolor</a:t>
            </a:r>
          </a:p>
        </p:txBody>
      </p:sp>
      <p:sp>
        <p:nvSpPr>
          <p:cNvPr id="31" name="Rectangle 30"/>
          <p:cNvSpPr/>
          <p:nvPr/>
        </p:nvSpPr>
        <p:spPr>
          <a:xfrm>
            <a:off x="6038850" y="2604262"/>
            <a:ext cx="114300" cy="11430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88000" y="2267712"/>
            <a:ext cx="1016000" cy="165100"/>
          </a:xfrm>
          <a:prstGeom prst="rect">
            <a:avLst/>
          </a:prstGeom>
          <a:noFill/>
          <a:effectLst/>
        </p:spPr>
        <p:txBody>
          <a:bodyPr wrap="square" lIns="0" rIns="0" tIns="0" bIns="0" anchor="t"/>
          <a:lstStyle/>
          <a:p>
            <a:pPr algn="ctr">
              <a:lnSpc>
                <a:spcPts val="700"/>
              </a:lnSpc>
            </a:pPr>
            <a:r>
              <a:rPr sz="700" b="1" spc="70" dirty="0">
                <a:solidFill>
                  <a:srgbClr val="8D8D8D"/>
                </a:solidFill>
                <a:latin typeface="Inter"/>
                <a:cs typeface="Inter"/>
              </a:rPr>
              <a:t>MOD 04</a:t>
            </a:r>
          </a:p>
        </p:txBody>
      </p:sp>
      <p:sp>
        <p:nvSpPr>
          <p:cNvPr id="33" name="TextBox 32"/>
          <p:cNvSpPr txBox="1"/>
          <p:nvPr/>
        </p:nvSpPr>
        <p:spPr>
          <a:xfrm>
            <a:off x="5588000" y="2877312"/>
            <a:ext cx="1016000" cy="444500"/>
          </a:xfrm>
          <a:prstGeom prst="rect">
            <a:avLst/>
          </a:prstGeom>
          <a:noFill/>
          <a:effectLst/>
        </p:spPr>
        <p:txBody>
          <a:bodyPr wrap="square" lIns="0" rIns="0" tIns="0" bIns="0" anchor="t"/>
          <a:lstStyle/>
          <a:p>
            <a:pPr algn="ctr">
              <a:lnSpc>
                <a:spcPts val="1170"/>
              </a:lnSpc>
            </a:pPr>
            <a:r>
              <a:rPr sz="900" b="0" dirty="0">
                <a:solidFill>
                  <a:srgbClr val="6F6F6F"/>
                </a:solidFill>
                <a:latin typeface="Inter"/>
                <a:cs typeface="Inter"/>
              </a:rPr>
              <a:t>Lorem ipsum dolor</a:t>
            </a:r>
          </a:p>
        </p:txBody>
      </p:sp>
      <p:sp>
        <p:nvSpPr>
          <p:cNvPr id="34" name="Rectangle 33"/>
          <p:cNvSpPr/>
          <p:nvPr/>
        </p:nvSpPr>
        <p:spPr>
          <a:xfrm>
            <a:off x="7867650" y="2604262"/>
            <a:ext cx="114300" cy="11430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416800" y="2267712"/>
            <a:ext cx="1016000" cy="165100"/>
          </a:xfrm>
          <a:prstGeom prst="rect">
            <a:avLst/>
          </a:prstGeom>
          <a:noFill/>
          <a:effectLst/>
        </p:spPr>
        <p:txBody>
          <a:bodyPr wrap="square" lIns="0" rIns="0" tIns="0" bIns="0" anchor="t"/>
          <a:lstStyle/>
          <a:p>
            <a:pPr algn="ctr">
              <a:lnSpc>
                <a:spcPts val="700"/>
              </a:lnSpc>
            </a:pPr>
            <a:r>
              <a:rPr sz="700" b="1" spc="70" dirty="0">
                <a:solidFill>
                  <a:srgbClr val="8D8D8D"/>
                </a:solidFill>
                <a:latin typeface="Inter"/>
                <a:cs typeface="Inter"/>
              </a:rPr>
              <a:t>MOD 05</a:t>
            </a:r>
          </a:p>
        </p:txBody>
      </p:sp>
      <p:sp>
        <p:nvSpPr>
          <p:cNvPr id="36" name="TextBox 35"/>
          <p:cNvSpPr txBox="1"/>
          <p:nvPr/>
        </p:nvSpPr>
        <p:spPr>
          <a:xfrm>
            <a:off x="7416800" y="2877312"/>
            <a:ext cx="1016000" cy="444500"/>
          </a:xfrm>
          <a:prstGeom prst="rect">
            <a:avLst/>
          </a:prstGeom>
          <a:noFill/>
          <a:effectLst/>
        </p:spPr>
        <p:txBody>
          <a:bodyPr wrap="square" lIns="0" rIns="0" tIns="0" bIns="0" anchor="t"/>
          <a:lstStyle/>
          <a:p>
            <a:pPr algn="ctr">
              <a:lnSpc>
                <a:spcPts val="1170"/>
              </a:lnSpc>
            </a:pPr>
            <a:r>
              <a:rPr sz="900" b="0" dirty="0">
                <a:solidFill>
                  <a:srgbClr val="6F6F6F"/>
                </a:solidFill>
                <a:latin typeface="Inter"/>
                <a:cs typeface="Inter"/>
              </a:rPr>
              <a:t>Lorem ipsum dolor</a:t>
            </a:r>
          </a:p>
        </p:txBody>
      </p:sp>
      <p:sp>
        <p:nvSpPr>
          <p:cNvPr id="37" name="Rectangle 36"/>
          <p:cNvSpPr/>
          <p:nvPr/>
        </p:nvSpPr>
        <p:spPr>
          <a:xfrm>
            <a:off x="9696450" y="2604262"/>
            <a:ext cx="114300" cy="11430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245600" y="2267712"/>
            <a:ext cx="1016000" cy="165100"/>
          </a:xfrm>
          <a:prstGeom prst="rect">
            <a:avLst/>
          </a:prstGeom>
          <a:noFill/>
          <a:effectLst/>
        </p:spPr>
        <p:txBody>
          <a:bodyPr wrap="square" lIns="0" rIns="0" tIns="0" bIns="0" anchor="t"/>
          <a:lstStyle/>
          <a:p>
            <a:pPr algn="ctr">
              <a:lnSpc>
                <a:spcPts val="700"/>
              </a:lnSpc>
            </a:pPr>
            <a:r>
              <a:rPr sz="700" b="1" spc="70" dirty="0">
                <a:solidFill>
                  <a:srgbClr val="8D8D8D"/>
                </a:solidFill>
                <a:latin typeface="Inter"/>
                <a:cs typeface="Inter"/>
              </a:rPr>
              <a:t>MOD 06</a:t>
            </a:r>
          </a:p>
        </p:txBody>
      </p:sp>
      <p:sp>
        <p:nvSpPr>
          <p:cNvPr id="39" name="TextBox 38"/>
          <p:cNvSpPr txBox="1"/>
          <p:nvPr/>
        </p:nvSpPr>
        <p:spPr>
          <a:xfrm>
            <a:off x="9245600" y="2877312"/>
            <a:ext cx="1016000" cy="444500"/>
          </a:xfrm>
          <a:prstGeom prst="rect">
            <a:avLst/>
          </a:prstGeom>
          <a:noFill/>
          <a:effectLst/>
        </p:spPr>
        <p:txBody>
          <a:bodyPr wrap="square" lIns="0" rIns="0" tIns="0" bIns="0" anchor="t"/>
          <a:lstStyle/>
          <a:p>
            <a:pPr algn="ctr">
              <a:lnSpc>
                <a:spcPts val="1170"/>
              </a:lnSpc>
            </a:pPr>
            <a:r>
              <a:rPr sz="900" b="0" dirty="0">
                <a:solidFill>
                  <a:srgbClr val="6F6F6F"/>
                </a:solidFill>
                <a:latin typeface="Inter"/>
                <a:cs typeface="Inter"/>
              </a:rPr>
              <a:t>Lorem ipsum dolor</a:t>
            </a:r>
          </a:p>
        </p:txBody>
      </p:sp>
      <p:sp>
        <p:nvSpPr>
          <p:cNvPr id="40" name="Rectangle 39"/>
          <p:cNvSpPr/>
          <p:nvPr/>
        </p:nvSpPr>
        <p:spPr>
          <a:xfrm>
            <a:off x="11468100" y="2604262"/>
            <a:ext cx="114300" cy="11430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566400" y="2267712"/>
            <a:ext cx="1016000" cy="165100"/>
          </a:xfrm>
          <a:prstGeom prst="rect">
            <a:avLst/>
          </a:prstGeom>
          <a:noFill/>
          <a:effectLst/>
        </p:spPr>
        <p:txBody>
          <a:bodyPr wrap="square" lIns="0" rIns="0" tIns="0" bIns="0" anchor="t"/>
          <a:lstStyle/>
          <a:p>
            <a:pPr algn="ctr">
              <a:lnSpc>
                <a:spcPts val="700"/>
              </a:lnSpc>
            </a:pPr>
            <a:r>
              <a:rPr sz="700" b="1" spc="70" dirty="0">
                <a:solidFill>
                  <a:srgbClr val="8D8D8D"/>
                </a:solidFill>
                <a:latin typeface="Inter"/>
                <a:cs typeface="Inter"/>
              </a:rPr>
              <a:t>MOD 07</a:t>
            </a:r>
          </a:p>
        </p:txBody>
      </p:sp>
      <p:sp>
        <p:nvSpPr>
          <p:cNvPr id="42" name="TextBox 41"/>
          <p:cNvSpPr txBox="1"/>
          <p:nvPr/>
        </p:nvSpPr>
        <p:spPr>
          <a:xfrm>
            <a:off x="10566400" y="2877312"/>
            <a:ext cx="1016000" cy="444500"/>
          </a:xfrm>
          <a:prstGeom prst="rect">
            <a:avLst/>
          </a:prstGeom>
          <a:noFill/>
          <a:effectLst/>
        </p:spPr>
        <p:txBody>
          <a:bodyPr wrap="square" lIns="0" rIns="0" tIns="0" bIns="0" anchor="t"/>
          <a:lstStyle/>
          <a:p>
            <a:pPr algn="ctr">
              <a:lnSpc>
                <a:spcPts val="1170"/>
              </a:lnSpc>
            </a:pPr>
            <a:r>
              <a:rPr sz="900" b="0" dirty="0">
                <a:solidFill>
                  <a:srgbClr val="6F6F6F"/>
                </a:solidFill>
                <a:latin typeface="Inter"/>
                <a:cs typeface="Inter"/>
              </a:rPr>
              <a:t>Lorem ipsum dolor</a:t>
            </a:r>
          </a:p>
        </p:txBody>
      </p:sp>
      <p:sp>
        <p:nvSpPr>
          <p:cNvPr id="43" name="Rectangle 42"/>
          <p:cNvSpPr/>
          <p:nvPr/>
        </p:nvSpPr>
        <p:spPr>
          <a:xfrm>
            <a:off x="609600" y="3740912"/>
            <a:ext cx="4453467" cy="1206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00100" y="3931412"/>
            <a:ext cx="4072467" cy="1651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ESTÁS AQUÍ</a:t>
            </a:r>
          </a:p>
        </p:txBody>
      </p:sp>
      <p:sp>
        <p:nvSpPr>
          <p:cNvPr id="45" name="TextBox 44"/>
          <p:cNvSpPr txBox="1"/>
          <p:nvPr/>
        </p:nvSpPr>
        <p:spPr>
          <a:xfrm>
            <a:off x="800100" y="4185412"/>
            <a:ext cx="4072467" cy="6985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sp>
        <p:nvSpPr>
          <p:cNvPr id="46" name="TextBox 45"/>
          <p:cNvSpPr txBox="1"/>
          <p:nvPr/>
        </p:nvSpPr>
        <p:spPr>
          <a:xfrm>
            <a:off x="6197600" y="3931412"/>
            <a:ext cx="2565400" cy="215900"/>
          </a:xfrm>
          <a:prstGeom prst="rect">
            <a:avLst/>
          </a:prstGeom>
          <a:noFill/>
          <a:effectLst/>
        </p:spPr>
        <p:txBody>
          <a:bodyPr wrap="square" lIns="0" rIns="0" tIns="0" bIns="0" anchor="ctr"/>
          <a:lstStyle/>
          <a:p>
            <a:pPr algn="l">
              <a:lnSpc>
                <a:spcPts val="1439"/>
              </a:lnSpc>
            </a:pPr>
            <a:r>
              <a:rPr sz="1200" b="0" dirty="0">
                <a:solidFill>
                  <a:srgbClr val="525252"/>
                </a:solidFill>
                <a:latin typeface="Inter"/>
                <a:cs typeface="Inter"/>
              </a:rPr>
              <a:t>PROGRESO DEL PROGRAMA</a:t>
            </a:r>
          </a:p>
        </p:txBody>
      </p:sp>
      <p:sp>
        <p:nvSpPr>
          <p:cNvPr id="47" name="Rectangle 46"/>
          <p:cNvSpPr/>
          <p:nvPr/>
        </p:nvSpPr>
        <p:spPr>
          <a:xfrm>
            <a:off x="8928100" y="3931412"/>
            <a:ext cx="1828800" cy="2159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8928100" y="3931412"/>
            <a:ext cx="530352" cy="215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820400" y="3931412"/>
            <a:ext cx="762000" cy="215900"/>
          </a:xfrm>
          <a:prstGeom prst="rect">
            <a:avLst/>
          </a:prstGeom>
          <a:noFill/>
          <a:effectLst/>
        </p:spPr>
        <p:txBody>
          <a:bodyPr wrap="square" lIns="0" rIns="0" tIns="0" bIns="0" anchor="ctr"/>
          <a:lstStyle/>
          <a:p>
            <a:pPr algn="r">
              <a:lnSpc>
                <a:spcPts val="1400"/>
              </a:lnSpc>
            </a:pPr>
            <a:r>
              <a:rPr sz="1400" b="1" dirty="0">
                <a:solidFill>
                  <a:srgbClr val="161616"/>
                </a:solidFill>
                <a:latin typeface="Inter"/>
                <a:cs typeface="Inter"/>
              </a:rPr>
              <a:t>29 %</a:t>
            </a:r>
          </a:p>
        </p:txBody>
      </p:sp>
      <p:sp>
        <p:nvSpPr>
          <p:cNvPr id="50" name="TextBox 49"/>
          <p:cNvSpPr txBox="1"/>
          <p:nvPr/>
        </p:nvSpPr>
        <p:spPr>
          <a:xfrm>
            <a:off x="6197600" y="4312412"/>
            <a:ext cx="5384800" cy="5715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4 de 14 módulos completados. Cada módulo son 4 horas en directo.</a:t>
            </a:r>
          </a:p>
        </p:txBody>
      </p:sp>
      <p:cxnSp>
        <p:nvCxnSpPr>
          <p:cNvPr id="51" name="Connector 5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6" name="TextBox 5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7" name="TextBox 5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A07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Texto</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Cuando la idea se sostiene sola, sin medio ni dato.</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9 PLANTILLAS · B01–B09</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B01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Título + texto</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Viñetas</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Viñetas en dos columnas</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Dos columnas de texto</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Tres columnas de texto</a:t>
            </a:r>
          </a:p>
        </p:txBody>
      </p:sp>
      <p:cxnSp>
        <p:nvCxnSpPr>
          <p:cNvPr id="25" name="Connector 24"/>
          <p:cNvCxnSpPr/>
          <p:nvPr/>
        </p:nvCxnSpPr>
        <p:spPr>
          <a:xfrm>
            <a:off x="7128933" y="3429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128933" y="3517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B06</a:t>
            </a:r>
          </a:p>
        </p:txBody>
      </p:sp>
      <p:sp>
        <p:nvSpPr>
          <p:cNvPr id="27" name="TextBox 26"/>
          <p:cNvSpPr txBox="1"/>
          <p:nvPr/>
        </p:nvSpPr>
        <p:spPr>
          <a:xfrm>
            <a:off x="7636933" y="3505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Definición / concepto clave</a:t>
            </a:r>
          </a:p>
        </p:txBody>
      </p:sp>
      <p:cxnSp>
        <p:nvCxnSpPr>
          <p:cNvPr id="28" name="Connector 27"/>
          <p:cNvCxnSpPr/>
          <p:nvPr/>
        </p:nvCxnSpPr>
        <p:spPr>
          <a:xfrm>
            <a:off x="7128933" y="3784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128933" y="3873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B07</a:t>
            </a:r>
          </a:p>
        </p:txBody>
      </p:sp>
      <p:sp>
        <p:nvSpPr>
          <p:cNvPr id="30" name="TextBox 29"/>
          <p:cNvSpPr txBox="1"/>
          <p:nvPr/>
        </p:nvSpPr>
        <p:spPr>
          <a:xfrm>
            <a:off x="7636933" y="3860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Texto + nota lateral</a:t>
            </a:r>
          </a:p>
        </p:txBody>
      </p:sp>
      <p:cxnSp>
        <p:nvCxnSpPr>
          <p:cNvPr id="31" name="Connector 30"/>
          <p:cNvCxnSpPr/>
          <p:nvPr/>
        </p:nvCxnSpPr>
        <p:spPr>
          <a:xfrm>
            <a:off x="7128933" y="4140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128933" y="4229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B08</a:t>
            </a:r>
          </a:p>
        </p:txBody>
      </p:sp>
      <p:sp>
        <p:nvSpPr>
          <p:cNvPr id="33" name="TextBox 32"/>
          <p:cNvSpPr txBox="1"/>
          <p:nvPr/>
        </p:nvSpPr>
        <p:spPr>
          <a:xfrm>
            <a:off x="7636933" y="4216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Frase manifiesto</a:t>
            </a:r>
          </a:p>
        </p:txBody>
      </p:sp>
      <p:cxnSp>
        <p:nvCxnSpPr>
          <p:cNvPr id="34" name="Connector 33"/>
          <p:cNvCxnSpPr/>
          <p:nvPr/>
        </p:nvCxnSpPr>
        <p:spPr>
          <a:xfrm>
            <a:off x="7128933" y="4495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128933" y="4584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B09</a:t>
            </a:r>
          </a:p>
        </p:txBody>
      </p:sp>
      <p:sp>
        <p:nvSpPr>
          <p:cNvPr id="36" name="TextBox 35"/>
          <p:cNvSpPr txBox="1"/>
          <p:nvPr/>
        </p:nvSpPr>
        <p:spPr>
          <a:xfrm>
            <a:off x="7636933" y="4572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Pregunta detonante</a:t>
            </a:r>
          </a:p>
        </p:txBody>
      </p:sp>
      <p:cxnSp>
        <p:nvCxnSpPr>
          <p:cNvPr id="37" name="Connector 36"/>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42" name="TextBox 4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9278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19050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21463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609600" y="3214624"/>
            <a:ext cx="6316133" cy="1397000"/>
          </a:xfrm>
          <a:prstGeom prst="rect">
            <a:avLst/>
          </a:prstGeom>
          <a:noFill/>
          <a:effectLst/>
        </p:spPr>
        <p:txBody>
          <a:bodyPr wrap="square" lIns="0" rIns="0" tIns="0" bIns="0" anchor="t"/>
          <a:lstStyle/>
          <a:p>
            <a:pPr algn="l">
              <a:lnSpc>
                <a:spcPts val="2170"/>
              </a:lnSpc>
            </a:pPr>
            <a:r>
              <a:rPr sz="1400" b="0" dirty="0">
                <a:solidFill>
                  <a:srgbClr val="525252"/>
                </a:solidFill>
                <a:latin typeface="Inter"/>
                <a:cs typeface="Inter"/>
              </a:rPr>
              <a:t>Lorem ipsum dolor sit amet, consectetur adipiscing elit, sed do eiusmod tempor incididunt ut labore et dolore magna aliqua. Ut enim ad minim veniam, quis nostrud exercitation ullamco laboris nisi ut aliquip ex ea commodo consequat.</a:t>
            </a:r>
          </a:p>
        </p:txBody>
      </p:sp>
      <p:cxnSp>
        <p:nvCxnSpPr>
          <p:cNvPr id="6" name="Connector 5"/>
          <p:cNvCxnSpPr/>
          <p:nvPr/>
        </p:nvCxnSpPr>
        <p:spPr>
          <a:xfrm>
            <a:off x="8060267" y="1905000"/>
            <a:ext cx="0" cy="190500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50767" y="1905000"/>
            <a:ext cx="3331633"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EN UNA FRASE</a:t>
            </a:r>
          </a:p>
        </p:txBody>
      </p:sp>
      <p:sp>
        <p:nvSpPr>
          <p:cNvPr id="8" name="TextBox 7"/>
          <p:cNvSpPr txBox="1"/>
          <p:nvPr/>
        </p:nvSpPr>
        <p:spPr>
          <a:xfrm>
            <a:off x="8250767" y="2159000"/>
            <a:ext cx="3331633" cy="1270000"/>
          </a:xfrm>
          <a:prstGeom prst="rect">
            <a:avLst/>
          </a:prstGeom>
          <a:noFill/>
          <a:effectLst/>
        </p:spPr>
        <p:txBody>
          <a:bodyPr wrap="square" lIns="0" rIns="0" tIns="0" bIns="0" anchor="t"/>
          <a:lstStyle/>
          <a:p>
            <a:pPr algn="l">
              <a:lnSpc>
                <a:spcPts val="2340"/>
              </a:lnSpc>
            </a:pPr>
            <a:r>
              <a:rPr sz="1800" b="1" dirty="0">
                <a:solidFill>
                  <a:srgbClr val="161616"/>
                </a:solidFill>
                <a:latin typeface="Inter"/>
                <a:cs typeface="Inter"/>
              </a:rPr>
              <a:t>Lorem ipsum dolor sit amet, consectetur adipiscing.</a:t>
            </a:r>
          </a:p>
        </p:txBody>
      </p:sp>
      <p:sp>
        <p:nvSpPr>
          <p:cNvPr id="9" name="TextBox 8"/>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10" name="Connector 9"/>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5" name="TextBox 14"/>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16" name="TextBox 15"/>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B01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089912"/>
            <a:ext cx="7247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2191512"/>
            <a:ext cx="381000" cy="266700"/>
          </a:xfrm>
          <a:prstGeom prst="rect">
            <a:avLst/>
          </a:prstGeom>
          <a:noFill/>
          <a:effectLst/>
        </p:spPr>
        <p:txBody>
          <a:bodyPr wrap="square" lIns="0" rIns="0" tIns="0" bIns="0" anchor="t"/>
          <a:lstStyle/>
          <a:p>
            <a:pPr algn="l">
              <a:lnSpc>
                <a:spcPts val="1890"/>
              </a:lnSpc>
            </a:pPr>
            <a:r>
              <a:rPr sz="1400" b="1" dirty="0">
                <a:solidFill>
                  <a:srgbClr val="161616"/>
                </a:solidFill>
                <a:latin typeface="Inter"/>
                <a:cs typeface="Inter"/>
              </a:rPr>
              <a:t>01</a:t>
            </a:r>
          </a:p>
        </p:txBody>
      </p:sp>
      <p:sp>
        <p:nvSpPr>
          <p:cNvPr id="22" name="TextBox 21"/>
          <p:cNvSpPr txBox="1"/>
          <p:nvPr/>
        </p:nvSpPr>
        <p:spPr>
          <a:xfrm>
            <a:off x="1028700" y="2191512"/>
            <a:ext cx="6828367" cy="505460"/>
          </a:xfrm>
          <a:prstGeom prst="rect">
            <a:avLst/>
          </a:prstGeom>
          <a:noFill/>
          <a:effectLst/>
        </p:spPr>
        <p:txBody>
          <a:bodyPr wrap="square" lIns="0" rIns="0" tIns="0" bIns="0" anchor="t"/>
          <a:lstStyle/>
          <a:p>
            <a:pPr algn="l">
              <a:lnSpc>
                <a:spcPts val="1890"/>
              </a:lnSpc>
            </a:pPr>
            <a:r>
              <a:rPr sz="1400" b="0" dirty="0">
                <a:solidFill>
                  <a:srgbClr val="525252"/>
                </a:solidFill>
                <a:latin typeface="Inter"/>
                <a:cs typeface="Inter"/>
              </a:rPr>
              <a:t>Lorem ipsum dolor sit amet, consectetur adipiscing elit</a:t>
            </a:r>
          </a:p>
        </p:txBody>
      </p:sp>
      <p:cxnSp>
        <p:nvCxnSpPr>
          <p:cNvPr id="23" name="Connector 22"/>
          <p:cNvCxnSpPr/>
          <p:nvPr/>
        </p:nvCxnSpPr>
        <p:spPr>
          <a:xfrm>
            <a:off x="609600" y="2750312"/>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9600" y="2851912"/>
            <a:ext cx="381000" cy="266700"/>
          </a:xfrm>
          <a:prstGeom prst="rect">
            <a:avLst/>
          </a:prstGeom>
          <a:noFill/>
          <a:effectLst/>
        </p:spPr>
        <p:txBody>
          <a:bodyPr wrap="square" lIns="0" rIns="0" tIns="0" bIns="0" anchor="t"/>
          <a:lstStyle/>
          <a:p>
            <a:pPr algn="l">
              <a:lnSpc>
                <a:spcPts val="1890"/>
              </a:lnSpc>
            </a:pPr>
            <a:r>
              <a:rPr sz="1400" b="1" dirty="0">
                <a:solidFill>
                  <a:srgbClr val="161616"/>
                </a:solidFill>
                <a:latin typeface="Inter"/>
                <a:cs typeface="Inter"/>
              </a:rPr>
              <a:t>02</a:t>
            </a:r>
          </a:p>
        </p:txBody>
      </p:sp>
      <p:sp>
        <p:nvSpPr>
          <p:cNvPr id="25" name="TextBox 24"/>
          <p:cNvSpPr txBox="1"/>
          <p:nvPr/>
        </p:nvSpPr>
        <p:spPr>
          <a:xfrm>
            <a:off x="1028700" y="2851912"/>
            <a:ext cx="6828367" cy="505460"/>
          </a:xfrm>
          <a:prstGeom prst="rect">
            <a:avLst/>
          </a:prstGeom>
          <a:noFill/>
          <a:effectLst/>
        </p:spPr>
        <p:txBody>
          <a:bodyPr wrap="square" lIns="0" rIns="0" tIns="0" bIns="0" anchor="t"/>
          <a:lstStyle/>
          <a:p>
            <a:pPr algn="l">
              <a:lnSpc>
                <a:spcPts val="1890"/>
              </a:lnSpc>
            </a:pPr>
            <a:r>
              <a:rPr sz="1400" b="0" dirty="0">
                <a:solidFill>
                  <a:srgbClr val="525252"/>
                </a:solidFill>
                <a:latin typeface="Inter"/>
                <a:cs typeface="Inter"/>
              </a:rPr>
              <a:t>Lorem ipsum dolor sit amet, consectetur adipiscing elit</a:t>
            </a:r>
          </a:p>
        </p:txBody>
      </p:sp>
      <p:cxnSp>
        <p:nvCxnSpPr>
          <p:cNvPr id="26" name="Connector 25"/>
          <p:cNvCxnSpPr/>
          <p:nvPr/>
        </p:nvCxnSpPr>
        <p:spPr>
          <a:xfrm>
            <a:off x="609600" y="3410712"/>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9600" y="3512312"/>
            <a:ext cx="381000" cy="266700"/>
          </a:xfrm>
          <a:prstGeom prst="rect">
            <a:avLst/>
          </a:prstGeom>
          <a:noFill/>
          <a:effectLst/>
        </p:spPr>
        <p:txBody>
          <a:bodyPr wrap="square" lIns="0" rIns="0" tIns="0" bIns="0" anchor="t"/>
          <a:lstStyle/>
          <a:p>
            <a:pPr algn="l">
              <a:lnSpc>
                <a:spcPts val="1890"/>
              </a:lnSpc>
            </a:pPr>
            <a:r>
              <a:rPr sz="1400" b="1" dirty="0">
                <a:solidFill>
                  <a:srgbClr val="161616"/>
                </a:solidFill>
                <a:latin typeface="Inter"/>
                <a:cs typeface="Inter"/>
              </a:rPr>
              <a:t>03</a:t>
            </a:r>
          </a:p>
        </p:txBody>
      </p:sp>
      <p:sp>
        <p:nvSpPr>
          <p:cNvPr id="28" name="TextBox 27"/>
          <p:cNvSpPr txBox="1"/>
          <p:nvPr/>
        </p:nvSpPr>
        <p:spPr>
          <a:xfrm>
            <a:off x="1028700" y="3512312"/>
            <a:ext cx="6828367" cy="505460"/>
          </a:xfrm>
          <a:prstGeom prst="rect">
            <a:avLst/>
          </a:prstGeom>
          <a:noFill/>
          <a:effectLst/>
        </p:spPr>
        <p:txBody>
          <a:bodyPr wrap="square" lIns="0" rIns="0" tIns="0" bIns="0" anchor="t"/>
          <a:lstStyle/>
          <a:p>
            <a:pPr algn="l">
              <a:lnSpc>
                <a:spcPts val="1890"/>
              </a:lnSpc>
            </a:pPr>
            <a:r>
              <a:rPr sz="1400" b="0" dirty="0">
                <a:solidFill>
                  <a:srgbClr val="525252"/>
                </a:solidFill>
                <a:latin typeface="Inter"/>
                <a:cs typeface="Inter"/>
              </a:rPr>
              <a:t>Lorem ipsum dolor sit amet, consectetur adipiscing elit</a:t>
            </a:r>
          </a:p>
        </p:txBody>
      </p:sp>
      <p:cxnSp>
        <p:nvCxnSpPr>
          <p:cNvPr id="29" name="Connector 28"/>
          <p:cNvCxnSpPr/>
          <p:nvPr/>
        </p:nvCxnSpPr>
        <p:spPr>
          <a:xfrm>
            <a:off x="609600" y="4071112"/>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09600" y="4172712"/>
            <a:ext cx="381000" cy="266700"/>
          </a:xfrm>
          <a:prstGeom prst="rect">
            <a:avLst/>
          </a:prstGeom>
          <a:noFill/>
          <a:effectLst/>
        </p:spPr>
        <p:txBody>
          <a:bodyPr wrap="square" lIns="0" rIns="0" tIns="0" bIns="0" anchor="t"/>
          <a:lstStyle/>
          <a:p>
            <a:pPr algn="l">
              <a:lnSpc>
                <a:spcPts val="1890"/>
              </a:lnSpc>
            </a:pPr>
            <a:r>
              <a:rPr sz="1400" b="1" dirty="0">
                <a:solidFill>
                  <a:srgbClr val="161616"/>
                </a:solidFill>
                <a:latin typeface="Inter"/>
                <a:cs typeface="Inter"/>
              </a:rPr>
              <a:t>04</a:t>
            </a:r>
          </a:p>
        </p:txBody>
      </p:sp>
      <p:sp>
        <p:nvSpPr>
          <p:cNvPr id="31" name="TextBox 30"/>
          <p:cNvSpPr txBox="1"/>
          <p:nvPr/>
        </p:nvSpPr>
        <p:spPr>
          <a:xfrm>
            <a:off x="1028700" y="4172712"/>
            <a:ext cx="6828367" cy="505460"/>
          </a:xfrm>
          <a:prstGeom prst="rect">
            <a:avLst/>
          </a:prstGeom>
          <a:noFill/>
          <a:effectLst/>
        </p:spPr>
        <p:txBody>
          <a:bodyPr wrap="square" lIns="0" rIns="0" tIns="0" bIns="0" anchor="t"/>
          <a:lstStyle/>
          <a:p>
            <a:pPr algn="l">
              <a:lnSpc>
                <a:spcPts val="1890"/>
              </a:lnSpc>
            </a:pPr>
            <a:r>
              <a:rPr sz="1400" b="0" dirty="0">
                <a:solidFill>
                  <a:srgbClr val="525252"/>
                </a:solidFill>
                <a:latin typeface="Inter"/>
                <a:cs typeface="Inter"/>
              </a:rPr>
              <a:t>Lorem ipsum dolor sit amet, consectetur adipiscing elit</a:t>
            </a:r>
          </a:p>
        </p:txBody>
      </p:sp>
      <p:cxnSp>
        <p:nvCxnSpPr>
          <p:cNvPr id="32" name="Connector 31"/>
          <p:cNvCxnSpPr/>
          <p:nvPr/>
        </p:nvCxnSpPr>
        <p:spPr>
          <a:xfrm>
            <a:off x="609600" y="4731512"/>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9600" y="4833112"/>
            <a:ext cx="381000" cy="266700"/>
          </a:xfrm>
          <a:prstGeom prst="rect">
            <a:avLst/>
          </a:prstGeom>
          <a:noFill/>
          <a:effectLst/>
        </p:spPr>
        <p:txBody>
          <a:bodyPr wrap="square" lIns="0" rIns="0" tIns="0" bIns="0" anchor="t"/>
          <a:lstStyle/>
          <a:p>
            <a:pPr algn="l">
              <a:lnSpc>
                <a:spcPts val="1890"/>
              </a:lnSpc>
            </a:pPr>
            <a:r>
              <a:rPr sz="1400" b="1" dirty="0">
                <a:solidFill>
                  <a:srgbClr val="161616"/>
                </a:solidFill>
                <a:latin typeface="Inter"/>
                <a:cs typeface="Inter"/>
              </a:rPr>
              <a:t>05</a:t>
            </a:r>
          </a:p>
        </p:txBody>
      </p:sp>
      <p:sp>
        <p:nvSpPr>
          <p:cNvPr id="34" name="TextBox 33"/>
          <p:cNvSpPr txBox="1"/>
          <p:nvPr/>
        </p:nvSpPr>
        <p:spPr>
          <a:xfrm>
            <a:off x="1028700" y="4833112"/>
            <a:ext cx="6828367" cy="505460"/>
          </a:xfrm>
          <a:prstGeom prst="rect">
            <a:avLst/>
          </a:prstGeom>
          <a:noFill/>
          <a:effectLst/>
        </p:spPr>
        <p:txBody>
          <a:bodyPr wrap="square" lIns="0" rIns="0" tIns="0" bIns="0" anchor="t"/>
          <a:lstStyle/>
          <a:p>
            <a:pPr algn="l">
              <a:lnSpc>
                <a:spcPts val="1890"/>
              </a:lnSpc>
            </a:pPr>
            <a:r>
              <a:rPr sz="1400" b="0" dirty="0">
                <a:solidFill>
                  <a:srgbClr val="525252"/>
                </a:solidFill>
                <a:latin typeface="Inter"/>
                <a:cs typeface="Inter"/>
              </a:rPr>
              <a:t>Lorem ipsum dolor sit amet, consectetur adipiscing elit</a:t>
            </a:r>
          </a:p>
        </p:txBody>
      </p:sp>
      <p:sp>
        <p:nvSpPr>
          <p:cNvPr id="35" name="Rectangle 34"/>
          <p:cNvSpPr/>
          <p:nvPr/>
        </p:nvSpPr>
        <p:spPr>
          <a:xfrm>
            <a:off x="9055100" y="2089912"/>
            <a:ext cx="2527300" cy="1524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055100" y="2089912"/>
            <a:ext cx="31750" cy="1524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220200" y="2255012"/>
            <a:ext cx="2197100"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OJO</a:t>
            </a:r>
          </a:p>
        </p:txBody>
      </p:sp>
      <p:sp>
        <p:nvSpPr>
          <p:cNvPr id="38" name="TextBox 37"/>
          <p:cNvSpPr txBox="1"/>
          <p:nvPr/>
        </p:nvSpPr>
        <p:spPr>
          <a:xfrm>
            <a:off x="9220200" y="2496312"/>
            <a:ext cx="2197100" cy="9525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sp>
        <p:nvSpPr>
          <p:cNvPr id="39" name="TextBox 38"/>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0" name="Connector 39"/>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5" name="TextBox 44"/>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6" name="TextBox 45"/>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B02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2089912"/>
            <a:ext cx="4453467"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GRUPO 01</a:t>
            </a:r>
          </a:p>
        </p:txBody>
      </p:sp>
      <p:cxnSp>
        <p:nvCxnSpPr>
          <p:cNvPr id="21" name="Connector 20"/>
          <p:cNvCxnSpPr/>
          <p:nvPr/>
        </p:nvCxnSpPr>
        <p:spPr>
          <a:xfrm>
            <a:off x="609600" y="2343912"/>
            <a:ext cx="4453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09600" y="2445512"/>
            <a:ext cx="381000" cy="2286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01</a:t>
            </a:r>
          </a:p>
        </p:txBody>
      </p:sp>
      <p:sp>
        <p:nvSpPr>
          <p:cNvPr id="23" name="TextBox 22"/>
          <p:cNvSpPr txBox="1"/>
          <p:nvPr/>
        </p:nvSpPr>
        <p:spPr>
          <a:xfrm>
            <a:off x="1028700" y="2445512"/>
            <a:ext cx="4034367" cy="43688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24" name="Connector 23"/>
          <p:cNvCxnSpPr/>
          <p:nvPr/>
        </p:nvCxnSpPr>
        <p:spPr>
          <a:xfrm>
            <a:off x="609600" y="3042412"/>
            <a:ext cx="4453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9600" y="3144012"/>
            <a:ext cx="381000" cy="2286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02</a:t>
            </a:r>
          </a:p>
        </p:txBody>
      </p:sp>
      <p:sp>
        <p:nvSpPr>
          <p:cNvPr id="26" name="TextBox 25"/>
          <p:cNvSpPr txBox="1"/>
          <p:nvPr/>
        </p:nvSpPr>
        <p:spPr>
          <a:xfrm>
            <a:off x="1028700" y="3144012"/>
            <a:ext cx="4034367" cy="43688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27" name="Connector 26"/>
          <p:cNvCxnSpPr/>
          <p:nvPr/>
        </p:nvCxnSpPr>
        <p:spPr>
          <a:xfrm>
            <a:off x="609600" y="3740912"/>
            <a:ext cx="4453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9600" y="3842512"/>
            <a:ext cx="381000" cy="2286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03</a:t>
            </a:r>
          </a:p>
        </p:txBody>
      </p:sp>
      <p:sp>
        <p:nvSpPr>
          <p:cNvPr id="29" name="TextBox 28"/>
          <p:cNvSpPr txBox="1"/>
          <p:nvPr/>
        </p:nvSpPr>
        <p:spPr>
          <a:xfrm>
            <a:off x="1028700" y="3842512"/>
            <a:ext cx="4034367" cy="43688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sp>
        <p:nvSpPr>
          <p:cNvPr id="30" name="TextBox 29"/>
          <p:cNvSpPr txBox="1"/>
          <p:nvPr/>
        </p:nvSpPr>
        <p:spPr>
          <a:xfrm>
            <a:off x="6197600" y="2089912"/>
            <a:ext cx="4453467"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GRUPO 02</a:t>
            </a:r>
          </a:p>
        </p:txBody>
      </p:sp>
      <p:cxnSp>
        <p:nvCxnSpPr>
          <p:cNvPr id="31" name="Connector 30"/>
          <p:cNvCxnSpPr/>
          <p:nvPr/>
        </p:nvCxnSpPr>
        <p:spPr>
          <a:xfrm>
            <a:off x="6197600" y="2343912"/>
            <a:ext cx="4453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197600" y="2445512"/>
            <a:ext cx="381000" cy="2286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01</a:t>
            </a:r>
          </a:p>
        </p:txBody>
      </p:sp>
      <p:sp>
        <p:nvSpPr>
          <p:cNvPr id="33" name="TextBox 32"/>
          <p:cNvSpPr txBox="1"/>
          <p:nvPr/>
        </p:nvSpPr>
        <p:spPr>
          <a:xfrm>
            <a:off x="6616700" y="2445512"/>
            <a:ext cx="4034367" cy="43688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34" name="Connector 33"/>
          <p:cNvCxnSpPr/>
          <p:nvPr/>
        </p:nvCxnSpPr>
        <p:spPr>
          <a:xfrm>
            <a:off x="6197600" y="3042412"/>
            <a:ext cx="4453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197600" y="3144012"/>
            <a:ext cx="381000" cy="2286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02</a:t>
            </a:r>
          </a:p>
        </p:txBody>
      </p:sp>
      <p:sp>
        <p:nvSpPr>
          <p:cNvPr id="36" name="TextBox 35"/>
          <p:cNvSpPr txBox="1"/>
          <p:nvPr/>
        </p:nvSpPr>
        <p:spPr>
          <a:xfrm>
            <a:off x="6616700" y="3144012"/>
            <a:ext cx="4034367" cy="43688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37" name="Connector 36"/>
          <p:cNvCxnSpPr/>
          <p:nvPr/>
        </p:nvCxnSpPr>
        <p:spPr>
          <a:xfrm>
            <a:off x="6197600" y="3740912"/>
            <a:ext cx="4453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197600" y="3842512"/>
            <a:ext cx="381000" cy="2286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03</a:t>
            </a:r>
          </a:p>
        </p:txBody>
      </p:sp>
      <p:sp>
        <p:nvSpPr>
          <p:cNvPr id="39" name="TextBox 38"/>
          <p:cNvSpPr txBox="1"/>
          <p:nvPr/>
        </p:nvSpPr>
        <p:spPr>
          <a:xfrm>
            <a:off x="6616700" y="3842512"/>
            <a:ext cx="4034367" cy="43688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40" name="Connector 39"/>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5" name="TextBox 44"/>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6" name="TextBox 45"/>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B03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089912"/>
            <a:ext cx="4453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2229612"/>
            <a:ext cx="4453467" cy="254000"/>
          </a:xfrm>
          <a:prstGeom prst="rect">
            <a:avLst/>
          </a:prstGeom>
          <a:noFill/>
          <a:effectLst/>
        </p:spPr>
        <p:txBody>
          <a:bodyPr wrap="square" lIns="0" rIns="0" tIns="0" bIns="0" anchor="t"/>
          <a:lstStyle/>
          <a:p>
            <a:pPr algn="l">
              <a:lnSpc>
                <a:spcPts val="2160"/>
              </a:lnSpc>
            </a:pPr>
            <a:r>
              <a:rPr sz="1800" b="1" spc="-18" dirty="0">
                <a:solidFill>
                  <a:srgbClr val="161616"/>
                </a:solidFill>
                <a:latin typeface="Inter"/>
                <a:cs typeface="Inter"/>
              </a:rPr>
              <a:t>Lorem Ipsum Dolor</a:t>
            </a:r>
          </a:p>
        </p:txBody>
      </p:sp>
      <p:sp>
        <p:nvSpPr>
          <p:cNvPr id="22" name="TextBox 21"/>
          <p:cNvSpPr txBox="1"/>
          <p:nvPr/>
        </p:nvSpPr>
        <p:spPr>
          <a:xfrm>
            <a:off x="609600" y="2623312"/>
            <a:ext cx="4453467" cy="1905000"/>
          </a:xfrm>
          <a:prstGeom prst="rect">
            <a:avLst/>
          </a:prstGeom>
          <a:noFill/>
          <a:effectLst/>
        </p:spPr>
        <p:txBody>
          <a:bodyPr wrap="square" lIns="0" rIns="0" tIns="0" bIns="0" anchor="t"/>
          <a:lstStyle/>
          <a:p>
            <a:pPr algn="l">
              <a:lnSpc>
                <a:spcPts val="1860"/>
              </a:lnSpc>
            </a:pPr>
            <a:r>
              <a:rPr sz="1200" b="0" dirty="0">
                <a:solidFill>
                  <a:srgbClr val="525252"/>
                </a:solidFill>
                <a:latin typeface="Inter"/>
                <a:cs typeface="Inter"/>
              </a:rPr>
              <a:t>Lorem ipsum dolor sit amet, consectetur adipiscing elit, sed do eiusmod tempor incididunt ut labore et dolore magna aliqua. Ut enim ad minim veniam, quis nostrud exercitation ullamco laboris nisi ut aliquip ex ea commodo consequat.</a:t>
            </a:r>
          </a:p>
        </p:txBody>
      </p:sp>
      <p:cxnSp>
        <p:nvCxnSpPr>
          <p:cNvPr id="23" name="Connector 22"/>
          <p:cNvCxnSpPr/>
          <p:nvPr/>
        </p:nvCxnSpPr>
        <p:spPr>
          <a:xfrm>
            <a:off x="6197600" y="2089912"/>
            <a:ext cx="4453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97600" y="2229612"/>
            <a:ext cx="4453467" cy="254000"/>
          </a:xfrm>
          <a:prstGeom prst="rect">
            <a:avLst/>
          </a:prstGeom>
          <a:noFill/>
          <a:effectLst/>
        </p:spPr>
        <p:txBody>
          <a:bodyPr wrap="square" lIns="0" rIns="0" tIns="0" bIns="0" anchor="t"/>
          <a:lstStyle/>
          <a:p>
            <a:pPr algn="l">
              <a:lnSpc>
                <a:spcPts val="2160"/>
              </a:lnSpc>
            </a:pPr>
            <a:r>
              <a:rPr sz="1800" b="1" spc="-18" dirty="0">
                <a:solidFill>
                  <a:srgbClr val="161616"/>
                </a:solidFill>
                <a:latin typeface="Inter"/>
                <a:cs typeface="Inter"/>
              </a:rPr>
              <a:t>Lorem Ipsum Dolor</a:t>
            </a:r>
          </a:p>
        </p:txBody>
      </p:sp>
      <p:sp>
        <p:nvSpPr>
          <p:cNvPr id="25" name="TextBox 24"/>
          <p:cNvSpPr txBox="1"/>
          <p:nvPr/>
        </p:nvSpPr>
        <p:spPr>
          <a:xfrm>
            <a:off x="6197600" y="2623312"/>
            <a:ext cx="4453467" cy="1905000"/>
          </a:xfrm>
          <a:prstGeom prst="rect">
            <a:avLst/>
          </a:prstGeom>
          <a:noFill/>
          <a:effectLst/>
        </p:spPr>
        <p:txBody>
          <a:bodyPr wrap="square" lIns="0" rIns="0" tIns="0" bIns="0" anchor="t"/>
          <a:lstStyle/>
          <a:p>
            <a:pPr algn="l">
              <a:lnSpc>
                <a:spcPts val="1860"/>
              </a:lnSpc>
            </a:pPr>
            <a:r>
              <a:rPr sz="1200" b="0" dirty="0">
                <a:solidFill>
                  <a:srgbClr val="525252"/>
                </a:solidFill>
                <a:latin typeface="Inter"/>
                <a:cs typeface="Inter"/>
              </a:rPr>
              <a:t>Lorem ipsum dolor sit amet, consectetur adipiscing elit, sed do eiusmod tempor incididunt ut labore et dolore magna aliqua. Ut enim ad minim veniam, quis nostrud exercitation ullamco laboris nisi ut aliquip ex ea commodo consequat.</a:t>
            </a:r>
          </a:p>
        </p:txBody>
      </p:sp>
      <p:sp>
        <p:nvSpPr>
          <p:cNvPr id="26" name="TextBox 25"/>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27" name="Connector 26"/>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2" name="TextBox 3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3" name="TextBox 3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B04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089912"/>
            <a:ext cx="3522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2229612"/>
            <a:ext cx="3522133" cy="165100"/>
          </a:xfrm>
          <a:prstGeom prst="rect">
            <a:avLst/>
          </a:prstGeom>
          <a:noFill/>
          <a:effectLst/>
        </p:spPr>
        <p:txBody>
          <a:bodyPr wrap="square" lIns="0" rIns="0" tIns="0" bIns="0" anchor="t"/>
          <a:lstStyle/>
          <a:p>
            <a:pPr algn="l">
              <a:lnSpc>
                <a:spcPts val="900"/>
              </a:lnSpc>
            </a:pPr>
            <a:r>
              <a:rPr sz="900" b="1" spc="90" dirty="0">
                <a:solidFill>
                  <a:srgbClr val="5B4BF5"/>
                </a:solidFill>
                <a:latin typeface="Inter"/>
                <a:cs typeface="Inter"/>
              </a:rPr>
              <a:t>01</a:t>
            </a:r>
          </a:p>
        </p:txBody>
      </p:sp>
      <p:sp>
        <p:nvSpPr>
          <p:cNvPr id="22" name="TextBox 21"/>
          <p:cNvSpPr txBox="1"/>
          <p:nvPr/>
        </p:nvSpPr>
        <p:spPr>
          <a:xfrm>
            <a:off x="609600" y="2458212"/>
            <a:ext cx="3522133" cy="508000"/>
          </a:xfrm>
          <a:prstGeom prst="rect">
            <a:avLst/>
          </a:prstGeom>
          <a:noFill/>
          <a:effectLst/>
        </p:spPr>
        <p:txBody>
          <a:bodyPr wrap="square" lIns="0" rIns="0" tIns="0" bIns="0" anchor="t"/>
          <a:lstStyle/>
          <a:p>
            <a:pPr algn="l">
              <a:lnSpc>
                <a:spcPts val="1725"/>
              </a:lnSpc>
            </a:pPr>
            <a:r>
              <a:rPr sz="1500" b="1" spc="-15" dirty="0">
                <a:solidFill>
                  <a:srgbClr val="161616"/>
                </a:solidFill>
                <a:latin typeface="Inter"/>
                <a:cs typeface="Inter"/>
              </a:rPr>
              <a:t>Lorem Ipsum Dolor</a:t>
            </a:r>
          </a:p>
        </p:txBody>
      </p:sp>
      <p:sp>
        <p:nvSpPr>
          <p:cNvPr id="23" name="TextBox 22"/>
          <p:cNvSpPr txBox="1"/>
          <p:nvPr/>
        </p:nvSpPr>
        <p:spPr>
          <a:xfrm>
            <a:off x="609600" y="3055112"/>
            <a:ext cx="3522133" cy="1651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24" name="Connector 23"/>
          <p:cNvCxnSpPr/>
          <p:nvPr/>
        </p:nvCxnSpPr>
        <p:spPr>
          <a:xfrm>
            <a:off x="4334933" y="2089912"/>
            <a:ext cx="3522134"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334933" y="2229612"/>
            <a:ext cx="3522133" cy="165100"/>
          </a:xfrm>
          <a:prstGeom prst="rect">
            <a:avLst/>
          </a:prstGeom>
          <a:noFill/>
          <a:effectLst/>
        </p:spPr>
        <p:txBody>
          <a:bodyPr wrap="square" lIns="0" rIns="0" tIns="0" bIns="0" anchor="t"/>
          <a:lstStyle/>
          <a:p>
            <a:pPr algn="l">
              <a:lnSpc>
                <a:spcPts val="900"/>
              </a:lnSpc>
            </a:pPr>
            <a:r>
              <a:rPr sz="900" b="1" spc="90" dirty="0">
                <a:solidFill>
                  <a:srgbClr val="8D8D8D"/>
                </a:solidFill>
                <a:latin typeface="Inter"/>
                <a:cs typeface="Inter"/>
              </a:rPr>
              <a:t>02</a:t>
            </a:r>
          </a:p>
        </p:txBody>
      </p:sp>
      <p:sp>
        <p:nvSpPr>
          <p:cNvPr id="26" name="TextBox 25"/>
          <p:cNvSpPr txBox="1"/>
          <p:nvPr/>
        </p:nvSpPr>
        <p:spPr>
          <a:xfrm>
            <a:off x="4334933" y="2458212"/>
            <a:ext cx="3522133" cy="508000"/>
          </a:xfrm>
          <a:prstGeom prst="rect">
            <a:avLst/>
          </a:prstGeom>
          <a:noFill/>
          <a:effectLst/>
        </p:spPr>
        <p:txBody>
          <a:bodyPr wrap="square" lIns="0" rIns="0" tIns="0" bIns="0" anchor="t"/>
          <a:lstStyle/>
          <a:p>
            <a:pPr algn="l">
              <a:lnSpc>
                <a:spcPts val="1725"/>
              </a:lnSpc>
            </a:pPr>
            <a:r>
              <a:rPr sz="1500" b="1" spc="-15" dirty="0">
                <a:solidFill>
                  <a:srgbClr val="161616"/>
                </a:solidFill>
                <a:latin typeface="Inter"/>
                <a:cs typeface="Inter"/>
              </a:rPr>
              <a:t>Lorem Ipsum Dolor</a:t>
            </a:r>
          </a:p>
        </p:txBody>
      </p:sp>
      <p:sp>
        <p:nvSpPr>
          <p:cNvPr id="27" name="TextBox 26"/>
          <p:cNvSpPr txBox="1"/>
          <p:nvPr/>
        </p:nvSpPr>
        <p:spPr>
          <a:xfrm>
            <a:off x="4334933" y="3055112"/>
            <a:ext cx="3522133" cy="1651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28" name="Connector 27"/>
          <p:cNvCxnSpPr/>
          <p:nvPr/>
        </p:nvCxnSpPr>
        <p:spPr>
          <a:xfrm>
            <a:off x="8060267" y="2089912"/>
            <a:ext cx="3522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060267" y="2229612"/>
            <a:ext cx="3522133" cy="165100"/>
          </a:xfrm>
          <a:prstGeom prst="rect">
            <a:avLst/>
          </a:prstGeom>
          <a:noFill/>
          <a:effectLst/>
        </p:spPr>
        <p:txBody>
          <a:bodyPr wrap="square" lIns="0" rIns="0" tIns="0" bIns="0" anchor="t"/>
          <a:lstStyle/>
          <a:p>
            <a:pPr algn="l">
              <a:lnSpc>
                <a:spcPts val="900"/>
              </a:lnSpc>
            </a:pPr>
            <a:r>
              <a:rPr sz="900" b="1" spc="90" dirty="0">
                <a:solidFill>
                  <a:srgbClr val="8D8D8D"/>
                </a:solidFill>
                <a:latin typeface="Inter"/>
                <a:cs typeface="Inter"/>
              </a:rPr>
              <a:t>03</a:t>
            </a:r>
          </a:p>
        </p:txBody>
      </p:sp>
      <p:sp>
        <p:nvSpPr>
          <p:cNvPr id="30" name="TextBox 29"/>
          <p:cNvSpPr txBox="1"/>
          <p:nvPr/>
        </p:nvSpPr>
        <p:spPr>
          <a:xfrm>
            <a:off x="8060267" y="2458212"/>
            <a:ext cx="3522133" cy="508000"/>
          </a:xfrm>
          <a:prstGeom prst="rect">
            <a:avLst/>
          </a:prstGeom>
          <a:noFill/>
          <a:effectLst/>
        </p:spPr>
        <p:txBody>
          <a:bodyPr wrap="square" lIns="0" rIns="0" tIns="0" bIns="0" anchor="t"/>
          <a:lstStyle/>
          <a:p>
            <a:pPr algn="l">
              <a:lnSpc>
                <a:spcPts val="1725"/>
              </a:lnSpc>
            </a:pPr>
            <a:r>
              <a:rPr sz="1500" b="1" spc="-15" dirty="0">
                <a:solidFill>
                  <a:srgbClr val="161616"/>
                </a:solidFill>
                <a:latin typeface="Inter"/>
                <a:cs typeface="Inter"/>
              </a:rPr>
              <a:t>Lorem Ipsum Dolor</a:t>
            </a:r>
          </a:p>
        </p:txBody>
      </p:sp>
      <p:sp>
        <p:nvSpPr>
          <p:cNvPr id="31" name="TextBox 30"/>
          <p:cNvSpPr txBox="1"/>
          <p:nvPr/>
        </p:nvSpPr>
        <p:spPr>
          <a:xfrm>
            <a:off x="8060267" y="3055112"/>
            <a:ext cx="3522133" cy="1651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32" name="Connector 3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7" name="TextBox 3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8" name="TextBox 3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B05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4198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13970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CONCEPTO CLAVE</a:t>
            </a:r>
          </a:p>
        </p:txBody>
      </p:sp>
      <p:sp>
        <p:nvSpPr>
          <p:cNvPr id="4" name="TextBox 3"/>
          <p:cNvSpPr txBox="1"/>
          <p:nvPr/>
        </p:nvSpPr>
        <p:spPr>
          <a:xfrm>
            <a:off x="609600" y="1663700"/>
            <a:ext cx="6316133" cy="825500"/>
          </a:xfrm>
          <a:prstGeom prst="rect">
            <a:avLst/>
          </a:prstGeom>
          <a:noFill/>
          <a:effectLst/>
        </p:spPr>
        <p:txBody>
          <a:bodyPr wrap="square" lIns="0" rIns="0" tIns="0" bIns="0" anchor="t"/>
          <a:lstStyle/>
          <a:p>
            <a:pPr algn="l">
              <a:lnSpc>
                <a:spcPts val="4800"/>
              </a:lnSpc>
            </a:pPr>
            <a:r>
              <a:rPr sz="4800" b="1" spc="-168" dirty="0">
                <a:solidFill>
                  <a:srgbClr val="161616"/>
                </a:solidFill>
                <a:latin typeface="Inter"/>
                <a:cs typeface="Inter"/>
              </a:rPr>
              <a:t>Lorem Ipsum Dolor</a:t>
            </a:r>
          </a:p>
        </p:txBody>
      </p:sp>
      <p:sp>
        <p:nvSpPr>
          <p:cNvPr id="5" name="TextBox 4"/>
          <p:cNvSpPr txBox="1"/>
          <p:nvPr/>
        </p:nvSpPr>
        <p:spPr>
          <a:xfrm>
            <a:off x="609600" y="2540000"/>
            <a:ext cx="4453467" cy="254000"/>
          </a:xfrm>
          <a:prstGeom prst="rect">
            <a:avLst/>
          </a:prstGeom>
          <a:noFill/>
          <a:effectLst/>
        </p:spPr>
        <p:txBody>
          <a:bodyPr wrap="square" lIns="0" rIns="0" tIns="0" bIns="0" anchor="t"/>
          <a:lstStyle/>
          <a:p>
            <a:pPr algn="l">
              <a:lnSpc>
                <a:spcPts val="1439"/>
              </a:lnSpc>
            </a:pPr>
            <a:r>
              <a:rPr sz="1200" b="0" dirty="0">
                <a:solidFill>
                  <a:srgbClr val="8D8D8D"/>
                </a:solidFill>
                <a:latin typeface="Inter"/>
                <a:cs typeface="Inter"/>
              </a:rPr>
              <a:t>/ˈlɔː.rəm ˈɪp.səm/  ·  sustantivo</a:t>
            </a:r>
          </a:p>
        </p:txBody>
      </p:sp>
      <p:cxnSp>
        <p:nvCxnSpPr>
          <p:cNvPr id="6" name="Connector 5"/>
          <p:cNvCxnSpPr/>
          <p:nvPr/>
        </p:nvCxnSpPr>
        <p:spPr>
          <a:xfrm>
            <a:off x="609600" y="2984500"/>
            <a:ext cx="6316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3175000"/>
            <a:ext cx="6316133" cy="1270000"/>
          </a:xfrm>
          <a:prstGeom prst="rect">
            <a:avLst/>
          </a:prstGeom>
          <a:noFill/>
          <a:effectLst/>
        </p:spPr>
        <p:txBody>
          <a:bodyPr wrap="square" lIns="0" rIns="0" tIns="0" bIns="0" anchor="t"/>
          <a:lstStyle/>
          <a:p>
            <a:pPr algn="l">
              <a:lnSpc>
                <a:spcPts val="2520"/>
              </a:lnSpc>
            </a:pPr>
            <a:r>
              <a:rPr sz="1800" b="0" dirty="0">
                <a:solidFill>
                  <a:srgbClr val="525252"/>
                </a:solidFill>
                <a:latin typeface="Inter"/>
                <a:cs typeface="Inter"/>
              </a:rPr>
              <a:t>Lorem ipsum dolor sit amet, consectetur adipiscing elit, sed do eiusmod tempor incididunt ut labore et dolore magna aliqua.</a:t>
            </a:r>
          </a:p>
        </p:txBody>
      </p:sp>
      <p:sp>
        <p:nvSpPr>
          <p:cNvPr id="8" name="sombra"/>
          <p:cNvSpPr/>
          <p:nvPr/>
        </p:nvSpPr>
        <p:spPr>
          <a:xfrm>
            <a:off x="8149167" y="1752600"/>
            <a:ext cx="3433233" cy="2540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060267" y="1663700"/>
            <a:ext cx="3433233" cy="2540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76167" y="1905000"/>
            <a:ext cx="3090333"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EN CLASE</a:t>
            </a:r>
          </a:p>
        </p:txBody>
      </p:sp>
      <p:sp>
        <p:nvSpPr>
          <p:cNvPr id="11" name="TextBox 10"/>
          <p:cNvSpPr txBox="1"/>
          <p:nvPr/>
        </p:nvSpPr>
        <p:spPr>
          <a:xfrm>
            <a:off x="8276167" y="2184400"/>
            <a:ext cx="3090333" cy="1778000"/>
          </a:xfrm>
          <a:prstGeom prst="rect">
            <a:avLst/>
          </a:prstGeom>
          <a:noFill/>
          <a:effectLst/>
        </p:spPr>
        <p:txBody>
          <a:bodyPr wrap="square" lIns="0" rIns="0" tIns="0" bIns="0" anchor="t"/>
          <a:lstStyle/>
          <a:p>
            <a:pPr algn="l">
              <a:lnSpc>
                <a:spcPts val="1800"/>
              </a:lnSpc>
            </a:pPr>
            <a:r>
              <a:rPr sz="1200" b="0" dirty="0">
                <a:solidFill>
                  <a:srgbClr val="161616"/>
                </a:solidFill>
                <a:latin typeface="Inter"/>
                <a:cs typeface="Inter"/>
              </a:rPr>
              <a:t>Lorem ipsum dolor sit amet, consectetur adipiscing elit, sed do eiusmod tempor incididunt ut labore et dolore magna aliqua.</a:t>
            </a:r>
          </a:p>
        </p:txBody>
      </p:sp>
      <p:sp>
        <p:nvSpPr>
          <p:cNvPr id="12" name="TextBox 11"/>
          <p:cNvSpPr txBox="1"/>
          <p:nvPr/>
        </p:nvSpPr>
        <p:spPr>
          <a:xfrm>
            <a:off x="609600" y="4572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13" name="Connector 12"/>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4" name="Freeform 13"/>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8" name="TextBox 17"/>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19" name="TextBox 18"/>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B06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2089912"/>
            <a:ext cx="6316133" cy="1905000"/>
          </a:xfrm>
          <a:prstGeom prst="rect">
            <a:avLst/>
          </a:prstGeom>
          <a:noFill/>
          <a:effectLst/>
        </p:spPr>
        <p:txBody>
          <a:bodyPr wrap="square" lIns="0" rIns="0" tIns="0" bIns="0" anchor="t"/>
          <a:lstStyle/>
          <a:p>
            <a:pPr algn="l">
              <a:lnSpc>
                <a:spcPts val="2170"/>
              </a:lnSpc>
            </a:pPr>
            <a:r>
              <a:rPr sz="1400" b="0" dirty="0">
                <a:solidFill>
                  <a:srgbClr val="525252"/>
                </a:solidFill>
                <a:latin typeface="Inter"/>
                <a:cs typeface="Inter"/>
              </a:rPr>
              <a:t>Lorem ipsum dolor sit amet, consectetur adipiscing elit, sed do eiusmod tempor incididunt ut labore et dolore magna aliqua. Ut enim ad minim veniam, quis nostrud exercitation ullamco laboris nisi ut aliquip ex ea commodo consequat.</a:t>
            </a:r>
          </a:p>
        </p:txBody>
      </p:sp>
      <p:sp>
        <p:nvSpPr>
          <p:cNvPr id="21" name="Rectangle 20"/>
          <p:cNvSpPr/>
          <p:nvPr/>
        </p:nvSpPr>
        <p:spPr>
          <a:xfrm>
            <a:off x="8060267" y="2026412"/>
            <a:ext cx="3522133" cy="2413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60267" y="2026412"/>
            <a:ext cx="31750" cy="2413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50767" y="2229612"/>
            <a:ext cx="3141133"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NOTA AL MARGEN</a:t>
            </a:r>
          </a:p>
        </p:txBody>
      </p:sp>
      <p:sp>
        <p:nvSpPr>
          <p:cNvPr id="24" name="TextBox 23"/>
          <p:cNvSpPr txBox="1"/>
          <p:nvPr/>
        </p:nvSpPr>
        <p:spPr>
          <a:xfrm>
            <a:off x="8250767" y="2483612"/>
            <a:ext cx="3141133" cy="1778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5" name="TextBox 24"/>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26" name="Connector 25"/>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1" name="TextBox 30"/>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2" name="TextBox 31"/>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B07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472267" y="2159000"/>
            <a:ext cx="7247467" cy="1905000"/>
          </a:xfrm>
          <a:prstGeom prst="rect">
            <a:avLst/>
          </a:prstGeom>
          <a:noFill/>
          <a:effectLst/>
        </p:spPr>
        <p:txBody>
          <a:bodyPr wrap="square" lIns="0" rIns="0" tIns="0" bIns="0" anchor="t"/>
          <a:lstStyle/>
          <a:p>
            <a:pPr algn="ctr">
              <a:lnSpc>
                <a:spcPts val="5280"/>
              </a:lnSpc>
            </a:pPr>
            <a:r>
              <a:rPr sz="4800" b="1" spc="-144" dirty="0">
                <a:solidFill>
                  <a:srgbClr val="FFFFFF"/>
                </a:solidFill>
                <a:latin typeface="Inter"/>
                <a:cs typeface="Inter"/>
              </a:rPr>
              <a:t>«Lorem ipsum dolor sit amet consectetur adipiscing elit sed»</a:t>
            </a:r>
          </a:p>
        </p:txBody>
      </p:sp>
      <p:cxnSp>
        <p:nvCxnSpPr>
          <p:cNvPr id="4" name="Connector 3"/>
          <p:cNvCxnSpPr/>
          <p:nvPr/>
        </p:nvCxnSpPr>
        <p:spPr>
          <a:xfrm>
            <a:off x="5715000" y="4445000"/>
            <a:ext cx="762000" cy="0"/>
          </a:xfrm>
          <a:prstGeom prst="line">
            <a:avLst/>
          </a:prstGeom>
          <a:ln w="19050">
            <a:solidFill>
              <a:srgbClr val="5B4BF5"/>
            </a:solidFill>
            <a:miter lim="800000"/>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472267" y="4660900"/>
            <a:ext cx="7247467" cy="254000"/>
          </a:xfrm>
          <a:prstGeom prst="rect">
            <a:avLst/>
          </a:prstGeom>
          <a:noFill/>
          <a:effectLst/>
        </p:spPr>
        <p:txBody>
          <a:bodyPr wrap="square" lIns="0" rIns="0" tIns="0" bIns="0" anchor="t"/>
          <a:lstStyle/>
          <a:p>
            <a:pPr algn="ctr">
              <a:lnSpc>
                <a:spcPts val="900"/>
              </a:lnSpc>
            </a:pPr>
            <a:r>
              <a:rPr sz="900" b="1" spc="144" dirty="0">
                <a:solidFill>
                  <a:srgbClr val="9A9A9A"/>
                </a:solidFill>
                <a:latin typeface="Inter"/>
                <a:cs typeface="Inter"/>
              </a:rPr>
              <a:t>LOREM IPSUM · DOLOR SIT</a:t>
            </a:r>
          </a:p>
        </p:txBody>
      </p:sp>
      <p:cxnSp>
        <p:nvCxnSpPr>
          <p:cNvPr id="6" name="Connector 5"/>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7" name="Freeform 6"/>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11" name="TextBox 10"/>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MÓDULO 00 · 00</a:t>
            </a:r>
          </a:p>
        </p:txBody>
      </p:sp>
      <p:sp>
        <p:nvSpPr>
          <p:cNvPr id="12" name="TextBox 11"/>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B08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PARA EMPEZAR</a:t>
            </a:r>
          </a:p>
        </p:txBody>
      </p:sp>
      <p:sp>
        <p:nvSpPr>
          <p:cNvPr id="4" name="TextBox 3"/>
          <p:cNvSpPr txBox="1"/>
          <p:nvPr/>
        </p:nvSpPr>
        <p:spPr>
          <a:xfrm>
            <a:off x="609600" y="1879600"/>
            <a:ext cx="8178800" cy="1651000"/>
          </a:xfrm>
          <a:prstGeom prst="rect">
            <a:avLst/>
          </a:prstGeom>
          <a:noFill/>
          <a:effectLst/>
        </p:spPr>
        <p:txBody>
          <a:bodyPr wrap="square" lIns="0" rIns="0" tIns="0" bIns="0" anchor="t"/>
          <a:lstStyle/>
          <a:p>
            <a:pPr algn="l">
              <a:lnSpc>
                <a:spcPts val="5040"/>
              </a:lnSpc>
            </a:pPr>
            <a:r>
              <a:rPr sz="4800" b="1" spc="-144" dirty="0">
                <a:solidFill>
                  <a:srgbClr val="161616"/>
                </a:solidFill>
                <a:latin typeface="Inter"/>
                <a:cs typeface="Inter"/>
              </a:rPr>
              <a:t>¿Lorem ipsum dolor sit amet consectetur?</a:t>
            </a:r>
          </a:p>
        </p:txBody>
      </p:sp>
      <p:cxnSp>
        <p:nvCxnSpPr>
          <p:cNvPr id="5" name="Connector 4"/>
          <p:cNvCxnSpPr/>
          <p:nvPr/>
        </p:nvCxnSpPr>
        <p:spPr>
          <a:xfrm>
            <a:off x="609600" y="3810000"/>
            <a:ext cx="8178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4000500"/>
            <a:ext cx="5384800" cy="571500"/>
          </a:xfrm>
          <a:prstGeom prst="rect">
            <a:avLst/>
          </a:prstGeom>
          <a:noFill/>
          <a:effectLst/>
        </p:spPr>
        <p:txBody>
          <a:bodyPr wrap="square" lIns="0" rIns="0" tIns="0" bIns="0" anchor="t"/>
          <a:lstStyle/>
          <a:p>
            <a:pPr algn="l">
              <a:lnSpc>
                <a:spcPts val="2100"/>
              </a:lnSpc>
            </a:pPr>
            <a:r>
              <a:rPr sz="1400" b="0" dirty="0">
                <a:solidFill>
                  <a:srgbClr val="525252"/>
                </a:solidFill>
                <a:latin typeface="Inter"/>
                <a:cs typeface="Inter"/>
              </a:rPr>
              <a:t>Lorem ipsum dolor sit amet, consectetur adipiscing elit.</a:t>
            </a:r>
          </a:p>
        </p:txBody>
      </p:sp>
      <p:sp>
        <p:nvSpPr>
          <p:cNvPr id="7" name="Rectangle 6"/>
          <p:cNvSpPr/>
          <p:nvPr/>
        </p:nvSpPr>
        <p:spPr>
          <a:xfrm>
            <a:off x="8991600" y="3810000"/>
            <a:ext cx="2590800" cy="1206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156700" y="4000500"/>
            <a:ext cx="22606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RESPONDE EN</a:t>
            </a:r>
          </a:p>
        </p:txBody>
      </p:sp>
      <p:sp>
        <p:nvSpPr>
          <p:cNvPr id="9" name="TextBox 8"/>
          <p:cNvSpPr txBox="1"/>
          <p:nvPr/>
        </p:nvSpPr>
        <p:spPr>
          <a:xfrm>
            <a:off x="9156700" y="4241800"/>
            <a:ext cx="2260600" cy="381000"/>
          </a:xfrm>
          <a:prstGeom prst="rect">
            <a:avLst/>
          </a:prstGeom>
          <a:noFill/>
          <a:effectLst/>
        </p:spPr>
        <p:txBody>
          <a:bodyPr wrap="square" lIns="0" rIns="0" tIns="0" bIns="0" anchor="t"/>
          <a:lstStyle/>
          <a:p>
            <a:pPr algn="l">
              <a:lnSpc>
                <a:spcPts val="2200"/>
              </a:lnSpc>
            </a:pPr>
            <a:r>
              <a:rPr sz="2200" b="1" spc="-66" dirty="0">
                <a:solidFill>
                  <a:srgbClr val="161616"/>
                </a:solidFill>
                <a:latin typeface="Inter"/>
                <a:cs typeface="Inter"/>
              </a:rPr>
              <a:t>2 min</a:t>
            </a:r>
          </a:p>
        </p:txBody>
      </p:sp>
      <p:sp>
        <p:nvSpPr>
          <p:cNvPr id="10" name="TextBox 9"/>
          <p:cNvSpPr txBox="1"/>
          <p:nvPr/>
        </p:nvSpPr>
        <p:spPr>
          <a:xfrm>
            <a:off x="9156700" y="4635500"/>
            <a:ext cx="2260600" cy="254000"/>
          </a:xfrm>
          <a:prstGeom prst="rect">
            <a:avLst/>
          </a:prstGeom>
          <a:noFill/>
          <a:effectLst/>
        </p:spPr>
        <p:txBody>
          <a:bodyPr wrap="square" lIns="0" rIns="0" tIns="0" bIns="0" anchor="t"/>
          <a:lstStyle/>
          <a:p>
            <a:pPr algn="l">
              <a:lnSpc>
                <a:spcPts val="1170"/>
              </a:lnSpc>
            </a:pPr>
            <a:r>
              <a:rPr sz="900" b="0" dirty="0">
                <a:solidFill>
                  <a:srgbClr val="6F6F6F"/>
                </a:solidFill>
                <a:latin typeface="Inter"/>
                <a:cs typeface="Inter"/>
              </a:rPr>
              <a:t>En el chat, una línea.</a:t>
            </a:r>
          </a:p>
        </p:txBody>
      </p:sp>
      <p:cxnSp>
        <p:nvCxnSpPr>
          <p:cNvPr id="11" name="Connector 1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2" name="Freeform 1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6" name="TextBox 1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17" name="TextBox 1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B09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Imagen</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Cuando la prueba es visual: captura, foto o diagrama.</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8 PLANTILLAS · C01–C08</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C01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Texto + imagen (7+5)</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Imagen + texto (5+7)</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Foto a sangre con texto</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Imagen a pantalla completa</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Galería de tres</a:t>
            </a:r>
          </a:p>
        </p:txBody>
      </p:sp>
      <p:cxnSp>
        <p:nvCxnSpPr>
          <p:cNvPr id="25" name="Connector 24"/>
          <p:cNvCxnSpPr/>
          <p:nvPr/>
        </p:nvCxnSpPr>
        <p:spPr>
          <a:xfrm>
            <a:off x="7128933" y="3429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128933" y="3517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C06</a:t>
            </a:r>
          </a:p>
        </p:txBody>
      </p:sp>
      <p:sp>
        <p:nvSpPr>
          <p:cNvPr id="27" name="TextBox 26"/>
          <p:cNvSpPr txBox="1"/>
          <p:nvPr/>
        </p:nvSpPr>
        <p:spPr>
          <a:xfrm>
            <a:off x="7636933" y="3505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Mosaico de cuatro</a:t>
            </a:r>
          </a:p>
        </p:txBody>
      </p:sp>
      <p:cxnSp>
        <p:nvCxnSpPr>
          <p:cNvPr id="28" name="Connector 27"/>
          <p:cNvCxnSpPr/>
          <p:nvPr/>
        </p:nvCxnSpPr>
        <p:spPr>
          <a:xfrm>
            <a:off x="7128933" y="3784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128933" y="3873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C07</a:t>
            </a:r>
          </a:p>
        </p:txBody>
      </p:sp>
      <p:sp>
        <p:nvSpPr>
          <p:cNvPr id="30" name="TextBox 29"/>
          <p:cNvSpPr txBox="1"/>
          <p:nvPr/>
        </p:nvSpPr>
        <p:spPr>
          <a:xfrm>
            <a:off x="7636933" y="3860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Antes / después</a:t>
            </a:r>
          </a:p>
        </p:txBody>
      </p:sp>
      <p:cxnSp>
        <p:nvCxnSpPr>
          <p:cNvPr id="31" name="Connector 30"/>
          <p:cNvCxnSpPr/>
          <p:nvPr/>
        </p:nvCxnSpPr>
        <p:spPr>
          <a:xfrm>
            <a:off x="7128933" y="4140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128933" y="4229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C08</a:t>
            </a:r>
          </a:p>
        </p:txBody>
      </p:sp>
      <p:sp>
        <p:nvSpPr>
          <p:cNvPr id="33" name="TextBox 32"/>
          <p:cNvSpPr txBox="1"/>
          <p:nvPr/>
        </p:nvSpPr>
        <p:spPr>
          <a:xfrm>
            <a:off x="7636933" y="4216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Captura anotada</a:t>
            </a:r>
          </a:p>
        </p:txBody>
      </p:sp>
      <p:cxnSp>
        <p:nvCxnSpPr>
          <p:cNvPr id="34" name="Connector 33"/>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39" name="TextBox 3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2528824"/>
            <a:ext cx="5384800" cy="1079500"/>
          </a:xfrm>
          <a:prstGeom prst="rect">
            <a:avLst/>
          </a:prstGeom>
          <a:noFill/>
          <a:effectLst/>
        </p:spPr>
        <p:txBody>
          <a:bodyPr wrap="square" lIns="0" rIns="0" tIns="0" bIns="0" anchor="t"/>
          <a:lstStyle/>
          <a:p>
            <a:pPr algn="l">
              <a:lnSpc>
                <a:spcPts val="2170"/>
              </a:lnSpc>
            </a:pPr>
            <a:r>
              <a:rPr sz="1400" b="0" dirty="0">
                <a:solidFill>
                  <a:srgbClr val="525252"/>
                </a:solidFill>
                <a:latin typeface="Inter"/>
                <a:cs typeface="Inter"/>
              </a:rPr>
              <a:t>Lorem ipsum dolor sit amet, consectetur adipiscing elit, sed do eiusmod tempor incididunt ut labore et dolore magna aliqua.</a:t>
            </a:r>
          </a:p>
        </p:txBody>
      </p:sp>
      <p:sp>
        <p:nvSpPr>
          <p:cNvPr id="21" name="TextBox 20"/>
          <p:cNvSpPr txBox="1"/>
          <p:nvPr/>
        </p:nvSpPr>
        <p:spPr>
          <a:xfrm>
            <a:off x="609600" y="3798824"/>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22" name="TextBox 21"/>
          <p:cNvSpPr txBox="1"/>
          <p:nvPr/>
        </p:nvSpPr>
        <p:spPr>
          <a:xfrm>
            <a:off x="838200" y="3798824"/>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3" name="TextBox 22"/>
          <p:cNvSpPr txBox="1"/>
          <p:nvPr/>
        </p:nvSpPr>
        <p:spPr>
          <a:xfrm>
            <a:off x="609600" y="4129024"/>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24" name="TextBox 23"/>
          <p:cNvSpPr txBox="1"/>
          <p:nvPr/>
        </p:nvSpPr>
        <p:spPr>
          <a:xfrm>
            <a:off x="838200" y="4129024"/>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5" name="TextBox 24"/>
          <p:cNvSpPr txBox="1"/>
          <p:nvPr/>
        </p:nvSpPr>
        <p:spPr>
          <a:xfrm>
            <a:off x="609600" y="4459224"/>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26" name="TextBox 25"/>
          <p:cNvSpPr txBox="1"/>
          <p:nvPr/>
        </p:nvSpPr>
        <p:spPr>
          <a:xfrm>
            <a:off x="838200" y="4459224"/>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7" name="Rectangle 26"/>
          <p:cNvSpPr/>
          <p:nvPr/>
        </p:nvSpPr>
        <p:spPr>
          <a:xfrm>
            <a:off x="7128933" y="1206500"/>
            <a:ext cx="4453467" cy="3937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128933" y="3048000"/>
            <a:ext cx="4453467"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 CAPTURA · 5 COL.</a:t>
            </a:r>
          </a:p>
        </p:txBody>
      </p:sp>
      <p:sp>
        <p:nvSpPr>
          <p:cNvPr id="29" name="TextBox 28"/>
          <p:cNvSpPr txBox="1"/>
          <p:nvPr/>
        </p:nvSpPr>
        <p:spPr>
          <a:xfrm>
            <a:off x="7128933" y="3251200"/>
            <a:ext cx="4453467" cy="190500"/>
          </a:xfrm>
          <a:prstGeom prst="rect">
            <a:avLst/>
          </a:prstGeom>
          <a:noFill/>
          <a:effectLst/>
        </p:spPr>
        <p:txBody>
          <a:bodyPr wrap="square" lIns="0" rIns="0" tIns="0" bIns="0" anchor="t"/>
          <a:lstStyle/>
          <a:p>
            <a:pPr algn="ctr">
              <a:lnSpc>
                <a:spcPts val="650"/>
              </a:lnSpc>
            </a:pPr>
            <a:r>
              <a:rPr sz="650" b="0" spc="65" dirty="0">
                <a:solidFill>
                  <a:srgbClr val="A8A8A8"/>
                </a:solidFill>
                <a:latin typeface="Inter"/>
                <a:cs typeface="Inter"/>
              </a:rPr>
              <a:t>700 × 620 PX</a:t>
            </a:r>
          </a:p>
        </p:txBody>
      </p:sp>
      <p:sp>
        <p:nvSpPr>
          <p:cNvPr id="30" name="TextBox 29"/>
          <p:cNvSpPr txBox="1"/>
          <p:nvPr/>
        </p:nvSpPr>
        <p:spPr>
          <a:xfrm>
            <a:off x="7128933" y="52451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LOREM IPSUM · PIE DE IMAGEN</a:t>
            </a:r>
          </a:p>
        </p:txBody>
      </p:sp>
      <p:cxnSp>
        <p:nvCxnSpPr>
          <p:cNvPr id="31" name="Connector 3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2" name="Freeform 3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6" name="TextBox 3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7" name="TextBox 3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C01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206500"/>
            <a:ext cx="4453467" cy="3937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3048000"/>
            <a:ext cx="4453467"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 CAPTURA · 5 COL.</a:t>
            </a:r>
          </a:p>
        </p:txBody>
      </p:sp>
      <p:sp>
        <p:nvSpPr>
          <p:cNvPr id="4" name="TextBox 3"/>
          <p:cNvSpPr txBox="1"/>
          <p:nvPr/>
        </p:nvSpPr>
        <p:spPr>
          <a:xfrm>
            <a:off x="609600" y="3251200"/>
            <a:ext cx="4453467" cy="190500"/>
          </a:xfrm>
          <a:prstGeom prst="rect">
            <a:avLst/>
          </a:prstGeom>
          <a:noFill/>
          <a:effectLst/>
        </p:spPr>
        <p:txBody>
          <a:bodyPr wrap="square" lIns="0" rIns="0" tIns="0" bIns="0" anchor="t"/>
          <a:lstStyle/>
          <a:p>
            <a:pPr algn="ctr">
              <a:lnSpc>
                <a:spcPts val="650"/>
              </a:lnSpc>
            </a:pPr>
            <a:r>
              <a:rPr sz="650" b="0" spc="65" dirty="0">
                <a:solidFill>
                  <a:srgbClr val="A8A8A8"/>
                </a:solidFill>
                <a:latin typeface="Inter"/>
                <a:cs typeface="Inter"/>
              </a:rPr>
              <a:t>700 × 620 PX</a:t>
            </a:r>
          </a:p>
        </p:txBody>
      </p:sp>
      <p:sp>
        <p:nvSpPr>
          <p:cNvPr id="5" name="TextBox 4"/>
          <p:cNvSpPr txBox="1"/>
          <p:nvPr/>
        </p:nvSpPr>
        <p:spPr>
          <a:xfrm>
            <a:off x="609600" y="52451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LOREM IPSUM · PIE DE IMAGEN</a:t>
            </a:r>
          </a:p>
        </p:txBody>
      </p:sp>
      <p:sp>
        <p:nvSpPr>
          <p:cNvPr id="6" name="TextBox 5"/>
          <p:cNvSpPr txBox="1"/>
          <p:nvPr/>
        </p:nvSpPr>
        <p:spPr>
          <a:xfrm>
            <a:off x="6197600" y="1651000"/>
            <a:ext cx="5384800" cy="16510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7" name="Rectangle 6"/>
          <p:cNvSpPr/>
          <p:nvPr/>
        </p:nvSpPr>
        <p:spPr>
          <a:xfrm>
            <a:off x="6057900" y="165100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197600" y="1905000"/>
            <a:ext cx="5384800"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9" name="TextBox 8"/>
          <p:cNvSpPr txBox="1"/>
          <p:nvPr/>
        </p:nvSpPr>
        <p:spPr>
          <a:xfrm>
            <a:off x="6197600" y="2870200"/>
            <a:ext cx="5384800" cy="1143000"/>
          </a:xfrm>
          <a:prstGeom prst="rect">
            <a:avLst/>
          </a:prstGeom>
          <a:noFill/>
          <a:effectLst/>
        </p:spPr>
        <p:txBody>
          <a:bodyPr wrap="square" lIns="0" rIns="0" tIns="0" bIns="0" anchor="t"/>
          <a:lstStyle/>
          <a:p>
            <a:pPr algn="l">
              <a:lnSpc>
                <a:spcPts val="2170"/>
              </a:lnSpc>
            </a:pPr>
            <a:r>
              <a:rPr sz="1400" b="0" dirty="0">
                <a:solidFill>
                  <a:srgbClr val="525252"/>
                </a:solidFill>
                <a:latin typeface="Inter"/>
                <a:cs typeface="Inter"/>
              </a:rPr>
              <a:t>Lorem ipsum dolor sit amet, consectetur adipiscing elit, sed do eiusmod tempor incididunt ut labore et dolore magna aliqua.</a:t>
            </a:r>
          </a:p>
        </p:txBody>
      </p:sp>
      <p:sp>
        <p:nvSpPr>
          <p:cNvPr id="10" name="TextBox 9"/>
          <p:cNvSpPr txBox="1"/>
          <p:nvPr/>
        </p:nvSpPr>
        <p:spPr>
          <a:xfrm>
            <a:off x="6197600" y="4191000"/>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11" name="TextBox 10"/>
          <p:cNvSpPr txBox="1"/>
          <p:nvPr/>
        </p:nvSpPr>
        <p:spPr>
          <a:xfrm>
            <a:off x="6426200" y="4191000"/>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12" name="TextBox 11"/>
          <p:cNvSpPr txBox="1"/>
          <p:nvPr/>
        </p:nvSpPr>
        <p:spPr>
          <a:xfrm>
            <a:off x="6197600" y="4521200"/>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13" name="TextBox 12"/>
          <p:cNvSpPr txBox="1"/>
          <p:nvPr/>
        </p:nvSpPr>
        <p:spPr>
          <a:xfrm>
            <a:off x="6426200" y="4521200"/>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14" name="TextBox 13"/>
          <p:cNvSpPr txBox="1"/>
          <p:nvPr/>
        </p:nvSpPr>
        <p:spPr>
          <a:xfrm>
            <a:off x="6197600" y="4851400"/>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15" name="TextBox 14"/>
          <p:cNvSpPr txBox="1"/>
          <p:nvPr/>
        </p:nvSpPr>
        <p:spPr>
          <a:xfrm>
            <a:off x="6426200" y="4851400"/>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cxnSp>
        <p:nvCxnSpPr>
          <p:cNvPr id="16" name="Connector 15"/>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21" name="TextBox 20"/>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22" name="TextBox 21"/>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C02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flipH="1">
            <a:off x="0" y="0"/>
            <a:ext cx="355600" cy="355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0" y="0"/>
            <a:ext cx="711200" cy="711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0" y="0"/>
            <a:ext cx="1066800" cy="1066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1422400" cy="1422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1778000" cy="177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0" y="0"/>
            <a:ext cx="2133600" cy="2133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0" y="0"/>
            <a:ext cx="2489200" cy="2489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0" y="0"/>
            <a:ext cx="2844800" cy="2844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0" y="0"/>
            <a:ext cx="3200400" cy="3200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0" y="0"/>
            <a:ext cx="3556000" cy="3556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0" y="0"/>
            <a:ext cx="3911600" cy="3911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0" y="0"/>
            <a:ext cx="4267200" cy="4267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0" y="0"/>
            <a:ext cx="4622800" cy="4622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0" y="0"/>
            <a:ext cx="4978400" cy="4978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0" y="0"/>
            <a:ext cx="5334000" cy="5334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0" y="0"/>
            <a:ext cx="5689600" cy="5689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0" y="0"/>
            <a:ext cx="6045200" cy="6045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0" y="0"/>
            <a:ext cx="6400800" cy="6400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0" y="0"/>
            <a:ext cx="6756400" cy="6756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54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09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65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320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676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2032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2387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2743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098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3454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8100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41656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45212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48768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5232400" y="0"/>
            <a:ext cx="6858000" cy="685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588000" y="254000"/>
            <a:ext cx="6604000" cy="6604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943600" y="609600"/>
            <a:ext cx="6248400" cy="6248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299200" y="965200"/>
            <a:ext cx="5892800" cy="5892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654800" y="1320800"/>
            <a:ext cx="5537200" cy="5537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7010400" y="1676400"/>
            <a:ext cx="5181600" cy="5181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366000" y="2032000"/>
            <a:ext cx="4826000" cy="4826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721600" y="2387600"/>
            <a:ext cx="4470400" cy="4470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8077200" y="2743200"/>
            <a:ext cx="4114800" cy="4114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432800" y="3098800"/>
            <a:ext cx="3759200" cy="3759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8788400" y="3454400"/>
            <a:ext cx="3403600" cy="3403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9144000" y="3810000"/>
            <a:ext cx="3048000" cy="3048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9499600" y="4165600"/>
            <a:ext cx="2692400" cy="2692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9855200" y="4521200"/>
            <a:ext cx="2336800" cy="2336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0210800" y="4876800"/>
            <a:ext cx="1981200" cy="1981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0566400" y="5232400"/>
            <a:ext cx="1625600" cy="16256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0922000" y="5588000"/>
            <a:ext cx="1270000" cy="12700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1277600" y="5943600"/>
            <a:ext cx="914400" cy="9144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1633200" y="6299200"/>
            <a:ext cx="558800" cy="5588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1988800" y="6654800"/>
            <a:ext cx="203200" cy="203200"/>
          </a:xfrm>
          <a:prstGeom prst="line">
            <a:avLst/>
          </a:prstGeom>
          <a:ln w="6350">
            <a:solidFill>
              <a:srgbClr val="4C4C4C"/>
            </a:solidFill>
            <a:miter lim="800000"/>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0" y="3302000"/>
            <a:ext cx="12192000" cy="254000"/>
          </a:xfrm>
          <a:prstGeom prst="rect">
            <a:avLst/>
          </a:prstGeom>
          <a:noFill/>
          <a:effectLst/>
        </p:spPr>
        <p:txBody>
          <a:bodyPr wrap="square" lIns="0" rIns="0" tIns="0" bIns="0" anchor="ctr"/>
          <a:lstStyle/>
          <a:p>
            <a:pPr algn="ctr">
              <a:lnSpc>
                <a:spcPts val="800"/>
              </a:lnSpc>
            </a:pPr>
            <a:r>
              <a:rPr sz="800" b="0" spc="112" dirty="0">
                <a:solidFill>
                  <a:srgbClr val="8C8C8C"/>
                </a:solidFill>
                <a:latin typeface="Inter"/>
                <a:cs typeface="Inter"/>
              </a:rPr>
              <a:t>FOTOGRAFÍA A SANGRE · 1920 × 1080 PX</a:t>
            </a:r>
          </a:p>
        </p:txBody>
      </p:sp>
      <p:pic>
        <p:nvPicPr>
          <p:cNvPr id="57" name="Picture 56" descr="veil_161616_025_025_v.png"/>
          <p:cNvPicPr>
            <a:picLocks noChangeAspect="1"/>
          </p:cNvPicPr>
          <p:nvPr/>
        </p:nvPicPr>
        <p:blipFill>
          <a:blip r:embed="rId2"/>
          <a:stretch>
            <a:fillRect/>
          </a:stretch>
        </p:blipFill>
        <p:spPr>
          <a:xfrm>
            <a:off x="0" y="0"/>
            <a:ext cx="12192000" cy="6858000"/>
          </a:xfrm>
          <a:prstGeom prst="rect">
            <a:avLst/>
          </a:prstGeom>
        </p:spPr>
      </p:pic>
      <p:pic>
        <p:nvPicPr>
          <p:cNvPr id="58" name="Picture 57" descr="veil_161616_000_094_v.png"/>
          <p:cNvPicPr>
            <a:picLocks noChangeAspect="1"/>
          </p:cNvPicPr>
          <p:nvPr/>
        </p:nvPicPr>
        <p:blipFill>
          <a:blip r:embed="rId3"/>
          <a:stretch>
            <a:fillRect/>
          </a:stretch>
        </p:blipFill>
        <p:spPr>
          <a:xfrm>
            <a:off x="0" y="2667000"/>
            <a:ext cx="12192000" cy="4191000"/>
          </a:xfrm>
          <a:prstGeom prst="rect">
            <a:avLst/>
          </a:prstGeom>
        </p:spPr>
      </p:pic>
      <p:sp>
        <p:nvSpPr>
          <p:cNvPr id="59" name="Rectangle 58"/>
          <p:cNvSpPr/>
          <p:nvPr/>
        </p:nvSpPr>
        <p:spPr>
          <a:xfrm>
            <a:off x="609600" y="38328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49300" y="38100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LOREM IPSUM · DOLOR SIT</a:t>
            </a:r>
          </a:p>
        </p:txBody>
      </p:sp>
      <p:sp>
        <p:nvSpPr>
          <p:cNvPr id="61" name="TextBox 60"/>
          <p:cNvSpPr txBox="1"/>
          <p:nvPr/>
        </p:nvSpPr>
        <p:spPr>
          <a:xfrm>
            <a:off x="609600" y="4076700"/>
            <a:ext cx="7247467" cy="912368"/>
          </a:xfrm>
          <a:prstGeom prst="rect">
            <a:avLst/>
          </a:prstGeom>
          <a:noFill/>
          <a:effectLst/>
        </p:spPr>
        <p:txBody>
          <a:bodyPr wrap="square" lIns="0" rIns="0" tIns="0" bIns="0" anchor="t"/>
          <a:lstStyle/>
          <a:p>
            <a:pPr algn="l">
              <a:lnSpc>
                <a:spcPts val="3392"/>
              </a:lnSpc>
            </a:pPr>
            <a:r>
              <a:rPr sz="3200" b="1" spc="-96" dirty="0">
                <a:solidFill>
                  <a:srgbClr val="FFFFFF"/>
                </a:solidFill>
                <a:latin typeface="Inter"/>
                <a:cs typeface="Inter"/>
              </a:rPr>
              <a:t>Lorem ipsum dolor sit amet consectetur</a:t>
            </a:r>
          </a:p>
        </p:txBody>
      </p:sp>
      <p:sp>
        <p:nvSpPr>
          <p:cNvPr id="62" name="TextBox 61"/>
          <p:cNvSpPr txBox="1"/>
          <p:nvPr/>
        </p:nvSpPr>
        <p:spPr>
          <a:xfrm>
            <a:off x="609600" y="5016500"/>
            <a:ext cx="5384800" cy="571500"/>
          </a:xfrm>
          <a:prstGeom prst="rect">
            <a:avLst/>
          </a:prstGeom>
          <a:noFill/>
          <a:effectLst/>
        </p:spPr>
        <p:txBody>
          <a:bodyPr wrap="square" lIns="0" rIns="0" tIns="0" bIns="0" anchor="t"/>
          <a:lstStyle/>
          <a:p>
            <a:pPr algn="l">
              <a:lnSpc>
                <a:spcPts val="2100"/>
              </a:lnSpc>
            </a:pPr>
            <a:r>
              <a:rPr sz="1400" b="0" dirty="0">
                <a:solidFill>
                  <a:srgbClr val="D2D2D2"/>
                </a:solidFill>
                <a:latin typeface="Inter"/>
                <a:cs typeface="Inter"/>
              </a:rPr>
              <a:t>Lorem ipsum dolor sit amet, consectetur adipiscing elit.</a:t>
            </a:r>
          </a:p>
        </p:txBody>
      </p:sp>
      <p:sp>
        <p:nvSpPr>
          <p:cNvPr id="63" name="TextBox 62"/>
          <p:cNvSpPr txBox="1"/>
          <p:nvPr/>
        </p:nvSpPr>
        <p:spPr>
          <a:xfrm>
            <a:off x="609600" y="5651500"/>
            <a:ext cx="4445000" cy="152400"/>
          </a:xfrm>
          <a:prstGeom prst="rect">
            <a:avLst/>
          </a:prstGeom>
          <a:noFill/>
          <a:effectLst/>
        </p:spPr>
        <p:txBody>
          <a:bodyPr wrap="square" lIns="0" rIns="0" tIns="0" bIns="0" anchor="t"/>
          <a:lstStyle/>
          <a:p>
            <a:pPr algn="l">
              <a:lnSpc>
                <a:spcPts val="700"/>
              </a:lnSpc>
            </a:pPr>
            <a:r>
              <a:rPr sz="700" b="1" spc="70" dirty="0">
                <a:solidFill>
                  <a:srgbClr val="5A5A5A"/>
                </a:solidFill>
                <a:latin typeface="Inter"/>
                <a:cs typeface="Inter"/>
              </a:rPr>
              <a:t>FOTO · LOREM IPSUM</a:t>
            </a:r>
          </a:p>
        </p:txBody>
      </p:sp>
      <p:cxnSp>
        <p:nvCxnSpPr>
          <p:cNvPr id="64" name="Connector 63"/>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65" name="Freeform 6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69" name="TextBox 6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MÓDULO 00 · 00</a:t>
            </a:r>
          </a:p>
        </p:txBody>
      </p:sp>
      <p:sp>
        <p:nvSpPr>
          <p:cNvPr id="70" name="TextBox 69"/>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C03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39800"/>
            <a:ext cx="10972800" cy="4445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3035300"/>
            <a:ext cx="10972800"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A PANTALLA COMPLETA · 1728 × 700 PX</a:t>
            </a:r>
          </a:p>
        </p:txBody>
      </p:sp>
      <p:sp>
        <p:nvSpPr>
          <p:cNvPr id="4" name="TextBox 3"/>
          <p:cNvSpPr txBox="1"/>
          <p:nvPr/>
        </p:nvSpPr>
        <p:spPr>
          <a:xfrm>
            <a:off x="609600" y="3238500"/>
            <a:ext cx="10972800" cy="190500"/>
          </a:xfrm>
          <a:prstGeom prst="rect">
            <a:avLst/>
          </a:prstGeom>
          <a:noFill/>
          <a:effectLst/>
        </p:spPr>
        <p:txBody>
          <a:bodyPr wrap="square" lIns="0" rIns="0" tIns="0" bIns="0" anchor="t"/>
          <a:lstStyle/>
          <a:p>
            <a:pPr algn="ctr">
              <a:lnSpc>
                <a:spcPts val="650"/>
              </a:lnSpc>
            </a:pPr>
            <a:r>
              <a:rPr sz="650" b="0" spc="65" dirty="0">
                <a:solidFill>
                  <a:srgbClr val="A8A8A8"/>
                </a:solidFill>
                <a:latin typeface="Inter"/>
                <a:cs typeface="Inter"/>
              </a:rPr>
              <a:t>RESPETA LA ZONA SEGURA</a:t>
            </a:r>
          </a:p>
        </p:txBody>
      </p:sp>
      <p:cxnSp>
        <p:nvCxnSpPr>
          <p:cNvPr id="5" name="Connector 4"/>
          <p:cNvCxnSpPr/>
          <p:nvPr/>
        </p:nvCxnSpPr>
        <p:spPr>
          <a:xfrm>
            <a:off x="609600" y="5575300"/>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5689600"/>
            <a:ext cx="7247467" cy="381000"/>
          </a:xfrm>
          <a:prstGeom prst="rect">
            <a:avLst/>
          </a:prstGeom>
          <a:noFill/>
          <a:effectLst/>
        </p:spPr>
        <p:txBody>
          <a:bodyPr wrap="square" lIns="0" rIns="0" tIns="0" bIns="0" anchor="t"/>
          <a:lstStyle/>
          <a:p>
            <a:pPr algn="l">
              <a:lnSpc>
                <a:spcPts val="2160"/>
              </a:lnSpc>
            </a:pPr>
            <a:r>
              <a:rPr sz="1800" b="1" spc="-18" dirty="0">
                <a:solidFill>
                  <a:srgbClr val="161616"/>
                </a:solidFill>
                <a:latin typeface="Inter"/>
                <a:cs typeface="Inter"/>
              </a:rPr>
              <a:t>Lorem ipsum dolor sit amet consectetur</a:t>
            </a:r>
          </a:p>
        </p:txBody>
      </p:sp>
      <p:sp>
        <p:nvSpPr>
          <p:cNvPr id="7" name="TextBox 6"/>
          <p:cNvSpPr txBox="1"/>
          <p:nvPr/>
        </p:nvSpPr>
        <p:spPr>
          <a:xfrm>
            <a:off x="8060267" y="5740400"/>
            <a:ext cx="3522133" cy="152400"/>
          </a:xfrm>
          <a:prstGeom prst="rect">
            <a:avLst/>
          </a:prstGeom>
          <a:noFill/>
          <a:effectLst/>
        </p:spPr>
        <p:txBody>
          <a:bodyPr wrap="square" lIns="0" rIns="0" tIns="0" bIns="0" anchor="t"/>
          <a:lstStyle/>
          <a:p>
            <a:pPr algn="r">
              <a:lnSpc>
                <a:spcPts val="700"/>
              </a:lnSpc>
            </a:pPr>
            <a:r>
              <a:rPr sz="700" b="1" spc="70" dirty="0">
                <a:solidFill>
                  <a:srgbClr val="8D8D8D"/>
                </a:solidFill>
                <a:latin typeface="Inter"/>
                <a:cs typeface="Inter"/>
              </a:rPr>
              <a:t>FUENTE · LOREM IPSUM (2026)</a:t>
            </a:r>
          </a:p>
        </p:txBody>
      </p:sp>
      <p:cxnSp>
        <p:nvCxnSpPr>
          <p:cNvPr id="8" name="Connector 7"/>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3" name="TextBox 12"/>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14" name="TextBox 13"/>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C04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3522133" cy="2540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9600" y="3232912"/>
            <a:ext cx="3522133"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01</a:t>
            </a:r>
          </a:p>
        </p:txBody>
      </p:sp>
      <p:cxnSp>
        <p:nvCxnSpPr>
          <p:cNvPr id="22" name="Connector 21"/>
          <p:cNvCxnSpPr/>
          <p:nvPr/>
        </p:nvCxnSpPr>
        <p:spPr>
          <a:xfrm>
            <a:off x="609600" y="4820412"/>
            <a:ext cx="3522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600" y="4934712"/>
            <a:ext cx="3522133" cy="3810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24" name="TextBox 23"/>
          <p:cNvSpPr txBox="1"/>
          <p:nvPr/>
        </p:nvSpPr>
        <p:spPr>
          <a:xfrm>
            <a:off x="609600" y="5264912"/>
            <a:ext cx="3522133" cy="381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25" name="Rectangle 24"/>
          <p:cNvSpPr/>
          <p:nvPr/>
        </p:nvSpPr>
        <p:spPr>
          <a:xfrm>
            <a:off x="4334933" y="2089912"/>
            <a:ext cx="3522133" cy="2540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334933" y="3232912"/>
            <a:ext cx="3522133"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02</a:t>
            </a:r>
          </a:p>
        </p:txBody>
      </p:sp>
      <p:cxnSp>
        <p:nvCxnSpPr>
          <p:cNvPr id="27" name="Connector 26"/>
          <p:cNvCxnSpPr/>
          <p:nvPr/>
        </p:nvCxnSpPr>
        <p:spPr>
          <a:xfrm>
            <a:off x="4334933" y="4820412"/>
            <a:ext cx="3522134"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34933" y="4934712"/>
            <a:ext cx="3522133" cy="3810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29" name="TextBox 28"/>
          <p:cNvSpPr txBox="1"/>
          <p:nvPr/>
        </p:nvSpPr>
        <p:spPr>
          <a:xfrm>
            <a:off x="4334933" y="5264912"/>
            <a:ext cx="3522133" cy="381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30" name="Rectangle 29"/>
          <p:cNvSpPr/>
          <p:nvPr/>
        </p:nvSpPr>
        <p:spPr>
          <a:xfrm>
            <a:off x="8060267" y="2089912"/>
            <a:ext cx="3522133" cy="2540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060267" y="3232912"/>
            <a:ext cx="3522133"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03</a:t>
            </a:r>
          </a:p>
        </p:txBody>
      </p:sp>
      <p:cxnSp>
        <p:nvCxnSpPr>
          <p:cNvPr id="32" name="Connector 31"/>
          <p:cNvCxnSpPr/>
          <p:nvPr/>
        </p:nvCxnSpPr>
        <p:spPr>
          <a:xfrm>
            <a:off x="8060267" y="4820412"/>
            <a:ext cx="3522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060267" y="4934712"/>
            <a:ext cx="3522133" cy="3810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34" name="TextBox 33"/>
          <p:cNvSpPr txBox="1"/>
          <p:nvPr/>
        </p:nvSpPr>
        <p:spPr>
          <a:xfrm>
            <a:off x="8060267" y="5264912"/>
            <a:ext cx="3522133" cy="381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cxnSp>
        <p:nvCxnSpPr>
          <p:cNvPr id="35" name="Connector 34"/>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6" name="Freeform 3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0" name="TextBox 3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1" name="TextBox 40"/>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C05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4453467"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266267" y="939800"/>
            <a:ext cx="3094567" cy="2159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266267" y="1892300"/>
            <a:ext cx="3094567"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01</a:t>
            </a:r>
          </a:p>
        </p:txBody>
      </p:sp>
      <p:sp>
        <p:nvSpPr>
          <p:cNvPr id="22" name="Rectangle 21"/>
          <p:cNvSpPr/>
          <p:nvPr/>
        </p:nvSpPr>
        <p:spPr>
          <a:xfrm>
            <a:off x="8487833" y="939800"/>
            <a:ext cx="3094567" cy="2159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87833" y="1892300"/>
            <a:ext cx="3094567"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02</a:t>
            </a:r>
          </a:p>
        </p:txBody>
      </p:sp>
      <p:sp>
        <p:nvSpPr>
          <p:cNvPr id="24" name="Rectangle 23"/>
          <p:cNvSpPr/>
          <p:nvPr/>
        </p:nvSpPr>
        <p:spPr>
          <a:xfrm>
            <a:off x="5266267" y="3225800"/>
            <a:ext cx="3094567" cy="2159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266267" y="4178300"/>
            <a:ext cx="3094567"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03</a:t>
            </a:r>
          </a:p>
        </p:txBody>
      </p:sp>
      <p:sp>
        <p:nvSpPr>
          <p:cNvPr id="26" name="Rectangle 25"/>
          <p:cNvSpPr/>
          <p:nvPr/>
        </p:nvSpPr>
        <p:spPr>
          <a:xfrm>
            <a:off x="8487833" y="3225800"/>
            <a:ext cx="3094567" cy="2159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487833" y="4178300"/>
            <a:ext cx="3094567"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IMAGEN 04</a:t>
            </a:r>
          </a:p>
        </p:txBody>
      </p:sp>
      <p:sp>
        <p:nvSpPr>
          <p:cNvPr id="28" name="TextBox 27"/>
          <p:cNvSpPr txBox="1"/>
          <p:nvPr/>
        </p:nvSpPr>
        <p:spPr>
          <a:xfrm>
            <a:off x="609600" y="2528824"/>
            <a:ext cx="3522133" cy="1397000"/>
          </a:xfrm>
          <a:prstGeom prst="rect">
            <a:avLst/>
          </a:prstGeom>
          <a:noFill/>
          <a:effectLst/>
        </p:spPr>
        <p:txBody>
          <a:bodyPr wrap="square" lIns="0" rIns="0" tIns="0" bIns="0" anchor="t"/>
          <a:lstStyle/>
          <a:p>
            <a:pPr algn="l">
              <a:lnSpc>
                <a:spcPts val="186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9" name="TextBox 28"/>
          <p:cNvSpPr txBox="1"/>
          <p:nvPr/>
        </p:nvSpPr>
        <p:spPr>
          <a:xfrm>
            <a:off x="609600" y="4052824"/>
            <a:ext cx="190500" cy="171450"/>
          </a:xfrm>
          <a:prstGeom prst="rect">
            <a:avLst/>
          </a:prstGeom>
          <a:noFill/>
          <a:effectLst/>
        </p:spPr>
        <p:txBody>
          <a:bodyPr wrap="square" lIns="0" rIns="0" tIns="0" bIns="0" anchor="t"/>
          <a:lstStyle/>
          <a:p>
            <a:pPr algn="l">
              <a:lnSpc>
                <a:spcPts val="1260"/>
              </a:lnSpc>
            </a:pPr>
            <a:r>
              <a:rPr sz="900" b="1" dirty="0">
                <a:solidFill>
                  <a:srgbClr val="161616"/>
                </a:solidFill>
                <a:latin typeface="Inter"/>
                <a:cs typeface="Inter"/>
              </a:rPr>
              <a:t>—</a:t>
            </a:r>
          </a:p>
        </p:txBody>
      </p:sp>
      <p:sp>
        <p:nvSpPr>
          <p:cNvPr id="30" name="TextBox 29"/>
          <p:cNvSpPr txBox="1"/>
          <p:nvPr/>
        </p:nvSpPr>
        <p:spPr>
          <a:xfrm>
            <a:off x="838200" y="4052824"/>
            <a:ext cx="3293533" cy="32004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a:t>
            </a:r>
          </a:p>
        </p:txBody>
      </p:sp>
      <p:sp>
        <p:nvSpPr>
          <p:cNvPr id="31" name="TextBox 30"/>
          <p:cNvSpPr txBox="1"/>
          <p:nvPr/>
        </p:nvSpPr>
        <p:spPr>
          <a:xfrm>
            <a:off x="609600" y="4332224"/>
            <a:ext cx="190500" cy="171450"/>
          </a:xfrm>
          <a:prstGeom prst="rect">
            <a:avLst/>
          </a:prstGeom>
          <a:noFill/>
          <a:effectLst/>
        </p:spPr>
        <p:txBody>
          <a:bodyPr wrap="square" lIns="0" rIns="0" tIns="0" bIns="0" anchor="t"/>
          <a:lstStyle/>
          <a:p>
            <a:pPr algn="l">
              <a:lnSpc>
                <a:spcPts val="1260"/>
              </a:lnSpc>
            </a:pPr>
            <a:r>
              <a:rPr sz="900" b="1" dirty="0">
                <a:solidFill>
                  <a:srgbClr val="161616"/>
                </a:solidFill>
                <a:latin typeface="Inter"/>
                <a:cs typeface="Inter"/>
              </a:rPr>
              <a:t>—</a:t>
            </a:r>
          </a:p>
        </p:txBody>
      </p:sp>
      <p:sp>
        <p:nvSpPr>
          <p:cNvPr id="32" name="TextBox 31"/>
          <p:cNvSpPr txBox="1"/>
          <p:nvPr/>
        </p:nvSpPr>
        <p:spPr>
          <a:xfrm>
            <a:off x="838200" y="4332224"/>
            <a:ext cx="3293533" cy="32004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a:t>
            </a:r>
          </a:p>
        </p:txBody>
      </p:sp>
      <p:sp>
        <p:nvSpPr>
          <p:cNvPr id="33" name="TextBox 32"/>
          <p:cNvSpPr txBox="1"/>
          <p:nvPr/>
        </p:nvSpPr>
        <p:spPr>
          <a:xfrm>
            <a:off x="609600" y="4611624"/>
            <a:ext cx="190500" cy="171450"/>
          </a:xfrm>
          <a:prstGeom prst="rect">
            <a:avLst/>
          </a:prstGeom>
          <a:noFill/>
          <a:effectLst/>
        </p:spPr>
        <p:txBody>
          <a:bodyPr wrap="square" lIns="0" rIns="0" tIns="0" bIns="0" anchor="t"/>
          <a:lstStyle/>
          <a:p>
            <a:pPr algn="l">
              <a:lnSpc>
                <a:spcPts val="1260"/>
              </a:lnSpc>
            </a:pPr>
            <a:r>
              <a:rPr sz="900" b="1" dirty="0">
                <a:solidFill>
                  <a:srgbClr val="161616"/>
                </a:solidFill>
                <a:latin typeface="Inter"/>
                <a:cs typeface="Inter"/>
              </a:rPr>
              <a:t>—</a:t>
            </a:r>
          </a:p>
        </p:txBody>
      </p:sp>
      <p:sp>
        <p:nvSpPr>
          <p:cNvPr id="34" name="TextBox 33"/>
          <p:cNvSpPr txBox="1"/>
          <p:nvPr/>
        </p:nvSpPr>
        <p:spPr>
          <a:xfrm>
            <a:off x="838200" y="4611624"/>
            <a:ext cx="3293533" cy="32004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a:t>
            </a:r>
          </a:p>
        </p:txBody>
      </p:sp>
      <p:sp>
        <p:nvSpPr>
          <p:cNvPr id="35" name="TextBox 34"/>
          <p:cNvSpPr txBox="1"/>
          <p:nvPr/>
        </p:nvSpPr>
        <p:spPr>
          <a:xfrm>
            <a:off x="609600" y="4891024"/>
            <a:ext cx="190500" cy="171450"/>
          </a:xfrm>
          <a:prstGeom prst="rect">
            <a:avLst/>
          </a:prstGeom>
          <a:noFill/>
          <a:effectLst/>
        </p:spPr>
        <p:txBody>
          <a:bodyPr wrap="square" lIns="0" rIns="0" tIns="0" bIns="0" anchor="t"/>
          <a:lstStyle/>
          <a:p>
            <a:pPr algn="l">
              <a:lnSpc>
                <a:spcPts val="1260"/>
              </a:lnSpc>
            </a:pPr>
            <a:r>
              <a:rPr sz="900" b="1" dirty="0">
                <a:solidFill>
                  <a:srgbClr val="161616"/>
                </a:solidFill>
                <a:latin typeface="Inter"/>
                <a:cs typeface="Inter"/>
              </a:rPr>
              <a:t>—</a:t>
            </a:r>
          </a:p>
        </p:txBody>
      </p:sp>
      <p:sp>
        <p:nvSpPr>
          <p:cNvPr id="36" name="TextBox 35"/>
          <p:cNvSpPr txBox="1"/>
          <p:nvPr/>
        </p:nvSpPr>
        <p:spPr>
          <a:xfrm>
            <a:off x="838200" y="4891024"/>
            <a:ext cx="3293533" cy="32004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a:t>
            </a:r>
          </a:p>
        </p:txBody>
      </p:sp>
      <p:cxnSp>
        <p:nvCxnSpPr>
          <p:cNvPr id="37" name="Connector 36"/>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2" name="TextBox 4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3" name="TextBox 4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C06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382012"/>
            <a:ext cx="5359400" cy="29845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9600" y="3747262"/>
            <a:ext cx="5359400"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CAPTURA · ANTES</a:t>
            </a:r>
          </a:p>
        </p:txBody>
      </p:sp>
      <p:sp>
        <p:nvSpPr>
          <p:cNvPr id="22" name="Rectangle 21"/>
          <p:cNvSpPr/>
          <p:nvPr/>
        </p:nvSpPr>
        <p:spPr>
          <a:xfrm>
            <a:off x="609600" y="2089912"/>
            <a:ext cx="599440" cy="215900"/>
          </a:xfrm>
          <a:prstGeom prst="rect">
            <a:avLst/>
          </a:prstGeom>
          <a:solidFill>
            <a:srgbClr val="8D8D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1200" y="2089912"/>
            <a:ext cx="396240" cy="215900"/>
          </a:xfrm>
          <a:prstGeom prst="rect">
            <a:avLst/>
          </a:prstGeom>
          <a:noFill/>
          <a:effectLst/>
        </p:spPr>
        <p:txBody>
          <a:bodyPr wrap="square" lIns="0" rIns="0" tIns="0" bIns="0" anchor="ctr"/>
          <a:lstStyle/>
          <a:p>
            <a:pPr algn="l">
              <a:lnSpc>
                <a:spcPts val="800"/>
              </a:lnSpc>
            </a:pPr>
            <a:r>
              <a:rPr sz="800" b="1" spc="128" dirty="0">
                <a:solidFill>
                  <a:srgbClr val="FFFFFF"/>
                </a:solidFill>
                <a:latin typeface="Inter"/>
                <a:cs typeface="Inter"/>
              </a:rPr>
              <a:t>ANTES</a:t>
            </a:r>
          </a:p>
        </p:txBody>
      </p:sp>
      <p:sp>
        <p:nvSpPr>
          <p:cNvPr id="24" name="TextBox 23"/>
          <p:cNvSpPr txBox="1"/>
          <p:nvPr/>
        </p:nvSpPr>
        <p:spPr>
          <a:xfrm>
            <a:off x="609600" y="5493512"/>
            <a:ext cx="5359400" cy="381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a:t>
            </a:r>
          </a:p>
        </p:txBody>
      </p:sp>
      <p:sp>
        <p:nvSpPr>
          <p:cNvPr id="25" name="Rectangle 24"/>
          <p:cNvSpPr/>
          <p:nvPr/>
        </p:nvSpPr>
        <p:spPr>
          <a:xfrm>
            <a:off x="6223000" y="2382012"/>
            <a:ext cx="5359400" cy="29845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223000" y="3747262"/>
            <a:ext cx="5359400"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CAPTURA · DESPUÉS</a:t>
            </a:r>
          </a:p>
        </p:txBody>
      </p:sp>
      <p:sp>
        <p:nvSpPr>
          <p:cNvPr id="27" name="Rectangle 26"/>
          <p:cNvSpPr/>
          <p:nvPr/>
        </p:nvSpPr>
        <p:spPr>
          <a:xfrm>
            <a:off x="6223000" y="2089912"/>
            <a:ext cx="757936" cy="215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24600" y="2089912"/>
            <a:ext cx="554736" cy="215900"/>
          </a:xfrm>
          <a:prstGeom prst="rect">
            <a:avLst/>
          </a:prstGeom>
          <a:noFill/>
          <a:effectLst/>
        </p:spPr>
        <p:txBody>
          <a:bodyPr wrap="square" lIns="0" rIns="0" tIns="0" bIns="0" anchor="ctr"/>
          <a:lstStyle/>
          <a:p>
            <a:pPr algn="l">
              <a:lnSpc>
                <a:spcPts val="800"/>
              </a:lnSpc>
            </a:pPr>
            <a:r>
              <a:rPr sz="800" b="1" spc="128" dirty="0">
                <a:solidFill>
                  <a:srgbClr val="FFFFFF"/>
                </a:solidFill>
                <a:latin typeface="Inter"/>
                <a:cs typeface="Inter"/>
              </a:rPr>
              <a:t>DESPUÉS</a:t>
            </a:r>
          </a:p>
        </p:txBody>
      </p:sp>
      <p:sp>
        <p:nvSpPr>
          <p:cNvPr id="29" name="TextBox 28"/>
          <p:cNvSpPr txBox="1"/>
          <p:nvPr/>
        </p:nvSpPr>
        <p:spPr>
          <a:xfrm>
            <a:off x="6223000" y="5493512"/>
            <a:ext cx="5359400" cy="381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a:t>
            </a:r>
          </a:p>
        </p:txBody>
      </p:sp>
      <p:cxnSp>
        <p:nvCxnSpPr>
          <p:cNvPr id="30" name="Connector 29"/>
          <p:cNvCxnSpPr/>
          <p:nvPr/>
        </p:nvCxnSpPr>
        <p:spPr>
          <a:xfrm>
            <a:off x="6096000" y="2382012"/>
            <a:ext cx="0" cy="298450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32" name="Connector 3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7" name="TextBox 3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8" name="TextBox 3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C07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528824"/>
            <a:ext cx="7247467" cy="3302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9600" y="4052824"/>
            <a:ext cx="7247467"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CAPTURA REAL DEL PRODUCTO</a:t>
            </a:r>
          </a:p>
        </p:txBody>
      </p:sp>
      <p:sp>
        <p:nvSpPr>
          <p:cNvPr id="22" name="TextBox 21"/>
          <p:cNvSpPr txBox="1"/>
          <p:nvPr/>
        </p:nvSpPr>
        <p:spPr>
          <a:xfrm>
            <a:off x="609600" y="4256024"/>
            <a:ext cx="7247467" cy="190500"/>
          </a:xfrm>
          <a:prstGeom prst="rect">
            <a:avLst/>
          </a:prstGeom>
          <a:noFill/>
          <a:effectLst/>
        </p:spPr>
        <p:txBody>
          <a:bodyPr wrap="square" lIns="0" rIns="0" tIns="0" bIns="0" anchor="t"/>
          <a:lstStyle/>
          <a:p>
            <a:pPr algn="ctr">
              <a:lnSpc>
                <a:spcPts val="650"/>
              </a:lnSpc>
            </a:pPr>
            <a:r>
              <a:rPr sz="650" b="0" spc="65" dirty="0">
                <a:solidFill>
                  <a:srgbClr val="A8A8A8"/>
                </a:solidFill>
                <a:latin typeface="Inter"/>
                <a:cs typeface="Inter"/>
              </a:rPr>
              <a:t>FILETE 1 PX #E0E0E0 · SIN SOMBRA</a:t>
            </a:r>
          </a:p>
        </p:txBody>
      </p:sp>
      <p:sp>
        <p:nvSpPr>
          <p:cNvPr id="23" name="Rectangle 22"/>
          <p:cNvSpPr/>
          <p:nvPr/>
        </p:nvSpPr>
        <p:spPr>
          <a:xfrm>
            <a:off x="2204043" y="3519424"/>
            <a:ext cx="1206500" cy="698500"/>
          </a:xfrm>
          <a:prstGeom prst="rect">
            <a:avLst/>
          </a:prstGeom>
          <a:noFill/>
          <a:ln w="12700">
            <a:solidFill>
              <a:srgbClr val="5B4BF5"/>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7693" y="3513074"/>
            <a:ext cx="279400" cy="2794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97693" y="3513074"/>
            <a:ext cx="279400" cy="279400"/>
          </a:xfrm>
          <a:prstGeom prst="rect">
            <a:avLst/>
          </a:prstGeom>
          <a:noFill/>
          <a:effectLst/>
        </p:spPr>
        <p:txBody>
          <a:bodyPr wrap="square" lIns="0" rIns="0" tIns="0" bIns="0" anchor="ctr"/>
          <a:lstStyle/>
          <a:p>
            <a:pPr algn="ctr">
              <a:lnSpc>
                <a:spcPts val="1100"/>
              </a:lnSpc>
            </a:pPr>
            <a:r>
              <a:rPr sz="1100" b="1" dirty="0">
                <a:solidFill>
                  <a:srgbClr val="FFFFFF"/>
                </a:solidFill>
                <a:latin typeface="Inter"/>
                <a:cs typeface="Inter"/>
              </a:rPr>
              <a:t>1</a:t>
            </a:r>
          </a:p>
        </p:txBody>
      </p:sp>
      <p:sp>
        <p:nvSpPr>
          <p:cNvPr id="26" name="Rectangle 25"/>
          <p:cNvSpPr/>
          <p:nvPr/>
        </p:nvSpPr>
        <p:spPr>
          <a:xfrm>
            <a:off x="4813131" y="4245864"/>
            <a:ext cx="1206500" cy="698500"/>
          </a:xfrm>
          <a:prstGeom prst="rect">
            <a:avLst/>
          </a:prstGeom>
          <a:noFill/>
          <a:ln w="12700">
            <a:solidFill>
              <a:srgbClr val="5B4BF5"/>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806781" y="4239514"/>
            <a:ext cx="279400" cy="2794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806781" y="4239514"/>
            <a:ext cx="279400" cy="279400"/>
          </a:xfrm>
          <a:prstGeom prst="rect">
            <a:avLst/>
          </a:prstGeom>
          <a:noFill/>
          <a:effectLst/>
        </p:spPr>
        <p:txBody>
          <a:bodyPr wrap="square" lIns="0" rIns="0" tIns="0" bIns="0" anchor="ctr"/>
          <a:lstStyle/>
          <a:p>
            <a:pPr algn="ctr">
              <a:lnSpc>
                <a:spcPts val="1100"/>
              </a:lnSpc>
            </a:pPr>
            <a:r>
              <a:rPr sz="1100" b="1" dirty="0">
                <a:solidFill>
                  <a:srgbClr val="FFFFFF"/>
                </a:solidFill>
                <a:latin typeface="Inter"/>
                <a:cs typeface="Inter"/>
              </a:rPr>
              <a:t>2</a:t>
            </a:r>
          </a:p>
        </p:txBody>
      </p:sp>
      <p:sp>
        <p:nvSpPr>
          <p:cNvPr id="29" name="Rectangle 28"/>
          <p:cNvSpPr/>
          <p:nvPr/>
        </p:nvSpPr>
        <p:spPr>
          <a:xfrm>
            <a:off x="6407573" y="3321304"/>
            <a:ext cx="1206500" cy="698500"/>
          </a:xfrm>
          <a:prstGeom prst="rect">
            <a:avLst/>
          </a:prstGeom>
          <a:noFill/>
          <a:ln w="12700">
            <a:solidFill>
              <a:srgbClr val="5B4BF5"/>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401223" y="3314954"/>
            <a:ext cx="279400" cy="2794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1223" y="3314954"/>
            <a:ext cx="279400" cy="279400"/>
          </a:xfrm>
          <a:prstGeom prst="rect">
            <a:avLst/>
          </a:prstGeom>
          <a:noFill/>
          <a:effectLst/>
        </p:spPr>
        <p:txBody>
          <a:bodyPr wrap="square" lIns="0" rIns="0" tIns="0" bIns="0" anchor="ctr"/>
          <a:lstStyle/>
          <a:p>
            <a:pPr algn="ctr">
              <a:lnSpc>
                <a:spcPts val="1100"/>
              </a:lnSpc>
            </a:pPr>
            <a:r>
              <a:rPr sz="1100" b="1" dirty="0">
                <a:solidFill>
                  <a:srgbClr val="FFFFFF"/>
                </a:solidFill>
                <a:latin typeface="Inter"/>
                <a:cs typeface="Inter"/>
              </a:rPr>
              <a:t>3</a:t>
            </a:r>
          </a:p>
        </p:txBody>
      </p:sp>
      <p:sp>
        <p:nvSpPr>
          <p:cNvPr id="32" name="Rectangle 31"/>
          <p:cNvSpPr/>
          <p:nvPr/>
        </p:nvSpPr>
        <p:spPr>
          <a:xfrm>
            <a:off x="8212667" y="2528824"/>
            <a:ext cx="254000" cy="254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12667" y="2528824"/>
            <a:ext cx="254000" cy="254000"/>
          </a:xfrm>
          <a:prstGeom prst="rect">
            <a:avLst/>
          </a:prstGeom>
          <a:noFill/>
          <a:effectLst/>
        </p:spPr>
        <p:txBody>
          <a:bodyPr wrap="square" lIns="0" rIns="0" tIns="0" bIns="0" anchor="ctr"/>
          <a:lstStyle/>
          <a:p>
            <a:pPr algn="ctr">
              <a:lnSpc>
                <a:spcPts val="1050"/>
              </a:lnSpc>
            </a:pPr>
            <a:r>
              <a:rPr sz="1050" b="1" dirty="0">
                <a:solidFill>
                  <a:srgbClr val="FFFFFF"/>
                </a:solidFill>
                <a:latin typeface="Inter"/>
                <a:cs typeface="Inter"/>
              </a:rPr>
              <a:t>1</a:t>
            </a:r>
          </a:p>
        </p:txBody>
      </p:sp>
      <p:sp>
        <p:nvSpPr>
          <p:cNvPr id="34" name="TextBox 33"/>
          <p:cNvSpPr txBox="1"/>
          <p:nvPr/>
        </p:nvSpPr>
        <p:spPr>
          <a:xfrm>
            <a:off x="8212667" y="2884424"/>
            <a:ext cx="3369733" cy="4445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a:t>
            </a:r>
          </a:p>
        </p:txBody>
      </p:sp>
      <p:sp>
        <p:nvSpPr>
          <p:cNvPr id="35" name="Rectangle 34"/>
          <p:cNvSpPr/>
          <p:nvPr/>
        </p:nvSpPr>
        <p:spPr>
          <a:xfrm>
            <a:off x="8212667" y="3354324"/>
            <a:ext cx="254000" cy="254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12667" y="3354324"/>
            <a:ext cx="254000" cy="254000"/>
          </a:xfrm>
          <a:prstGeom prst="rect">
            <a:avLst/>
          </a:prstGeom>
          <a:noFill/>
          <a:effectLst/>
        </p:spPr>
        <p:txBody>
          <a:bodyPr wrap="square" lIns="0" rIns="0" tIns="0" bIns="0" anchor="ctr"/>
          <a:lstStyle/>
          <a:p>
            <a:pPr algn="ctr">
              <a:lnSpc>
                <a:spcPts val="1050"/>
              </a:lnSpc>
            </a:pPr>
            <a:r>
              <a:rPr sz="1050" b="1" dirty="0">
                <a:solidFill>
                  <a:srgbClr val="FFFFFF"/>
                </a:solidFill>
                <a:latin typeface="Inter"/>
                <a:cs typeface="Inter"/>
              </a:rPr>
              <a:t>2</a:t>
            </a:r>
          </a:p>
        </p:txBody>
      </p:sp>
      <p:sp>
        <p:nvSpPr>
          <p:cNvPr id="37" name="TextBox 36"/>
          <p:cNvSpPr txBox="1"/>
          <p:nvPr/>
        </p:nvSpPr>
        <p:spPr>
          <a:xfrm>
            <a:off x="8212667" y="3709924"/>
            <a:ext cx="3369733" cy="4445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a:t>
            </a:r>
          </a:p>
        </p:txBody>
      </p:sp>
      <p:sp>
        <p:nvSpPr>
          <p:cNvPr id="38" name="Rectangle 37"/>
          <p:cNvSpPr/>
          <p:nvPr/>
        </p:nvSpPr>
        <p:spPr>
          <a:xfrm>
            <a:off x="8212667" y="4179824"/>
            <a:ext cx="254000" cy="254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212667" y="4179824"/>
            <a:ext cx="254000" cy="254000"/>
          </a:xfrm>
          <a:prstGeom prst="rect">
            <a:avLst/>
          </a:prstGeom>
          <a:noFill/>
          <a:effectLst/>
        </p:spPr>
        <p:txBody>
          <a:bodyPr wrap="square" lIns="0" rIns="0" tIns="0" bIns="0" anchor="ctr"/>
          <a:lstStyle/>
          <a:p>
            <a:pPr algn="ctr">
              <a:lnSpc>
                <a:spcPts val="1050"/>
              </a:lnSpc>
            </a:pPr>
            <a:r>
              <a:rPr sz="1050" b="1" dirty="0">
                <a:solidFill>
                  <a:srgbClr val="FFFFFF"/>
                </a:solidFill>
                <a:latin typeface="Inter"/>
                <a:cs typeface="Inter"/>
              </a:rPr>
              <a:t>3</a:t>
            </a:r>
          </a:p>
        </p:txBody>
      </p:sp>
      <p:sp>
        <p:nvSpPr>
          <p:cNvPr id="40" name="TextBox 39"/>
          <p:cNvSpPr txBox="1"/>
          <p:nvPr/>
        </p:nvSpPr>
        <p:spPr>
          <a:xfrm>
            <a:off x="8212667" y="4535424"/>
            <a:ext cx="3369733" cy="4445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a:t>
            </a:r>
          </a:p>
        </p:txBody>
      </p:sp>
      <p:sp>
        <p:nvSpPr>
          <p:cNvPr id="41" name="TextBox 40"/>
          <p:cNvSpPr txBox="1"/>
          <p:nvPr/>
        </p:nvSpPr>
        <p:spPr>
          <a:xfrm>
            <a:off x="609600" y="6084824"/>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2" name="Connector 4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7" name="TextBox 4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8" name="TextBox 4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C08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Vídeo</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Vídeo, audio y demo en vivo. Siempre con subtítulos.</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5 PLANTILLAS · D01–D05</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D01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Vídeo a pantalla completa</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Vídeo + puntos clave</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Demo en vivo</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Audio / entrevista</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D05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Bucle / GIF + explicación</a:t>
            </a:r>
          </a:p>
        </p:txBody>
      </p:sp>
      <p:cxnSp>
        <p:nvCxnSpPr>
          <p:cNvPr id="25" name="Connector 24"/>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30" name="TextBox 2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39800"/>
            <a:ext cx="10972800" cy="4445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822950" y="2813050"/>
            <a:ext cx="546100" cy="546100"/>
          </a:xfrm>
          <a:prstGeom prst="rect">
            <a:avLst/>
          </a:prstGeom>
          <a:noFill/>
          <a:ln w="1905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Freeform 3"/>
          <p:cNvSpPr/>
          <p:nvPr/>
        </p:nvSpPr>
        <p:spPr>
          <a:xfrm>
            <a:off x="6038850" y="2984500"/>
            <a:ext cx="165100" cy="203200"/>
          </a:xfrm>
          <a:custGeom>
            <a:avLst/>
            <a:gdLst/>
            <a:ahLst/>
            <a:cxnLst/>
            <a:rect l="l" t="t" r="r" b="b"/>
            <a:pathLst>
              <a:path w="165100" h="203200">
                <a:moveTo>
                  <a:pt x="0" y="0"/>
                </a:moveTo>
                <a:lnTo>
                  <a:pt x="165100" y="101600"/>
                </a:lnTo>
                <a:lnTo>
                  <a:pt x="0" y="203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3467100"/>
            <a:ext cx="10972800" cy="190500"/>
          </a:xfrm>
          <a:prstGeom prst="rect">
            <a:avLst/>
          </a:prstGeom>
          <a:noFill/>
          <a:effectLst/>
        </p:spPr>
        <p:txBody>
          <a:bodyPr wrap="square" lIns="0" rIns="0" tIns="0" bIns="0" anchor="t"/>
          <a:lstStyle/>
          <a:p>
            <a:pPr algn="ctr">
              <a:lnSpc>
                <a:spcPts val="800"/>
              </a:lnSpc>
            </a:pPr>
            <a:r>
              <a:rPr sz="800" b="0" spc="112" dirty="0">
                <a:solidFill>
                  <a:srgbClr val="9A9A9A"/>
                </a:solidFill>
                <a:latin typeface="Inter"/>
                <a:cs typeface="Inter"/>
              </a:rPr>
              <a:t>VÍDEO INCRUSTADO · 16:9 · CON SUBTÍTULOS</a:t>
            </a:r>
          </a:p>
        </p:txBody>
      </p:sp>
      <p:cxnSp>
        <p:nvCxnSpPr>
          <p:cNvPr id="6" name="Connector 5"/>
          <p:cNvCxnSpPr/>
          <p:nvPr/>
        </p:nvCxnSpPr>
        <p:spPr>
          <a:xfrm>
            <a:off x="609600" y="5575300"/>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5689600"/>
            <a:ext cx="7247467" cy="381000"/>
          </a:xfrm>
          <a:prstGeom prst="rect">
            <a:avLst/>
          </a:prstGeom>
          <a:noFill/>
          <a:effectLst/>
        </p:spPr>
        <p:txBody>
          <a:bodyPr wrap="square" lIns="0" rIns="0" tIns="0" bIns="0" anchor="t"/>
          <a:lstStyle/>
          <a:p>
            <a:pPr algn="l">
              <a:lnSpc>
                <a:spcPts val="2160"/>
              </a:lnSpc>
            </a:pPr>
            <a:r>
              <a:rPr sz="1800" b="1" spc="-18" dirty="0">
                <a:solidFill>
                  <a:srgbClr val="161616"/>
                </a:solidFill>
                <a:latin typeface="Inter"/>
                <a:cs typeface="Inter"/>
              </a:rPr>
              <a:t>Lorem ipsum dolor sit amet consectetur</a:t>
            </a:r>
          </a:p>
        </p:txBody>
      </p:sp>
      <p:sp>
        <p:nvSpPr>
          <p:cNvPr id="8" name="TextBox 7"/>
          <p:cNvSpPr txBox="1"/>
          <p:nvPr/>
        </p:nvSpPr>
        <p:spPr>
          <a:xfrm>
            <a:off x="8060267" y="5715000"/>
            <a:ext cx="3522133" cy="254000"/>
          </a:xfrm>
          <a:prstGeom prst="rect">
            <a:avLst/>
          </a:prstGeom>
          <a:noFill/>
          <a:effectLst/>
        </p:spPr>
        <p:txBody>
          <a:bodyPr wrap="square" lIns="0" rIns="0" tIns="0" bIns="0" anchor="t"/>
          <a:lstStyle/>
          <a:p>
            <a:pPr algn="r">
              <a:lnSpc>
                <a:spcPts val="700"/>
              </a:lnSpc>
            </a:pPr>
            <a:r>
              <a:rPr sz="700" b="1" spc="70" dirty="0">
                <a:solidFill>
                  <a:srgbClr val="8D8D8D"/>
                </a:solidFill>
                <a:latin typeface="Inter"/>
                <a:cs typeface="Inter"/>
              </a:rPr>
              <a:t>04:12 · SUBTÍTULOS ES/EN</a:t>
            </a:r>
          </a:p>
        </p:txBody>
      </p:sp>
      <p:cxnSp>
        <p:nvCxnSpPr>
          <p:cNvPr id="9" name="Connector 8"/>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4" name="TextBox 13"/>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15" name="TextBox 14"/>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D01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528824"/>
            <a:ext cx="6316133" cy="3175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494617" y="3767074"/>
            <a:ext cx="546100" cy="546100"/>
          </a:xfrm>
          <a:prstGeom prst="rect">
            <a:avLst/>
          </a:prstGeom>
          <a:noFill/>
          <a:ln w="1905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Freeform 21"/>
          <p:cNvSpPr/>
          <p:nvPr/>
        </p:nvSpPr>
        <p:spPr>
          <a:xfrm>
            <a:off x="3710517" y="3938524"/>
            <a:ext cx="165100" cy="203200"/>
          </a:xfrm>
          <a:custGeom>
            <a:avLst/>
            <a:gdLst/>
            <a:ahLst/>
            <a:cxnLst/>
            <a:rect l="l" t="t" r="r" b="b"/>
            <a:pathLst>
              <a:path w="165100" h="203200">
                <a:moveTo>
                  <a:pt x="0" y="0"/>
                </a:moveTo>
                <a:lnTo>
                  <a:pt x="165100" y="101600"/>
                </a:lnTo>
                <a:lnTo>
                  <a:pt x="0" y="203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600" y="4421124"/>
            <a:ext cx="6316133" cy="190500"/>
          </a:xfrm>
          <a:prstGeom prst="rect">
            <a:avLst/>
          </a:prstGeom>
          <a:noFill/>
          <a:effectLst/>
        </p:spPr>
        <p:txBody>
          <a:bodyPr wrap="square" lIns="0" rIns="0" tIns="0" bIns="0" anchor="t"/>
          <a:lstStyle/>
          <a:p>
            <a:pPr algn="ctr">
              <a:lnSpc>
                <a:spcPts val="800"/>
              </a:lnSpc>
            </a:pPr>
            <a:r>
              <a:rPr sz="800" b="0" spc="112" dirty="0">
                <a:solidFill>
                  <a:srgbClr val="9A9A9A"/>
                </a:solidFill>
                <a:latin typeface="Inter"/>
                <a:cs typeface="Inter"/>
              </a:rPr>
              <a:t>VÍDEO · 16:9</a:t>
            </a:r>
          </a:p>
        </p:txBody>
      </p:sp>
      <p:sp>
        <p:nvSpPr>
          <p:cNvPr id="24" name="TextBox 23"/>
          <p:cNvSpPr txBox="1"/>
          <p:nvPr/>
        </p:nvSpPr>
        <p:spPr>
          <a:xfrm>
            <a:off x="7255933" y="2528824"/>
            <a:ext cx="4326467"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PUNTOS CLAVE</a:t>
            </a:r>
          </a:p>
        </p:txBody>
      </p:sp>
      <p:cxnSp>
        <p:nvCxnSpPr>
          <p:cNvPr id="25" name="Connector 24"/>
          <p:cNvCxnSpPr/>
          <p:nvPr/>
        </p:nvCxnSpPr>
        <p:spPr>
          <a:xfrm>
            <a:off x="7255933" y="2808224"/>
            <a:ext cx="4326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255933" y="2909824"/>
            <a:ext cx="6985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00:12</a:t>
            </a:r>
          </a:p>
        </p:txBody>
      </p:sp>
      <p:sp>
        <p:nvSpPr>
          <p:cNvPr id="27" name="TextBox 26"/>
          <p:cNvSpPr txBox="1"/>
          <p:nvPr/>
        </p:nvSpPr>
        <p:spPr>
          <a:xfrm>
            <a:off x="7255933" y="3100324"/>
            <a:ext cx="4326467"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28" name="Connector 27"/>
          <p:cNvCxnSpPr/>
          <p:nvPr/>
        </p:nvCxnSpPr>
        <p:spPr>
          <a:xfrm>
            <a:off x="7255933" y="3544824"/>
            <a:ext cx="4326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255933" y="3646424"/>
            <a:ext cx="6985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01:40</a:t>
            </a:r>
          </a:p>
        </p:txBody>
      </p:sp>
      <p:sp>
        <p:nvSpPr>
          <p:cNvPr id="30" name="TextBox 29"/>
          <p:cNvSpPr txBox="1"/>
          <p:nvPr/>
        </p:nvSpPr>
        <p:spPr>
          <a:xfrm>
            <a:off x="7255933" y="3836924"/>
            <a:ext cx="4326467"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31" name="Connector 30"/>
          <p:cNvCxnSpPr/>
          <p:nvPr/>
        </p:nvCxnSpPr>
        <p:spPr>
          <a:xfrm>
            <a:off x="7255933" y="4281424"/>
            <a:ext cx="4326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255933" y="4383024"/>
            <a:ext cx="6985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02:58</a:t>
            </a:r>
          </a:p>
        </p:txBody>
      </p:sp>
      <p:sp>
        <p:nvSpPr>
          <p:cNvPr id="33" name="TextBox 32"/>
          <p:cNvSpPr txBox="1"/>
          <p:nvPr/>
        </p:nvSpPr>
        <p:spPr>
          <a:xfrm>
            <a:off x="7255933" y="4573524"/>
            <a:ext cx="4326467"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34" name="Connector 33"/>
          <p:cNvCxnSpPr/>
          <p:nvPr/>
        </p:nvCxnSpPr>
        <p:spPr>
          <a:xfrm>
            <a:off x="7255933" y="5018024"/>
            <a:ext cx="4326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255933" y="5119624"/>
            <a:ext cx="698500" cy="165100"/>
          </a:xfrm>
          <a:prstGeom prst="rect">
            <a:avLst/>
          </a:prstGeom>
          <a:noFill/>
          <a:effectLst/>
        </p:spPr>
        <p:txBody>
          <a:bodyPr wrap="square" lIns="0" rIns="0" tIns="0" bIns="0" anchor="t"/>
          <a:lstStyle/>
          <a:p>
            <a:pPr algn="l">
              <a:lnSpc>
                <a:spcPts val="900"/>
              </a:lnSpc>
            </a:pPr>
            <a:r>
              <a:rPr sz="900" b="1" dirty="0">
                <a:solidFill>
                  <a:srgbClr val="5B4BF5"/>
                </a:solidFill>
                <a:latin typeface="Inter"/>
                <a:cs typeface="Inter"/>
              </a:rPr>
              <a:t>04:05</a:t>
            </a:r>
          </a:p>
        </p:txBody>
      </p:sp>
      <p:sp>
        <p:nvSpPr>
          <p:cNvPr id="36" name="TextBox 35"/>
          <p:cNvSpPr txBox="1"/>
          <p:nvPr/>
        </p:nvSpPr>
        <p:spPr>
          <a:xfrm>
            <a:off x="7255933" y="5310124"/>
            <a:ext cx="4326467"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sp>
        <p:nvSpPr>
          <p:cNvPr id="37" name="TextBox 36"/>
          <p:cNvSpPr txBox="1"/>
          <p:nvPr/>
        </p:nvSpPr>
        <p:spPr>
          <a:xfrm>
            <a:off x="609600" y="5894324"/>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38" name="Connector 37"/>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9" name="Freeform 38"/>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3" name="TextBox 42"/>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4" name="TextBox 43"/>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D02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DEMO EN VIVO</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0111232" y="965200"/>
            <a:ext cx="1471168" cy="2159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212832" y="965200"/>
            <a:ext cx="1267968" cy="215900"/>
          </a:xfrm>
          <a:prstGeom prst="rect">
            <a:avLst/>
          </a:prstGeom>
          <a:noFill/>
          <a:effectLst/>
        </p:spPr>
        <p:txBody>
          <a:bodyPr wrap="square" lIns="0" rIns="0" tIns="0" bIns="0" anchor="ctr"/>
          <a:lstStyle/>
          <a:p>
            <a:pPr algn="l">
              <a:lnSpc>
                <a:spcPts val="800"/>
              </a:lnSpc>
            </a:pPr>
            <a:r>
              <a:rPr sz="800" b="1" spc="128" dirty="0">
                <a:solidFill>
                  <a:srgbClr val="FFFFFF"/>
                </a:solidFill>
                <a:latin typeface="Inter"/>
                <a:cs typeface="Inter"/>
              </a:rPr>
              <a:t>EN VIVO · 12 MIN</a:t>
            </a:r>
          </a:p>
        </p:txBody>
      </p:sp>
      <p:sp>
        <p:nvSpPr>
          <p:cNvPr id="22" name="Rectangle 21"/>
          <p:cNvSpPr/>
          <p:nvPr/>
        </p:nvSpPr>
        <p:spPr>
          <a:xfrm>
            <a:off x="609600" y="2528824"/>
            <a:ext cx="7247467" cy="3302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09600" y="4052824"/>
            <a:ext cx="7247467"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PANTALLA COMPARTIDA · APLICACIÓN REAL</a:t>
            </a:r>
          </a:p>
        </p:txBody>
      </p:sp>
      <p:sp>
        <p:nvSpPr>
          <p:cNvPr id="24" name="TextBox 23"/>
          <p:cNvSpPr txBox="1"/>
          <p:nvPr/>
        </p:nvSpPr>
        <p:spPr>
          <a:xfrm>
            <a:off x="8212667" y="2528824"/>
            <a:ext cx="3369733"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LO QUE VAS A VER</a:t>
            </a:r>
          </a:p>
        </p:txBody>
      </p:sp>
      <p:cxnSp>
        <p:nvCxnSpPr>
          <p:cNvPr id="25" name="Connector 24"/>
          <p:cNvCxnSpPr/>
          <p:nvPr/>
        </p:nvCxnSpPr>
        <p:spPr>
          <a:xfrm>
            <a:off x="8212667" y="2808224"/>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12667" y="2897124"/>
            <a:ext cx="254000" cy="165100"/>
          </a:xfrm>
          <a:prstGeom prst="rect">
            <a:avLst/>
          </a:prstGeom>
          <a:noFill/>
          <a:effectLst/>
        </p:spPr>
        <p:txBody>
          <a:bodyPr wrap="square" lIns="0" rIns="0" tIns="0" bIns="0" anchor="t"/>
          <a:lstStyle/>
          <a:p>
            <a:pPr algn="l">
              <a:lnSpc>
                <a:spcPts val="900"/>
              </a:lnSpc>
            </a:pPr>
            <a:r>
              <a:rPr sz="900" b="1" dirty="0">
                <a:solidFill>
                  <a:srgbClr val="161616"/>
                </a:solidFill>
                <a:latin typeface="Inter"/>
                <a:cs typeface="Inter"/>
              </a:rPr>
              <a:t>01</a:t>
            </a:r>
          </a:p>
        </p:txBody>
      </p:sp>
      <p:sp>
        <p:nvSpPr>
          <p:cNvPr id="27" name="TextBox 26"/>
          <p:cNvSpPr txBox="1"/>
          <p:nvPr/>
        </p:nvSpPr>
        <p:spPr>
          <a:xfrm>
            <a:off x="8530167" y="2884424"/>
            <a:ext cx="3052233"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a:t>
            </a:r>
          </a:p>
        </p:txBody>
      </p:sp>
      <p:cxnSp>
        <p:nvCxnSpPr>
          <p:cNvPr id="28" name="Connector 27"/>
          <p:cNvCxnSpPr/>
          <p:nvPr/>
        </p:nvCxnSpPr>
        <p:spPr>
          <a:xfrm>
            <a:off x="8212667" y="3417824"/>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212667" y="3506724"/>
            <a:ext cx="254000" cy="165100"/>
          </a:xfrm>
          <a:prstGeom prst="rect">
            <a:avLst/>
          </a:prstGeom>
          <a:noFill/>
          <a:effectLst/>
        </p:spPr>
        <p:txBody>
          <a:bodyPr wrap="square" lIns="0" rIns="0" tIns="0" bIns="0" anchor="t"/>
          <a:lstStyle/>
          <a:p>
            <a:pPr algn="l">
              <a:lnSpc>
                <a:spcPts val="900"/>
              </a:lnSpc>
            </a:pPr>
            <a:r>
              <a:rPr sz="900" b="1" dirty="0">
                <a:solidFill>
                  <a:srgbClr val="161616"/>
                </a:solidFill>
                <a:latin typeface="Inter"/>
                <a:cs typeface="Inter"/>
              </a:rPr>
              <a:t>02</a:t>
            </a:r>
          </a:p>
        </p:txBody>
      </p:sp>
      <p:sp>
        <p:nvSpPr>
          <p:cNvPr id="30" name="TextBox 29"/>
          <p:cNvSpPr txBox="1"/>
          <p:nvPr/>
        </p:nvSpPr>
        <p:spPr>
          <a:xfrm>
            <a:off x="8530167" y="3494024"/>
            <a:ext cx="3052233"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a:t>
            </a:r>
          </a:p>
        </p:txBody>
      </p:sp>
      <p:cxnSp>
        <p:nvCxnSpPr>
          <p:cNvPr id="31" name="Connector 30"/>
          <p:cNvCxnSpPr/>
          <p:nvPr/>
        </p:nvCxnSpPr>
        <p:spPr>
          <a:xfrm>
            <a:off x="8212667" y="4027424"/>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12667" y="4116324"/>
            <a:ext cx="254000" cy="165100"/>
          </a:xfrm>
          <a:prstGeom prst="rect">
            <a:avLst/>
          </a:prstGeom>
          <a:noFill/>
          <a:effectLst/>
        </p:spPr>
        <p:txBody>
          <a:bodyPr wrap="square" lIns="0" rIns="0" tIns="0" bIns="0" anchor="t"/>
          <a:lstStyle/>
          <a:p>
            <a:pPr algn="l">
              <a:lnSpc>
                <a:spcPts val="900"/>
              </a:lnSpc>
            </a:pPr>
            <a:r>
              <a:rPr sz="900" b="1" dirty="0">
                <a:solidFill>
                  <a:srgbClr val="161616"/>
                </a:solidFill>
                <a:latin typeface="Inter"/>
                <a:cs typeface="Inter"/>
              </a:rPr>
              <a:t>03</a:t>
            </a:r>
          </a:p>
        </p:txBody>
      </p:sp>
      <p:sp>
        <p:nvSpPr>
          <p:cNvPr id="33" name="TextBox 32"/>
          <p:cNvSpPr txBox="1"/>
          <p:nvPr/>
        </p:nvSpPr>
        <p:spPr>
          <a:xfrm>
            <a:off x="8530167" y="4103624"/>
            <a:ext cx="3052233"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a:t>
            </a:r>
          </a:p>
        </p:txBody>
      </p:sp>
      <p:cxnSp>
        <p:nvCxnSpPr>
          <p:cNvPr id="34" name="Connector 33"/>
          <p:cNvCxnSpPr/>
          <p:nvPr/>
        </p:nvCxnSpPr>
        <p:spPr>
          <a:xfrm>
            <a:off x="8212667" y="4637024"/>
            <a:ext cx="33697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212667" y="4725924"/>
            <a:ext cx="254000" cy="165100"/>
          </a:xfrm>
          <a:prstGeom prst="rect">
            <a:avLst/>
          </a:prstGeom>
          <a:noFill/>
          <a:effectLst/>
        </p:spPr>
        <p:txBody>
          <a:bodyPr wrap="square" lIns="0" rIns="0" tIns="0" bIns="0" anchor="t"/>
          <a:lstStyle/>
          <a:p>
            <a:pPr algn="l">
              <a:lnSpc>
                <a:spcPts val="900"/>
              </a:lnSpc>
            </a:pPr>
            <a:r>
              <a:rPr sz="900" b="1" dirty="0">
                <a:solidFill>
                  <a:srgbClr val="161616"/>
                </a:solidFill>
                <a:latin typeface="Inter"/>
                <a:cs typeface="Inter"/>
              </a:rPr>
              <a:t>04</a:t>
            </a:r>
          </a:p>
        </p:txBody>
      </p:sp>
      <p:sp>
        <p:nvSpPr>
          <p:cNvPr id="36" name="TextBox 35"/>
          <p:cNvSpPr txBox="1"/>
          <p:nvPr/>
        </p:nvSpPr>
        <p:spPr>
          <a:xfrm>
            <a:off x="8530167" y="4713224"/>
            <a:ext cx="3052233"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a:t>
            </a:r>
          </a:p>
        </p:txBody>
      </p:sp>
      <p:sp>
        <p:nvSpPr>
          <p:cNvPr id="37" name="Rectangle 36"/>
          <p:cNvSpPr/>
          <p:nvPr/>
        </p:nvSpPr>
        <p:spPr>
          <a:xfrm>
            <a:off x="8212667" y="5310124"/>
            <a:ext cx="3369733" cy="762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8212667" y="5310124"/>
            <a:ext cx="31750" cy="762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90467" y="5449824"/>
            <a:ext cx="3014133" cy="482600"/>
          </a:xfrm>
          <a:prstGeom prst="rect">
            <a:avLst/>
          </a:prstGeom>
          <a:noFill/>
          <a:effectLst/>
        </p:spPr>
        <p:txBody>
          <a:bodyPr wrap="square" lIns="0" rIns="0" tIns="0" bIns="0" anchor="t"/>
          <a:lstStyle/>
          <a:p>
            <a:pPr algn="l">
              <a:lnSpc>
                <a:spcPts val="1305"/>
              </a:lnSpc>
            </a:pPr>
            <a:r>
              <a:rPr sz="900" b="0" dirty="0">
                <a:solidFill>
                  <a:srgbClr val="525252"/>
                </a:solidFill>
                <a:latin typeface="Inter"/>
                <a:cs typeface="Inter"/>
              </a:rPr>
              <a:t>Si la demo falla, la captura de la diapositiva siguiente cuenta lo mismo.</a:t>
            </a:r>
          </a:p>
        </p:txBody>
      </p:sp>
      <p:sp>
        <p:nvSpPr>
          <p:cNvPr id="40" name="TextBox 39"/>
          <p:cNvSpPr txBox="1"/>
          <p:nvPr/>
        </p:nvSpPr>
        <p:spPr>
          <a:xfrm>
            <a:off x="609600" y="6021324"/>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1" name="Connector 4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6" name="TextBox 4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7" name="TextBox 4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D03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AUDIO · ENTREVISTA</a:t>
            </a:r>
          </a:p>
        </p:txBody>
      </p:sp>
      <p:sp>
        <p:nvSpPr>
          <p:cNvPr id="4" name="TextBox 3"/>
          <p:cNvSpPr txBox="1"/>
          <p:nvPr/>
        </p:nvSpPr>
        <p:spPr>
          <a:xfrm>
            <a:off x="609600" y="1181100"/>
            <a:ext cx="7247467"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528824"/>
            <a:ext cx="7247467" cy="952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00100" y="2814574"/>
            <a:ext cx="381000" cy="381000"/>
          </a:xfrm>
          <a:prstGeom prst="rect">
            <a:avLst/>
          </a:prstGeom>
          <a:noFill/>
          <a:ln w="190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Freeform 21"/>
          <p:cNvSpPr/>
          <p:nvPr/>
        </p:nvSpPr>
        <p:spPr>
          <a:xfrm>
            <a:off x="950728" y="2934190"/>
            <a:ext cx="115186" cy="141768"/>
          </a:xfrm>
          <a:custGeom>
            <a:avLst/>
            <a:gdLst/>
            <a:ahLst/>
            <a:cxnLst/>
            <a:rect l="l" t="t" r="r" b="b"/>
            <a:pathLst>
              <a:path w="115186" h="141768">
                <a:moveTo>
                  <a:pt x="0" y="0"/>
                </a:moveTo>
                <a:lnTo>
                  <a:pt x="115186" y="70884"/>
                </a:lnTo>
                <a:lnTo>
                  <a:pt x="0" y="141768"/>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435100" y="2966974"/>
            <a:ext cx="113897" cy="762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574397" y="2844251"/>
            <a:ext cx="113897" cy="321647"/>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713694" y="2779246"/>
            <a:ext cx="113897" cy="451656"/>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852990" y="2802533"/>
            <a:ext cx="113897" cy="405083"/>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992287" y="2903159"/>
            <a:ext cx="113897" cy="20383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131584" y="2900150"/>
            <a:ext cx="113897" cy="209848"/>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270881" y="2800939"/>
            <a:ext cx="113897" cy="40827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410178" y="2779817"/>
            <a:ext cx="113897" cy="450514"/>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549475" y="2846718"/>
            <a:ext cx="113897" cy="316713"/>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688771" y="2963771"/>
            <a:ext cx="113897" cy="82606"/>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828068" y="2841818"/>
            <a:ext cx="113897" cy="32651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2967365" y="2778728"/>
            <a:ext cx="113897" cy="45269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106662" y="2804173"/>
            <a:ext cx="113897" cy="40180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245959" y="2906186"/>
            <a:ext cx="113897" cy="197776"/>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385256" y="2897160"/>
            <a:ext cx="113897" cy="215829"/>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524552" y="2799392"/>
            <a:ext cx="113897" cy="411364"/>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663849" y="2780441"/>
            <a:ext cx="113897" cy="449267"/>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803146" y="2849219"/>
            <a:ext cx="113897" cy="31171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3942443" y="2960569"/>
            <a:ext cx="113897" cy="8901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081740" y="2839421"/>
            <a:ext cx="113897" cy="331306"/>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4221037" y="2778263"/>
            <a:ext cx="113897" cy="453621"/>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360333" y="2805859"/>
            <a:ext cx="113897" cy="39843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499630" y="2909230"/>
            <a:ext cx="113897" cy="191688"/>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638927" y="2894189"/>
            <a:ext cx="113897" cy="221769"/>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4778224" y="2797892"/>
            <a:ext cx="113897" cy="414363"/>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4917521" y="2781117"/>
            <a:ext cx="113897" cy="447914"/>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5056817" y="2851753"/>
            <a:ext cx="113897" cy="306641"/>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5196114" y="2957368"/>
            <a:ext cx="113897" cy="95411"/>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5335411" y="2837060"/>
            <a:ext cx="113897" cy="336028"/>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5474708" y="2777852"/>
            <a:ext cx="113897" cy="454444"/>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5614005" y="2807591"/>
            <a:ext cx="113897" cy="394966"/>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5753302" y="2912290"/>
            <a:ext cx="113897" cy="185567"/>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5892598" y="2891240"/>
            <a:ext cx="113897" cy="227669"/>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6031895" y="2796441"/>
            <a:ext cx="113897" cy="417266"/>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6171192" y="2781846"/>
            <a:ext cx="113897" cy="446455"/>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6310489" y="2854320"/>
            <a:ext cx="113897" cy="301507"/>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449786" y="2954171"/>
            <a:ext cx="113897" cy="101806"/>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6589083" y="2834736"/>
            <a:ext cx="113897" cy="340677"/>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6728379" y="2777494"/>
            <a:ext cx="113897" cy="45516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6867676" y="2809368"/>
            <a:ext cx="113897" cy="391412"/>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7006973" y="2915366"/>
            <a:ext cx="113897" cy="179415"/>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7146270" y="2888311"/>
            <a:ext cx="113897" cy="233525"/>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7031567" y="2528824"/>
            <a:ext cx="698500" cy="952500"/>
          </a:xfrm>
          <a:prstGeom prst="rect">
            <a:avLst/>
          </a:prstGeom>
          <a:noFill/>
          <a:effectLst/>
        </p:spPr>
        <p:txBody>
          <a:bodyPr wrap="square" lIns="0" rIns="0" tIns="0" bIns="0" anchor="ctr"/>
          <a:lstStyle/>
          <a:p>
            <a:pPr algn="r">
              <a:lnSpc>
                <a:spcPts val="1200"/>
              </a:lnSpc>
            </a:pPr>
            <a:r>
              <a:rPr sz="1200" b="1" dirty="0">
                <a:solidFill>
                  <a:srgbClr val="161616"/>
                </a:solidFill>
                <a:latin typeface="Inter"/>
                <a:cs typeface="Inter"/>
              </a:rPr>
              <a:t>12:40</a:t>
            </a:r>
          </a:p>
        </p:txBody>
      </p:sp>
      <p:sp>
        <p:nvSpPr>
          <p:cNvPr id="66" name="TextBox 65"/>
          <p:cNvSpPr txBox="1"/>
          <p:nvPr/>
        </p:nvSpPr>
        <p:spPr>
          <a:xfrm>
            <a:off x="609600" y="3735324"/>
            <a:ext cx="7247467" cy="1016000"/>
          </a:xfrm>
          <a:prstGeom prst="rect">
            <a:avLst/>
          </a:prstGeom>
          <a:noFill/>
          <a:effectLst/>
        </p:spPr>
        <p:txBody>
          <a:bodyPr wrap="square" lIns="0" rIns="0" tIns="0" bIns="0" anchor="t"/>
          <a:lstStyle/>
          <a:p>
            <a:pPr algn="l">
              <a:lnSpc>
                <a:spcPts val="2430"/>
              </a:lnSpc>
            </a:pPr>
            <a:r>
              <a:rPr sz="1800" b="1" dirty="0">
                <a:solidFill>
                  <a:srgbClr val="161616"/>
                </a:solidFill>
                <a:latin typeface="Inter"/>
                <a:cs typeface="Inter"/>
              </a:rPr>
              <a:t>«Lorem ipsum dolor sit amet, consectetur adipiscing elit, sed do eiusmod tempor incididunt ut labore et dolore magna aliqua.»</a:t>
            </a:r>
          </a:p>
        </p:txBody>
      </p:sp>
      <p:cxnSp>
        <p:nvCxnSpPr>
          <p:cNvPr id="67" name="Connector 66"/>
          <p:cNvCxnSpPr/>
          <p:nvPr/>
        </p:nvCxnSpPr>
        <p:spPr>
          <a:xfrm>
            <a:off x="609600" y="4941824"/>
            <a:ext cx="762000" cy="0"/>
          </a:xfrm>
          <a:prstGeom prst="line">
            <a:avLst/>
          </a:prstGeom>
          <a:ln w="19050">
            <a:solidFill>
              <a:srgbClr val="5B4BF5"/>
            </a:solidFill>
            <a:miter lim="800000"/>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09600" y="5081524"/>
            <a:ext cx="5384800" cy="25400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69" name="Rectangle 68"/>
          <p:cNvSpPr/>
          <p:nvPr/>
        </p:nvSpPr>
        <p:spPr>
          <a:xfrm>
            <a:off x="8991600" y="2528824"/>
            <a:ext cx="2590800" cy="1905000"/>
          </a:xfrm>
          <a:prstGeom prst="rect">
            <a:avLst/>
          </a:prstGeom>
          <a:solidFill>
            <a:srgbClr val="EDEDED"/>
          </a:solidFill>
          <a:ln w="6350">
            <a:solidFill>
              <a:srgbClr val="C6C6C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0" name="Connector 69"/>
          <p:cNvCxnSpPr/>
          <p:nvPr/>
        </p:nvCxnSpPr>
        <p:spPr>
          <a:xfrm flipH="1">
            <a:off x="8991600" y="2528824"/>
            <a:ext cx="355600" cy="3556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8991600" y="2528824"/>
            <a:ext cx="711200" cy="7112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8991600" y="2528824"/>
            <a:ext cx="1066800" cy="10668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8991600" y="2528824"/>
            <a:ext cx="1422400" cy="14224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8991600" y="2528824"/>
            <a:ext cx="1778000" cy="1778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9220200" y="2528824"/>
            <a:ext cx="1905000" cy="1905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9575800" y="2528824"/>
            <a:ext cx="1905000" cy="1905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9931400" y="2782824"/>
            <a:ext cx="1651000" cy="1651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0287000" y="3138424"/>
            <a:ext cx="1295400" cy="12954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0642600" y="3494024"/>
            <a:ext cx="939800" cy="9398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0998200" y="3849624"/>
            <a:ext cx="584200" cy="5842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1353800" y="4205224"/>
            <a:ext cx="228600" cy="2286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991600" y="3354324"/>
            <a:ext cx="2590800"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FOTO</a:t>
            </a:r>
          </a:p>
        </p:txBody>
      </p:sp>
      <p:cxnSp>
        <p:nvCxnSpPr>
          <p:cNvPr id="83" name="Connector 82"/>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88" name="TextBox 87"/>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89" name="TextBox 88"/>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D04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5384800"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528824"/>
            <a:ext cx="5384800" cy="292100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28950" y="3640074"/>
            <a:ext cx="546100" cy="546100"/>
          </a:xfrm>
          <a:prstGeom prst="rect">
            <a:avLst/>
          </a:prstGeom>
          <a:noFill/>
          <a:ln w="1905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Freeform 21"/>
          <p:cNvSpPr/>
          <p:nvPr/>
        </p:nvSpPr>
        <p:spPr>
          <a:xfrm>
            <a:off x="3244850" y="3811524"/>
            <a:ext cx="165100" cy="203200"/>
          </a:xfrm>
          <a:custGeom>
            <a:avLst/>
            <a:gdLst/>
            <a:ahLst/>
            <a:cxnLst/>
            <a:rect l="l" t="t" r="r" b="b"/>
            <a:pathLst>
              <a:path w="165100" h="203200">
                <a:moveTo>
                  <a:pt x="0" y="0"/>
                </a:moveTo>
                <a:lnTo>
                  <a:pt x="165100" y="101600"/>
                </a:lnTo>
                <a:lnTo>
                  <a:pt x="0" y="203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600" y="4294124"/>
            <a:ext cx="5384800" cy="190500"/>
          </a:xfrm>
          <a:prstGeom prst="rect">
            <a:avLst/>
          </a:prstGeom>
          <a:noFill/>
          <a:effectLst/>
        </p:spPr>
        <p:txBody>
          <a:bodyPr wrap="square" lIns="0" rIns="0" tIns="0" bIns="0" anchor="t"/>
          <a:lstStyle/>
          <a:p>
            <a:pPr algn="ctr">
              <a:lnSpc>
                <a:spcPts val="800"/>
              </a:lnSpc>
            </a:pPr>
            <a:r>
              <a:rPr sz="800" b="0" spc="112" dirty="0">
                <a:solidFill>
                  <a:srgbClr val="9A9A9A"/>
                </a:solidFill>
                <a:latin typeface="Inter"/>
                <a:cs typeface="Inter"/>
              </a:rPr>
              <a:t>BUCLE / GIF · SIN AUDIO · 8 S</a:t>
            </a:r>
          </a:p>
        </p:txBody>
      </p:sp>
      <p:sp>
        <p:nvSpPr>
          <p:cNvPr id="24" name="TextBox 23"/>
          <p:cNvSpPr txBox="1"/>
          <p:nvPr/>
        </p:nvSpPr>
        <p:spPr>
          <a:xfrm>
            <a:off x="6324600" y="2528824"/>
            <a:ext cx="5257800" cy="1270000"/>
          </a:xfrm>
          <a:prstGeom prst="rect">
            <a:avLst/>
          </a:prstGeom>
          <a:noFill/>
          <a:effectLst/>
        </p:spPr>
        <p:txBody>
          <a:bodyPr wrap="square" lIns="0" rIns="0" tIns="0" bIns="0" anchor="t"/>
          <a:lstStyle/>
          <a:p>
            <a:pPr algn="l">
              <a:lnSpc>
                <a:spcPts val="2170"/>
              </a:lnSpc>
            </a:pPr>
            <a:r>
              <a:rPr sz="1400" b="0" dirty="0">
                <a:solidFill>
                  <a:srgbClr val="525252"/>
                </a:solidFill>
                <a:latin typeface="Inter"/>
                <a:cs typeface="Inter"/>
              </a:rPr>
              <a:t>Lorem ipsum dolor sit amet, consectetur adipiscing elit, sed do eiusmod tempor incididunt ut labore et dolore magna aliqua.</a:t>
            </a:r>
          </a:p>
        </p:txBody>
      </p:sp>
      <p:sp>
        <p:nvSpPr>
          <p:cNvPr id="25" name="TextBox 24"/>
          <p:cNvSpPr txBox="1"/>
          <p:nvPr/>
        </p:nvSpPr>
        <p:spPr>
          <a:xfrm>
            <a:off x="6324600" y="3989324"/>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26" name="TextBox 25"/>
          <p:cNvSpPr txBox="1"/>
          <p:nvPr/>
        </p:nvSpPr>
        <p:spPr>
          <a:xfrm>
            <a:off x="6553200" y="3989324"/>
            <a:ext cx="5029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7" name="TextBox 26"/>
          <p:cNvSpPr txBox="1"/>
          <p:nvPr/>
        </p:nvSpPr>
        <p:spPr>
          <a:xfrm>
            <a:off x="6324600" y="4319524"/>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28" name="TextBox 27"/>
          <p:cNvSpPr txBox="1"/>
          <p:nvPr/>
        </p:nvSpPr>
        <p:spPr>
          <a:xfrm>
            <a:off x="6553200" y="4319524"/>
            <a:ext cx="5029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9" name="TextBox 28"/>
          <p:cNvSpPr txBox="1"/>
          <p:nvPr/>
        </p:nvSpPr>
        <p:spPr>
          <a:xfrm>
            <a:off x="6324600" y="4649724"/>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30" name="TextBox 29"/>
          <p:cNvSpPr txBox="1"/>
          <p:nvPr/>
        </p:nvSpPr>
        <p:spPr>
          <a:xfrm>
            <a:off x="6553200" y="4649724"/>
            <a:ext cx="5029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31" name="TextBox 30"/>
          <p:cNvSpPr txBox="1"/>
          <p:nvPr/>
        </p:nvSpPr>
        <p:spPr>
          <a:xfrm>
            <a:off x="609600" y="5640324"/>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32" name="Connector 3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7" name="TextBox 3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8" name="TextBox 3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D05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Recursos</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Enlaces, plantillas, herramientas y descargas.</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5 PLANTILLAS · E01–E05</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E01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Recurso destacado</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Lista de recursos</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Descarga de plantilla</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Herramienta del stack</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E05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Stack completo</a:t>
            </a:r>
          </a:p>
        </p:txBody>
      </p:sp>
      <p:cxnSp>
        <p:nvCxnSpPr>
          <p:cNvPr id="25" name="Connector 24"/>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30" name="TextBox 2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RECURSO DESTACADO</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sombra"/>
          <p:cNvSpPr/>
          <p:nvPr/>
        </p:nvSpPr>
        <p:spPr>
          <a:xfrm>
            <a:off x="698500" y="2617724"/>
            <a:ext cx="7247467" cy="2540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09600" y="2528824"/>
            <a:ext cx="7247467" cy="2540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63600" y="2782824"/>
            <a:ext cx="53848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PLANTILLA · XLSX</a:t>
            </a:r>
          </a:p>
        </p:txBody>
      </p:sp>
      <p:sp>
        <p:nvSpPr>
          <p:cNvPr id="23" name="TextBox 22"/>
          <p:cNvSpPr txBox="1"/>
          <p:nvPr/>
        </p:nvSpPr>
        <p:spPr>
          <a:xfrm>
            <a:off x="863600" y="3036824"/>
            <a:ext cx="5384800" cy="571500"/>
          </a:xfrm>
          <a:prstGeom prst="rect">
            <a:avLst/>
          </a:prstGeom>
          <a:noFill/>
          <a:effectLst/>
        </p:spPr>
        <p:txBody>
          <a:bodyPr wrap="square" lIns="0" rIns="0" tIns="0" bIns="0" anchor="t"/>
          <a:lstStyle/>
          <a:p>
            <a:pPr algn="l">
              <a:lnSpc>
                <a:spcPts val="2420"/>
              </a:lnSpc>
            </a:pPr>
            <a:r>
              <a:rPr sz="2200" b="1" spc="-44" dirty="0">
                <a:solidFill>
                  <a:srgbClr val="161616"/>
                </a:solidFill>
                <a:latin typeface="Inter"/>
                <a:cs typeface="Inter"/>
              </a:rPr>
              <a:t>Lorem Ipsum Dolor</a:t>
            </a:r>
          </a:p>
        </p:txBody>
      </p:sp>
      <p:sp>
        <p:nvSpPr>
          <p:cNvPr id="24" name="TextBox 23"/>
          <p:cNvSpPr txBox="1"/>
          <p:nvPr/>
        </p:nvSpPr>
        <p:spPr>
          <a:xfrm>
            <a:off x="863600" y="3735324"/>
            <a:ext cx="5384800" cy="762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5" name="TextBox 24"/>
          <p:cNvSpPr txBox="1"/>
          <p:nvPr/>
        </p:nvSpPr>
        <p:spPr>
          <a:xfrm>
            <a:off x="863600" y="4560824"/>
            <a:ext cx="190500" cy="195580"/>
          </a:xfrm>
          <a:prstGeom prst="rect">
            <a:avLst/>
          </a:prstGeom>
          <a:noFill/>
          <a:effectLst/>
        </p:spPr>
        <p:txBody>
          <a:bodyPr wrap="square" lIns="0" rIns="0" tIns="0" bIns="0" anchor="t"/>
          <a:lstStyle/>
          <a:p>
            <a:pPr algn="l">
              <a:lnSpc>
                <a:spcPts val="1100"/>
              </a:lnSpc>
            </a:pPr>
            <a:r>
              <a:rPr sz="1100" b="1" dirty="0">
                <a:solidFill>
                  <a:srgbClr val="5B4BF5"/>
                </a:solidFill>
                <a:latin typeface="Inter"/>
                <a:cs typeface="Inter"/>
              </a:rPr>
              <a:t>→</a:t>
            </a:r>
          </a:p>
        </p:txBody>
      </p:sp>
      <p:sp>
        <p:nvSpPr>
          <p:cNvPr id="26" name="TextBox 25"/>
          <p:cNvSpPr txBox="1"/>
          <p:nvPr/>
        </p:nvSpPr>
        <p:spPr>
          <a:xfrm>
            <a:off x="1066800" y="4560824"/>
            <a:ext cx="4826000" cy="195580"/>
          </a:xfrm>
          <a:prstGeom prst="rect">
            <a:avLst/>
          </a:prstGeom>
          <a:noFill/>
          <a:effectLst/>
        </p:spPr>
        <p:txBody>
          <a:bodyPr wrap="square" lIns="0" rIns="0" tIns="0" bIns="0" anchor="t"/>
          <a:lstStyle/>
          <a:p>
            <a:pPr algn="l">
              <a:lnSpc>
                <a:spcPts val="1100"/>
              </a:lnSpc>
            </a:pPr>
            <a:r>
              <a:rPr sz="1100" b="1" dirty="0">
                <a:solidFill>
                  <a:srgbClr val="5B4BF5"/>
                </a:solidFill>
                <a:latin typeface="Inter"/>
                <a:cs typeface="Inter"/>
              </a:rPr>
              <a:t>lorem-ipsum.com/dolor-sit-amet</a:t>
            </a:r>
          </a:p>
        </p:txBody>
      </p:sp>
      <p:cxnSp>
        <p:nvCxnSpPr>
          <p:cNvPr id="27" name="Connector 26"/>
          <p:cNvCxnSpPr/>
          <p:nvPr/>
        </p:nvCxnSpPr>
        <p:spPr>
          <a:xfrm>
            <a:off x="863600" y="4794504"/>
            <a:ext cx="2508250" cy="0"/>
          </a:xfrm>
          <a:prstGeom prst="line">
            <a:avLst/>
          </a:prstGeom>
          <a:ln w="12700">
            <a:solidFill>
              <a:srgbClr val="5B4BF5"/>
            </a:solidFill>
            <a:miter lim="800000"/>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991600" y="2782824"/>
            <a:ext cx="1206500" cy="1206500"/>
          </a:xfrm>
          <a:prstGeom prst="rect">
            <a:avLst/>
          </a:prstGeom>
          <a:solidFill>
            <a:srgbClr val="FFFFFF"/>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055100"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127067"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199033"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9271000"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342967"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9414933"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9486900"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630833"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9774767"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9846733"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9918700"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9990667"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10062633" y="28463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9055100" y="29182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9486900" y="29182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846733" y="29182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9055100"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9199033"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9271000"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9342967"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9486900"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9702800"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9846733"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9918700"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9990667" y="29902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9055100"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9199033"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271000"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9342967"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9486900"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9630833"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9702800"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9846733"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9918700"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9990667" y="30622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9055100" y="31341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9199033" y="31341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9271000" y="31341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9342967" y="31341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9486900" y="31341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9846733" y="31341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9918700" y="31341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9990667" y="31341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9055100" y="32061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9486900" y="32061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9630833" y="32061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9846733" y="32061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9055100"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9127067"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ectangle 77"/>
          <p:cNvSpPr/>
          <p:nvPr/>
        </p:nvSpPr>
        <p:spPr>
          <a:xfrm>
            <a:off x="9199033"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9271000"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ectangle 79"/>
          <p:cNvSpPr/>
          <p:nvPr/>
        </p:nvSpPr>
        <p:spPr>
          <a:xfrm>
            <a:off x="9342967"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ectangle 80"/>
          <p:cNvSpPr/>
          <p:nvPr/>
        </p:nvSpPr>
        <p:spPr>
          <a:xfrm>
            <a:off x="9414933"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ectangle 81"/>
          <p:cNvSpPr/>
          <p:nvPr/>
        </p:nvSpPr>
        <p:spPr>
          <a:xfrm>
            <a:off x="9486900"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9630833"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9774767"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9846733"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9918700"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9990667"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10062633" y="32781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9558867" y="33500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9702800" y="33500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9055100"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9127067"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9271000"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9414933"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9486900"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9630833"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9702800"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9774767"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9918700"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9990667" y="34220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9199033" y="34940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9486900" y="34940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9846733" y="34940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10062633" y="34940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9055100"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9127067"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9199033"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Rectangle 107"/>
          <p:cNvSpPr/>
          <p:nvPr/>
        </p:nvSpPr>
        <p:spPr>
          <a:xfrm>
            <a:off x="9342967"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9414933"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ectangle 109"/>
          <p:cNvSpPr/>
          <p:nvPr/>
        </p:nvSpPr>
        <p:spPr>
          <a:xfrm>
            <a:off x="9558867"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Rectangle 110"/>
          <p:cNvSpPr/>
          <p:nvPr/>
        </p:nvSpPr>
        <p:spPr>
          <a:xfrm>
            <a:off x="9630833"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2" name="Rectangle 111"/>
          <p:cNvSpPr/>
          <p:nvPr/>
        </p:nvSpPr>
        <p:spPr>
          <a:xfrm>
            <a:off x="9774767"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9918700"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ectangle 113"/>
          <p:cNvSpPr/>
          <p:nvPr/>
        </p:nvSpPr>
        <p:spPr>
          <a:xfrm>
            <a:off x="9990667"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Rectangle 114"/>
          <p:cNvSpPr/>
          <p:nvPr/>
        </p:nvSpPr>
        <p:spPr>
          <a:xfrm>
            <a:off x="10062633" y="35659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Rectangle 115"/>
          <p:cNvSpPr/>
          <p:nvPr/>
        </p:nvSpPr>
        <p:spPr>
          <a:xfrm>
            <a:off x="9271000" y="36379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ectangle 116"/>
          <p:cNvSpPr/>
          <p:nvPr/>
        </p:nvSpPr>
        <p:spPr>
          <a:xfrm>
            <a:off x="9558867" y="36379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ectangle 117"/>
          <p:cNvSpPr/>
          <p:nvPr/>
        </p:nvSpPr>
        <p:spPr>
          <a:xfrm>
            <a:off x="9702800" y="36379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Rectangle 118"/>
          <p:cNvSpPr/>
          <p:nvPr/>
        </p:nvSpPr>
        <p:spPr>
          <a:xfrm>
            <a:off x="9990667" y="36379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ectangle 119"/>
          <p:cNvSpPr/>
          <p:nvPr/>
        </p:nvSpPr>
        <p:spPr>
          <a:xfrm>
            <a:off x="9055100"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ectangle 120"/>
          <p:cNvSpPr/>
          <p:nvPr/>
        </p:nvSpPr>
        <p:spPr>
          <a:xfrm>
            <a:off x="9127067"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9199033"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Rectangle 122"/>
          <p:cNvSpPr/>
          <p:nvPr/>
        </p:nvSpPr>
        <p:spPr>
          <a:xfrm>
            <a:off x="9271000"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ectangle 123"/>
          <p:cNvSpPr/>
          <p:nvPr/>
        </p:nvSpPr>
        <p:spPr>
          <a:xfrm>
            <a:off x="9342967"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Rectangle 124"/>
          <p:cNvSpPr/>
          <p:nvPr/>
        </p:nvSpPr>
        <p:spPr>
          <a:xfrm>
            <a:off x="9414933"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Rectangle 125"/>
          <p:cNvSpPr/>
          <p:nvPr/>
        </p:nvSpPr>
        <p:spPr>
          <a:xfrm>
            <a:off x="9486900"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ectangle 126"/>
          <p:cNvSpPr/>
          <p:nvPr/>
        </p:nvSpPr>
        <p:spPr>
          <a:xfrm>
            <a:off x="9702800"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Rectangle 127"/>
          <p:cNvSpPr/>
          <p:nvPr/>
        </p:nvSpPr>
        <p:spPr>
          <a:xfrm>
            <a:off x="9774767"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ectangle 128"/>
          <p:cNvSpPr/>
          <p:nvPr/>
        </p:nvSpPr>
        <p:spPr>
          <a:xfrm>
            <a:off x="9918700"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Rectangle 129"/>
          <p:cNvSpPr/>
          <p:nvPr/>
        </p:nvSpPr>
        <p:spPr>
          <a:xfrm>
            <a:off x="10062633" y="3709924"/>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1" name="Rectangle 130"/>
          <p:cNvSpPr/>
          <p:nvPr/>
        </p:nvSpPr>
        <p:spPr>
          <a:xfrm>
            <a:off x="9055100" y="37818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ectangle 131"/>
          <p:cNvSpPr/>
          <p:nvPr/>
        </p:nvSpPr>
        <p:spPr>
          <a:xfrm>
            <a:off x="9486900" y="37818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Rectangle 132"/>
          <p:cNvSpPr/>
          <p:nvPr/>
        </p:nvSpPr>
        <p:spPr>
          <a:xfrm>
            <a:off x="9630833" y="37818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9774767" y="37818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Rectangle 134"/>
          <p:cNvSpPr/>
          <p:nvPr/>
        </p:nvSpPr>
        <p:spPr>
          <a:xfrm>
            <a:off x="9846733" y="37818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Rectangle 135"/>
          <p:cNvSpPr/>
          <p:nvPr/>
        </p:nvSpPr>
        <p:spPr>
          <a:xfrm>
            <a:off x="10062633" y="3781891"/>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7" name="Rectangle 136"/>
          <p:cNvSpPr/>
          <p:nvPr/>
        </p:nvSpPr>
        <p:spPr>
          <a:xfrm>
            <a:off x="9055100"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Rectangle 137"/>
          <p:cNvSpPr/>
          <p:nvPr/>
        </p:nvSpPr>
        <p:spPr>
          <a:xfrm>
            <a:off x="9199033"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9" name="Rectangle 138"/>
          <p:cNvSpPr/>
          <p:nvPr/>
        </p:nvSpPr>
        <p:spPr>
          <a:xfrm>
            <a:off x="9271000"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Rectangle 139"/>
          <p:cNvSpPr/>
          <p:nvPr/>
        </p:nvSpPr>
        <p:spPr>
          <a:xfrm>
            <a:off x="9342967"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Rectangle 140"/>
          <p:cNvSpPr/>
          <p:nvPr/>
        </p:nvSpPr>
        <p:spPr>
          <a:xfrm>
            <a:off x="9486900"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Rectangle 141"/>
          <p:cNvSpPr/>
          <p:nvPr/>
        </p:nvSpPr>
        <p:spPr>
          <a:xfrm>
            <a:off x="9558867"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3" name="Rectangle 142"/>
          <p:cNvSpPr/>
          <p:nvPr/>
        </p:nvSpPr>
        <p:spPr>
          <a:xfrm>
            <a:off x="9774767"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Rectangle 143"/>
          <p:cNvSpPr/>
          <p:nvPr/>
        </p:nvSpPr>
        <p:spPr>
          <a:xfrm>
            <a:off x="9846733"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5" name="Rectangle 144"/>
          <p:cNvSpPr/>
          <p:nvPr/>
        </p:nvSpPr>
        <p:spPr>
          <a:xfrm>
            <a:off x="9918700"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Rectangle 145"/>
          <p:cNvSpPr/>
          <p:nvPr/>
        </p:nvSpPr>
        <p:spPr>
          <a:xfrm>
            <a:off x="9990667" y="3853857"/>
            <a:ext cx="75142" cy="751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7" name="TextBox 146"/>
          <p:cNvSpPr txBox="1"/>
          <p:nvPr/>
        </p:nvSpPr>
        <p:spPr>
          <a:xfrm>
            <a:off x="8991600" y="4116324"/>
            <a:ext cx="1206500" cy="254000"/>
          </a:xfrm>
          <a:prstGeom prst="rect">
            <a:avLst/>
          </a:prstGeom>
          <a:noFill/>
          <a:effectLst/>
        </p:spPr>
        <p:txBody>
          <a:bodyPr wrap="square" lIns="0" rIns="0" tIns="0" bIns="0" anchor="t"/>
          <a:lstStyle/>
          <a:p>
            <a:pPr algn="ctr">
              <a:lnSpc>
                <a:spcPts val="700"/>
              </a:lnSpc>
            </a:pPr>
            <a:r>
              <a:rPr sz="700" b="1" spc="98" dirty="0">
                <a:solidFill>
                  <a:srgbClr val="8D8D8D"/>
                </a:solidFill>
                <a:latin typeface="Inter"/>
                <a:cs typeface="Inter"/>
              </a:rPr>
              <a:t>ESCANEA</a:t>
            </a:r>
          </a:p>
        </p:txBody>
      </p:sp>
      <p:cxnSp>
        <p:nvCxnSpPr>
          <p:cNvPr id="148" name="Connector 147"/>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49" name="Freeform 148"/>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Freeform 150"/>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53" name="TextBox 152"/>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154" name="TextBox 153"/>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E01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RECURSOS</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089912"/>
            <a:ext cx="8178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2216912"/>
            <a:ext cx="5384800" cy="254000"/>
          </a:xfrm>
          <a:prstGeom prst="rect">
            <a:avLst/>
          </a:prstGeom>
          <a:noFill/>
          <a:effectLst/>
        </p:spPr>
        <p:txBody>
          <a:bodyPr wrap="square" lIns="0" rIns="0" tIns="0" bIns="0" anchor="t"/>
          <a:lstStyle/>
          <a:p>
            <a:pPr algn="l">
              <a:lnSpc>
                <a:spcPts val="2160"/>
              </a:lnSpc>
            </a:pPr>
            <a:r>
              <a:rPr sz="1800" b="1" spc="-18" dirty="0">
                <a:solidFill>
                  <a:srgbClr val="161616"/>
                </a:solidFill>
                <a:latin typeface="Inter"/>
                <a:cs typeface="Inter"/>
              </a:rPr>
              <a:t>Lorem Ipsum Dolor</a:t>
            </a:r>
          </a:p>
        </p:txBody>
      </p:sp>
      <p:sp>
        <p:nvSpPr>
          <p:cNvPr id="22" name="TextBox 21"/>
          <p:cNvSpPr txBox="1"/>
          <p:nvPr/>
        </p:nvSpPr>
        <p:spPr>
          <a:xfrm>
            <a:off x="609600" y="2572512"/>
            <a:ext cx="5384800" cy="215900"/>
          </a:xfrm>
          <a:prstGeom prst="rect">
            <a:avLst/>
          </a:prstGeom>
          <a:noFill/>
          <a:effectLst/>
        </p:spPr>
        <p:txBody>
          <a:bodyPr wrap="square" lIns="0" rIns="0" tIns="0" bIns="0" anchor="t"/>
          <a:lstStyle/>
          <a:p>
            <a:pPr algn="l">
              <a:lnSpc>
                <a:spcPts val="1080"/>
              </a:lnSpc>
            </a:pPr>
            <a:r>
              <a:rPr sz="900" b="1" dirty="0">
                <a:solidFill>
                  <a:srgbClr val="5B4BF5"/>
                </a:solidFill>
                <a:latin typeface="Inter"/>
                <a:cs typeface="Inter"/>
              </a:rPr>
              <a:t>lorem-ipsum.com/dolor-sit-amet</a:t>
            </a:r>
          </a:p>
        </p:txBody>
      </p:sp>
      <p:sp>
        <p:nvSpPr>
          <p:cNvPr id="23" name="TextBox 22"/>
          <p:cNvSpPr txBox="1"/>
          <p:nvPr/>
        </p:nvSpPr>
        <p:spPr>
          <a:xfrm>
            <a:off x="609600" y="2801112"/>
            <a:ext cx="5384800" cy="381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24" name="TextBox 23"/>
          <p:cNvSpPr txBox="1"/>
          <p:nvPr/>
        </p:nvSpPr>
        <p:spPr>
          <a:xfrm>
            <a:off x="7128933" y="2216912"/>
            <a:ext cx="1659467" cy="1905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ARTÍCULO</a:t>
            </a:r>
          </a:p>
        </p:txBody>
      </p:sp>
      <p:sp>
        <p:nvSpPr>
          <p:cNvPr id="25" name="TextBox 24"/>
          <p:cNvSpPr txBox="1"/>
          <p:nvPr/>
        </p:nvSpPr>
        <p:spPr>
          <a:xfrm>
            <a:off x="7128933" y="2445512"/>
            <a:ext cx="1659467" cy="190500"/>
          </a:xfrm>
          <a:prstGeom prst="rect">
            <a:avLst/>
          </a:prstGeom>
          <a:noFill/>
          <a:effectLst/>
        </p:spPr>
        <p:txBody>
          <a:bodyPr wrap="square" lIns="0" rIns="0" tIns="0" bIns="0" anchor="t"/>
          <a:lstStyle/>
          <a:p>
            <a:pPr algn="l">
              <a:lnSpc>
                <a:spcPts val="1080"/>
              </a:lnSpc>
            </a:pPr>
            <a:r>
              <a:rPr sz="900" b="0" dirty="0">
                <a:solidFill>
                  <a:srgbClr val="6F6F6F"/>
                </a:solidFill>
                <a:latin typeface="Inter"/>
                <a:cs typeface="Inter"/>
              </a:rPr>
              <a:t>8 min</a:t>
            </a:r>
          </a:p>
        </p:txBody>
      </p:sp>
      <p:cxnSp>
        <p:nvCxnSpPr>
          <p:cNvPr id="26" name="Connector 25"/>
          <p:cNvCxnSpPr/>
          <p:nvPr/>
        </p:nvCxnSpPr>
        <p:spPr>
          <a:xfrm>
            <a:off x="609600" y="3296412"/>
            <a:ext cx="8178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9600" y="3423412"/>
            <a:ext cx="5384800" cy="254000"/>
          </a:xfrm>
          <a:prstGeom prst="rect">
            <a:avLst/>
          </a:prstGeom>
          <a:noFill/>
          <a:effectLst/>
        </p:spPr>
        <p:txBody>
          <a:bodyPr wrap="square" lIns="0" rIns="0" tIns="0" bIns="0" anchor="t"/>
          <a:lstStyle/>
          <a:p>
            <a:pPr algn="l">
              <a:lnSpc>
                <a:spcPts val="2160"/>
              </a:lnSpc>
            </a:pPr>
            <a:r>
              <a:rPr sz="1800" b="1" spc="-18" dirty="0">
                <a:solidFill>
                  <a:srgbClr val="161616"/>
                </a:solidFill>
                <a:latin typeface="Inter"/>
                <a:cs typeface="Inter"/>
              </a:rPr>
              <a:t>Lorem Ipsum Dolor</a:t>
            </a:r>
          </a:p>
        </p:txBody>
      </p:sp>
      <p:sp>
        <p:nvSpPr>
          <p:cNvPr id="28" name="TextBox 27"/>
          <p:cNvSpPr txBox="1"/>
          <p:nvPr/>
        </p:nvSpPr>
        <p:spPr>
          <a:xfrm>
            <a:off x="609600" y="3779012"/>
            <a:ext cx="5384800" cy="215900"/>
          </a:xfrm>
          <a:prstGeom prst="rect">
            <a:avLst/>
          </a:prstGeom>
          <a:noFill/>
          <a:effectLst/>
        </p:spPr>
        <p:txBody>
          <a:bodyPr wrap="square" lIns="0" rIns="0" tIns="0" bIns="0" anchor="t"/>
          <a:lstStyle/>
          <a:p>
            <a:pPr algn="l">
              <a:lnSpc>
                <a:spcPts val="1080"/>
              </a:lnSpc>
            </a:pPr>
            <a:r>
              <a:rPr sz="900" b="1" dirty="0">
                <a:solidFill>
                  <a:srgbClr val="5B4BF5"/>
                </a:solidFill>
                <a:latin typeface="Inter"/>
                <a:cs typeface="Inter"/>
              </a:rPr>
              <a:t>lorem-ipsum.com/dolor-sit-amet</a:t>
            </a:r>
          </a:p>
        </p:txBody>
      </p:sp>
      <p:sp>
        <p:nvSpPr>
          <p:cNvPr id="29" name="TextBox 28"/>
          <p:cNvSpPr txBox="1"/>
          <p:nvPr/>
        </p:nvSpPr>
        <p:spPr>
          <a:xfrm>
            <a:off x="609600" y="4007612"/>
            <a:ext cx="5384800" cy="381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30" name="TextBox 29"/>
          <p:cNvSpPr txBox="1"/>
          <p:nvPr/>
        </p:nvSpPr>
        <p:spPr>
          <a:xfrm>
            <a:off x="7128933" y="3423412"/>
            <a:ext cx="1659467" cy="1905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PLANTILLA</a:t>
            </a:r>
          </a:p>
        </p:txBody>
      </p:sp>
      <p:sp>
        <p:nvSpPr>
          <p:cNvPr id="31" name="TextBox 30"/>
          <p:cNvSpPr txBox="1"/>
          <p:nvPr/>
        </p:nvSpPr>
        <p:spPr>
          <a:xfrm>
            <a:off x="7128933" y="3652012"/>
            <a:ext cx="1659467" cy="190500"/>
          </a:xfrm>
          <a:prstGeom prst="rect">
            <a:avLst/>
          </a:prstGeom>
          <a:noFill/>
          <a:effectLst/>
        </p:spPr>
        <p:txBody>
          <a:bodyPr wrap="square" lIns="0" rIns="0" tIns="0" bIns="0" anchor="t"/>
          <a:lstStyle/>
          <a:p>
            <a:pPr algn="l">
              <a:lnSpc>
                <a:spcPts val="1080"/>
              </a:lnSpc>
            </a:pPr>
            <a:r>
              <a:rPr sz="900" b="0" dirty="0">
                <a:solidFill>
                  <a:srgbClr val="6F6F6F"/>
                </a:solidFill>
                <a:latin typeface="Inter"/>
                <a:cs typeface="Inter"/>
              </a:rPr>
              <a:t>descarga</a:t>
            </a:r>
          </a:p>
        </p:txBody>
      </p:sp>
      <p:cxnSp>
        <p:nvCxnSpPr>
          <p:cNvPr id="32" name="Connector 31"/>
          <p:cNvCxnSpPr/>
          <p:nvPr/>
        </p:nvCxnSpPr>
        <p:spPr>
          <a:xfrm>
            <a:off x="609600" y="4502912"/>
            <a:ext cx="8178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09600" y="4629912"/>
            <a:ext cx="5384800" cy="254000"/>
          </a:xfrm>
          <a:prstGeom prst="rect">
            <a:avLst/>
          </a:prstGeom>
          <a:noFill/>
          <a:effectLst/>
        </p:spPr>
        <p:txBody>
          <a:bodyPr wrap="square" lIns="0" rIns="0" tIns="0" bIns="0" anchor="t"/>
          <a:lstStyle/>
          <a:p>
            <a:pPr algn="l">
              <a:lnSpc>
                <a:spcPts val="2160"/>
              </a:lnSpc>
            </a:pPr>
            <a:r>
              <a:rPr sz="1800" b="1" spc="-18" dirty="0">
                <a:solidFill>
                  <a:srgbClr val="161616"/>
                </a:solidFill>
                <a:latin typeface="Inter"/>
                <a:cs typeface="Inter"/>
              </a:rPr>
              <a:t>Lorem Ipsum Dolor</a:t>
            </a:r>
          </a:p>
        </p:txBody>
      </p:sp>
      <p:sp>
        <p:nvSpPr>
          <p:cNvPr id="34" name="TextBox 33"/>
          <p:cNvSpPr txBox="1"/>
          <p:nvPr/>
        </p:nvSpPr>
        <p:spPr>
          <a:xfrm>
            <a:off x="609600" y="4985512"/>
            <a:ext cx="5384800" cy="215900"/>
          </a:xfrm>
          <a:prstGeom prst="rect">
            <a:avLst/>
          </a:prstGeom>
          <a:noFill/>
          <a:effectLst/>
        </p:spPr>
        <p:txBody>
          <a:bodyPr wrap="square" lIns="0" rIns="0" tIns="0" bIns="0" anchor="t"/>
          <a:lstStyle/>
          <a:p>
            <a:pPr algn="l">
              <a:lnSpc>
                <a:spcPts val="1080"/>
              </a:lnSpc>
            </a:pPr>
            <a:r>
              <a:rPr sz="900" b="1" dirty="0">
                <a:solidFill>
                  <a:srgbClr val="5B4BF5"/>
                </a:solidFill>
                <a:latin typeface="Inter"/>
                <a:cs typeface="Inter"/>
              </a:rPr>
              <a:t>lorem-ipsum.com/dolor-sit-amet</a:t>
            </a:r>
          </a:p>
        </p:txBody>
      </p:sp>
      <p:sp>
        <p:nvSpPr>
          <p:cNvPr id="35" name="TextBox 34"/>
          <p:cNvSpPr txBox="1"/>
          <p:nvPr/>
        </p:nvSpPr>
        <p:spPr>
          <a:xfrm>
            <a:off x="609600" y="5214112"/>
            <a:ext cx="5384800" cy="381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36" name="TextBox 35"/>
          <p:cNvSpPr txBox="1"/>
          <p:nvPr/>
        </p:nvSpPr>
        <p:spPr>
          <a:xfrm>
            <a:off x="7128933" y="4629912"/>
            <a:ext cx="1659467" cy="1905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VÍDEO</a:t>
            </a:r>
          </a:p>
        </p:txBody>
      </p:sp>
      <p:sp>
        <p:nvSpPr>
          <p:cNvPr id="37" name="TextBox 36"/>
          <p:cNvSpPr txBox="1"/>
          <p:nvPr/>
        </p:nvSpPr>
        <p:spPr>
          <a:xfrm>
            <a:off x="7128933" y="4858512"/>
            <a:ext cx="1659467" cy="190500"/>
          </a:xfrm>
          <a:prstGeom prst="rect">
            <a:avLst/>
          </a:prstGeom>
          <a:noFill/>
          <a:effectLst/>
        </p:spPr>
        <p:txBody>
          <a:bodyPr wrap="square" lIns="0" rIns="0" tIns="0" bIns="0" anchor="t"/>
          <a:lstStyle/>
          <a:p>
            <a:pPr algn="l">
              <a:lnSpc>
                <a:spcPts val="1080"/>
              </a:lnSpc>
            </a:pPr>
            <a:r>
              <a:rPr sz="900" b="0" dirty="0">
                <a:solidFill>
                  <a:srgbClr val="6F6F6F"/>
                </a:solidFill>
                <a:latin typeface="Inter"/>
                <a:cs typeface="Inter"/>
              </a:rPr>
              <a:t>12 min</a:t>
            </a:r>
          </a:p>
        </p:txBody>
      </p:sp>
      <p:sp>
        <p:nvSpPr>
          <p:cNvPr id="38" name="Rectangle 37"/>
          <p:cNvSpPr/>
          <p:nvPr/>
        </p:nvSpPr>
        <p:spPr>
          <a:xfrm>
            <a:off x="9245600" y="2343912"/>
            <a:ext cx="1079500" cy="1079500"/>
          </a:xfrm>
          <a:prstGeom prst="rect">
            <a:avLst/>
          </a:prstGeom>
          <a:solidFill>
            <a:srgbClr val="FFFFFF"/>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93091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93726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94361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94996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95631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6266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96901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98171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99441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100076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100711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101346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10198100" y="2407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9309100" y="2470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9690100" y="2470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10007600" y="2470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93091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4361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94996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95631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96901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98806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100076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100711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10134600" y="2534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93091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94361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94996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95631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96901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98171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98806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100076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100711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10134600" y="2597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9309100" y="2661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9436100" y="2661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9499600" y="2661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9563100" y="2661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ectangle 77"/>
          <p:cNvSpPr/>
          <p:nvPr/>
        </p:nvSpPr>
        <p:spPr>
          <a:xfrm>
            <a:off x="9690100" y="2661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10007600" y="2661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ectangle 79"/>
          <p:cNvSpPr/>
          <p:nvPr/>
        </p:nvSpPr>
        <p:spPr>
          <a:xfrm>
            <a:off x="10071100" y="2661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ectangle 80"/>
          <p:cNvSpPr/>
          <p:nvPr/>
        </p:nvSpPr>
        <p:spPr>
          <a:xfrm>
            <a:off x="10134600" y="2661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ectangle 81"/>
          <p:cNvSpPr/>
          <p:nvPr/>
        </p:nvSpPr>
        <p:spPr>
          <a:xfrm>
            <a:off x="9309100" y="2724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9690100" y="2724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9817100" y="2724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10007600" y="2724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93091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93726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94361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94996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95631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96266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96901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98171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99441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100076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100711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101346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10198100" y="2788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9753600" y="2851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9880600" y="2851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93091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93726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94996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96266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96901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98171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98806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Rectangle 107"/>
          <p:cNvSpPr/>
          <p:nvPr/>
        </p:nvSpPr>
        <p:spPr>
          <a:xfrm>
            <a:off x="99441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100711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ectangle 109"/>
          <p:cNvSpPr/>
          <p:nvPr/>
        </p:nvSpPr>
        <p:spPr>
          <a:xfrm>
            <a:off x="10134600" y="2915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Rectangle 110"/>
          <p:cNvSpPr/>
          <p:nvPr/>
        </p:nvSpPr>
        <p:spPr>
          <a:xfrm>
            <a:off x="9436100" y="2978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2" name="Rectangle 111"/>
          <p:cNvSpPr/>
          <p:nvPr/>
        </p:nvSpPr>
        <p:spPr>
          <a:xfrm>
            <a:off x="9690100" y="2978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10007600" y="2978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ectangle 113"/>
          <p:cNvSpPr/>
          <p:nvPr/>
        </p:nvSpPr>
        <p:spPr>
          <a:xfrm>
            <a:off x="10198100" y="2978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Rectangle 114"/>
          <p:cNvSpPr/>
          <p:nvPr/>
        </p:nvSpPr>
        <p:spPr>
          <a:xfrm>
            <a:off x="93091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Rectangle 115"/>
          <p:cNvSpPr/>
          <p:nvPr/>
        </p:nvSpPr>
        <p:spPr>
          <a:xfrm>
            <a:off x="93726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ectangle 116"/>
          <p:cNvSpPr/>
          <p:nvPr/>
        </p:nvSpPr>
        <p:spPr>
          <a:xfrm>
            <a:off x="94361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ectangle 117"/>
          <p:cNvSpPr/>
          <p:nvPr/>
        </p:nvSpPr>
        <p:spPr>
          <a:xfrm>
            <a:off x="95631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Rectangle 118"/>
          <p:cNvSpPr/>
          <p:nvPr/>
        </p:nvSpPr>
        <p:spPr>
          <a:xfrm>
            <a:off x="96266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ectangle 119"/>
          <p:cNvSpPr/>
          <p:nvPr/>
        </p:nvSpPr>
        <p:spPr>
          <a:xfrm>
            <a:off x="97536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ectangle 120"/>
          <p:cNvSpPr/>
          <p:nvPr/>
        </p:nvSpPr>
        <p:spPr>
          <a:xfrm>
            <a:off x="98171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99441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Rectangle 122"/>
          <p:cNvSpPr/>
          <p:nvPr/>
        </p:nvSpPr>
        <p:spPr>
          <a:xfrm>
            <a:off x="100711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ectangle 123"/>
          <p:cNvSpPr/>
          <p:nvPr/>
        </p:nvSpPr>
        <p:spPr>
          <a:xfrm>
            <a:off x="101346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Rectangle 124"/>
          <p:cNvSpPr/>
          <p:nvPr/>
        </p:nvSpPr>
        <p:spPr>
          <a:xfrm>
            <a:off x="10198100" y="3042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Rectangle 125"/>
          <p:cNvSpPr/>
          <p:nvPr/>
        </p:nvSpPr>
        <p:spPr>
          <a:xfrm>
            <a:off x="9499600" y="3105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ectangle 126"/>
          <p:cNvSpPr/>
          <p:nvPr/>
        </p:nvSpPr>
        <p:spPr>
          <a:xfrm>
            <a:off x="9753600" y="3105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Rectangle 127"/>
          <p:cNvSpPr/>
          <p:nvPr/>
        </p:nvSpPr>
        <p:spPr>
          <a:xfrm>
            <a:off x="9880600" y="3105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ectangle 128"/>
          <p:cNvSpPr/>
          <p:nvPr/>
        </p:nvSpPr>
        <p:spPr>
          <a:xfrm>
            <a:off x="10134600" y="3105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Rectangle 129"/>
          <p:cNvSpPr/>
          <p:nvPr/>
        </p:nvSpPr>
        <p:spPr>
          <a:xfrm>
            <a:off x="93091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1" name="Rectangle 130"/>
          <p:cNvSpPr/>
          <p:nvPr/>
        </p:nvSpPr>
        <p:spPr>
          <a:xfrm>
            <a:off x="93726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ectangle 131"/>
          <p:cNvSpPr/>
          <p:nvPr/>
        </p:nvSpPr>
        <p:spPr>
          <a:xfrm>
            <a:off x="94361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Rectangle 132"/>
          <p:cNvSpPr/>
          <p:nvPr/>
        </p:nvSpPr>
        <p:spPr>
          <a:xfrm>
            <a:off x="94996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95631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Rectangle 134"/>
          <p:cNvSpPr/>
          <p:nvPr/>
        </p:nvSpPr>
        <p:spPr>
          <a:xfrm>
            <a:off x="96266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Rectangle 135"/>
          <p:cNvSpPr/>
          <p:nvPr/>
        </p:nvSpPr>
        <p:spPr>
          <a:xfrm>
            <a:off x="96901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7" name="Rectangle 136"/>
          <p:cNvSpPr/>
          <p:nvPr/>
        </p:nvSpPr>
        <p:spPr>
          <a:xfrm>
            <a:off x="98806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Rectangle 137"/>
          <p:cNvSpPr/>
          <p:nvPr/>
        </p:nvSpPr>
        <p:spPr>
          <a:xfrm>
            <a:off x="99441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9" name="Rectangle 138"/>
          <p:cNvSpPr/>
          <p:nvPr/>
        </p:nvSpPr>
        <p:spPr>
          <a:xfrm>
            <a:off x="100711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Rectangle 139"/>
          <p:cNvSpPr/>
          <p:nvPr/>
        </p:nvSpPr>
        <p:spPr>
          <a:xfrm>
            <a:off x="10198100" y="3169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Rectangle 140"/>
          <p:cNvSpPr/>
          <p:nvPr/>
        </p:nvSpPr>
        <p:spPr>
          <a:xfrm>
            <a:off x="9309100" y="3232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Rectangle 141"/>
          <p:cNvSpPr/>
          <p:nvPr/>
        </p:nvSpPr>
        <p:spPr>
          <a:xfrm>
            <a:off x="9690100" y="3232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3" name="Rectangle 142"/>
          <p:cNvSpPr/>
          <p:nvPr/>
        </p:nvSpPr>
        <p:spPr>
          <a:xfrm>
            <a:off x="9817100" y="3232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Rectangle 143"/>
          <p:cNvSpPr/>
          <p:nvPr/>
        </p:nvSpPr>
        <p:spPr>
          <a:xfrm>
            <a:off x="9944100" y="3232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5" name="Rectangle 144"/>
          <p:cNvSpPr/>
          <p:nvPr/>
        </p:nvSpPr>
        <p:spPr>
          <a:xfrm>
            <a:off x="10007600" y="3232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Rectangle 145"/>
          <p:cNvSpPr/>
          <p:nvPr/>
        </p:nvSpPr>
        <p:spPr>
          <a:xfrm>
            <a:off x="10198100" y="32329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7" name="Rectangle 146"/>
          <p:cNvSpPr/>
          <p:nvPr/>
        </p:nvSpPr>
        <p:spPr>
          <a:xfrm>
            <a:off x="93091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8" name="Rectangle 147"/>
          <p:cNvSpPr/>
          <p:nvPr/>
        </p:nvSpPr>
        <p:spPr>
          <a:xfrm>
            <a:off x="94361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9" name="Rectangle 148"/>
          <p:cNvSpPr/>
          <p:nvPr/>
        </p:nvSpPr>
        <p:spPr>
          <a:xfrm>
            <a:off x="94996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0" name="Rectangle 149"/>
          <p:cNvSpPr/>
          <p:nvPr/>
        </p:nvSpPr>
        <p:spPr>
          <a:xfrm>
            <a:off x="95631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1" name="Rectangle 150"/>
          <p:cNvSpPr/>
          <p:nvPr/>
        </p:nvSpPr>
        <p:spPr>
          <a:xfrm>
            <a:off x="96901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2" name="Rectangle 151"/>
          <p:cNvSpPr/>
          <p:nvPr/>
        </p:nvSpPr>
        <p:spPr>
          <a:xfrm>
            <a:off x="97536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 name="Rectangle 152"/>
          <p:cNvSpPr/>
          <p:nvPr/>
        </p:nvSpPr>
        <p:spPr>
          <a:xfrm>
            <a:off x="99441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 name="Rectangle 153"/>
          <p:cNvSpPr/>
          <p:nvPr/>
        </p:nvSpPr>
        <p:spPr>
          <a:xfrm>
            <a:off x="100076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5" name="Rectangle 154"/>
          <p:cNvSpPr/>
          <p:nvPr/>
        </p:nvSpPr>
        <p:spPr>
          <a:xfrm>
            <a:off x="100711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6" name="Rectangle 155"/>
          <p:cNvSpPr/>
          <p:nvPr/>
        </p:nvSpPr>
        <p:spPr>
          <a:xfrm>
            <a:off x="10134600" y="3296412"/>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7" name="TextBox 156"/>
          <p:cNvSpPr txBox="1"/>
          <p:nvPr/>
        </p:nvSpPr>
        <p:spPr>
          <a:xfrm>
            <a:off x="8991600" y="3550412"/>
            <a:ext cx="2590800" cy="254000"/>
          </a:xfrm>
          <a:prstGeom prst="rect">
            <a:avLst/>
          </a:prstGeom>
          <a:noFill/>
          <a:effectLst/>
        </p:spPr>
        <p:txBody>
          <a:bodyPr wrap="square" lIns="0" rIns="0" tIns="0" bIns="0" anchor="t"/>
          <a:lstStyle/>
          <a:p>
            <a:pPr algn="ctr">
              <a:lnSpc>
                <a:spcPts val="700"/>
              </a:lnSpc>
            </a:pPr>
            <a:r>
              <a:rPr sz="700" b="1" spc="98" dirty="0">
                <a:solidFill>
                  <a:srgbClr val="8D8D8D"/>
                </a:solidFill>
                <a:latin typeface="Inter"/>
                <a:cs typeface="Inter"/>
              </a:rPr>
              <a:t>TODOS LOS ENLACES</a:t>
            </a:r>
          </a:p>
        </p:txBody>
      </p:sp>
      <p:cxnSp>
        <p:nvCxnSpPr>
          <p:cNvPr id="158" name="Connector 157"/>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59" name="Freeform 158"/>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63" name="TextBox 162"/>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164" name="TextBox 163"/>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E02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962660"/>
            <a:ext cx="76200" cy="76200"/>
          </a:xfrm>
          <a:prstGeom prst="rect">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9A9A9A"/>
                </a:solidFill>
                <a:latin typeface="Inter"/>
                <a:cs typeface="Inter"/>
              </a:rPr>
              <a:t>DESCARGA</a:t>
            </a:r>
          </a:p>
        </p:txBody>
      </p:sp>
      <p:sp>
        <p:nvSpPr>
          <p:cNvPr id="5" name="TextBox 4"/>
          <p:cNvSpPr txBox="1"/>
          <p:nvPr/>
        </p:nvSpPr>
        <p:spPr>
          <a:xfrm>
            <a:off x="609600" y="1181100"/>
            <a:ext cx="5384800" cy="912368"/>
          </a:xfrm>
          <a:prstGeom prst="rect">
            <a:avLst/>
          </a:prstGeom>
          <a:noFill/>
          <a:effectLst/>
        </p:spPr>
        <p:txBody>
          <a:bodyPr wrap="square" lIns="0" rIns="0" tIns="0" bIns="0" anchor="t"/>
          <a:lstStyle/>
          <a:p>
            <a:pPr algn="l">
              <a:lnSpc>
                <a:spcPts val="3392"/>
              </a:lnSpc>
            </a:pPr>
            <a:r>
              <a:rPr sz="3200" b="1" spc="-96" dirty="0">
                <a:solidFill>
                  <a:srgbClr val="FFFFFF"/>
                </a:solidFill>
                <a:latin typeface="Inter"/>
                <a:cs typeface="Inter"/>
              </a:rPr>
              <a:t>Lorem ipsum dolor sit amet consectetur</a:t>
            </a:r>
          </a:p>
        </p:txBody>
      </p:sp>
      <p:sp>
        <p:nvSpPr>
          <p:cNvPr id="6" name="TextBox 5"/>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5A5A5A"/>
                </a:solidFill>
                <a:latin typeface="Inter"/>
                <a:cs typeface="Inter"/>
              </a:rPr>
              <a:t>BLOQUE 01 · 03 / 12</a:t>
            </a:r>
          </a:p>
        </p:txBody>
      </p:sp>
      <p:cxnSp>
        <p:nvCxnSpPr>
          <p:cNvPr id="7" name="Connector 6"/>
          <p:cNvCxnSpPr/>
          <p:nvPr/>
        </p:nvCxnSpPr>
        <p:spPr>
          <a:xfrm>
            <a:off x="609600" y="2249424"/>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96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240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84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528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2672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1816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0960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104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248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392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536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66800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76050" y="2249424"/>
            <a:ext cx="0" cy="4445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2528824"/>
            <a:ext cx="5384800" cy="825500"/>
          </a:xfrm>
          <a:prstGeom prst="rect">
            <a:avLst/>
          </a:prstGeom>
          <a:noFill/>
          <a:effectLst/>
        </p:spPr>
        <p:txBody>
          <a:bodyPr wrap="square" lIns="0" rIns="0" tIns="0" bIns="0" anchor="t"/>
          <a:lstStyle/>
          <a:p>
            <a:pPr algn="l">
              <a:lnSpc>
                <a:spcPts val="2170"/>
              </a:lnSpc>
            </a:pPr>
            <a:r>
              <a:rPr sz="1400" b="0" dirty="0">
                <a:solidFill>
                  <a:srgbClr val="D2D2D2"/>
                </a:solidFill>
                <a:latin typeface="Inter"/>
                <a:cs typeface="Inter"/>
              </a:rPr>
              <a:t>Lorem ipsum dolor sit amet, consectetur adipiscing elit, sed do eiusmod tempor incididunt ut labore et dolore magna aliqua.</a:t>
            </a:r>
          </a:p>
        </p:txBody>
      </p:sp>
      <p:sp>
        <p:nvSpPr>
          <p:cNvPr id="22" name="TextBox 21"/>
          <p:cNvSpPr txBox="1"/>
          <p:nvPr/>
        </p:nvSpPr>
        <p:spPr>
          <a:xfrm>
            <a:off x="609600" y="3608324"/>
            <a:ext cx="190500" cy="231140"/>
          </a:xfrm>
          <a:prstGeom prst="rect">
            <a:avLst/>
          </a:prstGeom>
          <a:noFill/>
          <a:effectLst/>
        </p:spPr>
        <p:txBody>
          <a:bodyPr wrap="square" lIns="0" rIns="0" tIns="0" bIns="0" anchor="t"/>
          <a:lstStyle/>
          <a:p>
            <a:pPr algn="l">
              <a:lnSpc>
                <a:spcPts val="1300"/>
              </a:lnSpc>
            </a:pPr>
            <a:r>
              <a:rPr sz="1300" b="1" dirty="0">
                <a:solidFill>
                  <a:srgbClr val="FFFFFF"/>
                </a:solidFill>
                <a:latin typeface="Inter"/>
                <a:cs typeface="Inter"/>
              </a:rPr>
              <a:t>→</a:t>
            </a:r>
          </a:p>
        </p:txBody>
      </p:sp>
      <p:sp>
        <p:nvSpPr>
          <p:cNvPr id="23" name="TextBox 22"/>
          <p:cNvSpPr txBox="1"/>
          <p:nvPr/>
        </p:nvSpPr>
        <p:spPr>
          <a:xfrm>
            <a:off x="812800" y="3608324"/>
            <a:ext cx="4826000" cy="231140"/>
          </a:xfrm>
          <a:prstGeom prst="rect">
            <a:avLst/>
          </a:prstGeom>
          <a:noFill/>
          <a:effectLst/>
        </p:spPr>
        <p:txBody>
          <a:bodyPr wrap="square" lIns="0" rIns="0" tIns="0" bIns="0" anchor="t"/>
          <a:lstStyle/>
          <a:p>
            <a:pPr algn="l">
              <a:lnSpc>
                <a:spcPts val="1300"/>
              </a:lnSpc>
            </a:pPr>
            <a:r>
              <a:rPr sz="1300" b="1" dirty="0">
                <a:solidFill>
                  <a:srgbClr val="FFFFFF"/>
                </a:solidFill>
                <a:latin typeface="Inter"/>
                <a:cs typeface="Inter"/>
              </a:rPr>
              <a:t>lorem-ipsum.com/dolor-sit-amet</a:t>
            </a:r>
          </a:p>
        </p:txBody>
      </p:sp>
      <p:cxnSp>
        <p:nvCxnSpPr>
          <p:cNvPr id="24" name="Connector 23"/>
          <p:cNvCxnSpPr/>
          <p:nvPr/>
        </p:nvCxnSpPr>
        <p:spPr>
          <a:xfrm>
            <a:off x="609600" y="3877564"/>
            <a:ext cx="2927350" cy="0"/>
          </a:xfrm>
          <a:prstGeom prst="line">
            <a:avLst/>
          </a:prstGeom>
          <a:ln w="1270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9600" y="4116324"/>
            <a:ext cx="5384800" cy="254000"/>
          </a:xfrm>
          <a:prstGeom prst="rect">
            <a:avLst/>
          </a:prstGeom>
          <a:noFill/>
          <a:effectLst/>
        </p:spPr>
        <p:txBody>
          <a:bodyPr wrap="square" lIns="0" rIns="0" tIns="0" bIns="0" anchor="t"/>
          <a:lstStyle/>
          <a:p>
            <a:pPr algn="l">
              <a:lnSpc>
                <a:spcPts val="700"/>
              </a:lnSpc>
            </a:pPr>
            <a:r>
              <a:rPr sz="700" b="1" spc="98" dirty="0">
                <a:solidFill>
                  <a:srgbClr val="5A5A5A"/>
                </a:solidFill>
                <a:latin typeface="Inter"/>
                <a:cs typeface="Inter"/>
              </a:rPr>
              <a:t>SIN REGISTRO · 2 MB · XLSX</a:t>
            </a:r>
          </a:p>
        </p:txBody>
      </p:sp>
      <p:sp>
        <p:nvSpPr>
          <p:cNvPr id="26" name="Rectangle 25"/>
          <p:cNvSpPr/>
          <p:nvPr/>
        </p:nvSpPr>
        <p:spPr>
          <a:xfrm>
            <a:off x="8060267" y="2401824"/>
            <a:ext cx="3522133"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9122833" y="2655824"/>
            <a:ext cx="1397000" cy="1397000"/>
          </a:xfrm>
          <a:prstGeom prst="rect">
            <a:avLst/>
          </a:prstGeom>
          <a:solidFill>
            <a:srgbClr val="FFFFFF"/>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86333"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271000"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355667"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440333"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9525000"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609667"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9694333"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9863667"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10033000"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10117667"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10202333"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10287000"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10371667" y="2719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9186333" y="2803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9694333" y="2803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0117667" y="2803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186333"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9355667"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9440333"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9525000"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9694333"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9948333"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10117667"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10202333"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10287000" y="2888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9186333"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9355667"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9440333"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525000"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9694333"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9863667"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9948333"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10117667"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10202333"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10287000" y="2973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9186333" y="3057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9355667" y="3057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9440333" y="3057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9525000" y="3057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9694333" y="3057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10117667" y="3057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10202333" y="3057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10287000" y="3057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9186333" y="3142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9694333" y="3142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9863667" y="3142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10117667" y="3142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9186333"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9271000"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9355667"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ectangle 77"/>
          <p:cNvSpPr/>
          <p:nvPr/>
        </p:nvSpPr>
        <p:spPr>
          <a:xfrm>
            <a:off x="9440333"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9525000"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ectangle 79"/>
          <p:cNvSpPr/>
          <p:nvPr/>
        </p:nvSpPr>
        <p:spPr>
          <a:xfrm>
            <a:off x="9609667"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ectangle 80"/>
          <p:cNvSpPr/>
          <p:nvPr/>
        </p:nvSpPr>
        <p:spPr>
          <a:xfrm>
            <a:off x="9694333"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ectangle 81"/>
          <p:cNvSpPr/>
          <p:nvPr/>
        </p:nvSpPr>
        <p:spPr>
          <a:xfrm>
            <a:off x="9863667"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10033000"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10117667"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10202333"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10287000"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10371667" y="3227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9779000" y="3311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9948333" y="3311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9186333"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9271000"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9440333"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9609667"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9694333"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9863667"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9948333"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10033000"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10202333"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10287000" y="3396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9355667" y="3481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9694333" y="3481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10117667" y="3481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10371667" y="3481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9186333"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9271000"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9355667"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9525000"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Rectangle 107"/>
          <p:cNvSpPr/>
          <p:nvPr/>
        </p:nvSpPr>
        <p:spPr>
          <a:xfrm>
            <a:off x="9609667"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9779000"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ectangle 109"/>
          <p:cNvSpPr/>
          <p:nvPr/>
        </p:nvSpPr>
        <p:spPr>
          <a:xfrm>
            <a:off x="9863667"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Rectangle 110"/>
          <p:cNvSpPr/>
          <p:nvPr/>
        </p:nvSpPr>
        <p:spPr>
          <a:xfrm>
            <a:off x="10033000"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2" name="Rectangle 111"/>
          <p:cNvSpPr/>
          <p:nvPr/>
        </p:nvSpPr>
        <p:spPr>
          <a:xfrm>
            <a:off x="10202333"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10287000"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ectangle 113"/>
          <p:cNvSpPr/>
          <p:nvPr/>
        </p:nvSpPr>
        <p:spPr>
          <a:xfrm>
            <a:off x="10371667" y="3565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Rectangle 114"/>
          <p:cNvSpPr/>
          <p:nvPr/>
        </p:nvSpPr>
        <p:spPr>
          <a:xfrm>
            <a:off x="9440333" y="3650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Rectangle 115"/>
          <p:cNvSpPr/>
          <p:nvPr/>
        </p:nvSpPr>
        <p:spPr>
          <a:xfrm>
            <a:off x="9779000" y="3650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ectangle 116"/>
          <p:cNvSpPr/>
          <p:nvPr/>
        </p:nvSpPr>
        <p:spPr>
          <a:xfrm>
            <a:off x="9948333" y="3650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ectangle 117"/>
          <p:cNvSpPr/>
          <p:nvPr/>
        </p:nvSpPr>
        <p:spPr>
          <a:xfrm>
            <a:off x="10287000" y="3650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Rectangle 118"/>
          <p:cNvSpPr/>
          <p:nvPr/>
        </p:nvSpPr>
        <p:spPr>
          <a:xfrm>
            <a:off x="9186333"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ectangle 119"/>
          <p:cNvSpPr/>
          <p:nvPr/>
        </p:nvSpPr>
        <p:spPr>
          <a:xfrm>
            <a:off x="9271000"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ectangle 120"/>
          <p:cNvSpPr/>
          <p:nvPr/>
        </p:nvSpPr>
        <p:spPr>
          <a:xfrm>
            <a:off x="9355667"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9440333"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Rectangle 122"/>
          <p:cNvSpPr/>
          <p:nvPr/>
        </p:nvSpPr>
        <p:spPr>
          <a:xfrm>
            <a:off x="9525000"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ectangle 123"/>
          <p:cNvSpPr/>
          <p:nvPr/>
        </p:nvSpPr>
        <p:spPr>
          <a:xfrm>
            <a:off x="9609667"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Rectangle 124"/>
          <p:cNvSpPr/>
          <p:nvPr/>
        </p:nvSpPr>
        <p:spPr>
          <a:xfrm>
            <a:off x="9694333"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Rectangle 125"/>
          <p:cNvSpPr/>
          <p:nvPr/>
        </p:nvSpPr>
        <p:spPr>
          <a:xfrm>
            <a:off x="9948333"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ectangle 126"/>
          <p:cNvSpPr/>
          <p:nvPr/>
        </p:nvSpPr>
        <p:spPr>
          <a:xfrm>
            <a:off x="10033000"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Rectangle 127"/>
          <p:cNvSpPr/>
          <p:nvPr/>
        </p:nvSpPr>
        <p:spPr>
          <a:xfrm>
            <a:off x="10202333"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ectangle 128"/>
          <p:cNvSpPr/>
          <p:nvPr/>
        </p:nvSpPr>
        <p:spPr>
          <a:xfrm>
            <a:off x="10371667" y="3735324"/>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Rectangle 129"/>
          <p:cNvSpPr/>
          <p:nvPr/>
        </p:nvSpPr>
        <p:spPr>
          <a:xfrm>
            <a:off x="9186333" y="3819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1" name="Rectangle 130"/>
          <p:cNvSpPr/>
          <p:nvPr/>
        </p:nvSpPr>
        <p:spPr>
          <a:xfrm>
            <a:off x="9694333" y="3819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ectangle 131"/>
          <p:cNvSpPr/>
          <p:nvPr/>
        </p:nvSpPr>
        <p:spPr>
          <a:xfrm>
            <a:off x="9863667" y="3819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Rectangle 132"/>
          <p:cNvSpPr/>
          <p:nvPr/>
        </p:nvSpPr>
        <p:spPr>
          <a:xfrm>
            <a:off x="10033000" y="3819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10117667" y="3819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Rectangle 134"/>
          <p:cNvSpPr/>
          <p:nvPr/>
        </p:nvSpPr>
        <p:spPr>
          <a:xfrm>
            <a:off x="10371667" y="3819991"/>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Rectangle 135"/>
          <p:cNvSpPr/>
          <p:nvPr/>
        </p:nvSpPr>
        <p:spPr>
          <a:xfrm>
            <a:off x="9186333"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7" name="Rectangle 136"/>
          <p:cNvSpPr/>
          <p:nvPr/>
        </p:nvSpPr>
        <p:spPr>
          <a:xfrm>
            <a:off x="9355667"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Rectangle 137"/>
          <p:cNvSpPr/>
          <p:nvPr/>
        </p:nvSpPr>
        <p:spPr>
          <a:xfrm>
            <a:off x="9440333"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9" name="Rectangle 138"/>
          <p:cNvSpPr/>
          <p:nvPr/>
        </p:nvSpPr>
        <p:spPr>
          <a:xfrm>
            <a:off x="9525000"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Rectangle 139"/>
          <p:cNvSpPr/>
          <p:nvPr/>
        </p:nvSpPr>
        <p:spPr>
          <a:xfrm>
            <a:off x="9694333"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Rectangle 140"/>
          <p:cNvSpPr/>
          <p:nvPr/>
        </p:nvSpPr>
        <p:spPr>
          <a:xfrm>
            <a:off x="9779000"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Rectangle 141"/>
          <p:cNvSpPr/>
          <p:nvPr/>
        </p:nvSpPr>
        <p:spPr>
          <a:xfrm>
            <a:off x="10033000"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3" name="Rectangle 142"/>
          <p:cNvSpPr/>
          <p:nvPr/>
        </p:nvSpPr>
        <p:spPr>
          <a:xfrm>
            <a:off x="10117667"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Rectangle 143"/>
          <p:cNvSpPr/>
          <p:nvPr/>
        </p:nvSpPr>
        <p:spPr>
          <a:xfrm>
            <a:off x="10202333"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5" name="Rectangle 144"/>
          <p:cNvSpPr/>
          <p:nvPr/>
        </p:nvSpPr>
        <p:spPr>
          <a:xfrm>
            <a:off x="10287000" y="3904657"/>
            <a:ext cx="87842" cy="87842"/>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TextBox 145"/>
          <p:cNvSpPr txBox="1"/>
          <p:nvPr/>
        </p:nvSpPr>
        <p:spPr>
          <a:xfrm>
            <a:off x="8060267" y="4243324"/>
            <a:ext cx="3522133" cy="254000"/>
          </a:xfrm>
          <a:prstGeom prst="rect">
            <a:avLst/>
          </a:prstGeom>
          <a:noFill/>
          <a:effectLst/>
        </p:spPr>
        <p:txBody>
          <a:bodyPr wrap="square" lIns="0" rIns="0" tIns="0" bIns="0" anchor="t"/>
          <a:lstStyle/>
          <a:p>
            <a:pPr algn="ctr">
              <a:lnSpc>
                <a:spcPts val="700"/>
              </a:lnSpc>
            </a:pPr>
            <a:r>
              <a:rPr sz="700" b="1" spc="98" dirty="0">
                <a:solidFill>
                  <a:srgbClr val="8D8D8D"/>
                </a:solidFill>
                <a:latin typeface="Inter"/>
                <a:cs typeface="Inter"/>
              </a:rPr>
              <a:t>ESCANEA CON EL MÓVIL</a:t>
            </a:r>
          </a:p>
        </p:txBody>
      </p:sp>
      <p:cxnSp>
        <p:nvCxnSpPr>
          <p:cNvPr id="147" name="Connector 146"/>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8" name="Freeform 14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152" name="TextBox 15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MÓDULO 00 · 00</a:t>
            </a:r>
          </a:p>
        </p:txBody>
      </p:sp>
      <p:sp>
        <p:nvSpPr>
          <p:cNvPr id="153" name="TextBox 15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E03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HERRAMIENTA DEL STACK</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528824"/>
            <a:ext cx="889000" cy="8890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9600" y="2528824"/>
            <a:ext cx="889000" cy="8890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22" name="TextBox 21"/>
          <p:cNvSpPr txBox="1"/>
          <p:nvPr/>
        </p:nvSpPr>
        <p:spPr>
          <a:xfrm>
            <a:off x="1727200" y="2592324"/>
            <a:ext cx="4453467" cy="381000"/>
          </a:xfrm>
          <a:prstGeom prst="rect">
            <a:avLst/>
          </a:prstGeom>
          <a:noFill/>
          <a:effectLst/>
        </p:spPr>
        <p:txBody>
          <a:bodyPr wrap="square" lIns="0" rIns="0" tIns="0" bIns="0" anchor="t"/>
          <a:lstStyle/>
          <a:p>
            <a:pPr algn="l">
              <a:lnSpc>
                <a:spcPts val="2200"/>
              </a:lnSpc>
            </a:pPr>
            <a:r>
              <a:rPr sz="2000" b="1" spc="-40" dirty="0">
                <a:solidFill>
                  <a:srgbClr val="161616"/>
                </a:solidFill>
                <a:latin typeface="Inter"/>
                <a:cs typeface="Inter"/>
              </a:rPr>
              <a:t>Lorem Ipsum Dolor</a:t>
            </a:r>
          </a:p>
        </p:txBody>
      </p:sp>
      <p:sp>
        <p:nvSpPr>
          <p:cNvPr id="23" name="TextBox 22"/>
          <p:cNvSpPr txBox="1"/>
          <p:nvPr/>
        </p:nvSpPr>
        <p:spPr>
          <a:xfrm>
            <a:off x="1727200" y="3011424"/>
            <a:ext cx="4453467" cy="381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a:t>
            </a:r>
          </a:p>
        </p:txBody>
      </p:sp>
      <p:sp>
        <p:nvSpPr>
          <p:cNvPr id="24" name="TextBox 23"/>
          <p:cNvSpPr txBox="1"/>
          <p:nvPr/>
        </p:nvSpPr>
        <p:spPr>
          <a:xfrm>
            <a:off x="609600" y="3862324"/>
            <a:ext cx="1978378"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PARA QUÉ</a:t>
            </a:r>
          </a:p>
        </p:txBody>
      </p:sp>
      <p:sp>
        <p:nvSpPr>
          <p:cNvPr id="25" name="TextBox 24"/>
          <p:cNvSpPr txBox="1"/>
          <p:nvPr/>
        </p:nvSpPr>
        <p:spPr>
          <a:xfrm>
            <a:off x="2714978" y="3862324"/>
            <a:ext cx="1978378"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PLAN</a:t>
            </a:r>
          </a:p>
        </p:txBody>
      </p:sp>
      <p:sp>
        <p:nvSpPr>
          <p:cNvPr id="26" name="TextBox 25"/>
          <p:cNvSpPr txBox="1"/>
          <p:nvPr/>
        </p:nvSpPr>
        <p:spPr>
          <a:xfrm>
            <a:off x="4820356" y="3862324"/>
            <a:ext cx="1978378"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ALTERNATIVA</a:t>
            </a:r>
          </a:p>
        </p:txBody>
      </p:sp>
      <p:sp>
        <p:nvSpPr>
          <p:cNvPr id="27" name="TextBox 26"/>
          <p:cNvSpPr txBox="1"/>
          <p:nvPr/>
        </p:nvSpPr>
        <p:spPr>
          <a:xfrm>
            <a:off x="609600" y="4319524"/>
            <a:ext cx="1978378" cy="3048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28" name="TextBox 27"/>
          <p:cNvSpPr txBox="1"/>
          <p:nvPr/>
        </p:nvSpPr>
        <p:spPr>
          <a:xfrm>
            <a:off x="2714978" y="4319524"/>
            <a:ext cx="1978378" cy="3048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Gratis / 12 €</a:t>
            </a:r>
          </a:p>
        </p:txBody>
      </p:sp>
      <p:sp>
        <p:nvSpPr>
          <p:cNvPr id="29" name="TextBox 28"/>
          <p:cNvSpPr txBox="1"/>
          <p:nvPr/>
        </p:nvSpPr>
        <p:spPr>
          <a:xfrm>
            <a:off x="4820356" y="4319524"/>
            <a:ext cx="1978378" cy="3048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a:t>
            </a:r>
          </a:p>
        </p:txBody>
      </p:sp>
      <p:sp>
        <p:nvSpPr>
          <p:cNvPr id="30" name="TextBox 29"/>
          <p:cNvSpPr txBox="1"/>
          <p:nvPr/>
        </p:nvSpPr>
        <p:spPr>
          <a:xfrm>
            <a:off x="609600" y="4751324"/>
            <a:ext cx="1978378" cy="3048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31" name="TextBox 30"/>
          <p:cNvSpPr txBox="1"/>
          <p:nvPr/>
        </p:nvSpPr>
        <p:spPr>
          <a:xfrm>
            <a:off x="2714978" y="4751324"/>
            <a:ext cx="1978378" cy="3048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Equipo</a:t>
            </a:r>
          </a:p>
        </p:txBody>
      </p:sp>
      <p:sp>
        <p:nvSpPr>
          <p:cNvPr id="32" name="TextBox 31"/>
          <p:cNvSpPr txBox="1"/>
          <p:nvPr/>
        </p:nvSpPr>
        <p:spPr>
          <a:xfrm>
            <a:off x="4820356" y="4751324"/>
            <a:ext cx="1978378" cy="3048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a:t>
            </a:r>
          </a:p>
        </p:txBody>
      </p:sp>
      <p:sp>
        <p:nvSpPr>
          <p:cNvPr id="33" name="Rectangle 32"/>
          <p:cNvSpPr/>
          <p:nvPr/>
        </p:nvSpPr>
        <p:spPr>
          <a:xfrm>
            <a:off x="8060267" y="2528824"/>
            <a:ext cx="3522133" cy="1905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60267" y="2528824"/>
            <a:ext cx="31750" cy="1905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225367" y="2693924"/>
            <a:ext cx="3191933"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CÓMO LA USAMOS</a:t>
            </a:r>
          </a:p>
        </p:txBody>
      </p:sp>
      <p:sp>
        <p:nvSpPr>
          <p:cNvPr id="36" name="TextBox 35"/>
          <p:cNvSpPr txBox="1"/>
          <p:nvPr/>
        </p:nvSpPr>
        <p:spPr>
          <a:xfrm>
            <a:off x="8225367" y="2947924"/>
            <a:ext cx="3191933"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37" name="TextBox 36"/>
          <p:cNvSpPr txBox="1"/>
          <p:nvPr/>
        </p:nvSpPr>
        <p:spPr>
          <a:xfrm>
            <a:off x="8060267" y="4687824"/>
            <a:ext cx="190500" cy="213360"/>
          </a:xfrm>
          <a:prstGeom prst="rect">
            <a:avLst/>
          </a:prstGeom>
          <a:noFill/>
          <a:effectLst/>
        </p:spPr>
        <p:txBody>
          <a:bodyPr wrap="square" lIns="0" rIns="0" tIns="0" bIns="0" anchor="t"/>
          <a:lstStyle/>
          <a:p>
            <a:pPr algn="l">
              <a:lnSpc>
                <a:spcPts val="1200"/>
              </a:lnSpc>
            </a:pPr>
            <a:r>
              <a:rPr sz="1200" b="1" dirty="0">
                <a:solidFill>
                  <a:srgbClr val="5B4BF5"/>
                </a:solidFill>
                <a:latin typeface="Inter"/>
                <a:cs typeface="Inter"/>
              </a:rPr>
              <a:t>→</a:t>
            </a:r>
          </a:p>
        </p:txBody>
      </p:sp>
      <p:sp>
        <p:nvSpPr>
          <p:cNvPr id="38" name="TextBox 37"/>
          <p:cNvSpPr txBox="1"/>
          <p:nvPr/>
        </p:nvSpPr>
        <p:spPr>
          <a:xfrm>
            <a:off x="8263467" y="4687824"/>
            <a:ext cx="3522133" cy="213360"/>
          </a:xfrm>
          <a:prstGeom prst="rect">
            <a:avLst/>
          </a:prstGeom>
          <a:noFill/>
          <a:effectLst/>
        </p:spPr>
        <p:txBody>
          <a:bodyPr wrap="square" lIns="0" rIns="0" tIns="0" bIns="0" anchor="t"/>
          <a:lstStyle/>
          <a:p>
            <a:pPr algn="l">
              <a:lnSpc>
                <a:spcPts val="1200"/>
              </a:lnSpc>
            </a:pPr>
            <a:r>
              <a:rPr sz="1200" b="1" dirty="0">
                <a:solidFill>
                  <a:srgbClr val="5B4BF5"/>
                </a:solidFill>
                <a:latin typeface="Inter"/>
                <a:cs typeface="Inter"/>
              </a:rPr>
              <a:t>lorem-ipsum.com/dolor-sit-amet</a:t>
            </a:r>
          </a:p>
        </p:txBody>
      </p:sp>
      <p:cxnSp>
        <p:nvCxnSpPr>
          <p:cNvPr id="39" name="Connector 38"/>
          <p:cNvCxnSpPr/>
          <p:nvPr/>
        </p:nvCxnSpPr>
        <p:spPr>
          <a:xfrm>
            <a:off x="8060267" y="4939284"/>
            <a:ext cx="2717800" cy="0"/>
          </a:xfrm>
          <a:prstGeom prst="line">
            <a:avLst/>
          </a:prstGeom>
          <a:ln w="12700">
            <a:solidFill>
              <a:srgbClr val="5B4BF5"/>
            </a:solidFill>
            <a:miter lim="800000"/>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5" name="TextBox 44"/>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6" name="TextBox 45"/>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E04</a:t>
            </a:r>
          </a:p>
        </p:txBody>
      </p:sp>
      <p:cxnSp>
        <p:nvCxnSpPr>
          <p:cNvPr id="47" name="Connector 46"/>
          <p:cNvCxnSpPr/>
          <p:nvPr/>
        </p:nvCxnSpPr>
        <p:spPr>
          <a:xfrm>
            <a:off x="609600" y="4230624"/>
            <a:ext cx="6316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09600" y="4662424"/>
            <a:ext cx="63161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09600" y="5094224"/>
            <a:ext cx="63161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EL STACK COMPLETO</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440180" y="24455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9600" y="24455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23" name="TextBox 22"/>
          <p:cNvSpPr txBox="1"/>
          <p:nvPr/>
        </p:nvSpPr>
        <p:spPr>
          <a:xfrm>
            <a:off x="609600" y="28646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24" name="TextBox 23"/>
          <p:cNvSpPr txBox="1"/>
          <p:nvPr/>
        </p:nvSpPr>
        <p:spPr>
          <a:xfrm>
            <a:off x="609600" y="30551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25" name="Rectangle 24"/>
          <p:cNvSpPr/>
          <p:nvPr/>
        </p:nvSpPr>
        <p:spPr>
          <a:xfrm>
            <a:off x="2829560" y="20899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660140" y="24455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829560" y="24455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28" name="TextBox 27"/>
          <p:cNvSpPr txBox="1"/>
          <p:nvPr/>
        </p:nvSpPr>
        <p:spPr>
          <a:xfrm>
            <a:off x="2829560" y="28646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29" name="TextBox 28"/>
          <p:cNvSpPr txBox="1"/>
          <p:nvPr/>
        </p:nvSpPr>
        <p:spPr>
          <a:xfrm>
            <a:off x="2829560" y="30551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30" name="Rectangle 29"/>
          <p:cNvSpPr/>
          <p:nvPr/>
        </p:nvSpPr>
        <p:spPr>
          <a:xfrm>
            <a:off x="5049520" y="20899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5880100" y="24455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049520" y="24455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33" name="TextBox 32"/>
          <p:cNvSpPr txBox="1"/>
          <p:nvPr/>
        </p:nvSpPr>
        <p:spPr>
          <a:xfrm>
            <a:off x="5049520" y="28646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34" name="TextBox 33"/>
          <p:cNvSpPr txBox="1"/>
          <p:nvPr/>
        </p:nvSpPr>
        <p:spPr>
          <a:xfrm>
            <a:off x="5049520" y="30551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35" name="Rectangle 34"/>
          <p:cNvSpPr/>
          <p:nvPr/>
        </p:nvSpPr>
        <p:spPr>
          <a:xfrm>
            <a:off x="7269480" y="20899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8100060" y="24455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269480" y="24455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38" name="TextBox 37"/>
          <p:cNvSpPr txBox="1"/>
          <p:nvPr/>
        </p:nvSpPr>
        <p:spPr>
          <a:xfrm>
            <a:off x="7269480" y="28646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39" name="TextBox 38"/>
          <p:cNvSpPr txBox="1"/>
          <p:nvPr/>
        </p:nvSpPr>
        <p:spPr>
          <a:xfrm>
            <a:off x="7269480" y="30551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40" name="Rectangle 39"/>
          <p:cNvSpPr/>
          <p:nvPr/>
        </p:nvSpPr>
        <p:spPr>
          <a:xfrm>
            <a:off x="9489440" y="20899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10320020" y="24455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489440" y="24455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43" name="TextBox 42"/>
          <p:cNvSpPr txBox="1"/>
          <p:nvPr/>
        </p:nvSpPr>
        <p:spPr>
          <a:xfrm>
            <a:off x="9489440" y="28646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44" name="TextBox 43"/>
          <p:cNvSpPr txBox="1"/>
          <p:nvPr/>
        </p:nvSpPr>
        <p:spPr>
          <a:xfrm>
            <a:off x="9489440" y="30551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45" name="Rectangle 44"/>
          <p:cNvSpPr/>
          <p:nvPr/>
        </p:nvSpPr>
        <p:spPr>
          <a:xfrm>
            <a:off x="609600" y="35504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1440180" y="39060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09600" y="39060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48" name="TextBox 47"/>
          <p:cNvSpPr txBox="1"/>
          <p:nvPr/>
        </p:nvSpPr>
        <p:spPr>
          <a:xfrm>
            <a:off x="609600" y="43251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49" name="TextBox 48"/>
          <p:cNvSpPr txBox="1"/>
          <p:nvPr/>
        </p:nvSpPr>
        <p:spPr>
          <a:xfrm>
            <a:off x="609600" y="45156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50" name="Rectangle 49"/>
          <p:cNvSpPr/>
          <p:nvPr/>
        </p:nvSpPr>
        <p:spPr>
          <a:xfrm>
            <a:off x="2829560" y="35504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660140" y="39060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2829560" y="39060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53" name="TextBox 52"/>
          <p:cNvSpPr txBox="1"/>
          <p:nvPr/>
        </p:nvSpPr>
        <p:spPr>
          <a:xfrm>
            <a:off x="2829560" y="43251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54" name="TextBox 53"/>
          <p:cNvSpPr txBox="1"/>
          <p:nvPr/>
        </p:nvSpPr>
        <p:spPr>
          <a:xfrm>
            <a:off x="2829560" y="45156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55" name="Rectangle 54"/>
          <p:cNvSpPr/>
          <p:nvPr/>
        </p:nvSpPr>
        <p:spPr>
          <a:xfrm>
            <a:off x="5049520" y="35504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5880100" y="39060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5049520" y="39060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58" name="TextBox 57"/>
          <p:cNvSpPr txBox="1"/>
          <p:nvPr/>
        </p:nvSpPr>
        <p:spPr>
          <a:xfrm>
            <a:off x="5049520" y="43251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59" name="TextBox 58"/>
          <p:cNvSpPr txBox="1"/>
          <p:nvPr/>
        </p:nvSpPr>
        <p:spPr>
          <a:xfrm>
            <a:off x="5049520" y="45156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60" name="Rectangle 59"/>
          <p:cNvSpPr/>
          <p:nvPr/>
        </p:nvSpPr>
        <p:spPr>
          <a:xfrm>
            <a:off x="7269480" y="35504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8100060" y="39060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269480" y="39060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63" name="TextBox 62"/>
          <p:cNvSpPr txBox="1"/>
          <p:nvPr/>
        </p:nvSpPr>
        <p:spPr>
          <a:xfrm>
            <a:off x="7269480" y="43251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64" name="TextBox 63"/>
          <p:cNvSpPr txBox="1"/>
          <p:nvPr/>
        </p:nvSpPr>
        <p:spPr>
          <a:xfrm>
            <a:off x="7269480" y="45156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65" name="Rectangle 64"/>
          <p:cNvSpPr/>
          <p:nvPr/>
        </p:nvSpPr>
        <p:spPr>
          <a:xfrm>
            <a:off x="9489440" y="3550412"/>
            <a:ext cx="2092960" cy="1333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10320020" y="3906012"/>
            <a:ext cx="431800" cy="2540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489440" y="3906012"/>
            <a:ext cx="2092960" cy="254000"/>
          </a:xfrm>
          <a:prstGeom prst="rect">
            <a:avLst/>
          </a:prstGeom>
          <a:noFill/>
          <a:effectLst/>
        </p:spPr>
        <p:txBody>
          <a:bodyPr wrap="square" lIns="0" rIns="0" tIns="0" bIns="0" anchor="ctr"/>
          <a:lstStyle/>
          <a:p>
            <a:pPr algn="ctr">
              <a:lnSpc>
                <a:spcPts val="700"/>
              </a:lnSpc>
            </a:pPr>
            <a:r>
              <a:rPr sz="700" b="1" spc="84" dirty="0">
                <a:solidFill>
                  <a:srgbClr val="8D8D8D"/>
                </a:solidFill>
                <a:latin typeface="Inter"/>
                <a:cs typeface="Inter"/>
              </a:rPr>
              <a:t>LOGO</a:t>
            </a:r>
          </a:p>
        </p:txBody>
      </p:sp>
      <p:sp>
        <p:nvSpPr>
          <p:cNvPr id="68" name="TextBox 67"/>
          <p:cNvSpPr txBox="1"/>
          <p:nvPr/>
        </p:nvSpPr>
        <p:spPr>
          <a:xfrm>
            <a:off x="9489440" y="4325112"/>
            <a:ext cx="2092960" cy="190500"/>
          </a:xfrm>
          <a:prstGeom prst="rect">
            <a:avLst/>
          </a:prstGeom>
          <a:noFill/>
          <a:effectLst/>
        </p:spPr>
        <p:txBody>
          <a:bodyPr wrap="square" lIns="0" rIns="0" tIns="0" bIns="0" anchor="t"/>
          <a:lstStyle/>
          <a:p>
            <a:pPr algn="ctr">
              <a:lnSpc>
                <a:spcPts val="1080"/>
              </a:lnSpc>
            </a:pPr>
            <a:r>
              <a:rPr sz="900" b="1" dirty="0">
                <a:solidFill>
                  <a:srgbClr val="161616"/>
                </a:solidFill>
                <a:latin typeface="Inter"/>
                <a:cs typeface="Inter"/>
              </a:rPr>
              <a:t>Lorem Ipsum Dolor</a:t>
            </a:r>
          </a:p>
        </p:txBody>
      </p:sp>
      <p:sp>
        <p:nvSpPr>
          <p:cNvPr id="69" name="TextBox 68"/>
          <p:cNvSpPr txBox="1"/>
          <p:nvPr/>
        </p:nvSpPr>
        <p:spPr>
          <a:xfrm>
            <a:off x="9489440" y="4515612"/>
            <a:ext cx="2092960" cy="190500"/>
          </a:xfrm>
          <a:prstGeom prst="rect">
            <a:avLst/>
          </a:prstGeom>
          <a:noFill/>
          <a:effectLst/>
        </p:spPr>
        <p:txBody>
          <a:bodyPr wrap="square" lIns="0" rIns="0" tIns="0" bIns="0" anchor="t"/>
          <a:lstStyle/>
          <a:p>
            <a:pPr algn="ctr">
              <a:lnSpc>
                <a:spcPts val="780"/>
              </a:lnSpc>
            </a:pPr>
            <a:r>
              <a:rPr sz="650" b="0" dirty="0">
                <a:solidFill>
                  <a:srgbClr val="6F6F6F"/>
                </a:solidFill>
                <a:latin typeface="Inter"/>
                <a:cs typeface="Inter"/>
              </a:rPr>
              <a:t>Lorem ipsum</a:t>
            </a:r>
          </a:p>
        </p:txBody>
      </p:sp>
      <p:sp>
        <p:nvSpPr>
          <p:cNvPr id="70" name="TextBox 69"/>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TODOS LOS LOGOS A LA MISMA ALTURA ÓPTICA · MONOCROMOS EN TINTA</a:t>
            </a:r>
          </a:p>
        </p:txBody>
      </p:sp>
      <p:cxnSp>
        <p:nvCxnSpPr>
          <p:cNvPr id="71" name="Connector 7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2" name="Freeform 7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76" name="TextBox 7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77" name="TextBox 7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E05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Datos</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Cifras con fuente. Nunca un dato sin de dónde sale.</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8 PLANTILLAS · F01–F08</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F01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Tabla</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Tabla de decisión</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Gráfico de barras</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Evolución / línea</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Cifra destacada</a:t>
            </a:r>
          </a:p>
        </p:txBody>
      </p:sp>
      <p:cxnSp>
        <p:nvCxnSpPr>
          <p:cNvPr id="25" name="Connector 24"/>
          <p:cNvCxnSpPr/>
          <p:nvPr/>
        </p:nvCxnSpPr>
        <p:spPr>
          <a:xfrm>
            <a:off x="7128933" y="3429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128933" y="3517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F06</a:t>
            </a:r>
          </a:p>
        </p:txBody>
      </p:sp>
      <p:sp>
        <p:nvSpPr>
          <p:cNvPr id="27" name="TextBox 26"/>
          <p:cNvSpPr txBox="1"/>
          <p:nvPr/>
        </p:nvSpPr>
        <p:spPr>
          <a:xfrm>
            <a:off x="7636933" y="3505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Panel de KPIs</a:t>
            </a:r>
          </a:p>
        </p:txBody>
      </p:sp>
      <p:cxnSp>
        <p:nvCxnSpPr>
          <p:cNvPr id="28" name="Connector 27"/>
          <p:cNvCxnSpPr/>
          <p:nvPr/>
        </p:nvCxnSpPr>
        <p:spPr>
          <a:xfrm>
            <a:off x="7128933" y="3784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128933" y="3873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F07</a:t>
            </a:r>
          </a:p>
        </p:txBody>
      </p:sp>
      <p:sp>
        <p:nvSpPr>
          <p:cNvPr id="30" name="TextBox 29"/>
          <p:cNvSpPr txBox="1"/>
          <p:nvPr/>
        </p:nvSpPr>
        <p:spPr>
          <a:xfrm>
            <a:off x="7636933" y="3860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Distribución en porcentajes</a:t>
            </a:r>
          </a:p>
        </p:txBody>
      </p:sp>
      <p:cxnSp>
        <p:nvCxnSpPr>
          <p:cNvPr id="31" name="Connector 30"/>
          <p:cNvCxnSpPr/>
          <p:nvPr/>
        </p:nvCxnSpPr>
        <p:spPr>
          <a:xfrm>
            <a:off x="7128933" y="4140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128933" y="4229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F08</a:t>
            </a:r>
          </a:p>
        </p:txBody>
      </p:sp>
      <p:sp>
        <p:nvSpPr>
          <p:cNvPr id="33" name="TextBox 32"/>
          <p:cNvSpPr txBox="1"/>
          <p:nvPr/>
        </p:nvSpPr>
        <p:spPr>
          <a:xfrm>
            <a:off x="7636933" y="4216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Mapa / geografía</a:t>
            </a:r>
          </a:p>
        </p:txBody>
      </p:sp>
      <p:cxnSp>
        <p:nvCxnSpPr>
          <p:cNvPr id="34" name="Connector 33"/>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39" name="TextBox 3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F</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2089912"/>
            <a:ext cx="1917700"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LOREM</a:t>
            </a:r>
          </a:p>
        </p:txBody>
      </p:sp>
      <p:sp>
        <p:nvSpPr>
          <p:cNvPr id="21" name="TextBox 20"/>
          <p:cNvSpPr txBox="1"/>
          <p:nvPr/>
        </p:nvSpPr>
        <p:spPr>
          <a:xfrm>
            <a:off x="2654300" y="2089912"/>
            <a:ext cx="1917700"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IPSUM</a:t>
            </a:r>
          </a:p>
        </p:txBody>
      </p:sp>
      <p:sp>
        <p:nvSpPr>
          <p:cNvPr id="22" name="TextBox 21"/>
          <p:cNvSpPr txBox="1"/>
          <p:nvPr/>
        </p:nvSpPr>
        <p:spPr>
          <a:xfrm>
            <a:off x="4699000" y="2089912"/>
            <a:ext cx="1917700"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DOLOR</a:t>
            </a:r>
          </a:p>
        </p:txBody>
      </p:sp>
      <p:sp>
        <p:nvSpPr>
          <p:cNvPr id="23" name="TextBox 22"/>
          <p:cNvSpPr txBox="1"/>
          <p:nvPr/>
        </p:nvSpPr>
        <p:spPr>
          <a:xfrm>
            <a:off x="6743700" y="2089912"/>
            <a:ext cx="1917700"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SIT AMET</a:t>
            </a:r>
          </a:p>
        </p:txBody>
      </p:sp>
      <p:sp>
        <p:nvSpPr>
          <p:cNvPr id="24" name="TextBox 23"/>
          <p:cNvSpPr txBox="1"/>
          <p:nvPr/>
        </p:nvSpPr>
        <p:spPr>
          <a:xfrm>
            <a:off x="609600" y="2547112"/>
            <a:ext cx="1917700" cy="3556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25" name="TextBox 24"/>
          <p:cNvSpPr txBox="1"/>
          <p:nvPr/>
        </p:nvSpPr>
        <p:spPr>
          <a:xfrm>
            <a:off x="2654300" y="25471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26" name="TextBox 25"/>
          <p:cNvSpPr txBox="1"/>
          <p:nvPr/>
        </p:nvSpPr>
        <p:spPr>
          <a:xfrm>
            <a:off x="4699000" y="25471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27" name="TextBox 26"/>
          <p:cNvSpPr txBox="1"/>
          <p:nvPr/>
        </p:nvSpPr>
        <p:spPr>
          <a:xfrm>
            <a:off x="6743700" y="25471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28" name="TextBox 27"/>
          <p:cNvSpPr txBox="1"/>
          <p:nvPr/>
        </p:nvSpPr>
        <p:spPr>
          <a:xfrm>
            <a:off x="609600" y="3029712"/>
            <a:ext cx="1917700" cy="3556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29" name="TextBox 28"/>
          <p:cNvSpPr txBox="1"/>
          <p:nvPr/>
        </p:nvSpPr>
        <p:spPr>
          <a:xfrm>
            <a:off x="2654300" y="30297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30" name="TextBox 29"/>
          <p:cNvSpPr txBox="1"/>
          <p:nvPr/>
        </p:nvSpPr>
        <p:spPr>
          <a:xfrm>
            <a:off x="4699000" y="30297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31" name="TextBox 30"/>
          <p:cNvSpPr txBox="1"/>
          <p:nvPr/>
        </p:nvSpPr>
        <p:spPr>
          <a:xfrm>
            <a:off x="6743700" y="30297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32" name="TextBox 31"/>
          <p:cNvSpPr txBox="1"/>
          <p:nvPr/>
        </p:nvSpPr>
        <p:spPr>
          <a:xfrm>
            <a:off x="609600" y="3512312"/>
            <a:ext cx="1917700" cy="3556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33" name="TextBox 32"/>
          <p:cNvSpPr txBox="1"/>
          <p:nvPr/>
        </p:nvSpPr>
        <p:spPr>
          <a:xfrm>
            <a:off x="2654300" y="35123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34" name="TextBox 33"/>
          <p:cNvSpPr txBox="1"/>
          <p:nvPr/>
        </p:nvSpPr>
        <p:spPr>
          <a:xfrm>
            <a:off x="4699000" y="35123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35" name="TextBox 34"/>
          <p:cNvSpPr txBox="1"/>
          <p:nvPr/>
        </p:nvSpPr>
        <p:spPr>
          <a:xfrm>
            <a:off x="6743700" y="35123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36" name="TextBox 35"/>
          <p:cNvSpPr txBox="1"/>
          <p:nvPr/>
        </p:nvSpPr>
        <p:spPr>
          <a:xfrm>
            <a:off x="609600" y="3994912"/>
            <a:ext cx="1917700" cy="3556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37" name="TextBox 36"/>
          <p:cNvSpPr txBox="1"/>
          <p:nvPr/>
        </p:nvSpPr>
        <p:spPr>
          <a:xfrm>
            <a:off x="2654300" y="39949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38" name="TextBox 37"/>
          <p:cNvSpPr txBox="1"/>
          <p:nvPr/>
        </p:nvSpPr>
        <p:spPr>
          <a:xfrm>
            <a:off x="4699000" y="39949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39" name="TextBox 38"/>
          <p:cNvSpPr txBox="1"/>
          <p:nvPr/>
        </p:nvSpPr>
        <p:spPr>
          <a:xfrm>
            <a:off x="6743700" y="39949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40" name="TextBox 39"/>
          <p:cNvSpPr txBox="1"/>
          <p:nvPr/>
        </p:nvSpPr>
        <p:spPr>
          <a:xfrm>
            <a:off x="609600" y="4477512"/>
            <a:ext cx="1917700" cy="355600"/>
          </a:xfrm>
          <a:prstGeom prst="rect">
            <a:avLst/>
          </a:prstGeom>
          <a:noFill/>
          <a:effectLst/>
        </p:spPr>
        <p:txBody>
          <a:bodyPr wrap="square" lIns="0" rIns="0" tIns="0" bIns="0" anchor="t"/>
          <a:lstStyle/>
          <a:p>
            <a:pPr algn="l">
              <a:lnSpc>
                <a:spcPts val="1500"/>
              </a:lnSpc>
            </a:pPr>
            <a:r>
              <a:rPr sz="1200" b="1" dirty="0">
                <a:solidFill>
                  <a:srgbClr val="161616"/>
                </a:solidFill>
                <a:latin typeface="Inter"/>
                <a:cs typeface="Inter"/>
              </a:rPr>
              <a:t>Lorem ipsum dolor</a:t>
            </a:r>
          </a:p>
        </p:txBody>
      </p:sp>
      <p:sp>
        <p:nvSpPr>
          <p:cNvPr id="41" name="TextBox 40"/>
          <p:cNvSpPr txBox="1"/>
          <p:nvPr/>
        </p:nvSpPr>
        <p:spPr>
          <a:xfrm>
            <a:off x="2654300" y="44775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42" name="TextBox 41"/>
          <p:cNvSpPr txBox="1"/>
          <p:nvPr/>
        </p:nvSpPr>
        <p:spPr>
          <a:xfrm>
            <a:off x="4699000" y="44775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43" name="TextBox 42"/>
          <p:cNvSpPr txBox="1"/>
          <p:nvPr/>
        </p:nvSpPr>
        <p:spPr>
          <a:xfrm>
            <a:off x="6743700" y="4477512"/>
            <a:ext cx="1917700" cy="355600"/>
          </a:xfrm>
          <a:prstGeom prst="rect">
            <a:avLst/>
          </a:prstGeom>
          <a:noFill/>
          <a:effectLst/>
        </p:spPr>
        <p:txBody>
          <a:bodyPr wrap="square" lIns="0" rIns="0" tIns="0" bIns="0" anchor="t"/>
          <a:lstStyle/>
          <a:p>
            <a:pPr algn="l">
              <a:lnSpc>
                <a:spcPts val="1500"/>
              </a:lnSpc>
            </a:pPr>
            <a:r>
              <a:rPr sz="1200" b="0" dirty="0">
                <a:solidFill>
                  <a:srgbClr val="525252"/>
                </a:solidFill>
                <a:latin typeface="Inter"/>
                <a:cs typeface="Inter"/>
              </a:rPr>
              <a:t>Lorem ipsum dolor sit amet</a:t>
            </a:r>
          </a:p>
        </p:txBody>
      </p:sp>
      <p:sp>
        <p:nvSpPr>
          <p:cNvPr id="44" name="Rectangle 43"/>
          <p:cNvSpPr/>
          <p:nvPr/>
        </p:nvSpPr>
        <p:spPr>
          <a:xfrm>
            <a:off x="9055100" y="2089912"/>
            <a:ext cx="2527300" cy="1397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220200" y="2255012"/>
            <a:ext cx="13970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LEE ASÍ</a:t>
            </a:r>
          </a:p>
        </p:txBody>
      </p:sp>
      <p:sp>
        <p:nvSpPr>
          <p:cNvPr id="46" name="TextBox 45"/>
          <p:cNvSpPr txBox="1"/>
          <p:nvPr/>
        </p:nvSpPr>
        <p:spPr>
          <a:xfrm>
            <a:off x="9220200" y="2496312"/>
            <a:ext cx="2197100" cy="825500"/>
          </a:xfrm>
          <a:prstGeom prst="rect">
            <a:avLst/>
          </a:prstGeom>
          <a:noFill/>
          <a:effectLst/>
        </p:spPr>
        <p:txBody>
          <a:bodyPr wrap="square" lIns="0" rIns="0" tIns="0" bIns="0" anchor="t"/>
          <a:lstStyle/>
          <a:p>
            <a:pPr algn="l">
              <a:lnSpc>
                <a:spcPts val="1305"/>
              </a:lnSpc>
            </a:pPr>
            <a:r>
              <a:rPr sz="900" b="0" dirty="0">
                <a:solidFill>
                  <a:srgbClr val="525252"/>
                </a:solidFill>
                <a:latin typeface="Inter"/>
                <a:cs typeface="Inter"/>
              </a:rPr>
              <a:t>Lorem ipsum dolor sit amet, consectetur adipiscing elit.</a:t>
            </a:r>
          </a:p>
        </p:txBody>
      </p:sp>
      <p:sp>
        <p:nvSpPr>
          <p:cNvPr id="47" name="TextBox 46"/>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8" name="Connector 47"/>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3" name="TextBox 52"/>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4" name="TextBox 53"/>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F01</a:t>
            </a:r>
          </a:p>
        </p:txBody>
      </p:sp>
      <p:cxnSp>
        <p:nvCxnSpPr>
          <p:cNvPr id="55" name="Connector 54"/>
          <p:cNvCxnSpPr/>
          <p:nvPr/>
        </p:nvCxnSpPr>
        <p:spPr>
          <a:xfrm>
            <a:off x="609600" y="2458212"/>
            <a:ext cx="8178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09600" y="29408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09600" y="34234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09600" y="39060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09600" y="43886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09600" y="48712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TABLA DE DECISIÓN</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2089912"/>
            <a:ext cx="1917700" cy="292100"/>
          </a:xfrm>
          <a:prstGeom prst="rect">
            <a:avLst/>
          </a:prstGeom>
          <a:noFill/>
          <a:effectLst/>
        </p:spPr>
        <p:txBody>
          <a:bodyPr wrap="square" lIns="0" rIns="0" tIns="0" bIns="0" anchor="b"/>
          <a:lstStyle/>
          <a:p>
            <a:pPr algn="l">
              <a:lnSpc>
                <a:spcPts val="900"/>
              </a:lnSpc>
            </a:pPr>
            <a:r>
              <a:rPr sz="900" b="1" spc="90" dirty="0">
                <a:solidFill>
                  <a:srgbClr val="161616"/>
                </a:solidFill>
                <a:latin typeface="Inter"/>
                <a:cs typeface="Inter"/>
              </a:rPr>
              <a:t>CRITERIO</a:t>
            </a:r>
          </a:p>
        </p:txBody>
      </p:sp>
      <p:sp>
        <p:nvSpPr>
          <p:cNvPr id="21" name="TextBox 20"/>
          <p:cNvSpPr txBox="1"/>
          <p:nvPr/>
        </p:nvSpPr>
        <p:spPr>
          <a:xfrm>
            <a:off x="2654300" y="2089912"/>
            <a:ext cx="1917700" cy="292100"/>
          </a:xfrm>
          <a:prstGeom prst="rect">
            <a:avLst/>
          </a:prstGeom>
          <a:noFill/>
          <a:effectLst/>
        </p:spPr>
        <p:txBody>
          <a:bodyPr wrap="square" lIns="0" rIns="0" tIns="0" bIns="0" anchor="b"/>
          <a:lstStyle/>
          <a:p>
            <a:pPr algn="ctr">
              <a:lnSpc>
                <a:spcPts val="900"/>
              </a:lnSpc>
            </a:pPr>
            <a:r>
              <a:rPr sz="900" b="1" spc="90" dirty="0">
                <a:solidFill>
                  <a:srgbClr val="161616"/>
                </a:solidFill>
                <a:latin typeface="Inter"/>
                <a:cs typeface="Inter"/>
              </a:rPr>
              <a:t>OPCIÓN A</a:t>
            </a:r>
          </a:p>
        </p:txBody>
      </p:sp>
      <p:sp>
        <p:nvSpPr>
          <p:cNvPr id="22" name="TextBox 21"/>
          <p:cNvSpPr txBox="1"/>
          <p:nvPr/>
        </p:nvSpPr>
        <p:spPr>
          <a:xfrm>
            <a:off x="4699000" y="2089912"/>
            <a:ext cx="1917700" cy="292100"/>
          </a:xfrm>
          <a:prstGeom prst="rect">
            <a:avLst/>
          </a:prstGeom>
          <a:noFill/>
          <a:effectLst/>
        </p:spPr>
        <p:txBody>
          <a:bodyPr wrap="square" lIns="0" rIns="0" tIns="0" bIns="0" anchor="b"/>
          <a:lstStyle/>
          <a:p>
            <a:pPr algn="ctr">
              <a:lnSpc>
                <a:spcPts val="900"/>
              </a:lnSpc>
            </a:pPr>
            <a:r>
              <a:rPr sz="900" b="1" spc="90" dirty="0">
                <a:solidFill>
                  <a:srgbClr val="161616"/>
                </a:solidFill>
                <a:latin typeface="Inter"/>
                <a:cs typeface="Inter"/>
              </a:rPr>
              <a:t>OPCIÓN B</a:t>
            </a:r>
          </a:p>
        </p:txBody>
      </p:sp>
      <p:sp>
        <p:nvSpPr>
          <p:cNvPr id="23" name="TextBox 22"/>
          <p:cNvSpPr txBox="1"/>
          <p:nvPr/>
        </p:nvSpPr>
        <p:spPr>
          <a:xfrm>
            <a:off x="6743700" y="2089912"/>
            <a:ext cx="1917700" cy="292100"/>
          </a:xfrm>
          <a:prstGeom prst="rect">
            <a:avLst/>
          </a:prstGeom>
          <a:noFill/>
          <a:effectLst/>
        </p:spPr>
        <p:txBody>
          <a:bodyPr wrap="square" lIns="0" rIns="0" tIns="0" bIns="0" anchor="b"/>
          <a:lstStyle/>
          <a:p>
            <a:pPr algn="ctr">
              <a:lnSpc>
                <a:spcPts val="900"/>
              </a:lnSpc>
            </a:pPr>
            <a:r>
              <a:rPr sz="900" b="1" spc="90" dirty="0">
                <a:solidFill>
                  <a:srgbClr val="161616"/>
                </a:solidFill>
                <a:latin typeface="Inter"/>
                <a:cs typeface="Inter"/>
              </a:rPr>
              <a:t>OPCIÓN C</a:t>
            </a:r>
          </a:p>
        </p:txBody>
      </p:sp>
      <p:sp>
        <p:nvSpPr>
          <p:cNvPr id="24" name="TextBox 23"/>
          <p:cNvSpPr txBox="1"/>
          <p:nvPr/>
        </p:nvSpPr>
        <p:spPr>
          <a:xfrm>
            <a:off x="609600" y="2547112"/>
            <a:ext cx="1917700" cy="393700"/>
          </a:xfrm>
          <a:prstGeom prst="rect">
            <a:avLst/>
          </a:prstGeom>
          <a:noFill/>
          <a:effectLst/>
        </p:spPr>
        <p:txBody>
          <a:bodyPr wrap="square" lIns="0" rIns="0" tIns="0" bIns="0" anchor="t"/>
          <a:lstStyle/>
          <a:p>
            <a:pPr algn="l">
              <a:lnSpc>
                <a:spcPts val="1750"/>
              </a:lnSpc>
            </a:pPr>
            <a:r>
              <a:rPr sz="1400" b="1" dirty="0">
                <a:solidFill>
                  <a:srgbClr val="161616"/>
                </a:solidFill>
                <a:latin typeface="Inter"/>
                <a:cs typeface="Inter"/>
              </a:rPr>
              <a:t>Lorem ipsum dolor</a:t>
            </a:r>
          </a:p>
        </p:txBody>
      </p:sp>
      <p:sp>
        <p:nvSpPr>
          <p:cNvPr id="25" name="TextBox 24"/>
          <p:cNvSpPr txBox="1"/>
          <p:nvPr/>
        </p:nvSpPr>
        <p:spPr>
          <a:xfrm>
            <a:off x="2654300" y="25471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SÍ</a:t>
            </a:r>
          </a:p>
        </p:txBody>
      </p:sp>
      <p:sp>
        <p:nvSpPr>
          <p:cNvPr id="26" name="TextBox 25"/>
          <p:cNvSpPr txBox="1"/>
          <p:nvPr/>
        </p:nvSpPr>
        <p:spPr>
          <a:xfrm>
            <a:off x="4699000" y="25471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NO</a:t>
            </a:r>
          </a:p>
        </p:txBody>
      </p:sp>
      <p:sp>
        <p:nvSpPr>
          <p:cNvPr id="27" name="TextBox 26"/>
          <p:cNvSpPr txBox="1"/>
          <p:nvPr/>
        </p:nvSpPr>
        <p:spPr>
          <a:xfrm>
            <a:off x="6743700" y="25471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SÍ</a:t>
            </a:r>
          </a:p>
        </p:txBody>
      </p:sp>
      <p:sp>
        <p:nvSpPr>
          <p:cNvPr id="28" name="TextBox 27"/>
          <p:cNvSpPr txBox="1"/>
          <p:nvPr/>
        </p:nvSpPr>
        <p:spPr>
          <a:xfrm>
            <a:off x="609600" y="3067812"/>
            <a:ext cx="1917700" cy="393700"/>
          </a:xfrm>
          <a:prstGeom prst="rect">
            <a:avLst/>
          </a:prstGeom>
          <a:noFill/>
          <a:effectLst/>
        </p:spPr>
        <p:txBody>
          <a:bodyPr wrap="square" lIns="0" rIns="0" tIns="0" bIns="0" anchor="t"/>
          <a:lstStyle/>
          <a:p>
            <a:pPr algn="l">
              <a:lnSpc>
                <a:spcPts val="1750"/>
              </a:lnSpc>
            </a:pPr>
            <a:r>
              <a:rPr sz="1400" b="1" dirty="0">
                <a:solidFill>
                  <a:srgbClr val="161616"/>
                </a:solidFill>
                <a:latin typeface="Inter"/>
                <a:cs typeface="Inter"/>
              </a:rPr>
              <a:t>Lorem ipsum dolor</a:t>
            </a:r>
          </a:p>
        </p:txBody>
      </p:sp>
      <p:sp>
        <p:nvSpPr>
          <p:cNvPr id="29" name="TextBox 28"/>
          <p:cNvSpPr txBox="1"/>
          <p:nvPr/>
        </p:nvSpPr>
        <p:spPr>
          <a:xfrm>
            <a:off x="2654300" y="30678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NO</a:t>
            </a:r>
          </a:p>
        </p:txBody>
      </p:sp>
      <p:sp>
        <p:nvSpPr>
          <p:cNvPr id="30" name="TextBox 29"/>
          <p:cNvSpPr txBox="1"/>
          <p:nvPr/>
        </p:nvSpPr>
        <p:spPr>
          <a:xfrm>
            <a:off x="4699000" y="30678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SÍ</a:t>
            </a:r>
          </a:p>
        </p:txBody>
      </p:sp>
      <p:sp>
        <p:nvSpPr>
          <p:cNvPr id="31" name="TextBox 30"/>
          <p:cNvSpPr txBox="1"/>
          <p:nvPr/>
        </p:nvSpPr>
        <p:spPr>
          <a:xfrm>
            <a:off x="6743700" y="30678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SÍ</a:t>
            </a:r>
          </a:p>
        </p:txBody>
      </p:sp>
      <p:sp>
        <p:nvSpPr>
          <p:cNvPr id="32" name="TextBox 31"/>
          <p:cNvSpPr txBox="1"/>
          <p:nvPr/>
        </p:nvSpPr>
        <p:spPr>
          <a:xfrm>
            <a:off x="609600" y="3588512"/>
            <a:ext cx="1917700" cy="393700"/>
          </a:xfrm>
          <a:prstGeom prst="rect">
            <a:avLst/>
          </a:prstGeom>
          <a:noFill/>
          <a:effectLst/>
        </p:spPr>
        <p:txBody>
          <a:bodyPr wrap="square" lIns="0" rIns="0" tIns="0" bIns="0" anchor="t"/>
          <a:lstStyle/>
          <a:p>
            <a:pPr algn="l">
              <a:lnSpc>
                <a:spcPts val="1750"/>
              </a:lnSpc>
            </a:pPr>
            <a:r>
              <a:rPr sz="1400" b="1" dirty="0">
                <a:solidFill>
                  <a:srgbClr val="161616"/>
                </a:solidFill>
                <a:latin typeface="Inter"/>
                <a:cs typeface="Inter"/>
              </a:rPr>
              <a:t>Lorem ipsum dolor</a:t>
            </a:r>
          </a:p>
        </p:txBody>
      </p:sp>
      <p:sp>
        <p:nvSpPr>
          <p:cNvPr id="33" name="TextBox 32"/>
          <p:cNvSpPr txBox="1"/>
          <p:nvPr/>
        </p:nvSpPr>
        <p:spPr>
          <a:xfrm>
            <a:off x="2654300" y="35885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SÍ</a:t>
            </a:r>
          </a:p>
        </p:txBody>
      </p:sp>
      <p:sp>
        <p:nvSpPr>
          <p:cNvPr id="34" name="TextBox 33"/>
          <p:cNvSpPr txBox="1"/>
          <p:nvPr/>
        </p:nvSpPr>
        <p:spPr>
          <a:xfrm>
            <a:off x="4699000" y="35885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SÍ</a:t>
            </a:r>
          </a:p>
        </p:txBody>
      </p:sp>
      <p:sp>
        <p:nvSpPr>
          <p:cNvPr id="35" name="TextBox 34"/>
          <p:cNvSpPr txBox="1"/>
          <p:nvPr/>
        </p:nvSpPr>
        <p:spPr>
          <a:xfrm>
            <a:off x="6743700" y="35885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NO</a:t>
            </a:r>
          </a:p>
        </p:txBody>
      </p:sp>
      <p:sp>
        <p:nvSpPr>
          <p:cNvPr id="36" name="TextBox 35"/>
          <p:cNvSpPr txBox="1"/>
          <p:nvPr/>
        </p:nvSpPr>
        <p:spPr>
          <a:xfrm>
            <a:off x="609600" y="4109212"/>
            <a:ext cx="1917700" cy="393700"/>
          </a:xfrm>
          <a:prstGeom prst="rect">
            <a:avLst/>
          </a:prstGeom>
          <a:noFill/>
          <a:effectLst/>
        </p:spPr>
        <p:txBody>
          <a:bodyPr wrap="square" lIns="0" rIns="0" tIns="0" bIns="0" anchor="t"/>
          <a:lstStyle/>
          <a:p>
            <a:pPr algn="l">
              <a:lnSpc>
                <a:spcPts val="1750"/>
              </a:lnSpc>
            </a:pPr>
            <a:r>
              <a:rPr sz="1400" b="1" dirty="0">
                <a:solidFill>
                  <a:srgbClr val="161616"/>
                </a:solidFill>
                <a:latin typeface="Inter"/>
                <a:cs typeface="Inter"/>
              </a:rPr>
              <a:t>Lorem ipsum dolor</a:t>
            </a:r>
          </a:p>
        </p:txBody>
      </p:sp>
      <p:sp>
        <p:nvSpPr>
          <p:cNvPr id="37" name="TextBox 36"/>
          <p:cNvSpPr txBox="1"/>
          <p:nvPr/>
        </p:nvSpPr>
        <p:spPr>
          <a:xfrm>
            <a:off x="2654300" y="41092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SÍ</a:t>
            </a:r>
          </a:p>
        </p:txBody>
      </p:sp>
      <p:sp>
        <p:nvSpPr>
          <p:cNvPr id="38" name="TextBox 37"/>
          <p:cNvSpPr txBox="1"/>
          <p:nvPr/>
        </p:nvSpPr>
        <p:spPr>
          <a:xfrm>
            <a:off x="4699000" y="41092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NO</a:t>
            </a:r>
          </a:p>
        </p:txBody>
      </p:sp>
      <p:sp>
        <p:nvSpPr>
          <p:cNvPr id="39" name="TextBox 38"/>
          <p:cNvSpPr txBox="1"/>
          <p:nvPr/>
        </p:nvSpPr>
        <p:spPr>
          <a:xfrm>
            <a:off x="6743700" y="4109212"/>
            <a:ext cx="1917700" cy="393700"/>
          </a:xfrm>
          <a:prstGeom prst="rect">
            <a:avLst/>
          </a:prstGeom>
          <a:noFill/>
          <a:effectLst/>
        </p:spPr>
        <p:txBody>
          <a:bodyPr wrap="square" lIns="0" rIns="0" tIns="0" bIns="0" anchor="t"/>
          <a:lstStyle/>
          <a:p>
            <a:pPr algn="ctr">
              <a:lnSpc>
                <a:spcPts val="1750"/>
              </a:lnSpc>
            </a:pPr>
            <a:r>
              <a:rPr sz="1400" b="0" dirty="0">
                <a:solidFill>
                  <a:srgbClr val="525252"/>
                </a:solidFill>
                <a:latin typeface="Inter"/>
                <a:cs typeface="Inter"/>
              </a:rPr>
              <a:t>NO</a:t>
            </a:r>
          </a:p>
        </p:txBody>
      </p:sp>
      <p:sp>
        <p:nvSpPr>
          <p:cNvPr id="40" name="Rectangle 39"/>
          <p:cNvSpPr/>
          <p:nvPr/>
        </p:nvSpPr>
        <p:spPr>
          <a:xfrm>
            <a:off x="9055100" y="2051812"/>
            <a:ext cx="2527300" cy="1651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220200" y="2216912"/>
            <a:ext cx="1524000"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RECOMENDACIÓN</a:t>
            </a:r>
          </a:p>
        </p:txBody>
      </p:sp>
      <p:sp>
        <p:nvSpPr>
          <p:cNvPr id="42" name="TextBox 41"/>
          <p:cNvSpPr txBox="1"/>
          <p:nvPr/>
        </p:nvSpPr>
        <p:spPr>
          <a:xfrm>
            <a:off x="9220200" y="2470912"/>
            <a:ext cx="2197100" cy="1079500"/>
          </a:xfrm>
          <a:prstGeom prst="rect">
            <a:avLst/>
          </a:prstGeom>
          <a:noFill/>
          <a:effectLst/>
        </p:spPr>
        <p:txBody>
          <a:bodyPr wrap="square" lIns="0" rIns="0" tIns="0" bIns="0" anchor="t"/>
          <a:lstStyle/>
          <a:p>
            <a:pPr algn="l">
              <a:lnSpc>
                <a:spcPts val="1739"/>
              </a:lnSpc>
            </a:pPr>
            <a:r>
              <a:rPr sz="1200" b="0" dirty="0">
                <a:solidFill>
                  <a:srgbClr val="FFFFFF"/>
                </a:solidFill>
                <a:latin typeface="Inter"/>
                <a:cs typeface="Inter"/>
              </a:rPr>
              <a:t>Lorem ipsum dolor sit amet, consectetur adipiscing elit.</a:t>
            </a:r>
          </a:p>
        </p:txBody>
      </p:sp>
      <p:sp>
        <p:nvSpPr>
          <p:cNvPr id="43" name="TextBox 42"/>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4" name="Connector 43"/>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9" name="TextBox 4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0" name="TextBox 49"/>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F02</a:t>
            </a:r>
          </a:p>
        </p:txBody>
      </p:sp>
      <p:cxnSp>
        <p:nvCxnSpPr>
          <p:cNvPr id="51" name="Connector 50"/>
          <p:cNvCxnSpPr/>
          <p:nvPr/>
        </p:nvCxnSpPr>
        <p:spPr>
          <a:xfrm>
            <a:off x="609600" y="2458212"/>
            <a:ext cx="8178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09600" y="29789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09600" y="34996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09600" y="40203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09600" y="4541012"/>
            <a:ext cx="8178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5576824"/>
            <a:ext cx="7247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5100" y="5487924"/>
            <a:ext cx="355600" cy="165100"/>
          </a:xfrm>
          <a:prstGeom prst="rect">
            <a:avLst/>
          </a:prstGeom>
          <a:noFill/>
          <a:effectLst/>
        </p:spPr>
        <p:txBody>
          <a:bodyPr wrap="square" lIns="0" rIns="0" tIns="0" bIns="0" anchor="t"/>
          <a:lstStyle/>
          <a:p>
            <a:pPr algn="r">
              <a:lnSpc>
                <a:spcPts val="700"/>
              </a:lnSpc>
            </a:pPr>
            <a:r>
              <a:rPr sz="700" b="1" dirty="0">
                <a:solidFill>
                  <a:srgbClr val="8D8D8D"/>
                </a:solidFill>
                <a:latin typeface="Inter"/>
                <a:cs typeface="Inter"/>
              </a:rPr>
              <a:t>0</a:t>
            </a:r>
          </a:p>
        </p:txBody>
      </p:sp>
      <p:cxnSp>
        <p:nvCxnSpPr>
          <p:cNvPr id="22" name="Connector 21"/>
          <p:cNvCxnSpPr/>
          <p:nvPr/>
        </p:nvCxnSpPr>
        <p:spPr>
          <a:xfrm>
            <a:off x="609600" y="4878324"/>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65100" y="4789424"/>
            <a:ext cx="355600" cy="165100"/>
          </a:xfrm>
          <a:prstGeom prst="rect">
            <a:avLst/>
          </a:prstGeom>
          <a:noFill/>
          <a:effectLst/>
        </p:spPr>
        <p:txBody>
          <a:bodyPr wrap="square" lIns="0" rIns="0" tIns="0" bIns="0" anchor="t"/>
          <a:lstStyle/>
          <a:p>
            <a:pPr algn="r">
              <a:lnSpc>
                <a:spcPts val="700"/>
              </a:lnSpc>
            </a:pPr>
            <a:r>
              <a:rPr sz="700" b="1" dirty="0">
                <a:solidFill>
                  <a:srgbClr val="8D8D8D"/>
                </a:solidFill>
                <a:latin typeface="Inter"/>
                <a:cs typeface="Inter"/>
              </a:rPr>
              <a:t>25</a:t>
            </a:r>
          </a:p>
        </p:txBody>
      </p:sp>
      <p:cxnSp>
        <p:nvCxnSpPr>
          <p:cNvPr id="24" name="Connector 23"/>
          <p:cNvCxnSpPr/>
          <p:nvPr/>
        </p:nvCxnSpPr>
        <p:spPr>
          <a:xfrm>
            <a:off x="609600" y="4179824"/>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65100" y="4090924"/>
            <a:ext cx="355600" cy="165100"/>
          </a:xfrm>
          <a:prstGeom prst="rect">
            <a:avLst/>
          </a:prstGeom>
          <a:noFill/>
          <a:effectLst/>
        </p:spPr>
        <p:txBody>
          <a:bodyPr wrap="square" lIns="0" rIns="0" tIns="0" bIns="0" anchor="t"/>
          <a:lstStyle/>
          <a:p>
            <a:pPr algn="r">
              <a:lnSpc>
                <a:spcPts val="700"/>
              </a:lnSpc>
            </a:pPr>
            <a:r>
              <a:rPr sz="700" b="1" dirty="0">
                <a:solidFill>
                  <a:srgbClr val="8D8D8D"/>
                </a:solidFill>
                <a:latin typeface="Inter"/>
                <a:cs typeface="Inter"/>
              </a:rPr>
              <a:t>50</a:t>
            </a:r>
          </a:p>
        </p:txBody>
      </p:sp>
      <p:cxnSp>
        <p:nvCxnSpPr>
          <p:cNvPr id="26" name="Connector 25"/>
          <p:cNvCxnSpPr/>
          <p:nvPr/>
        </p:nvCxnSpPr>
        <p:spPr>
          <a:xfrm>
            <a:off x="609600" y="3481324"/>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65100" y="3392424"/>
            <a:ext cx="355600" cy="165100"/>
          </a:xfrm>
          <a:prstGeom prst="rect">
            <a:avLst/>
          </a:prstGeom>
          <a:noFill/>
          <a:effectLst/>
        </p:spPr>
        <p:txBody>
          <a:bodyPr wrap="square" lIns="0" rIns="0" tIns="0" bIns="0" anchor="t"/>
          <a:lstStyle/>
          <a:p>
            <a:pPr algn="r">
              <a:lnSpc>
                <a:spcPts val="700"/>
              </a:lnSpc>
            </a:pPr>
            <a:r>
              <a:rPr sz="700" b="1" dirty="0">
                <a:solidFill>
                  <a:srgbClr val="8D8D8D"/>
                </a:solidFill>
                <a:latin typeface="Inter"/>
                <a:cs typeface="Inter"/>
              </a:rPr>
              <a:t>75</a:t>
            </a:r>
          </a:p>
        </p:txBody>
      </p:sp>
      <p:cxnSp>
        <p:nvCxnSpPr>
          <p:cNvPr id="28" name="Connector 27"/>
          <p:cNvCxnSpPr/>
          <p:nvPr/>
        </p:nvCxnSpPr>
        <p:spPr>
          <a:xfrm>
            <a:off x="609600" y="2782824"/>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65100" y="2693924"/>
            <a:ext cx="355600" cy="165100"/>
          </a:xfrm>
          <a:prstGeom prst="rect">
            <a:avLst/>
          </a:prstGeom>
          <a:noFill/>
          <a:effectLst/>
        </p:spPr>
        <p:txBody>
          <a:bodyPr wrap="square" lIns="0" rIns="0" tIns="0" bIns="0" anchor="t"/>
          <a:lstStyle/>
          <a:p>
            <a:pPr algn="r">
              <a:lnSpc>
                <a:spcPts val="700"/>
              </a:lnSpc>
            </a:pPr>
            <a:r>
              <a:rPr sz="700" b="1" dirty="0">
                <a:solidFill>
                  <a:srgbClr val="8D8D8D"/>
                </a:solidFill>
                <a:latin typeface="Inter"/>
                <a:cs typeface="Inter"/>
              </a:rPr>
              <a:t>100</a:t>
            </a:r>
          </a:p>
        </p:txBody>
      </p:sp>
      <p:sp>
        <p:nvSpPr>
          <p:cNvPr id="30" name="Rectangle 29"/>
          <p:cNvSpPr/>
          <p:nvPr/>
        </p:nvSpPr>
        <p:spPr>
          <a:xfrm>
            <a:off x="875340" y="4403344"/>
            <a:ext cx="676430" cy="117348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40" y="4149344"/>
            <a:ext cx="930430" cy="190500"/>
          </a:xfrm>
          <a:prstGeom prst="rect">
            <a:avLst/>
          </a:prstGeom>
          <a:noFill/>
          <a:effectLst/>
        </p:spPr>
        <p:txBody>
          <a:bodyPr wrap="square" lIns="0" rIns="0" tIns="0" bIns="0" anchor="t"/>
          <a:lstStyle/>
          <a:p>
            <a:pPr algn="ctr">
              <a:lnSpc>
                <a:spcPts val="1200"/>
              </a:lnSpc>
            </a:pPr>
            <a:r>
              <a:rPr sz="1200" b="1" dirty="0">
                <a:solidFill>
                  <a:srgbClr val="161616"/>
                </a:solidFill>
                <a:latin typeface="Inter"/>
                <a:cs typeface="Inter"/>
              </a:rPr>
              <a:t>42</a:t>
            </a:r>
          </a:p>
        </p:txBody>
      </p:sp>
      <p:sp>
        <p:nvSpPr>
          <p:cNvPr id="32" name="TextBox 31"/>
          <p:cNvSpPr txBox="1"/>
          <p:nvPr/>
        </p:nvSpPr>
        <p:spPr>
          <a:xfrm>
            <a:off x="748340" y="5691124"/>
            <a:ext cx="93043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T1</a:t>
            </a:r>
          </a:p>
        </p:txBody>
      </p:sp>
      <p:sp>
        <p:nvSpPr>
          <p:cNvPr id="33" name="Rectangle 32"/>
          <p:cNvSpPr/>
          <p:nvPr/>
        </p:nvSpPr>
        <p:spPr>
          <a:xfrm>
            <a:off x="2083252" y="3872484"/>
            <a:ext cx="676430" cy="170434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956252" y="3618484"/>
            <a:ext cx="930430" cy="190500"/>
          </a:xfrm>
          <a:prstGeom prst="rect">
            <a:avLst/>
          </a:prstGeom>
          <a:noFill/>
          <a:effectLst/>
        </p:spPr>
        <p:txBody>
          <a:bodyPr wrap="square" lIns="0" rIns="0" tIns="0" bIns="0" anchor="t"/>
          <a:lstStyle/>
          <a:p>
            <a:pPr algn="ctr">
              <a:lnSpc>
                <a:spcPts val="1200"/>
              </a:lnSpc>
            </a:pPr>
            <a:r>
              <a:rPr sz="1200" b="1" dirty="0">
                <a:solidFill>
                  <a:srgbClr val="161616"/>
                </a:solidFill>
                <a:latin typeface="Inter"/>
                <a:cs typeface="Inter"/>
              </a:rPr>
              <a:t>61</a:t>
            </a:r>
          </a:p>
        </p:txBody>
      </p:sp>
      <p:sp>
        <p:nvSpPr>
          <p:cNvPr id="35" name="TextBox 34"/>
          <p:cNvSpPr txBox="1"/>
          <p:nvPr/>
        </p:nvSpPr>
        <p:spPr>
          <a:xfrm>
            <a:off x="1956252" y="5691124"/>
            <a:ext cx="93043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T2</a:t>
            </a:r>
          </a:p>
        </p:txBody>
      </p:sp>
      <p:sp>
        <p:nvSpPr>
          <p:cNvPr id="36" name="Rectangle 35"/>
          <p:cNvSpPr/>
          <p:nvPr/>
        </p:nvSpPr>
        <p:spPr>
          <a:xfrm>
            <a:off x="3291163" y="4040124"/>
            <a:ext cx="676430" cy="15367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164163" y="3786124"/>
            <a:ext cx="930430" cy="190500"/>
          </a:xfrm>
          <a:prstGeom prst="rect">
            <a:avLst/>
          </a:prstGeom>
          <a:noFill/>
          <a:effectLst/>
        </p:spPr>
        <p:txBody>
          <a:bodyPr wrap="square" lIns="0" rIns="0" tIns="0" bIns="0" anchor="t"/>
          <a:lstStyle/>
          <a:p>
            <a:pPr algn="ctr">
              <a:lnSpc>
                <a:spcPts val="1200"/>
              </a:lnSpc>
            </a:pPr>
            <a:r>
              <a:rPr sz="1200" b="1" dirty="0">
                <a:solidFill>
                  <a:srgbClr val="161616"/>
                </a:solidFill>
                <a:latin typeface="Inter"/>
                <a:cs typeface="Inter"/>
              </a:rPr>
              <a:t>55</a:t>
            </a:r>
          </a:p>
        </p:txBody>
      </p:sp>
      <p:sp>
        <p:nvSpPr>
          <p:cNvPr id="38" name="TextBox 37"/>
          <p:cNvSpPr txBox="1"/>
          <p:nvPr/>
        </p:nvSpPr>
        <p:spPr>
          <a:xfrm>
            <a:off x="3164163" y="5691124"/>
            <a:ext cx="93043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T3</a:t>
            </a:r>
          </a:p>
        </p:txBody>
      </p:sp>
      <p:sp>
        <p:nvSpPr>
          <p:cNvPr id="39" name="Rectangle 38"/>
          <p:cNvSpPr/>
          <p:nvPr/>
        </p:nvSpPr>
        <p:spPr>
          <a:xfrm>
            <a:off x="4499074" y="3397504"/>
            <a:ext cx="676430" cy="217932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372074" y="3143504"/>
            <a:ext cx="930430" cy="190500"/>
          </a:xfrm>
          <a:prstGeom prst="rect">
            <a:avLst/>
          </a:prstGeom>
          <a:noFill/>
          <a:effectLst/>
        </p:spPr>
        <p:txBody>
          <a:bodyPr wrap="square" lIns="0" rIns="0" tIns="0" bIns="0" anchor="t"/>
          <a:lstStyle/>
          <a:p>
            <a:pPr algn="ctr">
              <a:lnSpc>
                <a:spcPts val="1200"/>
              </a:lnSpc>
            </a:pPr>
            <a:r>
              <a:rPr sz="1200" b="1" dirty="0">
                <a:solidFill>
                  <a:srgbClr val="161616"/>
                </a:solidFill>
                <a:latin typeface="Inter"/>
                <a:cs typeface="Inter"/>
              </a:rPr>
              <a:t>78</a:t>
            </a:r>
          </a:p>
        </p:txBody>
      </p:sp>
      <p:sp>
        <p:nvSpPr>
          <p:cNvPr id="41" name="TextBox 40"/>
          <p:cNvSpPr txBox="1"/>
          <p:nvPr/>
        </p:nvSpPr>
        <p:spPr>
          <a:xfrm>
            <a:off x="4372074" y="5691124"/>
            <a:ext cx="93043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T4</a:t>
            </a:r>
          </a:p>
        </p:txBody>
      </p:sp>
      <p:sp>
        <p:nvSpPr>
          <p:cNvPr id="42" name="Rectangle 41"/>
          <p:cNvSpPr/>
          <p:nvPr/>
        </p:nvSpPr>
        <p:spPr>
          <a:xfrm>
            <a:off x="5706985" y="2950464"/>
            <a:ext cx="676430" cy="262636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579985" y="2696464"/>
            <a:ext cx="930430" cy="190500"/>
          </a:xfrm>
          <a:prstGeom prst="rect">
            <a:avLst/>
          </a:prstGeom>
          <a:noFill/>
          <a:effectLst/>
        </p:spPr>
        <p:txBody>
          <a:bodyPr wrap="square" lIns="0" rIns="0" tIns="0" bIns="0" anchor="t"/>
          <a:lstStyle/>
          <a:p>
            <a:pPr algn="ctr">
              <a:lnSpc>
                <a:spcPts val="1200"/>
              </a:lnSpc>
            </a:pPr>
            <a:r>
              <a:rPr sz="1200" b="1" dirty="0">
                <a:solidFill>
                  <a:srgbClr val="161616"/>
                </a:solidFill>
                <a:latin typeface="Inter"/>
                <a:cs typeface="Inter"/>
              </a:rPr>
              <a:t>94</a:t>
            </a:r>
          </a:p>
        </p:txBody>
      </p:sp>
      <p:sp>
        <p:nvSpPr>
          <p:cNvPr id="44" name="TextBox 43"/>
          <p:cNvSpPr txBox="1"/>
          <p:nvPr/>
        </p:nvSpPr>
        <p:spPr>
          <a:xfrm>
            <a:off x="5579985" y="5691124"/>
            <a:ext cx="93043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T5</a:t>
            </a:r>
          </a:p>
        </p:txBody>
      </p:sp>
      <p:sp>
        <p:nvSpPr>
          <p:cNvPr id="45" name="Rectangle 44"/>
          <p:cNvSpPr/>
          <p:nvPr/>
        </p:nvSpPr>
        <p:spPr>
          <a:xfrm>
            <a:off x="6914896" y="3621024"/>
            <a:ext cx="676430" cy="19558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787896" y="3367024"/>
            <a:ext cx="930430" cy="190500"/>
          </a:xfrm>
          <a:prstGeom prst="rect">
            <a:avLst/>
          </a:prstGeom>
          <a:noFill/>
          <a:effectLst/>
        </p:spPr>
        <p:txBody>
          <a:bodyPr wrap="square" lIns="0" rIns="0" tIns="0" bIns="0" anchor="t"/>
          <a:lstStyle/>
          <a:p>
            <a:pPr algn="ctr">
              <a:lnSpc>
                <a:spcPts val="1200"/>
              </a:lnSpc>
            </a:pPr>
            <a:r>
              <a:rPr sz="1200" b="1" dirty="0">
                <a:solidFill>
                  <a:srgbClr val="161616"/>
                </a:solidFill>
                <a:latin typeface="Inter"/>
                <a:cs typeface="Inter"/>
              </a:rPr>
              <a:t>70</a:t>
            </a:r>
          </a:p>
        </p:txBody>
      </p:sp>
      <p:sp>
        <p:nvSpPr>
          <p:cNvPr id="47" name="TextBox 46"/>
          <p:cNvSpPr txBox="1"/>
          <p:nvPr/>
        </p:nvSpPr>
        <p:spPr>
          <a:xfrm>
            <a:off x="6787896" y="5691124"/>
            <a:ext cx="93043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T6</a:t>
            </a:r>
          </a:p>
        </p:txBody>
      </p:sp>
      <p:sp>
        <p:nvSpPr>
          <p:cNvPr id="48" name="TextBox 47"/>
          <p:cNvSpPr txBox="1"/>
          <p:nvPr/>
        </p:nvSpPr>
        <p:spPr>
          <a:xfrm>
            <a:off x="8212667" y="2528824"/>
            <a:ext cx="3369733"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QUÉ DICE</a:t>
            </a:r>
          </a:p>
        </p:txBody>
      </p:sp>
      <p:sp>
        <p:nvSpPr>
          <p:cNvPr id="49" name="TextBox 48"/>
          <p:cNvSpPr txBox="1"/>
          <p:nvPr/>
        </p:nvSpPr>
        <p:spPr>
          <a:xfrm>
            <a:off x="8212667" y="2795524"/>
            <a:ext cx="3369733" cy="1397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50" name="Connector 49"/>
          <p:cNvCxnSpPr/>
          <p:nvPr/>
        </p:nvCxnSpPr>
        <p:spPr>
          <a:xfrm>
            <a:off x="8212667" y="4370324"/>
            <a:ext cx="33697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212667" y="4510024"/>
            <a:ext cx="3369733" cy="398272"/>
          </a:xfrm>
          <a:prstGeom prst="rect">
            <a:avLst/>
          </a:prstGeom>
          <a:noFill/>
          <a:effectLst/>
        </p:spPr>
        <p:txBody>
          <a:bodyPr wrap="square" lIns="0" rIns="0" tIns="0" bIns="0" anchor="t"/>
          <a:lstStyle/>
          <a:p>
            <a:pPr algn="l">
              <a:lnSpc>
                <a:spcPts val="2816"/>
              </a:lnSpc>
            </a:pPr>
            <a:r>
              <a:rPr sz="3200" b="1" spc="-128" dirty="0">
                <a:solidFill>
                  <a:srgbClr val="161616"/>
                </a:solidFill>
                <a:latin typeface="Inter"/>
                <a:cs typeface="Inter"/>
              </a:rPr>
              <a:t>+94 %</a:t>
            </a:r>
          </a:p>
        </p:txBody>
      </p:sp>
      <p:sp>
        <p:nvSpPr>
          <p:cNvPr id="52" name="TextBox 51"/>
          <p:cNvSpPr txBox="1"/>
          <p:nvPr/>
        </p:nvSpPr>
        <p:spPr>
          <a:xfrm>
            <a:off x="8212667" y="4883912"/>
            <a:ext cx="3369733" cy="274320"/>
          </a:xfrm>
          <a:prstGeom prst="rect">
            <a:avLst/>
          </a:prstGeom>
          <a:noFill/>
          <a:effectLst/>
        </p:spPr>
        <p:txBody>
          <a:bodyPr wrap="square" lIns="0" rIns="0" tIns="0" bIns="0" anchor="t"/>
          <a:lstStyle/>
          <a:p>
            <a:pPr algn="l">
              <a:lnSpc>
                <a:spcPts val="1170"/>
              </a:lnSpc>
            </a:pPr>
            <a:r>
              <a:rPr sz="900" b="0" dirty="0">
                <a:solidFill>
                  <a:srgbClr val="6F6F6F"/>
                </a:solidFill>
                <a:latin typeface="Inter"/>
                <a:cs typeface="Inter"/>
              </a:rPr>
              <a:t>LOREM IPSUM DOLOR</a:t>
            </a:r>
          </a:p>
        </p:txBody>
      </p:sp>
      <p:sp>
        <p:nvSpPr>
          <p:cNvPr id="53" name="TextBox 52"/>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54" name="Connector 53"/>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5" name="Freeform 5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9" name="TextBox 5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60" name="TextBox 59"/>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F03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5449824"/>
            <a:ext cx="7247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600" y="4783074"/>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600" y="4116324"/>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600" y="3449574"/>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9600" y="2782824"/>
            <a:ext cx="7247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09600" y="4649724"/>
            <a:ext cx="1207911" cy="320040"/>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817511" y="4649724"/>
            <a:ext cx="1207911" cy="106680"/>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025422" y="4169664"/>
            <a:ext cx="1207911" cy="586740"/>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233333" y="3796284"/>
            <a:ext cx="1207911" cy="373380"/>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41244" y="3796284"/>
            <a:ext cx="1207912" cy="106680"/>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649156" y="3156204"/>
            <a:ext cx="1207911" cy="746760"/>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65150" y="4925314"/>
            <a:ext cx="88900" cy="88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8600" y="5564124"/>
            <a:ext cx="76200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M1</a:t>
            </a:r>
          </a:p>
        </p:txBody>
      </p:sp>
      <p:sp>
        <p:nvSpPr>
          <p:cNvPr id="33" name="Rectangle 32"/>
          <p:cNvSpPr/>
          <p:nvPr/>
        </p:nvSpPr>
        <p:spPr>
          <a:xfrm>
            <a:off x="1773061" y="4605274"/>
            <a:ext cx="88900" cy="88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436511" y="5564124"/>
            <a:ext cx="76200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M2</a:t>
            </a:r>
          </a:p>
        </p:txBody>
      </p:sp>
      <p:sp>
        <p:nvSpPr>
          <p:cNvPr id="35" name="Rectangle 34"/>
          <p:cNvSpPr/>
          <p:nvPr/>
        </p:nvSpPr>
        <p:spPr>
          <a:xfrm>
            <a:off x="2980972" y="4711954"/>
            <a:ext cx="88900" cy="88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644422" y="5564124"/>
            <a:ext cx="76200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M3</a:t>
            </a:r>
          </a:p>
        </p:txBody>
      </p:sp>
      <p:sp>
        <p:nvSpPr>
          <p:cNvPr id="37" name="Rectangle 36"/>
          <p:cNvSpPr/>
          <p:nvPr/>
        </p:nvSpPr>
        <p:spPr>
          <a:xfrm>
            <a:off x="4188883" y="4125214"/>
            <a:ext cx="88900" cy="88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52333" y="5564124"/>
            <a:ext cx="76200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M4</a:t>
            </a:r>
          </a:p>
        </p:txBody>
      </p:sp>
      <p:sp>
        <p:nvSpPr>
          <p:cNvPr id="39" name="Rectangle 38"/>
          <p:cNvSpPr/>
          <p:nvPr/>
        </p:nvSpPr>
        <p:spPr>
          <a:xfrm>
            <a:off x="5396794" y="3751834"/>
            <a:ext cx="88900" cy="88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060244" y="5564124"/>
            <a:ext cx="76200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M5</a:t>
            </a:r>
          </a:p>
        </p:txBody>
      </p:sp>
      <p:sp>
        <p:nvSpPr>
          <p:cNvPr id="41" name="Rectangle 40"/>
          <p:cNvSpPr/>
          <p:nvPr/>
        </p:nvSpPr>
        <p:spPr>
          <a:xfrm>
            <a:off x="6604706" y="3858514"/>
            <a:ext cx="88900" cy="88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268156" y="5564124"/>
            <a:ext cx="76200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M6</a:t>
            </a:r>
          </a:p>
        </p:txBody>
      </p:sp>
      <p:sp>
        <p:nvSpPr>
          <p:cNvPr id="43" name="Rectangle 42"/>
          <p:cNvSpPr/>
          <p:nvPr/>
        </p:nvSpPr>
        <p:spPr>
          <a:xfrm>
            <a:off x="7812617" y="3111754"/>
            <a:ext cx="88900" cy="88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476067" y="5564124"/>
            <a:ext cx="762000" cy="190500"/>
          </a:xfrm>
          <a:prstGeom prst="rect">
            <a:avLst/>
          </a:prstGeom>
          <a:noFill/>
          <a:effectLst/>
        </p:spPr>
        <p:txBody>
          <a:bodyPr wrap="square" lIns="0" rIns="0" tIns="0" bIns="0" anchor="t"/>
          <a:lstStyle/>
          <a:p>
            <a:pPr algn="ctr">
              <a:lnSpc>
                <a:spcPts val="900"/>
              </a:lnSpc>
            </a:pPr>
            <a:r>
              <a:rPr sz="900" b="0" dirty="0">
                <a:solidFill>
                  <a:srgbClr val="6F6F6F"/>
                </a:solidFill>
                <a:latin typeface="Inter"/>
                <a:cs typeface="Inter"/>
              </a:rPr>
              <a:t>M7</a:t>
            </a:r>
          </a:p>
        </p:txBody>
      </p:sp>
      <p:sp>
        <p:nvSpPr>
          <p:cNvPr id="45" name="Rectangle 44"/>
          <p:cNvSpPr/>
          <p:nvPr/>
        </p:nvSpPr>
        <p:spPr>
          <a:xfrm>
            <a:off x="7787217" y="3086354"/>
            <a:ext cx="139700" cy="1397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6904567" y="2686304"/>
            <a:ext cx="1016000" cy="317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904567" y="2686304"/>
            <a:ext cx="1016000" cy="317500"/>
          </a:xfrm>
          <a:prstGeom prst="rect">
            <a:avLst/>
          </a:prstGeom>
          <a:noFill/>
          <a:effectLst/>
        </p:spPr>
        <p:txBody>
          <a:bodyPr wrap="square" lIns="0" rIns="0" tIns="0" bIns="0" anchor="ctr"/>
          <a:lstStyle/>
          <a:p>
            <a:pPr algn="ctr">
              <a:lnSpc>
                <a:spcPts val="900"/>
              </a:lnSpc>
            </a:pPr>
            <a:r>
              <a:rPr sz="900" b="1" dirty="0">
                <a:solidFill>
                  <a:srgbClr val="161616"/>
                </a:solidFill>
                <a:latin typeface="Inter"/>
                <a:cs typeface="Inter"/>
              </a:rPr>
              <a:t>Lorem ipsum</a:t>
            </a:r>
          </a:p>
        </p:txBody>
      </p:sp>
      <p:sp>
        <p:nvSpPr>
          <p:cNvPr id="48" name="TextBox 47"/>
          <p:cNvSpPr txBox="1"/>
          <p:nvPr/>
        </p:nvSpPr>
        <p:spPr>
          <a:xfrm>
            <a:off x="8212667" y="2528824"/>
            <a:ext cx="3369733"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TENDENCIA</a:t>
            </a:r>
          </a:p>
        </p:txBody>
      </p:sp>
      <p:sp>
        <p:nvSpPr>
          <p:cNvPr id="49" name="TextBox 48"/>
          <p:cNvSpPr txBox="1"/>
          <p:nvPr/>
        </p:nvSpPr>
        <p:spPr>
          <a:xfrm>
            <a:off x="8212667" y="2795524"/>
            <a:ext cx="3369733" cy="1397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50" name="TextBox 49"/>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51" name="Connector 5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6" name="TextBox 5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7" name="TextBox 5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F04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483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1460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LOREM IPSUM · DOLOR SIT</a:t>
            </a:r>
          </a:p>
        </p:txBody>
      </p:sp>
      <p:sp>
        <p:nvSpPr>
          <p:cNvPr id="4" name="TextBox 3"/>
          <p:cNvSpPr txBox="1"/>
          <p:nvPr/>
        </p:nvSpPr>
        <p:spPr>
          <a:xfrm>
            <a:off x="609600" y="1701800"/>
            <a:ext cx="6316133" cy="1524000"/>
          </a:xfrm>
          <a:prstGeom prst="rect">
            <a:avLst/>
          </a:prstGeom>
          <a:noFill/>
          <a:effectLst/>
        </p:spPr>
        <p:txBody>
          <a:bodyPr wrap="square" lIns="0" rIns="0" tIns="0" bIns="0" anchor="t"/>
          <a:lstStyle/>
          <a:p>
            <a:pPr algn="l">
              <a:lnSpc>
                <a:spcPts val="8800"/>
              </a:lnSpc>
            </a:pPr>
            <a:r>
              <a:rPr sz="10000" b="1" spc="-400" dirty="0">
                <a:solidFill>
                  <a:srgbClr val="161616"/>
                </a:solidFill>
                <a:latin typeface="Inter"/>
                <a:cs typeface="Inter"/>
              </a:rPr>
              <a:t>94 %</a:t>
            </a:r>
          </a:p>
        </p:txBody>
      </p:sp>
      <p:sp>
        <p:nvSpPr>
          <p:cNvPr id="5" name="TextBox 4"/>
          <p:cNvSpPr txBox="1"/>
          <p:nvPr/>
        </p:nvSpPr>
        <p:spPr>
          <a:xfrm>
            <a:off x="609600" y="3175000"/>
            <a:ext cx="5384800" cy="571500"/>
          </a:xfrm>
          <a:prstGeom prst="rect">
            <a:avLst/>
          </a:prstGeom>
          <a:noFill/>
          <a:effectLst/>
        </p:spPr>
        <p:txBody>
          <a:bodyPr wrap="square" lIns="0" rIns="0" tIns="0" bIns="0" anchor="t"/>
          <a:lstStyle/>
          <a:p>
            <a:pPr algn="l">
              <a:lnSpc>
                <a:spcPts val="2340"/>
              </a:lnSpc>
            </a:pPr>
            <a:r>
              <a:rPr sz="1800" b="1" dirty="0">
                <a:solidFill>
                  <a:srgbClr val="525252"/>
                </a:solidFill>
                <a:latin typeface="Inter"/>
                <a:cs typeface="Inter"/>
              </a:rPr>
              <a:t>Lorem ipsum dolor sit amet consectetur adipiscing elit sed</a:t>
            </a:r>
          </a:p>
        </p:txBody>
      </p:sp>
      <p:cxnSp>
        <p:nvCxnSpPr>
          <p:cNvPr id="6" name="Connector 5"/>
          <p:cNvCxnSpPr/>
          <p:nvPr/>
        </p:nvCxnSpPr>
        <p:spPr>
          <a:xfrm>
            <a:off x="609600" y="4038600"/>
            <a:ext cx="6316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4191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8" name="Connector 7"/>
          <p:cNvCxnSpPr/>
          <p:nvPr/>
        </p:nvCxnSpPr>
        <p:spPr>
          <a:xfrm>
            <a:off x="609600" y="48514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5016500"/>
            <a:ext cx="3420533"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QUÉ MIDE</a:t>
            </a:r>
          </a:p>
        </p:txBody>
      </p:sp>
      <p:sp>
        <p:nvSpPr>
          <p:cNvPr id="10" name="TextBox 9"/>
          <p:cNvSpPr txBox="1"/>
          <p:nvPr/>
        </p:nvSpPr>
        <p:spPr>
          <a:xfrm>
            <a:off x="609600" y="5232400"/>
            <a:ext cx="3420533" cy="508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 sit amet, consectetur adipiscing.</a:t>
            </a:r>
          </a:p>
        </p:txBody>
      </p:sp>
      <p:sp>
        <p:nvSpPr>
          <p:cNvPr id="11" name="TextBox 10"/>
          <p:cNvSpPr txBox="1"/>
          <p:nvPr/>
        </p:nvSpPr>
        <p:spPr>
          <a:xfrm>
            <a:off x="4233333" y="5016500"/>
            <a:ext cx="3420533"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MUESTRA</a:t>
            </a:r>
          </a:p>
        </p:txBody>
      </p:sp>
      <p:sp>
        <p:nvSpPr>
          <p:cNvPr id="12" name="TextBox 11"/>
          <p:cNvSpPr txBox="1"/>
          <p:nvPr/>
        </p:nvSpPr>
        <p:spPr>
          <a:xfrm>
            <a:off x="4233333" y="5232400"/>
            <a:ext cx="3420533" cy="508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 sit amet, consectetur adipiscing.</a:t>
            </a:r>
          </a:p>
        </p:txBody>
      </p:sp>
      <p:sp>
        <p:nvSpPr>
          <p:cNvPr id="13" name="TextBox 12"/>
          <p:cNvSpPr txBox="1"/>
          <p:nvPr/>
        </p:nvSpPr>
        <p:spPr>
          <a:xfrm>
            <a:off x="7857067" y="5016500"/>
            <a:ext cx="3420533"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POR QUÉ IMPORTA</a:t>
            </a:r>
          </a:p>
        </p:txBody>
      </p:sp>
      <p:sp>
        <p:nvSpPr>
          <p:cNvPr id="14" name="TextBox 13"/>
          <p:cNvSpPr txBox="1"/>
          <p:nvPr/>
        </p:nvSpPr>
        <p:spPr>
          <a:xfrm>
            <a:off x="7857067" y="5232400"/>
            <a:ext cx="3420533" cy="508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 sit amet, consectetur adipiscing.</a:t>
            </a:r>
          </a:p>
        </p:txBody>
      </p:sp>
      <p:cxnSp>
        <p:nvCxnSpPr>
          <p:cNvPr id="15" name="Connector 14"/>
          <p:cNvCxnSpPr/>
          <p:nvPr/>
        </p:nvCxnSpPr>
        <p:spPr>
          <a:xfrm>
            <a:off x="7907867" y="1460500"/>
            <a:ext cx="0" cy="273050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60267" y="1524000"/>
            <a:ext cx="3522133" cy="381000"/>
          </a:xfrm>
          <a:prstGeom prst="rect">
            <a:avLst/>
          </a:prstGeom>
          <a:noFill/>
          <a:effectLst/>
        </p:spPr>
        <p:txBody>
          <a:bodyPr wrap="square" lIns="0" rIns="0" tIns="0" bIns="0" anchor="t"/>
          <a:lstStyle/>
          <a:p>
            <a:pPr algn="l">
              <a:lnSpc>
                <a:spcPts val="2600"/>
              </a:lnSpc>
            </a:pPr>
            <a:r>
              <a:rPr sz="2600" b="1" spc="-78" dirty="0">
                <a:solidFill>
                  <a:srgbClr val="161616"/>
                </a:solidFill>
                <a:latin typeface="Inter"/>
                <a:cs typeface="Inter"/>
              </a:rPr>
              <a:t>3,2×</a:t>
            </a:r>
          </a:p>
        </p:txBody>
      </p:sp>
      <p:sp>
        <p:nvSpPr>
          <p:cNvPr id="17" name="TextBox 16"/>
          <p:cNvSpPr txBox="1"/>
          <p:nvPr/>
        </p:nvSpPr>
        <p:spPr>
          <a:xfrm>
            <a:off x="8060267" y="1943100"/>
            <a:ext cx="3522133" cy="3175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a:t>
            </a:r>
          </a:p>
        </p:txBody>
      </p:sp>
      <p:sp>
        <p:nvSpPr>
          <p:cNvPr id="18" name="TextBox 17"/>
          <p:cNvSpPr txBox="1"/>
          <p:nvPr/>
        </p:nvSpPr>
        <p:spPr>
          <a:xfrm>
            <a:off x="8060267" y="2476500"/>
            <a:ext cx="3522133" cy="381000"/>
          </a:xfrm>
          <a:prstGeom prst="rect">
            <a:avLst/>
          </a:prstGeom>
          <a:noFill/>
          <a:effectLst/>
        </p:spPr>
        <p:txBody>
          <a:bodyPr wrap="square" lIns="0" rIns="0" tIns="0" bIns="0" anchor="t"/>
          <a:lstStyle/>
          <a:p>
            <a:pPr algn="l">
              <a:lnSpc>
                <a:spcPts val="2600"/>
              </a:lnSpc>
            </a:pPr>
            <a:r>
              <a:rPr sz="2600" b="1" spc="-78" dirty="0">
                <a:solidFill>
                  <a:srgbClr val="161616"/>
                </a:solidFill>
                <a:latin typeface="Inter"/>
                <a:cs typeface="Inter"/>
              </a:rPr>
              <a:t>14</a:t>
            </a:r>
          </a:p>
        </p:txBody>
      </p:sp>
      <p:sp>
        <p:nvSpPr>
          <p:cNvPr id="19" name="TextBox 18"/>
          <p:cNvSpPr txBox="1"/>
          <p:nvPr/>
        </p:nvSpPr>
        <p:spPr>
          <a:xfrm>
            <a:off x="8060267" y="2895600"/>
            <a:ext cx="3522133" cy="3175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a:t>
            </a:r>
          </a:p>
        </p:txBody>
      </p:sp>
      <p:sp>
        <p:nvSpPr>
          <p:cNvPr id="20" name="TextBox 19"/>
          <p:cNvSpPr txBox="1"/>
          <p:nvPr/>
        </p:nvSpPr>
        <p:spPr>
          <a:xfrm>
            <a:off x="8060267" y="3429000"/>
            <a:ext cx="3522133" cy="381000"/>
          </a:xfrm>
          <a:prstGeom prst="rect">
            <a:avLst/>
          </a:prstGeom>
          <a:noFill/>
          <a:effectLst/>
        </p:spPr>
        <p:txBody>
          <a:bodyPr wrap="square" lIns="0" rIns="0" tIns="0" bIns="0" anchor="t"/>
          <a:lstStyle/>
          <a:p>
            <a:pPr algn="l">
              <a:lnSpc>
                <a:spcPts val="2600"/>
              </a:lnSpc>
            </a:pPr>
            <a:r>
              <a:rPr sz="2600" b="1" spc="-78" dirty="0">
                <a:solidFill>
                  <a:srgbClr val="161616"/>
                </a:solidFill>
                <a:latin typeface="Inter"/>
                <a:cs typeface="Inter"/>
              </a:rPr>
              <a:t>56 h</a:t>
            </a:r>
          </a:p>
        </p:txBody>
      </p:sp>
      <p:sp>
        <p:nvSpPr>
          <p:cNvPr id="21" name="TextBox 20"/>
          <p:cNvSpPr txBox="1"/>
          <p:nvPr/>
        </p:nvSpPr>
        <p:spPr>
          <a:xfrm>
            <a:off x="8060267" y="3848100"/>
            <a:ext cx="3522133" cy="3175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a:t>
            </a:r>
          </a:p>
        </p:txBody>
      </p:sp>
      <p:cxnSp>
        <p:nvCxnSpPr>
          <p:cNvPr id="22" name="Connector 2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27" name="TextBox 2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28" name="TextBox 2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F05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PANEL DE KPIS</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2628900" cy="1905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09600" y="2089912"/>
            <a:ext cx="2628900" cy="3175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4700" y="2305812"/>
            <a:ext cx="22987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KPI 01</a:t>
            </a:r>
          </a:p>
        </p:txBody>
      </p:sp>
      <p:sp>
        <p:nvSpPr>
          <p:cNvPr id="23" name="TextBox 22"/>
          <p:cNvSpPr txBox="1"/>
          <p:nvPr/>
        </p:nvSpPr>
        <p:spPr>
          <a:xfrm>
            <a:off x="774700" y="2572512"/>
            <a:ext cx="2298700" cy="508000"/>
          </a:xfrm>
          <a:prstGeom prst="rect">
            <a:avLst/>
          </a:prstGeom>
          <a:noFill/>
          <a:effectLst/>
        </p:spPr>
        <p:txBody>
          <a:bodyPr wrap="square" lIns="0" rIns="0" tIns="0" bIns="0" anchor="t"/>
          <a:lstStyle/>
          <a:p>
            <a:pPr algn="l">
              <a:lnSpc>
                <a:spcPts val="3200"/>
              </a:lnSpc>
            </a:pPr>
            <a:r>
              <a:rPr sz="3200" b="1" spc="-96" dirty="0">
                <a:solidFill>
                  <a:srgbClr val="161616"/>
                </a:solidFill>
                <a:latin typeface="Inter"/>
                <a:cs typeface="Inter"/>
              </a:rPr>
              <a:t>94 %</a:t>
            </a:r>
          </a:p>
        </p:txBody>
      </p:sp>
      <p:sp>
        <p:nvSpPr>
          <p:cNvPr id="24" name="TextBox 23"/>
          <p:cNvSpPr txBox="1"/>
          <p:nvPr/>
        </p:nvSpPr>
        <p:spPr>
          <a:xfrm>
            <a:off x="774700" y="3169412"/>
            <a:ext cx="2298700" cy="3810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a:t>
            </a:r>
          </a:p>
        </p:txBody>
      </p:sp>
      <p:cxnSp>
        <p:nvCxnSpPr>
          <p:cNvPr id="25" name="Connector 24"/>
          <p:cNvCxnSpPr/>
          <p:nvPr/>
        </p:nvCxnSpPr>
        <p:spPr>
          <a:xfrm>
            <a:off x="774700" y="3639312"/>
            <a:ext cx="22987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4700" y="3728212"/>
            <a:ext cx="2298700" cy="190500"/>
          </a:xfrm>
          <a:prstGeom prst="rect">
            <a:avLst/>
          </a:prstGeom>
          <a:noFill/>
          <a:effectLst/>
        </p:spPr>
        <p:txBody>
          <a:bodyPr wrap="square" lIns="0" rIns="0" tIns="0" bIns="0" anchor="t"/>
          <a:lstStyle/>
          <a:p>
            <a:pPr algn="l">
              <a:lnSpc>
                <a:spcPts val="780"/>
              </a:lnSpc>
            </a:pPr>
            <a:r>
              <a:rPr sz="650" b="1" dirty="0">
                <a:solidFill>
                  <a:srgbClr val="8D8D8D"/>
                </a:solidFill>
                <a:latin typeface="Inter"/>
                <a:cs typeface="Inter"/>
              </a:rPr>
              <a:t>+12 % vs. mes anterior</a:t>
            </a:r>
          </a:p>
        </p:txBody>
      </p:sp>
      <p:sp>
        <p:nvSpPr>
          <p:cNvPr id="27" name="Rectangle 26"/>
          <p:cNvSpPr/>
          <p:nvPr/>
        </p:nvSpPr>
        <p:spPr>
          <a:xfrm>
            <a:off x="3390900" y="2089912"/>
            <a:ext cx="2628900" cy="1905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390900" y="2089912"/>
            <a:ext cx="2628900" cy="317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556000" y="2305812"/>
            <a:ext cx="22987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KPI 02</a:t>
            </a:r>
          </a:p>
        </p:txBody>
      </p:sp>
      <p:sp>
        <p:nvSpPr>
          <p:cNvPr id="30" name="TextBox 29"/>
          <p:cNvSpPr txBox="1"/>
          <p:nvPr/>
        </p:nvSpPr>
        <p:spPr>
          <a:xfrm>
            <a:off x="3556000" y="2572512"/>
            <a:ext cx="2298700" cy="508000"/>
          </a:xfrm>
          <a:prstGeom prst="rect">
            <a:avLst/>
          </a:prstGeom>
          <a:noFill/>
          <a:effectLst/>
        </p:spPr>
        <p:txBody>
          <a:bodyPr wrap="square" lIns="0" rIns="0" tIns="0" bIns="0" anchor="t"/>
          <a:lstStyle/>
          <a:p>
            <a:pPr algn="l">
              <a:lnSpc>
                <a:spcPts val="3200"/>
              </a:lnSpc>
            </a:pPr>
            <a:r>
              <a:rPr sz="3200" b="1" spc="-96" dirty="0">
                <a:solidFill>
                  <a:srgbClr val="161616"/>
                </a:solidFill>
                <a:latin typeface="Inter"/>
                <a:cs typeface="Inter"/>
              </a:rPr>
              <a:t>3,2×</a:t>
            </a:r>
          </a:p>
        </p:txBody>
      </p:sp>
      <p:sp>
        <p:nvSpPr>
          <p:cNvPr id="31" name="TextBox 30"/>
          <p:cNvSpPr txBox="1"/>
          <p:nvPr/>
        </p:nvSpPr>
        <p:spPr>
          <a:xfrm>
            <a:off x="3556000" y="3169412"/>
            <a:ext cx="2298700" cy="3810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a:t>
            </a:r>
          </a:p>
        </p:txBody>
      </p:sp>
      <p:cxnSp>
        <p:nvCxnSpPr>
          <p:cNvPr id="32" name="Connector 31"/>
          <p:cNvCxnSpPr/>
          <p:nvPr/>
        </p:nvCxnSpPr>
        <p:spPr>
          <a:xfrm>
            <a:off x="3556000" y="3639312"/>
            <a:ext cx="22987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556000" y="3728212"/>
            <a:ext cx="2298700" cy="190500"/>
          </a:xfrm>
          <a:prstGeom prst="rect">
            <a:avLst/>
          </a:prstGeom>
          <a:noFill/>
          <a:effectLst/>
        </p:spPr>
        <p:txBody>
          <a:bodyPr wrap="square" lIns="0" rIns="0" tIns="0" bIns="0" anchor="t"/>
          <a:lstStyle/>
          <a:p>
            <a:pPr algn="l">
              <a:lnSpc>
                <a:spcPts val="780"/>
              </a:lnSpc>
            </a:pPr>
            <a:r>
              <a:rPr sz="650" b="1" dirty="0">
                <a:solidFill>
                  <a:srgbClr val="8D8D8D"/>
                </a:solidFill>
                <a:latin typeface="Inter"/>
                <a:cs typeface="Inter"/>
              </a:rPr>
              <a:t>+12 % vs. mes anterior</a:t>
            </a:r>
          </a:p>
        </p:txBody>
      </p:sp>
      <p:sp>
        <p:nvSpPr>
          <p:cNvPr id="34" name="Rectangle 33"/>
          <p:cNvSpPr/>
          <p:nvPr/>
        </p:nvSpPr>
        <p:spPr>
          <a:xfrm>
            <a:off x="6172200" y="2089912"/>
            <a:ext cx="2628900" cy="1905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172200" y="2089912"/>
            <a:ext cx="2628900" cy="317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37300" y="2305812"/>
            <a:ext cx="22987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KPI 03</a:t>
            </a:r>
          </a:p>
        </p:txBody>
      </p:sp>
      <p:sp>
        <p:nvSpPr>
          <p:cNvPr id="37" name="TextBox 36"/>
          <p:cNvSpPr txBox="1"/>
          <p:nvPr/>
        </p:nvSpPr>
        <p:spPr>
          <a:xfrm>
            <a:off x="6337300" y="2572512"/>
            <a:ext cx="2298700" cy="508000"/>
          </a:xfrm>
          <a:prstGeom prst="rect">
            <a:avLst/>
          </a:prstGeom>
          <a:noFill/>
          <a:effectLst/>
        </p:spPr>
        <p:txBody>
          <a:bodyPr wrap="square" lIns="0" rIns="0" tIns="0" bIns="0" anchor="t"/>
          <a:lstStyle/>
          <a:p>
            <a:pPr algn="l">
              <a:lnSpc>
                <a:spcPts val="3200"/>
              </a:lnSpc>
            </a:pPr>
            <a:r>
              <a:rPr sz="3200" b="1" spc="-96" dirty="0">
                <a:solidFill>
                  <a:srgbClr val="161616"/>
                </a:solidFill>
                <a:latin typeface="Inter"/>
                <a:cs typeface="Inter"/>
              </a:rPr>
              <a:t>14</a:t>
            </a:r>
          </a:p>
        </p:txBody>
      </p:sp>
      <p:sp>
        <p:nvSpPr>
          <p:cNvPr id="38" name="TextBox 37"/>
          <p:cNvSpPr txBox="1"/>
          <p:nvPr/>
        </p:nvSpPr>
        <p:spPr>
          <a:xfrm>
            <a:off x="6337300" y="3169412"/>
            <a:ext cx="2298700" cy="3810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a:t>
            </a:r>
          </a:p>
        </p:txBody>
      </p:sp>
      <p:cxnSp>
        <p:nvCxnSpPr>
          <p:cNvPr id="39" name="Connector 38"/>
          <p:cNvCxnSpPr/>
          <p:nvPr/>
        </p:nvCxnSpPr>
        <p:spPr>
          <a:xfrm>
            <a:off x="6337300" y="3639312"/>
            <a:ext cx="22987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37300" y="3728212"/>
            <a:ext cx="2298700" cy="190500"/>
          </a:xfrm>
          <a:prstGeom prst="rect">
            <a:avLst/>
          </a:prstGeom>
          <a:noFill/>
          <a:effectLst/>
        </p:spPr>
        <p:txBody>
          <a:bodyPr wrap="square" lIns="0" rIns="0" tIns="0" bIns="0" anchor="t"/>
          <a:lstStyle/>
          <a:p>
            <a:pPr algn="l">
              <a:lnSpc>
                <a:spcPts val="780"/>
              </a:lnSpc>
            </a:pPr>
            <a:r>
              <a:rPr sz="650" b="1" dirty="0">
                <a:solidFill>
                  <a:srgbClr val="8D8D8D"/>
                </a:solidFill>
                <a:latin typeface="Inter"/>
                <a:cs typeface="Inter"/>
              </a:rPr>
              <a:t>+12 % vs. mes anterior</a:t>
            </a:r>
          </a:p>
        </p:txBody>
      </p:sp>
      <p:sp>
        <p:nvSpPr>
          <p:cNvPr id="41" name="Rectangle 40"/>
          <p:cNvSpPr/>
          <p:nvPr/>
        </p:nvSpPr>
        <p:spPr>
          <a:xfrm>
            <a:off x="8953500" y="2089912"/>
            <a:ext cx="2628900" cy="1905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8953500" y="2089912"/>
            <a:ext cx="2628900" cy="317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118600" y="2305812"/>
            <a:ext cx="22987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KPI 04</a:t>
            </a:r>
          </a:p>
        </p:txBody>
      </p:sp>
      <p:sp>
        <p:nvSpPr>
          <p:cNvPr id="44" name="TextBox 43"/>
          <p:cNvSpPr txBox="1"/>
          <p:nvPr/>
        </p:nvSpPr>
        <p:spPr>
          <a:xfrm>
            <a:off x="9118600" y="2572512"/>
            <a:ext cx="2298700" cy="508000"/>
          </a:xfrm>
          <a:prstGeom prst="rect">
            <a:avLst/>
          </a:prstGeom>
          <a:noFill/>
          <a:effectLst/>
        </p:spPr>
        <p:txBody>
          <a:bodyPr wrap="square" lIns="0" rIns="0" tIns="0" bIns="0" anchor="t"/>
          <a:lstStyle/>
          <a:p>
            <a:pPr algn="l">
              <a:lnSpc>
                <a:spcPts val="3200"/>
              </a:lnSpc>
            </a:pPr>
            <a:r>
              <a:rPr sz="3200" b="1" spc="-96" dirty="0">
                <a:solidFill>
                  <a:srgbClr val="161616"/>
                </a:solidFill>
                <a:latin typeface="Inter"/>
                <a:cs typeface="Inter"/>
              </a:rPr>
              <a:t>56 h</a:t>
            </a:r>
          </a:p>
        </p:txBody>
      </p:sp>
      <p:sp>
        <p:nvSpPr>
          <p:cNvPr id="45" name="TextBox 44"/>
          <p:cNvSpPr txBox="1"/>
          <p:nvPr/>
        </p:nvSpPr>
        <p:spPr>
          <a:xfrm>
            <a:off x="9118600" y="3169412"/>
            <a:ext cx="2298700" cy="3810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a:t>
            </a:r>
          </a:p>
        </p:txBody>
      </p:sp>
      <p:cxnSp>
        <p:nvCxnSpPr>
          <p:cNvPr id="46" name="Connector 45"/>
          <p:cNvCxnSpPr/>
          <p:nvPr/>
        </p:nvCxnSpPr>
        <p:spPr>
          <a:xfrm>
            <a:off x="9118600" y="3639312"/>
            <a:ext cx="22987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118600" y="3728212"/>
            <a:ext cx="2298700" cy="190500"/>
          </a:xfrm>
          <a:prstGeom prst="rect">
            <a:avLst/>
          </a:prstGeom>
          <a:noFill/>
          <a:effectLst/>
        </p:spPr>
        <p:txBody>
          <a:bodyPr wrap="square" lIns="0" rIns="0" tIns="0" bIns="0" anchor="t"/>
          <a:lstStyle/>
          <a:p>
            <a:pPr algn="l">
              <a:lnSpc>
                <a:spcPts val="780"/>
              </a:lnSpc>
            </a:pPr>
            <a:r>
              <a:rPr sz="650" b="1" dirty="0">
                <a:solidFill>
                  <a:srgbClr val="8D8D8D"/>
                </a:solidFill>
                <a:latin typeface="Inter"/>
                <a:cs typeface="Inter"/>
              </a:rPr>
              <a:t>+12 % vs. mes anterior</a:t>
            </a:r>
          </a:p>
        </p:txBody>
      </p:sp>
      <p:cxnSp>
        <p:nvCxnSpPr>
          <p:cNvPr id="48" name="Connector 47"/>
          <p:cNvCxnSpPr/>
          <p:nvPr/>
        </p:nvCxnSpPr>
        <p:spPr>
          <a:xfrm>
            <a:off x="609600" y="4375912"/>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09600" y="4541012"/>
            <a:ext cx="6316133" cy="5715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50" name="TextBox 49"/>
          <p:cNvSpPr txBox="1"/>
          <p:nvPr/>
        </p:nvSpPr>
        <p:spPr>
          <a:xfrm>
            <a:off x="8060267" y="4579112"/>
            <a:ext cx="3522133" cy="152400"/>
          </a:xfrm>
          <a:prstGeom prst="rect">
            <a:avLst/>
          </a:prstGeom>
          <a:noFill/>
          <a:effectLst/>
        </p:spPr>
        <p:txBody>
          <a:bodyPr wrap="square" lIns="0" rIns="0" tIns="0" bIns="0" anchor="t"/>
          <a:lstStyle/>
          <a:p>
            <a:pPr algn="r">
              <a:lnSpc>
                <a:spcPts val="700"/>
              </a:lnSpc>
            </a:pPr>
            <a:r>
              <a:rPr sz="700" b="1" spc="70" dirty="0">
                <a:solidFill>
                  <a:srgbClr val="8D8D8D"/>
                </a:solidFill>
                <a:latin typeface="Inter"/>
                <a:cs typeface="Inter"/>
              </a:rPr>
              <a:t>FUENTE · LOREM IPSUM (2026)</a:t>
            </a:r>
          </a:p>
        </p:txBody>
      </p:sp>
      <p:cxnSp>
        <p:nvCxnSpPr>
          <p:cNvPr id="51" name="Connector 5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6" name="TextBox 5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7" name="TextBox 5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F06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DISTRIBUCIÓN</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4227576" cy="762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6600" y="2089912"/>
            <a:ext cx="3998976" cy="762000"/>
          </a:xfrm>
          <a:prstGeom prst="rect">
            <a:avLst/>
          </a:prstGeom>
          <a:noFill/>
          <a:effectLst/>
        </p:spPr>
        <p:txBody>
          <a:bodyPr wrap="square" lIns="0" rIns="0" tIns="0" bIns="0" anchor="ctr"/>
          <a:lstStyle/>
          <a:p>
            <a:pPr algn="l">
              <a:lnSpc>
                <a:spcPts val="1600"/>
              </a:lnSpc>
            </a:pPr>
            <a:r>
              <a:rPr sz="1600" b="1" dirty="0">
                <a:solidFill>
                  <a:srgbClr val="FFFFFF"/>
                </a:solidFill>
                <a:latin typeface="Inter"/>
                <a:cs typeface="Inter"/>
              </a:rPr>
              <a:t>52 %</a:t>
            </a:r>
          </a:p>
        </p:txBody>
      </p:sp>
      <p:sp>
        <p:nvSpPr>
          <p:cNvPr id="22" name="Rectangle 21"/>
          <p:cNvSpPr/>
          <p:nvPr/>
        </p:nvSpPr>
        <p:spPr>
          <a:xfrm>
            <a:off x="4862576" y="2089912"/>
            <a:ext cx="2510028" cy="762000"/>
          </a:xfrm>
          <a:prstGeom prst="rect">
            <a:avLst/>
          </a:prstGeom>
          <a:solidFill>
            <a:srgbClr val="8D8D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989576" y="2089912"/>
            <a:ext cx="2281428" cy="762000"/>
          </a:xfrm>
          <a:prstGeom prst="rect">
            <a:avLst/>
          </a:prstGeom>
          <a:noFill/>
          <a:effectLst/>
        </p:spPr>
        <p:txBody>
          <a:bodyPr wrap="square" lIns="0" rIns="0" tIns="0" bIns="0" anchor="ctr"/>
          <a:lstStyle/>
          <a:p>
            <a:pPr algn="l">
              <a:lnSpc>
                <a:spcPts val="1600"/>
              </a:lnSpc>
            </a:pPr>
            <a:r>
              <a:rPr sz="1600" b="1" dirty="0">
                <a:solidFill>
                  <a:srgbClr val="FFFFFF"/>
                </a:solidFill>
                <a:latin typeface="Inter"/>
                <a:cs typeface="Inter"/>
              </a:rPr>
              <a:t>31 %</a:t>
            </a:r>
          </a:p>
        </p:txBody>
      </p:sp>
      <p:sp>
        <p:nvSpPr>
          <p:cNvPr id="24" name="Rectangle 23"/>
          <p:cNvSpPr/>
          <p:nvPr/>
        </p:nvSpPr>
        <p:spPr>
          <a:xfrm>
            <a:off x="7398004" y="2089912"/>
            <a:ext cx="1364996" cy="762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525004" y="2089912"/>
            <a:ext cx="1136396" cy="762000"/>
          </a:xfrm>
          <a:prstGeom prst="rect">
            <a:avLst/>
          </a:prstGeom>
          <a:noFill/>
          <a:effectLst/>
        </p:spPr>
        <p:txBody>
          <a:bodyPr wrap="square" lIns="0" rIns="0" tIns="0" bIns="0" anchor="ctr"/>
          <a:lstStyle/>
          <a:p>
            <a:pPr algn="l">
              <a:lnSpc>
                <a:spcPts val="1600"/>
              </a:lnSpc>
            </a:pPr>
            <a:r>
              <a:rPr sz="1600" b="1" dirty="0">
                <a:solidFill>
                  <a:srgbClr val="FFFFFF"/>
                </a:solidFill>
                <a:latin typeface="Inter"/>
                <a:cs typeface="Inter"/>
              </a:rPr>
              <a:t>17 %</a:t>
            </a:r>
          </a:p>
        </p:txBody>
      </p:sp>
      <p:sp>
        <p:nvSpPr>
          <p:cNvPr id="26" name="Rectangle 25"/>
          <p:cNvSpPr/>
          <p:nvPr/>
        </p:nvSpPr>
        <p:spPr>
          <a:xfrm>
            <a:off x="609600" y="3029712"/>
            <a:ext cx="88900" cy="88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74700" y="2991612"/>
            <a:ext cx="3998976" cy="190500"/>
          </a:xfrm>
          <a:prstGeom prst="rect">
            <a:avLst/>
          </a:prstGeom>
          <a:noFill/>
          <a:effectLst/>
        </p:spPr>
        <p:txBody>
          <a:bodyPr wrap="square" lIns="0" rIns="0" tIns="0" bIns="0" anchor="t"/>
          <a:lstStyle/>
          <a:p>
            <a:pPr algn="l">
              <a:lnSpc>
                <a:spcPts val="700"/>
              </a:lnSpc>
            </a:pPr>
            <a:r>
              <a:rPr sz="700" b="1" spc="84" dirty="0">
                <a:solidFill>
                  <a:srgbClr val="6F6F6F"/>
                </a:solidFill>
                <a:latin typeface="Inter"/>
                <a:cs typeface="Inter"/>
              </a:rPr>
              <a:t>LOREM</a:t>
            </a:r>
          </a:p>
        </p:txBody>
      </p:sp>
      <p:sp>
        <p:nvSpPr>
          <p:cNvPr id="28" name="TextBox 27"/>
          <p:cNvSpPr txBox="1"/>
          <p:nvPr/>
        </p:nvSpPr>
        <p:spPr>
          <a:xfrm>
            <a:off x="774700" y="3207512"/>
            <a:ext cx="3998976" cy="3810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 sit amet, consectetur adipiscing.</a:t>
            </a:r>
          </a:p>
        </p:txBody>
      </p:sp>
      <p:sp>
        <p:nvSpPr>
          <p:cNvPr id="29" name="Rectangle 28"/>
          <p:cNvSpPr/>
          <p:nvPr/>
        </p:nvSpPr>
        <p:spPr>
          <a:xfrm>
            <a:off x="4862576" y="3029712"/>
            <a:ext cx="88900" cy="88900"/>
          </a:xfrm>
          <a:prstGeom prst="rect">
            <a:avLst/>
          </a:prstGeom>
          <a:solidFill>
            <a:srgbClr val="8D8D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027676" y="2991612"/>
            <a:ext cx="2281428" cy="190500"/>
          </a:xfrm>
          <a:prstGeom prst="rect">
            <a:avLst/>
          </a:prstGeom>
          <a:noFill/>
          <a:effectLst/>
        </p:spPr>
        <p:txBody>
          <a:bodyPr wrap="square" lIns="0" rIns="0" tIns="0" bIns="0" anchor="t"/>
          <a:lstStyle/>
          <a:p>
            <a:pPr algn="l">
              <a:lnSpc>
                <a:spcPts val="700"/>
              </a:lnSpc>
            </a:pPr>
            <a:r>
              <a:rPr sz="700" b="1" spc="84" dirty="0">
                <a:solidFill>
                  <a:srgbClr val="6F6F6F"/>
                </a:solidFill>
                <a:latin typeface="Inter"/>
                <a:cs typeface="Inter"/>
              </a:rPr>
              <a:t>IPSUM</a:t>
            </a:r>
          </a:p>
        </p:txBody>
      </p:sp>
      <p:sp>
        <p:nvSpPr>
          <p:cNvPr id="31" name="TextBox 30"/>
          <p:cNvSpPr txBox="1"/>
          <p:nvPr/>
        </p:nvSpPr>
        <p:spPr>
          <a:xfrm>
            <a:off x="5027676" y="3207512"/>
            <a:ext cx="2281428" cy="3810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 sit amet, consectetur adipiscing.</a:t>
            </a:r>
          </a:p>
        </p:txBody>
      </p:sp>
      <p:sp>
        <p:nvSpPr>
          <p:cNvPr id="32" name="Rectangle 31"/>
          <p:cNvSpPr/>
          <p:nvPr/>
        </p:nvSpPr>
        <p:spPr>
          <a:xfrm>
            <a:off x="7398004" y="3029712"/>
            <a:ext cx="88900" cy="889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563104" y="2991612"/>
            <a:ext cx="1136396" cy="190500"/>
          </a:xfrm>
          <a:prstGeom prst="rect">
            <a:avLst/>
          </a:prstGeom>
          <a:noFill/>
          <a:effectLst/>
        </p:spPr>
        <p:txBody>
          <a:bodyPr wrap="square" lIns="0" rIns="0" tIns="0" bIns="0" anchor="t"/>
          <a:lstStyle/>
          <a:p>
            <a:pPr algn="l">
              <a:lnSpc>
                <a:spcPts val="700"/>
              </a:lnSpc>
            </a:pPr>
            <a:r>
              <a:rPr sz="700" b="1" spc="84" dirty="0">
                <a:solidFill>
                  <a:srgbClr val="6F6F6F"/>
                </a:solidFill>
                <a:latin typeface="Inter"/>
                <a:cs typeface="Inter"/>
              </a:rPr>
              <a:t>DOLOR</a:t>
            </a:r>
          </a:p>
        </p:txBody>
      </p:sp>
      <p:sp>
        <p:nvSpPr>
          <p:cNvPr id="34" name="TextBox 33"/>
          <p:cNvSpPr txBox="1"/>
          <p:nvPr/>
        </p:nvSpPr>
        <p:spPr>
          <a:xfrm>
            <a:off x="7563104" y="3207512"/>
            <a:ext cx="1136396" cy="381000"/>
          </a:xfrm>
          <a:prstGeom prst="rect">
            <a:avLst/>
          </a:prstGeom>
          <a:noFill/>
          <a:effectLst/>
        </p:spPr>
        <p:txBody>
          <a:bodyPr wrap="square" lIns="0" rIns="0" tIns="0" bIns="0" anchor="t"/>
          <a:lstStyle/>
          <a:p>
            <a:pPr algn="l">
              <a:lnSpc>
                <a:spcPts val="1215"/>
              </a:lnSpc>
            </a:pPr>
            <a:r>
              <a:rPr sz="900" b="0" dirty="0">
                <a:solidFill>
                  <a:srgbClr val="6F6F6F"/>
                </a:solidFill>
                <a:latin typeface="Inter"/>
                <a:cs typeface="Inter"/>
              </a:rPr>
              <a:t>Lorem ipsum dolor sit amet, consectetur adipiscing.</a:t>
            </a:r>
          </a:p>
        </p:txBody>
      </p:sp>
      <p:sp>
        <p:nvSpPr>
          <p:cNvPr id="35" name="TextBox 34"/>
          <p:cNvSpPr txBox="1"/>
          <p:nvPr/>
        </p:nvSpPr>
        <p:spPr>
          <a:xfrm>
            <a:off x="609600" y="3931412"/>
            <a:ext cx="3357033" cy="215900"/>
          </a:xfrm>
          <a:prstGeom prst="rect">
            <a:avLst/>
          </a:prstGeom>
          <a:noFill/>
          <a:effectLst/>
        </p:spPr>
        <p:txBody>
          <a:bodyPr wrap="square" lIns="0" rIns="0" tIns="0" bIns="0" anchor="ctr"/>
          <a:lstStyle/>
          <a:p>
            <a:pPr algn="l">
              <a:lnSpc>
                <a:spcPts val="1439"/>
              </a:lnSpc>
            </a:pPr>
            <a:r>
              <a:rPr sz="1200" b="0" dirty="0">
                <a:solidFill>
                  <a:srgbClr val="525252"/>
                </a:solidFill>
                <a:latin typeface="Inter"/>
                <a:cs typeface="Inter"/>
              </a:rPr>
              <a:t>Lorem ipsum dolor sit amet, consectetur adipiscing elit</a:t>
            </a:r>
          </a:p>
        </p:txBody>
      </p:sp>
      <p:sp>
        <p:nvSpPr>
          <p:cNvPr id="36" name="Rectangle 35"/>
          <p:cNvSpPr/>
          <p:nvPr/>
        </p:nvSpPr>
        <p:spPr>
          <a:xfrm>
            <a:off x="4131733" y="3931412"/>
            <a:ext cx="3831167" cy="2159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31733" y="3931412"/>
            <a:ext cx="1992207" cy="215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026400" y="3931412"/>
            <a:ext cx="762000" cy="215900"/>
          </a:xfrm>
          <a:prstGeom prst="rect">
            <a:avLst/>
          </a:prstGeom>
          <a:noFill/>
          <a:effectLst/>
        </p:spPr>
        <p:txBody>
          <a:bodyPr wrap="square" lIns="0" rIns="0" tIns="0" bIns="0" anchor="ctr"/>
          <a:lstStyle/>
          <a:p>
            <a:pPr algn="r">
              <a:lnSpc>
                <a:spcPts val="1400"/>
              </a:lnSpc>
            </a:pPr>
            <a:r>
              <a:rPr sz="1400" b="1" dirty="0">
                <a:solidFill>
                  <a:srgbClr val="161616"/>
                </a:solidFill>
                <a:latin typeface="Inter"/>
                <a:cs typeface="Inter"/>
              </a:rPr>
              <a:t>52 %</a:t>
            </a:r>
          </a:p>
        </p:txBody>
      </p:sp>
      <p:sp>
        <p:nvSpPr>
          <p:cNvPr id="39" name="TextBox 38"/>
          <p:cNvSpPr txBox="1"/>
          <p:nvPr/>
        </p:nvSpPr>
        <p:spPr>
          <a:xfrm>
            <a:off x="609600" y="4401312"/>
            <a:ext cx="3357033" cy="215900"/>
          </a:xfrm>
          <a:prstGeom prst="rect">
            <a:avLst/>
          </a:prstGeom>
          <a:noFill/>
          <a:effectLst/>
        </p:spPr>
        <p:txBody>
          <a:bodyPr wrap="square" lIns="0" rIns="0" tIns="0" bIns="0" anchor="ctr"/>
          <a:lstStyle/>
          <a:p>
            <a:pPr algn="l">
              <a:lnSpc>
                <a:spcPts val="1439"/>
              </a:lnSpc>
            </a:pPr>
            <a:r>
              <a:rPr sz="1200" b="0" dirty="0">
                <a:solidFill>
                  <a:srgbClr val="525252"/>
                </a:solidFill>
                <a:latin typeface="Inter"/>
                <a:cs typeface="Inter"/>
              </a:rPr>
              <a:t>Lorem ipsum dolor sit amet, consectetur adipiscing elit</a:t>
            </a:r>
          </a:p>
        </p:txBody>
      </p:sp>
      <p:sp>
        <p:nvSpPr>
          <p:cNvPr id="40" name="Rectangle 39"/>
          <p:cNvSpPr/>
          <p:nvPr/>
        </p:nvSpPr>
        <p:spPr>
          <a:xfrm>
            <a:off x="4131733" y="4401312"/>
            <a:ext cx="3831167" cy="2159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131733" y="4401312"/>
            <a:ext cx="1187662" cy="215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026400" y="4401312"/>
            <a:ext cx="762000" cy="215900"/>
          </a:xfrm>
          <a:prstGeom prst="rect">
            <a:avLst/>
          </a:prstGeom>
          <a:noFill/>
          <a:effectLst/>
        </p:spPr>
        <p:txBody>
          <a:bodyPr wrap="square" lIns="0" rIns="0" tIns="0" bIns="0" anchor="ctr"/>
          <a:lstStyle/>
          <a:p>
            <a:pPr algn="r">
              <a:lnSpc>
                <a:spcPts val="1400"/>
              </a:lnSpc>
            </a:pPr>
            <a:r>
              <a:rPr sz="1400" b="1" dirty="0">
                <a:solidFill>
                  <a:srgbClr val="161616"/>
                </a:solidFill>
                <a:latin typeface="Inter"/>
                <a:cs typeface="Inter"/>
              </a:rPr>
              <a:t>31 %</a:t>
            </a:r>
          </a:p>
        </p:txBody>
      </p:sp>
      <p:sp>
        <p:nvSpPr>
          <p:cNvPr id="43" name="TextBox 42"/>
          <p:cNvSpPr txBox="1"/>
          <p:nvPr/>
        </p:nvSpPr>
        <p:spPr>
          <a:xfrm>
            <a:off x="609600" y="4871212"/>
            <a:ext cx="3357033" cy="215900"/>
          </a:xfrm>
          <a:prstGeom prst="rect">
            <a:avLst/>
          </a:prstGeom>
          <a:noFill/>
          <a:effectLst/>
        </p:spPr>
        <p:txBody>
          <a:bodyPr wrap="square" lIns="0" rIns="0" tIns="0" bIns="0" anchor="ctr"/>
          <a:lstStyle/>
          <a:p>
            <a:pPr algn="l">
              <a:lnSpc>
                <a:spcPts val="1439"/>
              </a:lnSpc>
            </a:pPr>
            <a:r>
              <a:rPr sz="1200" b="0" dirty="0">
                <a:solidFill>
                  <a:srgbClr val="525252"/>
                </a:solidFill>
                <a:latin typeface="Inter"/>
                <a:cs typeface="Inter"/>
              </a:rPr>
              <a:t>Lorem ipsum dolor sit amet, consectetur adipiscing elit</a:t>
            </a:r>
          </a:p>
        </p:txBody>
      </p:sp>
      <p:sp>
        <p:nvSpPr>
          <p:cNvPr id="44" name="Rectangle 43"/>
          <p:cNvSpPr/>
          <p:nvPr/>
        </p:nvSpPr>
        <p:spPr>
          <a:xfrm>
            <a:off x="4131733" y="4871212"/>
            <a:ext cx="3831167" cy="2159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131733" y="4871212"/>
            <a:ext cx="651298" cy="215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026400" y="4871212"/>
            <a:ext cx="762000" cy="215900"/>
          </a:xfrm>
          <a:prstGeom prst="rect">
            <a:avLst/>
          </a:prstGeom>
          <a:noFill/>
          <a:effectLst/>
        </p:spPr>
        <p:txBody>
          <a:bodyPr wrap="square" lIns="0" rIns="0" tIns="0" bIns="0" anchor="ctr"/>
          <a:lstStyle/>
          <a:p>
            <a:pPr algn="r">
              <a:lnSpc>
                <a:spcPts val="1400"/>
              </a:lnSpc>
            </a:pPr>
            <a:r>
              <a:rPr sz="1400" b="1" dirty="0">
                <a:solidFill>
                  <a:srgbClr val="161616"/>
                </a:solidFill>
                <a:latin typeface="Inter"/>
                <a:cs typeface="Inter"/>
              </a:rPr>
              <a:t>17 %</a:t>
            </a:r>
          </a:p>
        </p:txBody>
      </p:sp>
      <p:sp>
        <p:nvSpPr>
          <p:cNvPr id="47" name="TextBox 46"/>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8" name="Connector 47"/>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3" name="TextBox 52"/>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4" name="TextBox 53"/>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F07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LOREM IPSUM · DOLOR SIT</a:t>
            </a:r>
          </a:p>
        </p:txBody>
      </p:sp>
      <p:sp>
        <p:nvSpPr>
          <p:cNvPr id="4" name="TextBox 3"/>
          <p:cNvSpPr txBox="1"/>
          <p:nvPr/>
        </p:nvSpPr>
        <p:spPr>
          <a:xfrm>
            <a:off x="609600" y="1181100"/>
            <a:ext cx="5384800"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528824"/>
            <a:ext cx="6316133" cy="33020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9600" y="4052824"/>
            <a:ext cx="6316133"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MAPA · DIAGRAMA DE LÍNEA EN TINTA</a:t>
            </a:r>
          </a:p>
        </p:txBody>
      </p:sp>
      <p:sp>
        <p:nvSpPr>
          <p:cNvPr id="22" name="TextBox 21"/>
          <p:cNvSpPr txBox="1"/>
          <p:nvPr/>
        </p:nvSpPr>
        <p:spPr>
          <a:xfrm>
            <a:off x="609600" y="4256024"/>
            <a:ext cx="6316133" cy="190500"/>
          </a:xfrm>
          <a:prstGeom prst="rect">
            <a:avLst/>
          </a:prstGeom>
          <a:noFill/>
          <a:effectLst/>
        </p:spPr>
        <p:txBody>
          <a:bodyPr wrap="square" lIns="0" rIns="0" tIns="0" bIns="0" anchor="t"/>
          <a:lstStyle/>
          <a:p>
            <a:pPr algn="ctr">
              <a:lnSpc>
                <a:spcPts val="650"/>
              </a:lnSpc>
            </a:pPr>
            <a:r>
              <a:rPr sz="650" b="0" spc="65" dirty="0">
                <a:solidFill>
                  <a:srgbClr val="A8A8A8"/>
                </a:solidFill>
                <a:latin typeface="Inter"/>
                <a:cs typeface="Inter"/>
              </a:rPr>
              <a:t>SIN RELIEVE NI SOMBRA</a:t>
            </a:r>
          </a:p>
        </p:txBody>
      </p:sp>
      <p:sp>
        <p:nvSpPr>
          <p:cNvPr id="23" name="TextBox 22"/>
          <p:cNvSpPr txBox="1"/>
          <p:nvPr/>
        </p:nvSpPr>
        <p:spPr>
          <a:xfrm>
            <a:off x="7255933" y="2528824"/>
            <a:ext cx="4326467"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POR REGIÓN</a:t>
            </a:r>
          </a:p>
        </p:txBody>
      </p:sp>
      <p:cxnSp>
        <p:nvCxnSpPr>
          <p:cNvPr id="24" name="Connector 23"/>
          <p:cNvCxnSpPr/>
          <p:nvPr/>
        </p:nvCxnSpPr>
        <p:spPr>
          <a:xfrm>
            <a:off x="7255933" y="2820924"/>
            <a:ext cx="4326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55933" y="2935224"/>
            <a:ext cx="3564467" cy="2159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Europa</a:t>
            </a:r>
          </a:p>
        </p:txBody>
      </p:sp>
      <p:sp>
        <p:nvSpPr>
          <p:cNvPr id="26" name="TextBox 25"/>
          <p:cNvSpPr txBox="1"/>
          <p:nvPr/>
        </p:nvSpPr>
        <p:spPr>
          <a:xfrm>
            <a:off x="10820400" y="2935224"/>
            <a:ext cx="762000" cy="215900"/>
          </a:xfrm>
          <a:prstGeom prst="rect">
            <a:avLst/>
          </a:prstGeom>
          <a:noFill/>
          <a:effectLst/>
        </p:spPr>
        <p:txBody>
          <a:bodyPr wrap="square" lIns="0" rIns="0" tIns="0" bIns="0" anchor="t"/>
          <a:lstStyle/>
          <a:p>
            <a:pPr algn="r">
              <a:lnSpc>
                <a:spcPts val="1439"/>
              </a:lnSpc>
            </a:pPr>
            <a:r>
              <a:rPr sz="1200" b="1" dirty="0">
                <a:solidFill>
                  <a:srgbClr val="5B4BF5"/>
                </a:solidFill>
                <a:latin typeface="Inter"/>
                <a:cs typeface="Inter"/>
              </a:rPr>
              <a:t>42 %</a:t>
            </a:r>
          </a:p>
        </p:txBody>
      </p:sp>
      <p:cxnSp>
        <p:nvCxnSpPr>
          <p:cNvPr id="27" name="Connector 26"/>
          <p:cNvCxnSpPr/>
          <p:nvPr/>
        </p:nvCxnSpPr>
        <p:spPr>
          <a:xfrm>
            <a:off x="7255933" y="3354324"/>
            <a:ext cx="4326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255933" y="3468624"/>
            <a:ext cx="3564467" cy="2159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LATAM</a:t>
            </a:r>
          </a:p>
        </p:txBody>
      </p:sp>
      <p:sp>
        <p:nvSpPr>
          <p:cNvPr id="29" name="TextBox 28"/>
          <p:cNvSpPr txBox="1"/>
          <p:nvPr/>
        </p:nvSpPr>
        <p:spPr>
          <a:xfrm>
            <a:off x="10820400" y="3468624"/>
            <a:ext cx="762000" cy="215900"/>
          </a:xfrm>
          <a:prstGeom prst="rect">
            <a:avLst/>
          </a:prstGeom>
          <a:noFill/>
          <a:effectLst/>
        </p:spPr>
        <p:txBody>
          <a:bodyPr wrap="square" lIns="0" rIns="0" tIns="0" bIns="0" anchor="t"/>
          <a:lstStyle/>
          <a:p>
            <a:pPr algn="r">
              <a:lnSpc>
                <a:spcPts val="1439"/>
              </a:lnSpc>
            </a:pPr>
            <a:r>
              <a:rPr sz="1200" b="1" dirty="0">
                <a:solidFill>
                  <a:srgbClr val="525252"/>
                </a:solidFill>
                <a:latin typeface="Inter"/>
                <a:cs typeface="Inter"/>
              </a:rPr>
              <a:t>27 %</a:t>
            </a:r>
          </a:p>
        </p:txBody>
      </p:sp>
      <p:cxnSp>
        <p:nvCxnSpPr>
          <p:cNvPr id="30" name="Connector 29"/>
          <p:cNvCxnSpPr/>
          <p:nvPr/>
        </p:nvCxnSpPr>
        <p:spPr>
          <a:xfrm>
            <a:off x="7255933" y="3887724"/>
            <a:ext cx="4326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255933" y="4002024"/>
            <a:ext cx="3564467" cy="2159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Norteamérica</a:t>
            </a:r>
          </a:p>
        </p:txBody>
      </p:sp>
      <p:sp>
        <p:nvSpPr>
          <p:cNvPr id="32" name="TextBox 31"/>
          <p:cNvSpPr txBox="1"/>
          <p:nvPr/>
        </p:nvSpPr>
        <p:spPr>
          <a:xfrm>
            <a:off x="10820400" y="4002024"/>
            <a:ext cx="762000" cy="215900"/>
          </a:xfrm>
          <a:prstGeom prst="rect">
            <a:avLst/>
          </a:prstGeom>
          <a:noFill/>
          <a:effectLst/>
        </p:spPr>
        <p:txBody>
          <a:bodyPr wrap="square" lIns="0" rIns="0" tIns="0" bIns="0" anchor="t"/>
          <a:lstStyle/>
          <a:p>
            <a:pPr algn="r">
              <a:lnSpc>
                <a:spcPts val="1439"/>
              </a:lnSpc>
            </a:pPr>
            <a:r>
              <a:rPr sz="1200" b="1" dirty="0">
                <a:solidFill>
                  <a:srgbClr val="525252"/>
                </a:solidFill>
                <a:latin typeface="Inter"/>
                <a:cs typeface="Inter"/>
              </a:rPr>
              <a:t>19 %</a:t>
            </a:r>
          </a:p>
        </p:txBody>
      </p:sp>
      <p:cxnSp>
        <p:nvCxnSpPr>
          <p:cNvPr id="33" name="Connector 32"/>
          <p:cNvCxnSpPr/>
          <p:nvPr/>
        </p:nvCxnSpPr>
        <p:spPr>
          <a:xfrm>
            <a:off x="7255933" y="4421124"/>
            <a:ext cx="43264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255933" y="4535424"/>
            <a:ext cx="3564467" cy="2159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Asia-Pacífico</a:t>
            </a:r>
          </a:p>
        </p:txBody>
      </p:sp>
      <p:sp>
        <p:nvSpPr>
          <p:cNvPr id="35" name="TextBox 34"/>
          <p:cNvSpPr txBox="1"/>
          <p:nvPr/>
        </p:nvSpPr>
        <p:spPr>
          <a:xfrm>
            <a:off x="10820400" y="4535424"/>
            <a:ext cx="762000" cy="215900"/>
          </a:xfrm>
          <a:prstGeom prst="rect">
            <a:avLst/>
          </a:prstGeom>
          <a:noFill/>
          <a:effectLst/>
        </p:spPr>
        <p:txBody>
          <a:bodyPr wrap="square" lIns="0" rIns="0" tIns="0" bIns="0" anchor="t"/>
          <a:lstStyle/>
          <a:p>
            <a:pPr algn="r">
              <a:lnSpc>
                <a:spcPts val="1439"/>
              </a:lnSpc>
            </a:pPr>
            <a:r>
              <a:rPr sz="1200" b="1" dirty="0">
                <a:solidFill>
                  <a:srgbClr val="525252"/>
                </a:solidFill>
                <a:latin typeface="Inter"/>
                <a:cs typeface="Inter"/>
              </a:rPr>
              <a:t>12 %</a:t>
            </a:r>
          </a:p>
        </p:txBody>
      </p:sp>
      <p:sp>
        <p:nvSpPr>
          <p:cNvPr id="36" name="TextBox 35"/>
          <p:cNvSpPr txBox="1"/>
          <p:nvPr/>
        </p:nvSpPr>
        <p:spPr>
          <a:xfrm>
            <a:off x="609600" y="5995924"/>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37" name="Connector 36"/>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2" name="TextBox 4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3" name="TextBox 4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F08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Estructura</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Procesos, comparativas y marcos de decisión.</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9 PLANTILLAS · G01–G09</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G01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Proceso en pasos</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Cronología</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Comparativa A / B</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Matriz 2×2</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Jerarquía / pirámide</a:t>
            </a:r>
          </a:p>
        </p:txBody>
      </p:sp>
      <p:cxnSp>
        <p:nvCxnSpPr>
          <p:cNvPr id="25" name="Connector 24"/>
          <p:cNvCxnSpPr/>
          <p:nvPr/>
        </p:nvCxnSpPr>
        <p:spPr>
          <a:xfrm>
            <a:off x="7128933" y="3429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128933" y="3517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G06</a:t>
            </a:r>
          </a:p>
        </p:txBody>
      </p:sp>
      <p:sp>
        <p:nvSpPr>
          <p:cNvPr id="27" name="TextBox 26"/>
          <p:cNvSpPr txBox="1"/>
          <p:nvPr/>
        </p:nvSpPr>
        <p:spPr>
          <a:xfrm>
            <a:off x="7636933" y="3505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Diagrama de flujo</a:t>
            </a:r>
          </a:p>
        </p:txBody>
      </p:sp>
      <p:cxnSp>
        <p:nvCxnSpPr>
          <p:cNvPr id="28" name="Connector 27"/>
          <p:cNvCxnSpPr/>
          <p:nvPr/>
        </p:nvCxnSpPr>
        <p:spPr>
          <a:xfrm>
            <a:off x="7128933" y="3784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128933" y="3873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G07</a:t>
            </a:r>
          </a:p>
        </p:txBody>
      </p:sp>
      <p:sp>
        <p:nvSpPr>
          <p:cNvPr id="30" name="TextBox 29"/>
          <p:cNvSpPr txBox="1"/>
          <p:nvPr/>
        </p:nvSpPr>
        <p:spPr>
          <a:xfrm>
            <a:off x="7636933" y="3860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Checklist</a:t>
            </a:r>
          </a:p>
        </p:txBody>
      </p:sp>
      <p:cxnSp>
        <p:nvCxnSpPr>
          <p:cNvPr id="31" name="Connector 30"/>
          <p:cNvCxnSpPr/>
          <p:nvPr/>
        </p:nvCxnSpPr>
        <p:spPr>
          <a:xfrm>
            <a:off x="7128933" y="4140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128933" y="4229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G08</a:t>
            </a:r>
          </a:p>
        </p:txBody>
      </p:sp>
      <p:sp>
        <p:nvSpPr>
          <p:cNvPr id="33" name="TextBox 32"/>
          <p:cNvSpPr txBox="1"/>
          <p:nvPr/>
        </p:nvSpPr>
        <p:spPr>
          <a:xfrm>
            <a:off x="7636933" y="4216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Do / Don't</a:t>
            </a:r>
          </a:p>
        </p:txBody>
      </p:sp>
      <p:cxnSp>
        <p:nvCxnSpPr>
          <p:cNvPr id="34" name="Connector 33"/>
          <p:cNvCxnSpPr/>
          <p:nvPr/>
        </p:nvCxnSpPr>
        <p:spPr>
          <a:xfrm>
            <a:off x="7128933" y="4495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128933" y="4584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G09</a:t>
            </a:r>
          </a:p>
        </p:txBody>
      </p:sp>
      <p:sp>
        <p:nvSpPr>
          <p:cNvPr id="36" name="TextBox 35"/>
          <p:cNvSpPr txBox="1"/>
          <p:nvPr/>
        </p:nvSpPr>
        <p:spPr>
          <a:xfrm>
            <a:off x="7636933" y="4572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Framework con siglas</a:t>
            </a:r>
          </a:p>
        </p:txBody>
      </p:sp>
      <p:cxnSp>
        <p:nvCxnSpPr>
          <p:cNvPr id="37" name="Connector 36"/>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42" name="TextBox 4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G</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PROCESO</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089912"/>
            <a:ext cx="2600325"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2216912"/>
            <a:ext cx="2600325" cy="165100"/>
          </a:xfrm>
          <a:prstGeom prst="rect">
            <a:avLst/>
          </a:prstGeom>
          <a:noFill/>
          <a:effectLst/>
        </p:spPr>
        <p:txBody>
          <a:bodyPr wrap="square" lIns="0" rIns="0" tIns="0" bIns="0" anchor="t"/>
          <a:lstStyle/>
          <a:p>
            <a:pPr algn="l">
              <a:lnSpc>
                <a:spcPts val="1000"/>
              </a:lnSpc>
            </a:pPr>
            <a:r>
              <a:rPr sz="1000" b="1" spc="140" dirty="0">
                <a:solidFill>
                  <a:srgbClr val="5B4BF5"/>
                </a:solidFill>
                <a:latin typeface="Inter"/>
                <a:cs typeface="Inter"/>
              </a:rPr>
              <a:t>PASO 01</a:t>
            </a:r>
          </a:p>
        </p:txBody>
      </p:sp>
      <p:sp>
        <p:nvSpPr>
          <p:cNvPr id="22" name="TextBox 21"/>
          <p:cNvSpPr txBox="1"/>
          <p:nvPr/>
        </p:nvSpPr>
        <p:spPr>
          <a:xfrm>
            <a:off x="609600" y="2445512"/>
            <a:ext cx="2600325" cy="508000"/>
          </a:xfrm>
          <a:prstGeom prst="rect">
            <a:avLst/>
          </a:prstGeom>
          <a:noFill/>
          <a:effectLst/>
        </p:spPr>
        <p:txBody>
          <a:bodyPr wrap="square" lIns="0" rIns="0" tIns="0" bIns="0" anchor="t"/>
          <a:lstStyle/>
          <a:p>
            <a:pPr algn="l">
              <a:lnSpc>
                <a:spcPts val="1725"/>
              </a:lnSpc>
            </a:pPr>
            <a:r>
              <a:rPr sz="1500" b="1" spc="-15" dirty="0">
                <a:solidFill>
                  <a:srgbClr val="161616"/>
                </a:solidFill>
                <a:latin typeface="Inter"/>
                <a:cs typeface="Inter"/>
              </a:rPr>
              <a:t>Lorem Ipsum Dolor</a:t>
            </a:r>
          </a:p>
        </p:txBody>
      </p:sp>
      <p:sp>
        <p:nvSpPr>
          <p:cNvPr id="23" name="TextBox 22"/>
          <p:cNvSpPr txBox="1"/>
          <p:nvPr/>
        </p:nvSpPr>
        <p:spPr>
          <a:xfrm>
            <a:off x="609600" y="3042412"/>
            <a:ext cx="2600325"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4" name="TextBox 23"/>
          <p:cNvSpPr txBox="1"/>
          <p:nvPr/>
        </p:nvSpPr>
        <p:spPr>
          <a:xfrm>
            <a:off x="609600" y="4452112"/>
            <a:ext cx="2600325" cy="190500"/>
          </a:xfrm>
          <a:prstGeom prst="rect">
            <a:avLst/>
          </a:prstGeom>
          <a:noFill/>
          <a:effectLst/>
        </p:spPr>
        <p:txBody>
          <a:bodyPr wrap="square" lIns="0" rIns="0" tIns="0" bIns="0" anchor="t"/>
          <a:lstStyle/>
          <a:p>
            <a:pPr algn="l">
              <a:lnSpc>
                <a:spcPts val="780"/>
              </a:lnSpc>
            </a:pPr>
            <a:r>
              <a:rPr sz="650" b="1" spc="52" dirty="0">
                <a:solidFill>
                  <a:srgbClr val="8D8D8D"/>
                </a:solidFill>
                <a:latin typeface="Inter"/>
                <a:cs typeface="Inter"/>
              </a:rPr>
              <a:t>SALES CON: Lorem ipsum</a:t>
            </a:r>
          </a:p>
        </p:txBody>
      </p:sp>
      <p:cxnSp>
        <p:nvCxnSpPr>
          <p:cNvPr id="25" name="Connector 24"/>
          <p:cNvCxnSpPr/>
          <p:nvPr/>
        </p:nvCxnSpPr>
        <p:spPr>
          <a:xfrm>
            <a:off x="3235325" y="2699512"/>
            <a:ext cx="1270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3305175" y="2664079"/>
            <a:ext cx="57150" cy="70866"/>
          </a:xfrm>
          <a:custGeom>
            <a:avLst/>
            <a:gdLst/>
            <a:ahLst/>
            <a:cxnLst/>
            <a:rect l="l" t="t" r="r" b="b"/>
            <a:pathLst>
              <a:path w="57150" h="70866">
                <a:moveTo>
                  <a:pt x="57150" y="35433"/>
                </a:moveTo>
                <a:lnTo>
                  <a:pt x="0" y="0"/>
                </a:lnTo>
                <a:lnTo>
                  <a:pt x="0" y="70866"/>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3400425" y="2089912"/>
            <a:ext cx="2600325"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400425" y="2216912"/>
            <a:ext cx="2600325" cy="165100"/>
          </a:xfrm>
          <a:prstGeom prst="rect">
            <a:avLst/>
          </a:prstGeom>
          <a:noFill/>
          <a:effectLst/>
        </p:spPr>
        <p:txBody>
          <a:bodyPr wrap="square" lIns="0" rIns="0" tIns="0" bIns="0" anchor="t"/>
          <a:lstStyle/>
          <a:p>
            <a:pPr algn="l">
              <a:lnSpc>
                <a:spcPts val="1000"/>
              </a:lnSpc>
            </a:pPr>
            <a:r>
              <a:rPr sz="1000" b="1" spc="140" dirty="0">
                <a:solidFill>
                  <a:srgbClr val="8D8D8D"/>
                </a:solidFill>
                <a:latin typeface="Inter"/>
                <a:cs typeface="Inter"/>
              </a:rPr>
              <a:t>PASO 02</a:t>
            </a:r>
          </a:p>
        </p:txBody>
      </p:sp>
      <p:sp>
        <p:nvSpPr>
          <p:cNvPr id="29" name="TextBox 28"/>
          <p:cNvSpPr txBox="1"/>
          <p:nvPr/>
        </p:nvSpPr>
        <p:spPr>
          <a:xfrm>
            <a:off x="3400425" y="2445512"/>
            <a:ext cx="2600325" cy="508000"/>
          </a:xfrm>
          <a:prstGeom prst="rect">
            <a:avLst/>
          </a:prstGeom>
          <a:noFill/>
          <a:effectLst/>
        </p:spPr>
        <p:txBody>
          <a:bodyPr wrap="square" lIns="0" rIns="0" tIns="0" bIns="0" anchor="t"/>
          <a:lstStyle/>
          <a:p>
            <a:pPr algn="l">
              <a:lnSpc>
                <a:spcPts val="1725"/>
              </a:lnSpc>
            </a:pPr>
            <a:r>
              <a:rPr sz="1500" b="1" spc="-15" dirty="0">
                <a:solidFill>
                  <a:srgbClr val="161616"/>
                </a:solidFill>
                <a:latin typeface="Inter"/>
                <a:cs typeface="Inter"/>
              </a:rPr>
              <a:t>Lorem Ipsum Dolor</a:t>
            </a:r>
          </a:p>
        </p:txBody>
      </p:sp>
      <p:sp>
        <p:nvSpPr>
          <p:cNvPr id="30" name="TextBox 29"/>
          <p:cNvSpPr txBox="1"/>
          <p:nvPr/>
        </p:nvSpPr>
        <p:spPr>
          <a:xfrm>
            <a:off x="3400425" y="3042412"/>
            <a:ext cx="2600325"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31" name="TextBox 30"/>
          <p:cNvSpPr txBox="1"/>
          <p:nvPr/>
        </p:nvSpPr>
        <p:spPr>
          <a:xfrm>
            <a:off x="3400425" y="4452112"/>
            <a:ext cx="2600325" cy="190500"/>
          </a:xfrm>
          <a:prstGeom prst="rect">
            <a:avLst/>
          </a:prstGeom>
          <a:noFill/>
          <a:effectLst/>
        </p:spPr>
        <p:txBody>
          <a:bodyPr wrap="square" lIns="0" rIns="0" tIns="0" bIns="0" anchor="t"/>
          <a:lstStyle/>
          <a:p>
            <a:pPr algn="l">
              <a:lnSpc>
                <a:spcPts val="780"/>
              </a:lnSpc>
            </a:pPr>
            <a:r>
              <a:rPr sz="650" b="1" spc="52" dirty="0">
                <a:solidFill>
                  <a:srgbClr val="8D8D8D"/>
                </a:solidFill>
                <a:latin typeface="Inter"/>
                <a:cs typeface="Inter"/>
              </a:rPr>
              <a:t>SALES CON: Lorem ipsum</a:t>
            </a:r>
          </a:p>
        </p:txBody>
      </p:sp>
      <p:cxnSp>
        <p:nvCxnSpPr>
          <p:cNvPr id="32" name="Connector 31"/>
          <p:cNvCxnSpPr/>
          <p:nvPr/>
        </p:nvCxnSpPr>
        <p:spPr>
          <a:xfrm>
            <a:off x="6026150" y="2699512"/>
            <a:ext cx="1270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6096000" y="2664079"/>
            <a:ext cx="57150" cy="70866"/>
          </a:xfrm>
          <a:custGeom>
            <a:avLst/>
            <a:gdLst/>
            <a:ahLst/>
            <a:cxnLst/>
            <a:rect l="l" t="t" r="r" b="b"/>
            <a:pathLst>
              <a:path w="57150" h="70866">
                <a:moveTo>
                  <a:pt x="57150" y="35433"/>
                </a:moveTo>
                <a:lnTo>
                  <a:pt x="0" y="0"/>
                </a:lnTo>
                <a:lnTo>
                  <a:pt x="0" y="70866"/>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6191250" y="2089912"/>
            <a:ext cx="2600325"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191250" y="2216912"/>
            <a:ext cx="2600325" cy="165100"/>
          </a:xfrm>
          <a:prstGeom prst="rect">
            <a:avLst/>
          </a:prstGeom>
          <a:noFill/>
          <a:effectLst/>
        </p:spPr>
        <p:txBody>
          <a:bodyPr wrap="square" lIns="0" rIns="0" tIns="0" bIns="0" anchor="t"/>
          <a:lstStyle/>
          <a:p>
            <a:pPr algn="l">
              <a:lnSpc>
                <a:spcPts val="1000"/>
              </a:lnSpc>
            </a:pPr>
            <a:r>
              <a:rPr sz="1000" b="1" spc="140" dirty="0">
                <a:solidFill>
                  <a:srgbClr val="8D8D8D"/>
                </a:solidFill>
                <a:latin typeface="Inter"/>
                <a:cs typeface="Inter"/>
              </a:rPr>
              <a:t>PASO 03</a:t>
            </a:r>
          </a:p>
        </p:txBody>
      </p:sp>
      <p:sp>
        <p:nvSpPr>
          <p:cNvPr id="36" name="TextBox 35"/>
          <p:cNvSpPr txBox="1"/>
          <p:nvPr/>
        </p:nvSpPr>
        <p:spPr>
          <a:xfrm>
            <a:off x="6191250" y="2445512"/>
            <a:ext cx="2600325" cy="508000"/>
          </a:xfrm>
          <a:prstGeom prst="rect">
            <a:avLst/>
          </a:prstGeom>
          <a:noFill/>
          <a:effectLst/>
        </p:spPr>
        <p:txBody>
          <a:bodyPr wrap="square" lIns="0" rIns="0" tIns="0" bIns="0" anchor="t"/>
          <a:lstStyle/>
          <a:p>
            <a:pPr algn="l">
              <a:lnSpc>
                <a:spcPts val="1725"/>
              </a:lnSpc>
            </a:pPr>
            <a:r>
              <a:rPr sz="1500" b="1" spc="-15" dirty="0">
                <a:solidFill>
                  <a:srgbClr val="161616"/>
                </a:solidFill>
                <a:latin typeface="Inter"/>
                <a:cs typeface="Inter"/>
              </a:rPr>
              <a:t>Lorem Ipsum Dolor</a:t>
            </a:r>
          </a:p>
        </p:txBody>
      </p:sp>
      <p:sp>
        <p:nvSpPr>
          <p:cNvPr id="37" name="TextBox 36"/>
          <p:cNvSpPr txBox="1"/>
          <p:nvPr/>
        </p:nvSpPr>
        <p:spPr>
          <a:xfrm>
            <a:off x="6191250" y="3042412"/>
            <a:ext cx="2600325"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38" name="TextBox 37"/>
          <p:cNvSpPr txBox="1"/>
          <p:nvPr/>
        </p:nvSpPr>
        <p:spPr>
          <a:xfrm>
            <a:off x="6191250" y="4452112"/>
            <a:ext cx="2600325" cy="190500"/>
          </a:xfrm>
          <a:prstGeom prst="rect">
            <a:avLst/>
          </a:prstGeom>
          <a:noFill/>
          <a:effectLst/>
        </p:spPr>
        <p:txBody>
          <a:bodyPr wrap="square" lIns="0" rIns="0" tIns="0" bIns="0" anchor="t"/>
          <a:lstStyle/>
          <a:p>
            <a:pPr algn="l">
              <a:lnSpc>
                <a:spcPts val="780"/>
              </a:lnSpc>
            </a:pPr>
            <a:r>
              <a:rPr sz="650" b="1" spc="52" dirty="0">
                <a:solidFill>
                  <a:srgbClr val="8D8D8D"/>
                </a:solidFill>
                <a:latin typeface="Inter"/>
                <a:cs typeface="Inter"/>
              </a:rPr>
              <a:t>SALES CON: Lorem ipsum</a:t>
            </a:r>
          </a:p>
        </p:txBody>
      </p:sp>
      <p:cxnSp>
        <p:nvCxnSpPr>
          <p:cNvPr id="39" name="Connector 38"/>
          <p:cNvCxnSpPr/>
          <p:nvPr/>
        </p:nvCxnSpPr>
        <p:spPr>
          <a:xfrm>
            <a:off x="8816975" y="2699512"/>
            <a:ext cx="1270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8886825" y="2664079"/>
            <a:ext cx="57150" cy="70866"/>
          </a:xfrm>
          <a:custGeom>
            <a:avLst/>
            <a:gdLst/>
            <a:ahLst/>
            <a:cxnLst/>
            <a:rect l="l" t="t" r="r" b="b"/>
            <a:pathLst>
              <a:path w="57150" h="70866">
                <a:moveTo>
                  <a:pt x="57150" y="35433"/>
                </a:moveTo>
                <a:lnTo>
                  <a:pt x="0" y="0"/>
                </a:lnTo>
                <a:lnTo>
                  <a:pt x="0" y="70866"/>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8982075" y="2089912"/>
            <a:ext cx="2600325"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982075" y="2216912"/>
            <a:ext cx="2600325" cy="165100"/>
          </a:xfrm>
          <a:prstGeom prst="rect">
            <a:avLst/>
          </a:prstGeom>
          <a:noFill/>
          <a:effectLst/>
        </p:spPr>
        <p:txBody>
          <a:bodyPr wrap="square" lIns="0" rIns="0" tIns="0" bIns="0" anchor="t"/>
          <a:lstStyle/>
          <a:p>
            <a:pPr algn="l">
              <a:lnSpc>
                <a:spcPts val="1000"/>
              </a:lnSpc>
            </a:pPr>
            <a:r>
              <a:rPr sz="1000" b="1" spc="140" dirty="0">
                <a:solidFill>
                  <a:srgbClr val="8D8D8D"/>
                </a:solidFill>
                <a:latin typeface="Inter"/>
                <a:cs typeface="Inter"/>
              </a:rPr>
              <a:t>PASO 04</a:t>
            </a:r>
          </a:p>
        </p:txBody>
      </p:sp>
      <p:sp>
        <p:nvSpPr>
          <p:cNvPr id="43" name="TextBox 42"/>
          <p:cNvSpPr txBox="1"/>
          <p:nvPr/>
        </p:nvSpPr>
        <p:spPr>
          <a:xfrm>
            <a:off x="8982075" y="2445512"/>
            <a:ext cx="2600325" cy="508000"/>
          </a:xfrm>
          <a:prstGeom prst="rect">
            <a:avLst/>
          </a:prstGeom>
          <a:noFill/>
          <a:effectLst/>
        </p:spPr>
        <p:txBody>
          <a:bodyPr wrap="square" lIns="0" rIns="0" tIns="0" bIns="0" anchor="t"/>
          <a:lstStyle/>
          <a:p>
            <a:pPr algn="l">
              <a:lnSpc>
                <a:spcPts val="1725"/>
              </a:lnSpc>
            </a:pPr>
            <a:r>
              <a:rPr sz="1500" b="1" spc="-15" dirty="0">
                <a:solidFill>
                  <a:srgbClr val="161616"/>
                </a:solidFill>
                <a:latin typeface="Inter"/>
                <a:cs typeface="Inter"/>
              </a:rPr>
              <a:t>Lorem Ipsum Dolor</a:t>
            </a:r>
          </a:p>
        </p:txBody>
      </p:sp>
      <p:sp>
        <p:nvSpPr>
          <p:cNvPr id="44" name="TextBox 43"/>
          <p:cNvSpPr txBox="1"/>
          <p:nvPr/>
        </p:nvSpPr>
        <p:spPr>
          <a:xfrm>
            <a:off x="8982075" y="3042412"/>
            <a:ext cx="2600325"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45" name="TextBox 44"/>
          <p:cNvSpPr txBox="1"/>
          <p:nvPr/>
        </p:nvSpPr>
        <p:spPr>
          <a:xfrm>
            <a:off x="8982075" y="4452112"/>
            <a:ext cx="2600325" cy="190500"/>
          </a:xfrm>
          <a:prstGeom prst="rect">
            <a:avLst/>
          </a:prstGeom>
          <a:noFill/>
          <a:effectLst/>
        </p:spPr>
        <p:txBody>
          <a:bodyPr wrap="square" lIns="0" rIns="0" tIns="0" bIns="0" anchor="t"/>
          <a:lstStyle/>
          <a:p>
            <a:pPr algn="l">
              <a:lnSpc>
                <a:spcPts val="780"/>
              </a:lnSpc>
            </a:pPr>
            <a:r>
              <a:rPr sz="650" b="1" spc="52" dirty="0">
                <a:solidFill>
                  <a:srgbClr val="8D8D8D"/>
                </a:solidFill>
                <a:latin typeface="Inter"/>
                <a:cs typeface="Inter"/>
              </a:rPr>
              <a:t>SALES CON: Lorem ipsum</a:t>
            </a:r>
          </a:p>
        </p:txBody>
      </p:sp>
      <p:sp>
        <p:nvSpPr>
          <p:cNvPr id="46" name="TextBox 45"/>
          <p:cNvSpPr txBox="1"/>
          <p:nvPr/>
        </p:nvSpPr>
        <p:spPr>
          <a:xfrm>
            <a:off x="609600" y="4820412"/>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7" name="Connector 46"/>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8" name="Freeform 4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2" name="TextBox 5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3" name="TextBox 5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CRONOLOGÍA</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851912"/>
            <a:ext cx="109728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09600" y="2794762"/>
            <a:ext cx="114300" cy="1143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9600" y="2242312"/>
            <a:ext cx="2004060" cy="190500"/>
          </a:xfrm>
          <a:prstGeom prst="rect">
            <a:avLst/>
          </a:prstGeom>
          <a:noFill/>
          <a:effectLst/>
        </p:spPr>
        <p:txBody>
          <a:bodyPr wrap="square" lIns="0" rIns="0" tIns="0" bIns="0" anchor="t"/>
          <a:lstStyle/>
          <a:p>
            <a:pPr algn="l">
              <a:lnSpc>
                <a:spcPts val="1000"/>
              </a:lnSpc>
            </a:pPr>
            <a:r>
              <a:rPr sz="1000" b="1" spc="120" dirty="0">
                <a:solidFill>
                  <a:srgbClr val="8D8D8D"/>
                </a:solidFill>
                <a:latin typeface="Inter"/>
                <a:cs typeface="Inter"/>
              </a:rPr>
              <a:t>2021</a:t>
            </a:r>
          </a:p>
        </p:txBody>
      </p:sp>
      <p:sp>
        <p:nvSpPr>
          <p:cNvPr id="23" name="TextBox 22"/>
          <p:cNvSpPr txBox="1"/>
          <p:nvPr/>
        </p:nvSpPr>
        <p:spPr>
          <a:xfrm>
            <a:off x="609600" y="2470912"/>
            <a:ext cx="2004060" cy="2540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Lorem Ipsum Dolor</a:t>
            </a:r>
          </a:p>
        </p:txBody>
      </p:sp>
      <p:sp>
        <p:nvSpPr>
          <p:cNvPr id="24" name="TextBox 23"/>
          <p:cNvSpPr txBox="1"/>
          <p:nvPr/>
        </p:nvSpPr>
        <p:spPr>
          <a:xfrm>
            <a:off x="609600" y="3017012"/>
            <a:ext cx="2004060" cy="762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25" name="Rectangle 24"/>
          <p:cNvSpPr/>
          <p:nvPr/>
        </p:nvSpPr>
        <p:spPr>
          <a:xfrm>
            <a:off x="2804160" y="2794762"/>
            <a:ext cx="114300" cy="1143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804160" y="2242312"/>
            <a:ext cx="2004060" cy="190500"/>
          </a:xfrm>
          <a:prstGeom prst="rect">
            <a:avLst/>
          </a:prstGeom>
          <a:noFill/>
          <a:effectLst/>
        </p:spPr>
        <p:txBody>
          <a:bodyPr wrap="square" lIns="0" rIns="0" tIns="0" bIns="0" anchor="t"/>
          <a:lstStyle/>
          <a:p>
            <a:pPr algn="l">
              <a:lnSpc>
                <a:spcPts val="1000"/>
              </a:lnSpc>
            </a:pPr>
            <a:r>
              <a:rPr sz="1000" b="1" spc="120" dirty="0">
                <a:solidFill>
                  <a:srgbClr val="8D8D8D"/>
                </a:solidFill>
                <a:latin typeface="Inter"/>
                <a:cs typeface="Inter"/>
              </a:rPr>
              <a:t>2022</a:t>
            </a:r>
          </a:p>
        </p:txBody>
      </p:sp>
      <p:sp>
        <p:nvSpPr>
          <p:cNvPr id="27" name="TextBox 26"/>
          <p:cNvSpPr txBox="1"/>
          <p:nvPr/>
        </p:nvSpPr>
        <p:spPr>
          <a:xfrm>
            <a:off x="2804160" y="2470912"/>
            <a:ext cx="2004060" cy="2540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Lorem Ipsum Dolor</a:t>
            </a:r>
          </a:p>
        </p:txBody>
      </p:sp>
      <p:sp>
        <p:nvSpPr>
          <p:cNvPr id="28" name="TextBox 27"/>
          <p:cNvSpPr txBox="1"/>
          <p:nvPr/>
        </p:nvSpPr>
        <p:spPr>
          <a:xfrm>
            <a:off x="2804160" y="3017012"/>
            <a:ext cx="2004060" cy="762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29" name="Rectangle 28"/>
          <p:cNvSpPr/>
          <p:nvPr/>
        </p:nvSpPr>
        <p:spPr>
          <a:xfrm>
            <a:off x="4998720" y="2794762"/>
            <a:ext cx="114300" cy="1143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998720" y="2242312"/>
            <a:ext cx="2004060" cy="190500"/>
          </a:xfrm>
          <a:prstGeom prst="rect">
            <a:avLst/>
          </a:prstGeom>
          <a:noFill/>
          <a:effectLst/>
        </p:spPr>
        <p:txBody>
          <a:bodyPr wrap="square" lIns="0" rIns="0" tIns="0" bIns="0" anchor="t"/>
          <a:lstStyle/>
          <a:p>
            <a:pPr algn="l">
              <a:lnSpc>
                <a:spcPts val="1000"/>
              </a:lnSpc>
            </a:pPr>
            <a:r>
              <a:rPr sz="1000" b="1" spc="120" dirty="0">
                <a:solidFill>
                  <a:srgbClr val="5B4BF5"/>
                </a:solidFill>
                <a:latin typeface="Inter"/>
                <a:cs typeface="Inter"/>
              </a:rPr>
              <a:t>2023</a:t>
            </a:r>
          </a:p>
        </p:txBody>
      </p:sp>
      <p:sp>
        <p:nvSpPr>
          <p:cNvPr id="31" name="TextBox 30"/>
          <p:cNvSpPr txBox="1"/>
          <p:nvPr/>
        </p:nvSpPr>
        <p:spPr>
          <a:xfrm>
            <a:off x="4998720" y="2470912"/>
            <a:ext cx="2004060" cy="2540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Lorem Ipsum Dolor</a:t>
            </a:r>
          </a:p>
        </p:txBody>
      </p:sp>
      <p:sp>
        <p:nvSpPr>
          <p:cNvPr id="32" name="TextBox 31"/>
          <p:cNvSpPr txBox="1"/>
          <p:nvPr/>
        </p:nvSpPr>
        <p:spPr>
          <a:xfrm>
            <a:off x="4998720" y="3017012"/>
            <a:ext cx="2004060" cy="762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33" name="Rectangle 32"/>
          <p:cNvSpPr/>
          <p:nvPr/>
        </p:nvSpPr>
        <p:spPr>
          <a:xfrm>
            <a:off x="7193280" y="2794762"/>
            <a:ext cx="114300" cy="11430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193280" y="2242312"/>
            <a:ext cx="2004060" cy="190500"/>
          </a:xfrm>
          <a:prstGeom prst="rect">
            <a:avLst/>
          </a:prstGeom>
          <a:noFill/>
          <a:effectLst/>
        </p:spPr>
        <p:txBody>
          <a:bodyPr wrap="square" lIns="0" rIns="0" tIns="0" bIns="0" anchor="t"/>
          <a:lstStyle/>
          <a:p>
            <a:pPr algn="l">
              <a:lnSpc>
                <a:spcPts val="1000"/>
              </a:lnSpc>
            </a:pPr>
            <a:r>
              <a:rPr sz="1000" b="1" spc="120" dirty="0">
                <a:solidFill>
                  <a:srgbClr val="8D8D8D"/>
                </a:solidFill>
                <a:latin typeface="Inter"/>
                <a:cs typeface="Inter"/>
              </a:rPr>
              <a:t>2024</a:t>
            </a:r>
          </a:p>
        </p:txBody>
      </p:sp>
      <p:sp>
        <p:nvSpPr>
          <p:cNvPr id="35" name="TextBox 34"/>
          <p:cNvSpPr txBox="1"/>
          <p:nvPr/>
        </p:nvSpPr>
        <p:spPr>
          <a:xfrm>
            <a:off x="7193280" y="2470912"/>
            <a:ext cx="2004060" cy="2540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Lorem Ipsum Dolor</a:t>
            </a:r>
          </a:p>
        </p:txBody>
      </p:sp>
      <p:sp>
        <p:nvSpPr>
          <p:cNvPr id="36" name="TextBox 35"/>
          <p:cNvSpPr txBox="1"/>
          <p:nvPr/>
        </p:nvSpPr>
        <p:spPr>
          <a:xfrm>
            <a:off x="7193280" y="3017012"/>
            <a:ext cx="2004060" cy="762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37" name="Rectangle 36"/>
          <p:cNvSpPr/>
          <p:nvPr/>
        </p:nvSpPr>
        <p:spPr>
          <a:xfrm>
            <a:off x="9387840" y="2794762"/>
            <a:ext cx="114300" cy="11430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387840" y="2242312"/>
            <a:ext cx="2004060" cy="190500"/>
          </a:xfrm>
          <a:prstGeom prst="rect">
            <a:avLst/>
          </a:prstGeom>
          <a:noFill/>
          <a:effectLst/>
        </p:spPr>
        <p:txBody>
          <a:bodyPr wrap="square" lIns="0" rIns="0" tIns="0" bIns="0" anchor="t"/>
          <a:lstStyle/>
          <a:p>
            <a:pPr algn="l">
              <a:lnSpc>
                <a:spcPts val="1000"/>
              </a:lnSpc>
            </a:pPr>
            <a:r>
              <a:rPr sz="1000" b="1" spc="120" dirty="0">
                <a:solidFill>
                  <a:srgbClr val="8D8D8D"/>
                </a:solidFill>
                <a:latin typeface="Inter"/>
                <a:cs typeface="Inter"/>
              </a:rPr>
              <a:t>2025</a:t>
            </a:r>
          </a:p>
        </p:txBody>
      </p:sp>
      <p:sp>
        <p:nvSpPr>
          <p:cNvPr id="39" name="TextBox 38"/>
          <p:cNvSpPr txBox="1"/>
          <p:nvPr/>
        </p:nvSpPr>
        <p:spPr>
          <a:xfrm>
            <a:off x="9387840" y="2470912"/>
            <a:ext cx="2004060" cy="2540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Lorem Ipsum Dolor</a:t>
            </a:r>
          </a:p>
        </p:txBody>
      </p:sp>
      <p:sp>
        <p:nvSpPr>
          <p:cNvPr id="40" name="TextBox 39"/>
          <p:cNvSpPr txBox="1"/>
          <p:nvPr/>
        </p:nvSpPr>
        <p:spPr>
          <a:xfrm>
            <a:off x="9387840" y="3017012"/>
            <a:ext cx="2004060" cy="762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Lorem ipsum dolor sit amet, consectetur adipiscing.</a:t>
            </a:r>
          </a:p>
        </p:txBody>
      </p:sp>
      <p:sp>
        <p:nvSpPr>
          <p:cNvPr id="41" name="TextBox 40"/>
          <p:cNvSpPr txBox="1"/>
          <p:nvPr/>
        </p:nvSpPr>
        <p:spPr>
          <a:xfrm>
            <a:off x="609600" y="4629912"/>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2" name="Connector 4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7" name="TextBox 4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8" name="TextBox 4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COMPARATIVA</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5359400" cy="3048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09600" y="2089912"/>
            <a:ext cx="5359400" cy="469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2" name="Connector 21"/>
          <p:cNvCxnSpPr/>
          <p:nvPr/>
        </p:nvCxnSpPr>
        <p:spPr>
          <a:xfrm>
            <a:off x="609600" y="2559812"/>
            <a:ext cx="5359400" cy="0"/>
          </a:xfrm>
          <a:prstGeom prst="line">
            <a:avLst/>
          </a:prstGeom>
          <a:ln w="63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00100" y="2089912"/>
            <a:ext cx="4978400" cy="469900"/>
          </a:xfrm>
          <a:prstGeom prst="rect">
            <a:avLst/>
          </a:prstGeom>
          <a:noFill/>
          <a:effectLst/>
        </p:spPr>
        <p:txBody>
          <a:bodyPr wrap="square" lIns="0" rIns="0" tIns="0" bIns="0" anchor="ctr"/>
          <a:lstStyle/>
          <a:p>
            <a:pPr algn="l">
              <a:lnSpc>
                <a:spcPts val="900"/>
              </a:lnSpc>
            </a:pPr>
            <a:r>
              <a:rPr sz="900" b="1" spc="144" dirty="0">
                <a:solidFill>
                  <a:srgbClr val="161616"/>
                </a:solidFill>
                <a:latin typeface="Inter"/>
                <a:cs typeface="Inter"/>
              </a:rPr>
              <a:t>OPCIÓN A</a:t>
            </a:r>
          </a:p>
        </p:txBody>
      </p:sp>
      <p:sp>
        <p:nvSpPr>
          <p:cNvPr id="24" name="TextBox 23"/>
          <p:cNvSpPr txBox="1"/>
          <p:nvPr/>
        </p:nvSpPr>
        <p:spPr>
          <a:xfrm>
            <a:off x="800100" y="2750312"/>
            <a:ext cx="4978400" cy="444500"/>
          </a:xfrm>
          <a:prstGeom prst="rect">
            <a:avLst/>
          </a:prstGeom>
          <a:noFill/>
          <a:effectLst/>
        </p:spPr>
        <p:txBody>
          <a:bodyPr wrap="square" lIns="0" rIns="0" tIns="0" bIns="0" anchor="t"/>
          <a:lstStyle/>
          <a:p>
            <a:pPr algn="l">
              <a:lnSpc>
                <a:spcPts val="1839"/>
              </a:lnSpc>
            </a:pPr>
            <a:r>
              <a:rPr sz="1600" b="1" spc="-32" dirty="0">
                <a:solidFill>
                  <a:srgbClr val="161616"/>
                </a:solidFill>
                <a:latin typeface="Inter"/>
                <a:cs typeface="Inter"/>
              </a:rPr>
              <a:t>Lorem Ipsum Dolor</a:t>
            </a:r>
          </a:p>
        </p:txBody>
      </p:sp>
      <p:cxnSp>
        <p:nvCxnSpPr>
          <p:cNvPr id="25" name="Connector 24"/>
          <p:cNvCxnSpPr/>
          <p:nvPr/>
        </p:nvCxnSpPr>
        <p:spPr>
          <a:xfrm>
            <a:off x="800100" y="3296412"/>
            <a:ext cx="4978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00100" y="3398012"/>
            <a:ext cx="4978400"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27" name="Connector 26"/>
          <p:cNvCxnSpPr/>
          <p:nvPr/>
        </p:nvCxnSpPr>
        <p:spPr>
          <a:xfrm>
            <a:off x="800100" y="3740912"/>
            <a:ext cx="4978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00100" y="3842512"/>
            <a:ext cx="4978400"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29" name="Connector 28"/>
          <p:cNvCxnSpPr/>
          <p:nvPr/>
        </p:nvCxnSpPr>
        <p:spPr>
          <a:xfrm>
            <a:off x="800100" y="4185412"/>
            <a:ext cx="4978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00100" y="4287012"/>
            <a:ext cx="4978400"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31" name="Connector 30"/>
          <p:cNvCxnSpPr/>
          <p:nvPr/>
        </p:nvCxnSpPr>
        <p:spPr>
          <a:xfrm>
            <a:off x="800100" y="4629912"/>
            <a:ext cx="4978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00100" y="4731512"/>
            <a:ext cx="4978400"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sp>
        <p:nvSpPr>
          <p:cNvPr id="33" name="sombra"/>
          <p:cNvSpPr/>
          <p:nvPr/>
        </p:nvSpPr>
        <p:spPr>
          <a:xfrm>
            <a:off x="6311900" y="2178812"/>
            <a:ext cx="5270500" cy="3048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23000" y="2089912"/>
            <a:ext cx="5270500" cy="3048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223000" y="2089912"/>
            <a:ext cx="5359400" cy="469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13500" y="2089912"/>
            <a:ext cx="4978400" cy="469900"/>
          </a:xfrm>
          <a:prstGeom prst="rect">
            <a:avLst/>
          </a:prstGeom>
          <a:noFill/>
          <a:effectLst/>
        </p:spPr>
        <p:txBody>
          <a:bodyPr wrap="square" lIns="0" rIns="0" tIns="0" bIns="0" anchor="ctr"/>
          <a:lstStyle/>
          <a:p>
            <a:pPr algn="l">
              <a:lnSpc>
                <a:spcPts val="900"/>
              </a:lnSpc>
            </a:pPr>
            <a:r>
              <a:rPr sz="900" b="1" spc="144" dirty="0">
                <a:solidFill>
                  <a:srgbClr val="FFFFFF"/>
                </a:solidFill>
                <a:latin typeface="Inter"/>
                <a:cs typeface="Inter"/>
              </a:rPr>
              <a:t>OPCIÓN B</a:t>
            </a:r>
          </a:p>
        </p:txBody>
      </p:sp>
      <p:sp>
        <p:nvSpPr>
          <p:cNvPr id="37" name="TextBox 36"/>
          <p:cNvSpPr txBox="1"/>
          <p:nvPr/>
        </p:nvSpPr>
        <p:spPr>
          <a:xfrm>
            <a:off x="6413500" y="2750312"/>
            <a:ext cx="4978400" cy="444500"/>
          </a:xfrm>
          <a:prstGeom prst="rect">
            <a:avLst/>
          </a:prstGeom>
          <a:noFill/>
          <a:effectLst/>
        </p:spPr>
        <p:txBody>
          <a:bodyPr wrap="square" lIns="0" rIns="0" tIns="0" bIns="0" anchor="t"/>
          <a:lstStyle/>
          <a:p>
            <a:pPr algn="l">
              <a:lnSpc>
                <a:spcPts val="1839"/>
              </a:lnSpc>
            </a:pPr>
            <a:r>
              <a:rPr sz="1600" b="1" spc="-32" dirty="0">
                <a:solidFill>
                  <a:srgbClr val="161616"/>
                </a:solidFill>
                <a:latin typeface="Inter"/>
                <a:cs typeface="Inter"/>
              </a:rPr>
              <a:t>Lorem Ipsum Dolor</a:t>
            </a:r>
          </a:p>
        </p:txBody>
      </p:sp>
      <p:cxnSp>
        <p:nvCxnSpPr>
          <p:cNvPr id="38" name="Connector 37"/>
          <p:cNvCxnSpPr/>
          <p:nvPr/>
        </p:nvCxnSpPr>
        <p:spPr>
          <a:xfrm>
            <a:off x="6413500" y="3296412"/>
            <a:ext cx="4978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13500" y="3398012"/>
            <a:ext cx="4978400"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40" name="Connector 39"/>
          <p:cNvCxnSpPr/>
          <p:nvPr/>
        </p:nvCxnSpPr>
        <p:spPr>
          <a:xfrm>
            <a:off x="6413500" y="3740912"/>
            <a:ext cx="4978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13500" y="3842512"/>
            <a:ext cx="4978400"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42" name="Connector 41"/>
          <p:cNvCxnSpPr/>
          <p:nvPr/>
        </p:nvCxnSpPr>
        <p:spPr>
          <a:xfrm>
            <a:off x="6413500" y="4185412"/>
            <a:ext cx="4978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13500" y="4287012"/>
            <a:ext cx="4978400"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cxnSp>
        <p:nvCxnSpPr>
          <p:cNvPr id="44" name="Connector 43"/>
          <p:cNvCxnSpPr/>
          <p:nvPr/>
        </p:nvCxnSpPr>
        <p:spPr>
          <a:xfrm>
            <a:off x="6413500" y="4629912"/>
            <a:ext cx="4978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13500" y="4731512"/>
            <a:ext cx="4978400" cy="381000"/>
          </a:xfrm>
          <a:prstGeom prst="rect">
            <a:avLst/>
          </a:prstGeom>
          <a:noFill/>
          <a:effectLst/>
        </p:spPr>
        <p:txBody>
          <a:bodyPr wrap="square" lIns="0" rIns="0" tIns="0" bIns="0" anchor="t"/>
          <a:lstStyle/>
          <a:p>
            <a:pPr algn="l">
              <a:lnSpc>
                <a:spcPts val="1620"/>
              </a:lnSpc>
            </a:pPr>
            <a:r>
              <a:rPr sz="1200" b="0" dirty="0">
                <a:solidFill>
                  <a:srgbClr val="525252"/>
                </a:solidFill>
                <a:latin typeface="Inter"/>
                <a:cs typeface="Inter"/>
              </a:rPr>
              <a:t>Lorem ipsum dolor sit amet, consectetur adipiscing elit</a:t>
            </a:r>
          </a:p>
        </p:txBody>
      </p:sp>
      <p:sp>
        <p:nvSpPr>
          <p:cNvPr id="46" name="TextBox 45"/>
          <p:cNvSpPr txBox="1"/>
          <p:nvPr/>
        </p:nvSpPr>
        <p:spPr>
          <a:xfrm>
            <a:off x="609600" y="5328412"/>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47" name="Connector 46"/>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8" name="Freeform 4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2" name="TextBox 5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3" name="TextBox 5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MATRIZ 2 × 2</a:t>
            </a:r>
          </a:p>
        </p:txBody>
      </p:sp>
      <p:sp>
        <p:nvSpPr>
          <p:cNvPr id="4" name="TextBox 3"/>
          <p:cNvSpPr txBox="1"/>
          <p:nvPr/>
        </p:nvSpPr>
        <p:spPr>
          <a:xfrm>
            <a:off x="609600" y="1181100"/>
            <a:ext cx="5384800"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054100" y="2528824"/>
            <a:ext cx="6316133" cy="29845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1" name="Connector 20"/>
          <p:cNvCxnSpPr/>
          <p:nvPr/>
        </p:nvCxnSpPr>
        <p:spPr>
          <a:xfrm>
            <a:off x="4212167" y="2528824"/>
            <a:ext cx="0" cy="2984500"/>
          </a:xfrm>
          <a:prstGeom prst="line">
            <a:avLst/>
          </a:prstGeom>
          <a:ln w="63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54100" y="4021074"/>
            <a:ext cx="6316133" cy="0"/>
          </a:xfrm>
          <a:prstGeom prst="line">
            <a:avLst/>
          </a:prstGeom>
          <a:ln w="63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219200" y="2693924"/>
            <a:ext cx="2827867" cy="254000"/>
          </a:xfrm>
          <a:prstGeom prst="rect">
            <a:avLst/>
          </a:prstGeom>
          <a:noFill/>
          <a:effectLst/>
        </p:spPr>
        <p:txBody>
          <a:bodyPr wrap="square" lIns="0" rIns="0" tIns="0" bIns="0" anchor="t"/>
          <a:lstStyle/>
          <a:p>
            <a:pPr algn="l">
              <a:lnSpc>
                <a:spcPts val="1980"/>
              </a:lnSpc>
            </a:pPr>
            <a:r>
              <a:rPr sz="1800" b="1" spc="-18" dirty="0">
                <a:solidFill>
                  <a:srgbClr val="161616"/>
                </a:solidFill>
                <a:latin typeface="Inter"/>
                <a:cs typeface="Inter"/>
              </a:rPr>
              <a:t>Lorem</a:t>
            </a:r>
          </a:p>
        </p:txBody>
      </p:sp>
      <p:sp>
        <p:nvSpPr>
          <p:cNvPr id="24" name="TextBox 23"/>
          <p:cNvSpPr txBox="1"/>
          <p:nvPr/>
        </p:nvSpPr>
        <p:spPr>
          <a:xfrm>
            <a:off x="1219200" y="3011424"/>
            <a:ext cx="28278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 sit amet, consectetur adipiscing.</a:t>
            </a:r>
          </a:p>
        </p:txBody>
      </p:sp>
      <p:sp>
        <p:nvSpPr>
          <p:cNvPr id="25" name="Rectangle 24"/>
          <p:cNvSpPr/>
          <p:nvPr/>
        </p:nvSpPr>
        <p:spPr>
          <a:xfrm>
            <a:off x="4218517" y="2535174"/>
            <a:ext cx="3145367" cy="14795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377267" y="2693924"/>
            <a:ext cx="2827867" cy="254000"/>
          </a:xfrm>
          <a:prstGeom prst="rect">
            <a:avLst/>
          </a:prstGeom>
          <a:noFill/>
          <a:effectLst/>
        </p:spPr>
        <p:txBody>
          <a:bodyPr wrap="square" lIns="0" rIns="0" tIns="0" bIns="0" anchor="t"/>
          <a:lstStyle/>
          <a:p>
            <a:pPr algn="l">
              <a:lnSpc>
                <a:spcPts val="1980"/>
              </a:lnSpc>
            </a:pPr>
            <a:r>
              <a:rPr sz="1800" b="1" spc="-18" dirty="0">
                <a:solidFill>
                  <a:srgbClr val="161616"/>
                </a:solidFill>
                <a:latin typeface="Inter"/>
                <a:cs typeface="Inter"/>
              </a:rPr>
              <a:t>Ipsum</a:t>
            </a:r>
          </a:p>
        </p:txBody>
      </p:sp>
      <p:sp>
        <p:nvSpPr>
          <p:cNvPr id="27" name="TextBox 26"/>
          <p:cNvSpPr txBox="1"/>
          <p:nvPr/>
        </p:nvSpPr>
        <p:spPr>
          <a:xfrm>
            <a:off x="4377267" y="3011424"/>
            <a:ext cx="28278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 sit amet, consectetur adipiscing.</a:t>
            </a:r>
          </a:p>
        </p:txBody>
      </p:sp>
      <p:sp>
        <p:nvSpPr>
          <p:cNvPr id="28" name="TextBox 27"/>
          <p:cNvSpPr txBox="1"/>
          <p:nvPr/>
        </p:nvSpPr>
        <p:spPr>
          <a:xfrm>
            <a:off x="1219200" y="4186174"/>
            <a:ext cx="2827867" cy="254000"/>
          </a:xfrm>
          <a:prstGeom prst="rect">
            <a:avLst/>
          </a:prstGeom>
          <a:noFill/>
          <a:effectLst/>
        </p:spPr>
        <p:txBody>
          <a:bodyPr wrap="square" lIns="0" rIns="0" tIns="0" bIns="0" anchor="t"/>
          <a:lstStyle/>
          <a:p>
            <a:pPr algn="l">
              <a:lnSpc>
                <a:spcPts val="1980"/>
              </a:lnSpc>
            </a:pPr>
            <a:r>
              <a:rPr sz="1800" b="1" spc="-18" dirty="0">
                <a:solidFill>
                  <a:srgbClr val="161616"/>
                </a:solidFill>
                <a:latin typeface="Inter"/>
                <a:cs typeface="Inter"/>
              </a:rPr>
              <a:t>Dolor</a:t>
            </a:r>
          </a:p>
        </p:txBody>
      </p:sp>
      <p:sp>
        <p:nvSpPr>
          <p:cNvPr id="29" name="TextBox 28"/>
          <p:cNvSpPr txBox="1"/>
          <p:nvPr/>
        </p:nvSpPr>
        <p:spPr>
          <a:xfrm>
            <a:off x="1219200" y="4503674"/>
            <a:ext cx="28278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 sit amet, consectetur adipiscing.</a:t>
            </a:r>
          </a:p>
        </p:txBody>
      </p:sp>
      <p:sp>
        <p:nvSpPr>
          <p:cNvPr id="30" name="TextBox 29"/>
          <p:cNvSpPr txBox="1"/>
          <p:nvPr/>
        </p:nvSpPr>
        <p:spPr>
          <a:xfrm>
            <a:off x="4377267" y="4186174"/>
            <a:ext cx="2827867" cy="254000"/>
          </a:xfrm>
          <a:prstGeom prst="rect">
            <a:avLst/>
          </a:prstGeom>
          <a:noFill/>
          <a:effectLst/>
        </p:spPr>
        <p:txBody>
          <a:bodyPr wrap="square" lIns="0" rIns="0" tIns="0" bIns="0" anchor="t"/>
          <a:lstStyle/>
          <a:p>
            <a:pPr algn="l">
              <a:lnSpc>
                <a:spcPts val="1980"/>
              </a:lnSpc>
            </a:pPr>
            <a:r>
              <a:rPr sz="1800" b="1" spc="-18" dirty="0">
                <a:solidFill>
                  <a:srgbClr val="161616"/>
                </a:solidFill>
                <a:latin typeface="Inter"/>
                <a:cs typeface="Inter"/>
              </a:rPr>
              <a:t>Sit amet</a:t>
            </a:r>
          </a:p>
        </p:txBody>
      </p:sp>
      <p:sp>
        <p:nvSpPr>
          <p:cNvPr id="31" name="TextBox 30"/>
          <p:cNvSpPr txBox="1"/>
          <p:nvPr/>
        </p:nvSpPr>
        <p:spPr>
          <a:xfrm>
            <a:off x="4377267" y="4503674"/>
            <a:ext cx="2827867" cy="635000"/>
          </a:xfrm>
          <a:prstGeom prst="rect">
            <a:avLst/>
          </a:prstGeom>
          <a:noFill/>
          <a:effectLst/>
        </p:spPr>
        <p:txBody>
          <a:bodyPr wrap="square" lIns="0" rIns="0" tIns="0" bIns="0" anchor="t"/>
          <a:lstStyle/>
          <a:p>
            <a:pPr algn="l">
              <a:lnSpc>
                <a:spcPts val="1260"/>
              </a:lnSpc>
            </a:pPr>
            <a:r>
              <a:rPr sz="900" b="0" dirty="0">
                <a:solidFill>
                  <a:srgbClr val="525252"/>
                </a:solidFill>
                <a:latin typeface="Inter"/>
                <a:cs typeface="Inter"/>
              </a:rPr>
              <a:t>Lorem ipsum dolor sit amet, consectetur adipiscing.</a:t>
            </a:r>
          </a:p>
        </p:txBody>
      </p:sp>
      <p:sp>
        <p:nvSpPr>
          <p:cNvPr id="32" name="TextBox 31"/>
          <p:cNvSpPr txBox="1"/>
          <p:nvPr/>
        </p:nvSpPr>
        <p:spPr>
          <a:xfrm>
            <a:off x="1054100" y="5640324"/>
            <a:ext cx="6316133" cy="190500"/>
          </a:xfrm>
          <a:prstGeom prst="rect">
            <a:avLst/>
          </a:prstGeom>
          <a:noFill/>
          <a:effectLst/>
        </p:spPr>
        <p:txBody>
          <a:bodyPr wrap="square" lIns="0" rIns="0" tIns="0" bIns="0" anchor="t"/>
          <a:lstStyle/>
          <a:p>
            <a:pPr algn="ctr">
              <a:lnSpc>
                <a:spcPts val="700"/>
              </a:lnSpc>
            </a:pPr>
            <a:r>
              <a:rPr sz="700" b="1" spc="98" dirty="0">
                <a:solidFill>
                  <a:srgbClr val="8D8D8D"/>
                </a:solidFill>
                <a:latin typeface="Inter"/>
                <a:cs typeface="Inter"/>
              </a:rPr>
              <a:t>EJE X · LOREM → IPSUM</a:t>
            </a:r>
          </a:p>
        </p:txBody>
      </p:sp>
      <p:sp>
        <p:nvSpPr>
          <p:cNvPr id="33" name="TextBox 32"/>
          <p:cNvSpPr txBox="1"/>
          <p:nvPr/>
        </p:nvSpPr>
        <p:spPr>
          <a:xfrm>
            <a:off x="1054100" y="2312924"/>
            <a:ext cx="6316133"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 EJE Y · DOLOR</a:t>
            </a:r>
          </a:p>
        </p:txBody>
      </p:sp>
      <p:cxnSp>
        <p:nvCxnSpPr>
          <p:cNvPr id="34" name="Connector 33"/>
          <p:cNvCxnSpPr/>
          <p:nvPr/>
        </p:nvCxnSpPr>
        <p:spPr>
          <a:xfrm flipV="1">
            <a:off x="838200" y="2592324"/>
            <a:ext cx="0" cy="2921000"/>
          </a:xfrm>
          <a:prstGeom prst="line">
            <a:avLst/>
          </a:prstGeom>
          <a:ln w="6350">
            <a:solidFill>
              <a:srgbClr val="8D8D8D"/>
            </a:solidFill>
            <a:miter lim="800000"/>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806704" y="2592324"/>
            <a:ext cx="62992" cy="50800"/>
          </a:xfrm>
          <a:custGeom>
            <a:avLst/>
            <a:gdLst/>
            <a:ahLst/>
            <a:cxnLst/>
            <a:rect l="l" t="t" r="r" b="b"/>
            <a:pathLst>
              <a:path w="62992" h="50800">
                <a:moveTo>
                  <a:pt x="31496" y="0"/>
                </a:moveTo>
                <a:lnTo>
                  <a:pt x="0" y="50800"/>
                </a:lnTo>
                <a:lnTo>
                  <a:pt x="62992" y="50800"/>
                </a:lnTo>
                <a:close/>
              </a:path>
            </a:pathLst>
          </a:custGeom>
          <a:solidFill>
            <a:srgbClr val="8D8D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054100" y="5856224"/>
            <a:ext cx="6316133" cy="0"/>
          </a:xfrm>
          <a:prstGeom prst="line">
            <a:avLst/>
          </a:prstGeom>
          <a:ln w="6350">
            <a:solidFill>
              <a:srgbClr val="8D8D8D"/>
            </a:solidFill>
            <a:miter lim="800000"/>
          </a:ln>
          <a:effectLst/>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7319433" y="5824728"/>
            <a:ext cx="50800" cy="62992"/>
          </a:xfrm>
          <a:custGeom>
            <a:avLst/>
            <a:gdLst/>
            <a:ahLst/>
            <a:cxnLst/>
            <a:rect l="l" t="t" r="r" b="b"/>
            <a:pathLst>
              <a:path w="50800" h="62992">
                <a:moveTo>
                  <a:pt x="50800" y="31496"/>
                </a:moveTo>
                <a:lnTo>
                  <a:pt x="0" y="0"/>
                </a:lnTo>
                <a:lnTo>
                  <a:pt x="0" y="62992"/>
                </a:lnTo>
                <a:close/>
              </a:path>
            </a:pathLst>
          </a:custGeom>
          <a:solidFill>
            <a:srgbClr val="8D8D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50767" y="2528824"/>
            <a:ext cx="3331633"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CÓMO SE LEE</a:t>
            </a:r>
          </a:p>
        </p:txBody>
      </p:sp>
      <p:sp>
        <p:nvSpPr>
          <p:cNvPr id="39" name="TextBox 38"/>
          <p:cNvSpPr txBox="1"/>
          <p:nvPr/>
        </p:nvSpPr>
        <p:spPr>
          <a:xfrm>
            <a:off x="8250767" y="2795524"/>
            <a:ext cx="3331633" cy="1524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40" name="Rectangle 39"/>
          <p:cNvSpPr/>
          <p:nvPr/>
        </p:nvSpPr>
        <p:spPr>
          <a:xfrm>
            <a:off x="8250767" y="4433824"/>
            <a:ext cx="3331633" cy="952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415867" y="4598924"/>
            <a:ext cx="3001433"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DÓNDE ESTÁS</a:t>
            </a:r>
          </a:p>
        </p:txBody>
      </p:sp>
      <p:sp>
        <p:nvSpPr>
          <p:cNvPr id="42" name="TextBox 41"/>
          <p:cNvSpPr txBox="1"/>
          <p:nvPr/>
        </p:nvSpPr>
        <p:spPr>
          <a:xfrm>
            <a:off x="8415867" y="4840224"/>
            <a:ext cx="3001433" cy="444500"/>
          </a:xfrm>
          <a:prstGeom prst="rect">
            <a:avLst/>
          </a:prstGeom>
          <a:noFill/>
          <a:effectLst/>
        </p:spPr>
        <p:txBody>
          <a:bodyPr wrap="square" lIns="0" rIns="0" tIns="0" bIns="0" anchor="t"/>
          <a:lstStyle/>
          <a:p>
            <a:pPr algn="l">
              <a:lnSpc>
                <a:spcPts val="1679"/>
              </a:lnSpc>
            </a:pPr>
            <a:r>
              <a:rPr sz="1200" b="0" dirty="0">
                <a:solidFill>
                  <a:srgbClr val="FFFFFF"/>
                </a:solidFill>
                <a:latin typeface="Inter"/>
                <a:cs typeface="Inter"/>
              </a:rPr>
              <a:t>Lorem ipsum dolor sit amet, consectetur adipiscing.</a:t>
            </a:r>
          </a:p>
        </p:txBody>
      </p:sp>
      <p:cxnSp>
        <p:nvCxnSpPr>
          <p:cNvPr id="43" name="Connector 42"/>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8" name="TextBox 47"/>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9" name="TextBox 48"/>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JERARQUÍA</a:t>
            </a:r>
          </a:p>
        </p:txBody>
      </p:sp>
      <p:sp>
        <p:nvSpPr>
          <p:cNvPr id="4" name="TextBox 3"/>
          <p:cNvSpPr txBox="1"/>
          <p:nvPr/>
        </p:nvSpPr>
        <p:spPr>
          <a:xfrm>
            <a:off x="609600" y="1181100"/>
            <a:ext cx="5384800"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441279" y="2655824"/>
            <a:ext cx="2652776" cy="825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631779" y="2655824"/>
            <a:ext cx="2271776" cy="825500"/>
          </a:xfrm>
          <a:prstGeom prst="rect">
            <a:avLst/>
          </a:prstGeom>
          <a:noFill/>
          <a:effectLst/>
        </p:spPr>
        <p:txBody>
          <a:bodyPr wrap="square" lIns="0" rIns="0" tIns="0" bIns="0" anchor="ctr"/>
          <a:lstStyle/>
          <a:p>
            <a:pPr algn="l">
              <a:lnSpc>
                <a:spcPts val="1725"/>
              </a:lnSpc>
            </a:pPr>
            <a:r>
              <a:rPr sz="1500" b="1" dirty="0">
                <a:solidFill>
                  <a:srgbClr val="FFFFFF"/>
                </a:solidFill>
                <a:latin typeface="Inter"/>
                <a:cs typeface="Inter"/>
              </a:rPr>
              <a:t>Lorem Ipsum Dolor</a:t>
            </a:r>
          </a:p>
        </p:txBody>
      </p:sp>
      <p:sp>
        <p:nvSpPr>
          <p:cNvPr id="22" name="TextBox 21"/>
          <p:cNvSpPr txBox="1"/>
          <p:nvPr/>
        </p:nvSpPr>
        <p:spPr>
          <a:xfrm>
            <a:off x="5221055" y="2655824"/>
            <a:ext cx="1270000" cy="825500"/>
          </a:xfrm>
          <a:prstGeom prst="rect">
            <a:avLst/>
          </a:prstGeom>
          <a:noFill/>
          <a:effectLst/>
        </p:spPr>
        <p:txBody>
          <a:bodyPr wrap="square" lIns="0" rIns="0" tIns="0" bIns="0" anchor="ctr"/>
          <a:lstStyle/>
          <a:p>
            <a:pPr algn="l">
              <a:lnSpc>
                <a:spcPts val="700"/>
              </a:lnSpc>
            </a:pPr>
            <a:r>
              <a:rPr sz="700" b="1" spc="98" dirty="0">
                <a:solidFill>
                  <a:srgbClr val="8D8D8D"/>
                </a:solidFill>
                <a:latin typeface="Inter"/>
                <a:cs typeface="Inter"/>
              </a:rPr>
              <a:t>NIVEL 03</a:t>
            </a:r>
          </a:p>
        </p:txBody>
      </p:sp>
      <p:sp>
        <p:nvSpPr>
          <p:cNvPr id="23" name="Rectangle 22"/>
          <p:cNvSpPr/>
          <p:nvPr/>
        </p:nvSpPr>
        <p:spPr>
          <a:xfrm>
            <a:off x="1620181" y="3570224"/>
            <a:ext cx="4294971" cy="825500"/>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810681" y="3570224"/>
            <a:ext cx="3913971" cy="825500"/>
          </a:xfrm>
          <a:prstGeom prst="rect">
            <a:avLst/>
          </a:prstGeom>
          <a:noFill/>
          <a:effectLst/>
        </p:spPr>
        <p:txBody>
          <a:bodyPr wrap="square" lIns="0" rIns="0" tIns="0" bIns="0" anchor="ctr"/>
          <a:lstStyle/>
          <a:p>
            <a:pPr algn="l">
              <a:lnSpc>
                <a:spcPts val="1725"/>
              </a:lnSpc>
            </a:pPr>
            <a:r>
              <a:rPr sz="1500" b="1" dirty="0">
                <a:solidFill>
                  <a:srgbClr val="FFFFFF"/>
                </a:solidFill>
                <a:latin typeface="Inter"/>
                <a:cs typeface="Inter"/>
              </a:rPr>
              <a:t>Lorem Ipsum Dolor</a:t>
            </a:r>
          </a:p>
        </p:txBody>
      </p:sp>
      <p:sp>
        <p:nvSpPr>
          <p:cNvPr id="25" name="TextBox 24"/>
          <p:cNvSpPr txBox="1"/>
          <p:nvPr/>
        </p:nvSpPr>
        <p:spPr>
          <a:xfrm>
            <a:off x="6042152" y="3570224"/>
            <a:ext cx="1270000" cy="825500"/>
          </a:xfrm>
          <a:prstGeom prst="rect">
            <a:avLst/>
          </a:prstGeom>
          <a:noFill/>
          <a:effectLst/>
        </p:spPr>
        <p:txBody>
          <a:bodyPr wrap="square" lIns="0" rIns="0" tIns="0" bIns="0" anchor="ctr"/>
          <a:lstStyle/>
          <a:p>
            <a:pPr algn="l">
              <a:lnSpc>
                <a:spcPts val="700"/>
              </a:lnSpc>
            </a:pPr>
            <a:r>
              <a:rPr sz="700" b="1" spc="98" dirty="0">
                <a:solidFill>
                  <a:srgbClr val="8D8D8D"/>
                </a:solidFill>
                <a:latin typeface="Inter"/>
                <a:cs typeface="Inter"/>
              </a:rPr>
              <a:t>NIVEL 02</a:t>
            </a:r>
          </a:p>
        </p:txBody>
      </p:sp>
      <p:sp>
        <p:nvSpPr>
          <p:cNvPr id="26" name="Rectangle 25"/>
          <p:cNvSpPr/>
          <p:nvPr/>
        </p:nvSpPr>
        <p:spPr>
          <a:xfrm>
            <a:off x="735923" y="4484624"/>
            <a:ext cx="6063488" cy="825500"/>
          </a:xfrm>
          <a:prstGeom prst="rect">
            <a:avLst/>
          </a:prstGeom>
          <a:solidFill>
            <a:srgbClr val="F4F4F4"/>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26423" y="4484624"/>
            <a:ext cx="5682488" cy="825500"/>
          </a:xfrm>
          <a:prstGeom prst="rect">
            <a:avLst/>
          </a:prstGeom>
          <a:noFill/>
          <a:effectLst/>
        </p:spPr>
        <p:txBody>
          <a:bodyPr wrap="square" lIns="0" rIns="0" tIns="0" bIns="0" anchor="ctr"/>
          <a:lstStyle/>
          <a:p>
            <a:pPr algn="l">
              <a:lnSpc>
                <a:spcPts val="1725"/>
              </a:lnSpc>
            </a:pPr>
            <a:r>
              <a:rPr sz="1500" b="1" dirty="0">
                <a:solidFill>
                  <a:srgbClr val="161616"/>
                </a:solidFill>
                <a:latin typeface="Inter"/>
                <a:cs typeface="Inter"/>
              </a:rPr>
              <a:t>Lorem Ipsum Dolor</a:t>
            </a:r>
          </a:p>
        </p:txBody>
      </p:sp>
      <p:sp>
        <p:nvSpPr>
          <p:cNvPr id="28" name="TextBox 27"/>
          <p:cNvSpPr txBox="1"/>
          <p:nvPr/>
        </p:nvSpPr>
        <p:spPr>
          <a:xfrm>
            <a:off x="6926411" y="4484624"/>
            <a:ext cx="1270000" cy="825500"/>
          </a:xfrm>
          <a:prstGeom prst="rect">
            <a:avLst/>
          </a:prstGeom>
          <a:noFill/>
          <a:effectLst/>
        </p:spPr>
        <p:txBody>
          <a:bodyPr wrap="square" lIns="0" rIns="0" tIns="0" bIns="0" anchor="ctr"/>
          <a:lstStyle/>
          <a:p>
            <a:pPr algn="l">
              <a:lnSpc>
                <a:spcPts val="700"/>
              </a:lnSpc>
            </a:pPr>
            <a:r>
              <a:rPr sz="700" b="1" spc="98" dirty="0">
                <a:solidFill>
                  <a:srgbClr val="8D8D8D"/>
                </a:solidFill>
                <a:latin typeface="Inter"/>
                <a:cs typeface="Inter"/>
              </a:rPr>
              <a:t>NIVEL 01</a:t>
            </a:r>
          </a:p>
        </p:txBody>
      </p:sp>
      <p:cxnSp>
        <p:nvCxnSpPr>
          <p:cNvPr id="29" name="Connector 28"/>
          <p:cNvCxnSpPr/>
          <p:nvPr/>
        </p:nvCxnSpPr>
        <p:spPr>
          <a:xfrm>
            <a:off x="8250767" y="2655824"/>
            <a:ext cx="33316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250767" y="2757424"/>
            <a:ext cx="3331633" cy="2159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NIVEL 03</a:t>
            </a:r>
          </a:p>
        </p:txBody>
      </p:sp>
      <p:sp>
        <p:nvSpPr>
          <p:cNvPr id="31" name="TextBox 30"/>
          <p:cNvSpPr txBox="1"/>
          <p:nvPr/>
        </p:nvSpPr>
        <p:spPr>
          <a:xfrm>
            <a:off x="8250767" y="2973324"/>
            <a:ext cx="3331633" cy="5715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a:t>
            </a:r>
          </a:p>
        </p:txBody>
      </p:sp>
      <p:cxnSp>
        <p:nvCxnSpPr>
          <p:cNvPr id="32" name="Connector 31"/>
          <p:cNvCxnSpPr/>
          <p:nvPr/>
        </p:nvCxnSpPr>
        <p:spPr>
          <a:xfrm>
            <a:off x="8250767" y="3608324"/>
            <a:ext cx="33316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250767" y="3709924"/>
            <a:ext cx="3331633" cy="2159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NIVEL 02</a:t>
            </a:r>
          </a:p>
        </p:txBody>
      </p:sp>
      <p:sp>
        <p:nvSpPr>
          <p:cNvPr id="34" name="TextBox 33"/>
          <p:cNvSpPr txBox="1"/>
          <p:nvPr/>
        </p:nvSpPr>
        <p:spPr>
          <a:xfrm>
            <a:off x="8250767" y="3925824"/>
            <a:ext cx="3331633" cy="5715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a:t>
            </a:r>
          </a:p>
        </p:txBody>
      </p:sp>
      <p:cxnSp>
        <p:nvCxnSpPr>
          <p:cNvPr id="35" name="Connector 34"/>
          <p:cNvCxnSpPr/>
          <p:nvPr/>
        </p:nvCxnSpPr>
        <p:spPr>
          <a:xfrm>
            <a:off x="8250767" y="4560824"/>
            <a:ext cx="33316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250767" y="4662424"/>
            <a:ext cx="3331633" cy="2159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NIVEL 01</a:t>
            </a:r>
          </a:p>
        </p:txBody>
      </p:sp>
      <p:sp>
        <p:nvSpPr>
          <p:cNvPr id="37" name="TextBox 36"/>
          <p:cNvSpPr txBox="1"/>
          <p:nvPr/>
        </p:nvSpPr>
        <p:spPr>
          <a:xfrm>
            <a:off x="8250767" y="4878324"/>
            <a:ext cx="3331633" cy="5715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a:t>
            </a:r>
          </a:p>
        </p:txBody>
      </p:sp>
      <p:cxnSp>
        <p:nvCxnSpPr>
          <p:cNvPr id="38" name="Connector 37"/>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9" name="Freeform 38"/>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3" name="TextBox 42"/>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4" name="TextBox 43"/>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FLUJO</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470912"/>
            <a:ext cx="2095500" cy="762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6600" y="2470912"/>
            <a:ext cx="1841500" cy="762000"/>
          </a:xfrm>
          <a:prstGeom prst="rect">
            <a:avLst/>
          </a:prstGeom>
          <a:noFill/>
          <a:effectLst/>
        </p:spPr>
        <p:txBody>
          <a:bodyPr wrap="square" lIns="0" rIns="0" tIns="0" bIns="0" anchor="ctr"/>
          <a:lstStyle/>
          <a:p>
            <a:pPr algn="ctr">
              <a:lnSpc>
                <a:spcPts val="1439"/>
              </a:lnSpc>
            </a:pPr>
            <a:r>
              <a:rPr sz="1200" b="1" dirty="0">
                <a:solidFill>
                  <a:srgbClr val="FFFFFF"/>
                </a:solidFill>
                <a:latin typeface="Inter"/>
                <a:cs typeface="Inter"/>
              </a:rPr>
              <a:t>INICIO</a:t>
            </a:r>
          </a:p>
        </p:txBody>
      </p:sp>
      <p:sp>
        <p:nvSpPr>
          <p:cNvPr id="22" name="Rectangle 21"/>
          <p:cNvSpPr/>
          <p:nvPr/>
        </p:nvSpPr>
        <p:spPr>
          <a:xfrm>
            <a:off x="3568700" y="2470912"/>
            <a:ext cx="2095500" cy="762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95700" y="2470912"/>
            <a:ext cx="1841500" cy="762000"/>
          </a:xfrm>
          <a:prstGeom prst="rect">
            <a:avLst/>
          </a:prstGeom>
          <a:noFill/>
          <a:effectLst/>
        </p:spPr>
        <p:txBody>
          <a:bodyPr wrap="square" lIns="0" rIns="0" tIns="0" bIns="0" anchor="ctr"/>
          <a:lstStyle/>
          <a:p>
            <a:pPr algn="ctr">
              <a:lnSpc>
                <a:spcPts val="1439"/>
              </a:lnSpc>
            </a:pPr>
            <a:r>
              <a:rPr sz="1200" b="1" dirty="0">
                <a:solidFill>
                  <a:srgbClr val="161616"/>
                </a:solidFill>
                <a:latin typeface="Inter"/>
                <a:cs typeface="Inter"/>
              </a:rPr>
              <a:t>Lorem Ipsum Dolor</a:t>
            </a:r>
          </a:p>
        </p:txBody>
      </p:sp>
      <p:sp>
        <p:nvSpPr>
          <p:cNvPr id="24" name="Rectangle 23"/>
          <p:cNvSpPr/>
          <p:nvPr/>
        </p:nvSpPr>
        <p:spPr>
          <a:xfrm>
            <a:off x="6527800" y="2470912"/>
            <a:ext cx="2095500" cy="762000"/>
          </a:xfrm>
          <a:prstGeom prst="rect">
            <a:avLst/>
          </a:prstGeom>
          <a:solidFill>
            <a:srgbClr val="F4F4F4"/>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654800" y="2470912"/>
            <a:ext cx="1841500" cy="762000"/>
          </a:xfrm>
          <a:prstGeom prst="rect">
            <a:avLst/>
          </a:prstGeom>
          <a:noFill/>
          <a:effectLst/>
        </p:spPr>
        <p:txBody>
          <a:bodyPr wrap="square" lIns="0" rIns="0" tIns="0" bIns="0" anchor="ctr"/>
          <a:lstStyle/>
          <a:p>
            <a:pPr algn="ctr">
              <a:lnSpc>
                <a:spcPts val="1439"/>
              </a:lnSpc>
            </a:pPr>
            <a:r>
              <a:rPr sz="1200" b="1" dirty="0">
                <a:solidFill>
                  <a:srgbClr val="161616"/>
                </a:solidFill>
                <a:latin typeface="Inter"/>
                <a:cs typeface="Inter"/>
              </a:rPr>
              <a:t>¿Lorem ipsum?</a:t>
            </a:r>
          </a:p>
        </p:txBody>
      </p:sp>
      <p:sp>
        <p:nvSpPr>
          <p:cNvPr id="26" name="Rectangle 25"/>
          <p:cNvSpPr/>
          <p:nvPr/>
        </p:nvSpPr>
        <p:spPr>
          <a:xfrm>
            <a:off x="6527800" y="3994912"/>
            <a:ext cx="2095500" cy="762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654800" y="3994912"/>
            <a:ext cx="1841500" cy="762000"/>
          </a:xfrm>
          <a:prstGeom prst="rect">
            <a:avLst/>
          </a:prstGeom>
          <a:noFill/>
          <a:effectLst/>
        </p:spPr>
        <p:txBody>
          <a:bodyPr wrap="square" lIns="0" rIns="0" tIns="0" bIns="0" anchor="ctr"/>
          <a:lstStyle/>
          <a:p>
            <a:pPr algn="ctr">
              <a:lnSpc>
                <a:spcPts val="1439"/>
              </a:lnSpc>
            </a:pPr>
            <a:r>
              <a:rPr sz="1200" b="1" dirty="0">
                <a:solidFill>
                  <a:srgbClr val="161616"/>
                </a:solidFill>
                <a:latin typeface="Inter"/>
                <a:cs typeface="Inter"/>
              </a:rPr>
              <a:t>Lorem Ipsum Dolor</a:t>
            </a:r>
          </a:p>
        </p:txBody>
      </p:sp>
      <p:sp>
        <p:nvSpPr>
          <p:cNvPr id="28" name="Rectangle 27"/>
          <p:cNvSpPr/>
          <p:nvPr/>
        </p:nvSpPr>
        <p:spPr>
          <a:xfrm>
            <a:off x="9486900" y="2470912"/>
            <a:ext cx="2095500" cy="762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13900" y="2470912"/>
            <a:ext cx="1841500" cy="762000"/>
          </a:xfrm>
          <a:prstGeom prst="rect">
            <a:avLst/>
          </a:prstGeom>
          <a:noFill/>
          <a:effectLst/>
        </p:spPr>
        <p:txBody>
          <a:bodyPr wrap="square" lIns="0" rIns="0" tIns="0" bIns="0" anchor="ctr"/>
          <a:lstStyle/>
          <a:p>
            <a:pPr algn="ctr">
              <a:lnSpc>
                <a:spcPts val="1439"/>
              </a:lnSpc>
            </a:pPr>
            <a:r>
              <a:rPr sz="1200" b="1" dirty="0">
                <a:solidFill>
                  <a:srgbClr val="161616"/>
                </a:solidFill>
                <a:latin typeface="Inter"/>
                <a:cs typeface="Inter"/>
              </a:rPr>
              <a:t>Lorem Ipsum Dolor</a:t>
            </a:r>
          </a:p>
        </p:txBody>
      </p:sp>
      <p:sp>
        <p:nvSpPr>
          <p:cNvPr id="30" name="Rectangle 29"/>
          <p:cNvSpPr/>
          <p:nvPr/>
        </p:nvSpPr>
        <p:spPr>
          <a:xfrm>
            <a:off x="9486900" y="3994912"/>
            <a:ext cx="2095500" cy="762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613900" y="3994912"/>
            <a:ext cx="1841500" cy="762000"/>
          </a:xfrm>
          <a:prstGeom prst="rect">
            <a:avLst/>
          </a:prstGeom>
          <a:noFill/>
          <a:effectLst/>
        </p:spPr>
        <p:txBody>
          <a:bodyPr wrap="square" lIns="0" rIns="0" tIns="0" bIns="0" anchor="ctr"/>
          <a:lstStyle/>
          <a:p>
            <a:pPr algn="ctr">
              <a:lnSpc>
                <a:spcPts val="1439"/>
              </a:lnSpc>
            </a:pPr>
            <a:r>
              <a:rPr sz="1200" b="1" dirty="0">
                <a:solidFill>
                  <a:srgbClr val="FFFFFF"/>
                </a:solidFill>
                <a:latin typeface="Inter"/>
                <a:cs typeface="Inter"/>
              </a:rPr>
              <a:t>FIN</a:t>
            </a:r>
          </a:p>
        </p:txBody>
      </p:sp>
      <p:cxnSp>
        <p:nvCxnSpPr>
          <p:cNvPr id="32" name="Connector 31"/>
          <p:cNvCxnSpPr/>
          <p:nvPr/>
        </p:nvCxnSpPr>
        <p:spPr>
          <a:xfrm>
            <a:off x="2705100" y="2851912"/>
            <a:ext cx="863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3511550" y="2816479"/>
            <a:ext cx="57150" cy="70866"/>
          </a:xfrm>
          <a:custGeom>
            <a:avLst/>
            <a:gdLst/>
            <a:ahLst/>
            <a:cxnLst/>
            <a:rect l="l" t="t" r="r" b="b"/>
            <a:pathLst>
              <a:path w="57150" h="70866">
                <a:moveTo>
                  <a:pt x="57150" y="35433"/>
                </a:moveTo>
                <a:lnTo>
                  <a:pt x="0" y="0"/>
                </a:lnTo>
                <a:lnTo>
                  <a:pt x="0" y="70866"/>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5664200" y="2851912"/>
            <a:ext cx="863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470650" y="2816479"/>
            <a:ext cx="57150" cy="70866"/>
          </a:xfrm>
          <a:custGeom>
            <a:avLst/>
            <a:gdLst/>
            <a:ahLst/>
            <a:cxnLst/>
            <a:rect l="l" t="t" r="r" b="b"/>
            <a:pathLst>
              <a:path w="57150" h="70866">
                <a:moveTo>
                  <a:pt x="57150" y="35433"/>
                </a:moveTo>
                <a:lnTo>
                  <a:pt x="0" y="0"/>
                </a:lnTo>
                <a:lnTo>
                  <a:pt x="0" y="70866"/>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623300" y="2851912"/>
            <a:ext cx="863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9429750" y="2816479"/>
            <a:ext cx="57150" cy="70866"/>
          </a:xfrm>
          <a:custGeom>
            <a:avLst/>
            <a:gdLst/>
            <a:ahLst/>
            <a:cxnLst/>
            <a:rect l="l" t="t" r="r" b="b"/>
            <a:pathLst>
              <a:path w="57150" h="70866">
                <a:moveTo>
                  <a:pt x="57150" y="35433"/>
                </a:moveTo>
                <a:lnTo>
                  <a:pt x="0" y="0"/>
                </a:lnTo>
                <a:lnTo>
                  <a:pt x="0" y="70866"/>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24900" y="2585212"/>
            <a:ext cx="762000" cy="1651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SÍ</a:t>
            </a:r>
          </a:p>
        </p:txBody>
      </p:sp>
      <p:cxnSp>
        <p:nvCxnSpPr>
          <p:cNvPr id="39" name="Connector 38"/>
          <p:cNvCxnSpPr/>
          <p:nvPr/>
        </p:nvCxnSpPr>
        <p:spPr>
          <a:xfrm>
            <a:off x="7575550" y="3232912"/>
            <a:ext cx="0" cy="76200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7540117" y="3937762"/>
            <a:ext cx="70866" cy="57150"/>
          </a:xfrm>
          <a:custGeom>
            <a:avLst/>
            <a:gdLst/>
            <a:ahLst/>
            <a:cxnLst/>
            <a:rect l="l" t="t" r="r" b="b"/>
            <a:pathLst>
              <a:path w="70866" h="57150">
                <a:moveTo>
                  <a:pt x="35433" y="57150"/>
                </a:moveTo>
                <a:lnTo>
                  <a:pt x="0" y="0"/>
                </a:lnTo>
                <a:lnTo>
                  <a:pt x="70866" y="0"/>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77150" y="3525012"/>
            <a:ext cx="762000" cy="1651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NO</a:t>
            </a:r>
          </a:p>
        </p:txBody>
      </p:sp>
      <p:cxnSp>
        <p:nvCxnSpPr>
          <p:cNvPr id="42" name="Connector 41"/>
          <p:cNvCxnSpPr/>
          <p:nvPr/>
        </p:nvCxnSpPr>
        <p:spPr>
          <a:xfrm>
            <a:off x="8623300" y="4375912"/>
            <a:ext cx="19113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528300" y="4375912"/>
            <a:ext cx="635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10477500" y="4340479"/>
            <a:ext cx="57150" cy="70866"/>
          </a:xfrm>
          <a:custGeom>
            <a:avLst/>
            <a:gdLst/>
            <a:ahLst/>
            <a:cxnLst/>
            <a:rect l="l" t="t" r="r" b="b"/>
            <a:pathLst>
              <a:path w="57150" h="70866">
                <a:moveTo>
                  <a:pt x="57150" y="35433"/>
                </a:moveTo>
                <a:lnTo>
                  <a:pt x="0" y="0"/>
                </a:lnTo>
                <a:lnTo>
                  <a:pt x="0" y="70866"/>
                </a:lnTo>
                <a:close/>
              </a:path>
            </a:pathLst>
          </a:cu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9600" y="5137912"/>
            <a:ext cx="6316133" cy="381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cxnSp>
        <p:nvCxnSpPr>
          <p:cNvPr id="46" name="Connector 45"/>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1" name="TextBox 50"/>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2" name="TextBox 51"/>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CHECKLIST</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528824"/>
            <a:ext cx="5359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09600" y="2681224"/>
            <a:ext cx="165100" cy="1651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2" name="Connector 21"/>
          <p:cNvCxnSpPr/>
          <p:nvPr/>
        </p:nvCxnSpPr>
        <p:spPr>
          <a:xfrm>
            <a:off x="642620" y="2767076"/>
            <a:ext cx="36322" cy="36322"/>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78942" y="2720848"/>
            <a:ext cx="66040" cy="82550"/>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01700" y="2655824"/>
            <a:ext cx="5067300" cy="571500"/>
          </a:xfrm>
          <a:prstGeom prst="rect">
            <a:avLst/>
          </a:prstGeom>
          <a:noFill/>
          <a:effectLst/>
        </p:spPr>
        <p:txBody>
          <a:bodyPr wrap="square" lIns="0" rIns="0" tIns="0" bIns="0" anchor="t"/>
          <a:lstStyle/>
          <a:p>
            <a:pPr algn="l">
              <a:lnSpc>
                <a:spcPts val="1679"/>
              </a:lnSpc>
            </a:pPr>
            <a:r>
              <a:rPr sz="1200" b="0" dirty="0">
                <a:solidFill>
                  <a:srgbClr val="161616"/>
                </a:solidFill>
                <a:latin typeface="Inter"/>
                <a:cs typeface="Inter"/>
              </a:rPr>
              <a:t>Lorem ipsum dolor sit amet, consectetur adipiscing elit</a:t>
            </a:r>
          </a:p>
        </p:txBody>
      </p:sp>
      <p:cxnSp>
        <p:nvCxnSpPr>
          <p:cNvPr id="25" name="Connector 24"/>
          <p:cNvCxnSpPr/>
          <p:nvPr/>
        </p:nvCxnSpPr>
        <p:spPr>
          <a:xfrm>
            <a:off x="6223000" y="2528824"/>
            <a:ext cx="5359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223000" y="2681224"/>
            <a:ext cx="165100" cy="1651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7" name="Connector 26"/>
          <p:cNvCxnSpPr/>
          <p:nvPr/>
        </p:nvCxnSpPr>
        <p:spPr>
          <a:xfrm>
            <a:off x="6256020" y="2767076"/>
            <a:ext cx="36322" cy="36322"/>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292342" y="2720848"/>
            <a:ext cx="66040" cy="82550"/>
          </a:xfrm>
          <a:prstGeom prst="line">
            <a:avLst/>
          </a:prstGeom>
          <a:ln w="1905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15100" y="2655824"/>
            <a:ext cx="5067300" cy="571500"/>
          </a:xfrm>
          <a:prstGeom prst="rect">
            <a:avLst/>
          </a:prstGeom>
          <a:noFill/>
          <a:effectLst/>
        </p:spPr>
        <p:txBody>
          <a:bodyPr wrap="square" lIns="0" rIns="0" tIns="0" bIns="0" anchor="t"/>
          <a:lstStyle/>
          <a:p>
            <a:pPr algn="l">
              <a:lnSpc>
                <a:spcPts val="1679"/>
              </a:lnSpc>
            </a:pPr>
            <a:r>
              <a:rPr sz="1200" b="0" dirty="0">
                <a:solidFill>
                  <a:srgbClr val="161616"/>
                </a:solidFill>
                <a:latin typeface="Inter"/>
                <a:cs typeface="Inter"/>
              </a:rPr>
              <a:t>Lorem ipsum dolor sit amet, consectetur adipiscing elit</a:t>
            </a:r>
          </a:p>
        </p:txBody>
      </p:sp>
      <p:cxnSp>
        <p:nvCxnSpPr>
          <p:cNvPr id="30" name="Connector 29"/>
          <p:cNvCxnSpPr/>
          <p:nvPr/>
        </p:nvCxnSpPr>
        <p:spPr>
          <a:xfrm>
            <a:off x="609600" y="3417824"/>
            <a:ext cx="5359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09600" y="3570224"/>
            <a:ext cx="165100" cy="1651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01700" y="3544824"/>
            <a:ext cx="5067300" cy="5715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cxnSp>
        <p:nvCxnSpPr>
          <p:cNvPr id="33" name="Connector 32"/>
          <p:cNvCxnSpPr/>
          <p:nvPr/>
        </p:nvCxnSpPr>
        <p:spPr>
          <a:xfrm>
            <a:off x="6223000" y="3417824"/>
            <a:ext cx="5359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223000" y="3570224"/>
            <a:ext cx="165100" cy="1651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15100" y="3544824"/>
            <a:ext cx="5067300" cy="5715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cxnSp>
        <p:nvCxnSpPr>
          <p:cNvPr id="36" name="Connector 35"/>
          <p:cNvCxnSpPr/>
          <p:nvPr/>
        </p:nvCxnSpPr>
        <p:spPr>
          <a:xfrm>
            <a:off x="609600" y="4306824"/>
            <a:ext cx="5359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09600" y="4459224"/>
            <a:ext cx="165100" cy="1651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01700" y="4433824"/>
            <a:ext cx="5067300" cy="5715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cxnSp>
        <p:nvCxnSpPr>
          <p:cNvPr id="39" name="Connector 38"/>
          <p:cNvCxnSpPr/>
          <p:nvPr/>
        </p:nvCxnSpPr>
        <p:spPr>
          <a:xfrm>
            <a:off x="6223000" y="4306824"/>
            <a:ext cx="53594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6223000" y="4459224"/>
            <a:ext cx="165100" cy="165100"/>
          </a:xfrm>
          <a:prstGeom prst="rect">
            <a:avLst/>
          </a:pr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15100" y="4433824"/>
            <a:ext cx="5067300" cy="5715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42" name="Rectangle 41"/>
          <p:cNvSpPr/>
          <p:nvPr/>
        </p:nvSpPr>
        <p:spPr>
          <a:xfrm>
            <a:off x="609600" y="5322824"/>
            <a:ext cx="10972800" cy="698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09600" y="5322824"/>
            <a:ext cx="31750" cy="6985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87400" y="5462524"/>
            <a:ext cx="10617200" cy="4191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Marca solo lo que ya está hecho. Lo que quede sin marcar es tu tarea para esta semana.</a:t>
            </a:r>
          </a:p>
        </p:txBody>
      </p:sp>
      <p:cxnSp>
        <p:nvCxnSpPr>
          <p:cNvPr id="45" name="Connector 44"/>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0" name="TextBox 4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1" name="TextBox 50"/>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G07</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ASÍ SÍ / ASÍ NO</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5359400" cy="469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4700" y="2089912"/>
            <a:ext cx="5029200" cy="469900"/>
          </a:xfrm>
          <a:prstGeom prst="rect">
            <a:avLst/>
          </a:prstGeom>
          <a:noFill/>
          <a:effectLst/>
        </p:spPr>
        <p:txBody>
          <a:bodyPr wrap="square" lIns="0" rIns="0" tIns="0" bIns="0" anchor="ctr"/>
          <a:lstStyle/>
          <a:p>
            <a:pPr algn="l">
              <a:lnSpc>
                <a:spcPts val="900"/>
              </a:lnSpc>
            </a:pPr>
            <a:r>
              <a:rPr sz="900" b="1" spc="144" dirty="0">
                <a:solidFill>
                  <a:srgbClr val="FFFFFF"/>
                </a:solidFill>
                <a:latin typeface="Inter"/>
                <a:cs typeface="Inter"/>
              </a:rPr>
              <a:t>ASÍ SÍ</a:t>
            </a:r>
          </a:p>
        </p:txBody>
      </p:sp>
      <p:sp>
        <p:nvSpPr>
          <p:cNvPr id="22" name="TextBox 21"/>
          <p:cNvSpPr txBox="1"/>
          <p:nvPr/>
        </p:nvSpPr>
        <p:spPr>
          <a:xfrm>
            <a:off x="609600" y="2750312"/>
            <a:ext cx="215900" cy="215900"/>
          </a:xfrm>
          <a:prstGeom prst="rect">
            <a:avLst/>
          </a:prstGeom>
          <a:noFill/>
          <a:effectLst/>
        </p:spPr>
        <p:txBody>
          <a:bodyPr wrap="square" lIns="0" rIns="0" tIns="0" bIns="0" anchor="t"/>
          <a:lstStyle/>
          <a:p>
            <a:pPr algn="l">
              <a:lnSpc>
                <a:spcPts val="1200"/>
              </a:lnSpc>
            </a:pPr>
            <a:r>
              <a:rPr sz="1200" b="1" dirty="0">
                <a:solidFill>
                  <a:srgbClr val="161616"/>
                </a:solidFill>
                <a:latin typeface="Inter"/>
                <a:cs typeface="Inter"/>
              </a:rPr>
              <a:t>✓</a:t>
            </a:r>
          </a:p>
        </p:txBody>
      </p:sp>
      <p:sp>
        <p:nvSpPr>
          <p:cNvPr id="23" name="TextBox 22"/>
          <p:cNvSpPr txBox="1"/>
          <p:nvPr/>
        </p:nvSpPr>
        <p:spPr>
          <a:xfrm>
            <a:off x="889000" y="2737612"/>
            <a:ext cx="5080000" cy="508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4" name="TextBox 23"/>
          <p:cNvSpPr txBox="1"/>
          <p:nvPr/>
        </p:nvSpPr>
        <p:spPr>
          <a:xfrm>
            <a:off x="609600" y="3359912"/>
            <a:ext cx="215900" cy="215900"/>
          </a:xfrm>
          <a:prstGeom prst="rect">
            <a:avLst/>
          </a:prstGeom>
          <a:noFill/>
          <a:effectLst/>
        </p:spPr>
        <p:txBody>
          <a:bodyPr wrap="square" lIns="0" rIns="0" tIns="0" bIns="0" anchor="t"/>
          <a:lstStyle/>
          <a:p>
            <a:pPr algn="l">
              <a:lnSpc>
                <a:spcPts val="1200"/>
              </a:lnSpc>
            </a:pPr>
            <a:r>
              <a:rPr sz="1200" b="1" dirty="0">
                <a:solidFill>
                  <a:srgbClr val="161616"/>
                </a:solidFill>
                <a:latin typeface="Inter"/>
                <a:cs typeface="Inter"/>
              </a:rPr>
              <a:t>✓</a:t>
            </a:r>
          </a:p>
        </p:txBody>
      </p:sp>
      <p:sp>
        <p:nvSpPr>
          <p:cNvPr id="25" name="TextBox 24"/>
          <p:cNvSpPr txBox="1"/>
          <p:nvPr/>
        </p:nvSpPr>
        <p:spPr>
          <a:xfrm>
            <a:off x="889000" y="3347212"/>
            <a:ext cx="5080000" cy="508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6" name="TextBox 25"/>
          <p:cNvSpPr txBox="1"/>
          <p:nvPr/>
        </p:nvSpPr>
        <p:spPr>
          <a:xfrm>
            <a:off x="609600" y="3969512"/>
            <a:ext cx="215900" cy="215900"/>
          </a:xfrm>
          <a:prstGeom prst="rect">
            <a:avLst/>
          </a:prstGeom>
          <a:noFill/>
          <a:effectLst/>
        </p:spPr>
        <p:txBody>
          <a:bodyPr wrap="square" lIns="0" rIns="0" tIns="0" bIns="0" anchor="t"/>
          <a:lstStyle/>
          <a:p>
            <a:pPr algn="l">
              <a:lnSpc>
                <a:spcPts val="1200"/>
              </a:lnSpc>
            </a:pPr>
            <a:r>
              <a:rPr sz="1200" b="1" dirty="0">
                <a:solidFill>
                  <a:srgbClr val="161616"/>
                </a:solidFill>
                <a:latin typeface="Inter"/>
                <a:cs typeface="Inter"/>
              </a:rPr>
              <a:t>✓</a:t>
            </a:r>
          </a:p>
        </p:txBody>
      </p:sp>
      <p:sp>
        <p:nvSpPr>
          <p:cNvPr id="27" name="TextBox 26"/>
          <p:cNvSpPr txBox="1"/>
          <p:nvPr/>
        </p:nvSpPr>
        <p:spPr>
          <a:xfrm>
            <a:off x="889000" y="3956812"/>
            <a:ext cx="5080000" cy="508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8" name="TextBox 27"/>
          <p:cNvSpPr txBox="1"/>
          <p:nvPr/>
        </p:nvSpPr>
        <p:spPr>
          <a:xfrm>
            <a:off x="609600" y="4579112"/>
            <a:ext cx="215900" cy="215900"/>
          </a:xfrm>
          <a:prstGeom prst="rect">
            <a:avLst/>
          </a:prstGeom>
          <a:noFill/>
          <a:effectLst/>
        </p:spPr>
        <p:txBody>
          <a:bodyPr wrap="square" lIns="0" rIns="0" tIns="0" bIns="0" anchor="t"/>
          <a:lstStyle/>
          <a:p>
            <a:pPr algn="l">
              <a:lnSpc>
                <a:spcPts val="1200"/>
              </a:lnSpc>
            </a:pPr>
            <a:r>
              <a:rPr sz="1200" b="1" dirty="0">
                <a:solidFill>
                  <a:srgbClr val="161616"/>
                </a:solidFill>
                <a:latin typeface="Inter"/>
                <a:cs typeface="Inter"/>
              </a:rPr>
              <a:t>✓</a:t>
            </a:r>
          </a:p>
        </p:txBody>
      </p:sp>
      <p:sp>
        <p:nvSpPr>
          <p:cNvPr id="29" name="TextBox 28"/>
          <p:cNvSpPr txBox="1"/>
          <p:nvPr/>
        </p:nvSpPr>
        <p:spPr>
          <a:xfrm>
            <a:off x="889000" y="4566412"/>
            <a:ext cx="5080000" cy="508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30" name="Rectangle 29"/>
          <p:cNvSpPr/>
          <p:nvPr/>
        </p:nvSpPr>
        <p:spPr>
          <a:xfrm>
            <a:off x="6223000" y="2089912"/>
            <a:ext cx="5359400" cy="4699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88100" y="2089912"/>
            <a:ext cx="5029200" cy="469900"/>
          </a:xfrm>
          <a:prstGeom prst="rect">
            <a:avLst/>
          </a:prstGeom>
          <a:noFill/>
          <a:effectLst/>
        </p:spPr>
        <p:txBody>
          <a:bodyPr wrap="square" lIns="0" rIns="0" tIns="0" bIns="0" anchor="ctr"/>
          <a:lstStyle/>
          <a:p>
            <a:pPr algn="l">
              <a:lnSpc>
                <a:spcPts val="900"/>
              </a:lnSpc>
            </a:pPr>
            <a:r>
              <a:rPr sz="900" b="1" spc="144" dirty="0">
                <a:solidFill>
                  <a:srgbClr val="6F6F6F"/>
                </a:solidFill>
                <a:latin typeface="Inter"/>
                <a:cs typeface="Inter"/>
              </a:rPr>
              <a:t>ASÍ NO</a:t>
            </a:r>
          </a:p>
        </p:txBody>
      </p:sp>
      <p:sp>
        <p:nvSpPr>
          <p:cNvPr id="32" name="TextBox 31"/>
          <p:cNvSpPr txBox="1"/>
          <p:nvPr/>
        </p:nvSpPr>
        <p:spPr>
          <a:xfrm>
            <a:off x="6223000" y="2750312"/>
            <a:ext cx="215900" cy="215900"/>
          </a:xfrm>
          <a:prstGeom prst="rect">
            <a:avLst/>
          </a:prstGeom>
          <a:noFill/>
          <a:effectLst/>
        </p:spPr>
        <p:txBody>
          <a:bodyPr wrap="square" lIns="0" rIns="0" tIns="0" bIns="0" anchor="t"/>
          <a:lstStyle/>
          <a:p>
            <a:pPr algn="l">
              <a:lnSpc>
                <a:spcPts val="1200"/>
              </a:lnSpc>
            </a:pPr>
            <a:r>
              <a:rPr sz="1200" b="1" dirty="0">
                <a:solidFill>
                  <a:srgbClr val="8D8D8D"/>
                </a:solidFill>
                <a:latin typeface="Inter"/>
                <a:cs typeface="Inter"/>
              </a:rPr>
              <a:t>×</a:t>
            </a:r>
          </a:p>
        </p:txBody>
      </p:sp>
      <p:sp>
        <p:nvSpPr>
          <p:cNvPr id="33" name="TextBox 32"/>
          <p:cNvSpPr txBox="1"/>
          <p:nvPr/>
        </p:nvSpPr>
        <p:spPr>
          <a:xfrm>
            <a:off x="6502400" y="2737612"/>
            <a:ext cx="5080000" cy="508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34" name="TextBox 33"/>
          <p:cNvSpPr txBox="1"/>
          <p:nvPr/>
        </p:nvSpPr>
        <p:spPr>
          <a:xfrm>
            <a:off x="6223000" y="3359912"/>
            <a:ext cx="215900" cy="215900"/>
          </a:xfrm>
          <a:prstGeom prst="rect">
            <a:avLst/>
          </a:prstGeom>
          <a:noFill/>
          <a:effectLst/>
        </p:spPr>
        <p:txBody>
          <a:bodyPr wrap="square" lIns="0" rIns="0" tIns="0" bIns="0" anchor="t"/>
          <a:lstStyle/>
          <a:p>
            <a:pPr algn="l">
              <a:lnSpc>
                <a:spcPts val="1200"/>
              </a:lnSpc>
            </a:pPr>
            <a:r>
              <a:rPr sz="1200" b="1" dirty="0">
                <a:solidFill>
                  <a:srgbClr val="8D8D8D"/>
                </a:solidFill>
                <a:latin typeface="Inter"/>
                <a:cs typeface="Inter"/>
              </a:rPr>
              <a:t>×</a:t>
            </a:r>
          </a:p>
        </p:txBody>
      </p:sp>
      <p:sp>
        <p:nvSpPr>
          <p:cNvPr id="35" name="TextBox 34"/>
          <p:cNvSpPr txBox="1"/>
          <p:nvPr/>
        </p:nvSpPr>
        <p:spPr>
          <a:xfrm>
            <a:off x="6502400" y="3347212"/>
            <a:ext cx="5080000" cy="508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36" name="TextBox 35"/>
          <p:cNvSpPr txBox="1"/>
          <p:nvPr/>
        </p:nvSpPr>
        <p:spPr>
          <a:xfrm>
            <a:off x="6223000" y="3969512"/>
            <a:ext cx="215900" cy="215900"/>
          </a:xfrm>
          <a:prstGeom prst="rect">
            <a:avLst/>
          </a:prstGeom>
          <a:noFill/>
          <a:effectLst/>
        </p:spPr>
        <p:txBody>
          <a:bodyPr wrap="square" lIns="0" rIns="0" tIns="0" bIns="0" anchor="t"/>
          <a:lstStyle/>
          <a:p>
            <a:pPr algn="l">
              <a:lnSpc>
                <a:spcPts val="1200"/>
              </a:lnSpc>
            </a:pPr>
            <a:r>
              <a:rPr sz="1200" b="1" dirty="0">
                <a:solidFill>
                  <a:srgbClr val="8D8D8D"/>
                </a:solidFill>
                <a:latin typeface="Inter"/>
                <a:cs typeface="Inter"/>
              </a:rPr>
              <a:t>×</a:t>
            </a:r>
          </a:p>
        </p:txBody>
      </p:sp>
      <p:sp>
        <p:nvSpPr>
          <p:cNvPr id="37" name="TextBox 36"/>
          <p:cNvSpPr txBox="1"/>
          <p:nvPr/>
        </p:nvSpPr>
        <p:spPr>
          <a:xfrm>
            <a:off x="6502400" y="3956812"/>
            <a:ext cx="5080000" cy="508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38" name="TextBox 37"/>
          <p:cNvSpPr txBox="1"/>
          <p:nvPr/>
        </p:nvSpPr>
        <p:spPr>
          <a:xfrm>
            <a:off x="6223000" y="4579112"/>
            <a:ext cx="215900" cy="215900"/>
          </a:xfrm>
          <a:prstGeom prst="rect">
            <a:avLst/>
          </a:prstGeom>
          <a:noFill/>
          <a:effectLst/>
        </p:spPr>
        <p:txBody>
          <a:bodyPr wrap="square" lIns="0" rIns="0" tIns="0" bIns="0" anchor="t"/>
          <a:lstStyle/>
          <a:p>
            <a:pPr algn="l">
              <a:lnSpc>
                <a:spcPts val="1200"/>
              </a:lnSpc>
            </a:pPr>
            <a:r>
              <a:rPr sz="1200" b="1" dirty="0">
                <a:solidFill>
                  <a:srgbClr val="8D8D8D"/>
                </a:solidFill>
                <a:latin typeface="Inter"/>
                <a:cs typeface="Inter"/>
              </a:rPr>
              <a:t>×</a:t>
            </a:r>
          </a:p>
        </p:txBody>
      </p:sp>
      <p:sp>
        <p:nvSpPr>
          <p:cNvPr id="39" name="TextBox 38"/>
          <p:cNvSpPr txBox="1"/>
          <p:nvPr/>
        </p:nvSpPr>
        <p:spPr>
          <a:xfrm>
            <a:off x="6502400" y="4566412"/>
            <a:ext cx="5080000" cy="50800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cxnSp>
        <p:nvCxnSpPr>
          <p:cNvPr id="40" name="Connector 39"/>
          <p:cNvCxnSpPr/>
          <p:nvPr/>
        </p:nvCxnSpPr>
        <p:spPr>
          <a:xfrm>
            <a:off x="6096000" y="2089912"/>
            <a:ext cx="0" cy="304800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6" name="TextBox 4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7" name="TextBox 4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FRAMEWORK</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2092960" cy="2222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9600" y="2280412"/>
            <a:ext cx="2092960" cy="698500"/>
          </a:xfrm>
          <a:prstGeom prst="rect">
            <a:avLst/>
          </a:prstGeom>
          <a:noFill/>
          <a:effectLst/>
        </p:spPr>
        <p:txBody>
          <a:bodyPr wrap="square" lIns="0" rIns="0" tIns="0" bIns="0" anchor="t"/>
          <a:lstStyle/>
          <a:p>
            <a:pPr algn="ctr">
              <a:lnSpc>
                <a:spcPts val="4800"/>
              </a:lnSpc>
            </a:pPr>
            <a:r>
              <a:rPr sz="4800" b="1" spc="-192" dirty="0">
                <a:solidFill>
                  <a:srgbClr val="FFFFFF"/>
                </a:solidFill>
                <a:latin typeface="Inter"/>
                <a:cs typeface="Inter"/>
              </a:rPr>
              <a:t>A</a:t>
            </a:r>
          </a:p>
        </p:txBody>
      </p:sp>
      <p:cxnSp>
        <p:nvCxnSpPr>
          <p:cNvPr id="22" name="Connector 21"/>
          <p:cNvCxnSpPr/>
          <p:nvPr/>
        </p:nvCxnSpPr>
        <p:spPr>
          <a:xfrm>
            <a:off x="800100" y="3156712"/>
            <a:ext cx="1711960" cy="0"/>
          </a:xfrm>
          <a:prstGeom prst="line">
            <a:avLst/>
          </a:prstGeom>
          <a:ln w="12700">
            <a:solidFill>
              <a:srgbClr val="5B4BF5"/>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62000" y="3309112"/>
            <a:ext cx="1788160" cy="254000"/>
          </a:xfrm>
          <a:prstGeom prst="rect">
            <a:avLst/>
          </a:prstGeom>
          <a:noFill/>
          <a:effectLst/>
        </p:spPr>
        <p:txBody>
          <a:bodyPr wrap="square" lIns="0" rIns="0" tIns="0" bIns="0" anchor="t"/>
          <a:lstStyle/>
          <a:p>
            <a:pPr algn="ctr">
              <a:lnSpc>
                <a:spcPts val="1439"/>
              </a:lnSpc>
            </a:pPr>
            <a:r>
              <a:rPr sz="1200" b="1" dirty="0">
                <a:solidFill>
                  <a:srgbClr val="FFFFFF"/>
                </a:solidFill>
                <a:latin typeface="Inter"/>
                <a:cs typeface="Inter"/>
              </a:rPr>
              <a:t>Lorem Ipsum Dolor</a:t>
            </a:r>
          </a:p>
        </p:txBody>
      </p:sp>
      <p:sp>
        <p:nvSpPr>
          <p:cNvPr id="24" name="TextBox 23"/>
          <p:cNvSpPr txBox="1"/>
          <p:nvPr/>
        </p:nvSpPr>
        <p:spPr>
          <a:xfrm>
            <a:off x="762000" y="3613912"/>
            <a:ext cx="1788160" cy="571500"/>
          </a:xfrm>
          <a:prstGeom prst="rect">
            <a:avLst/>
          </a:prstGeom>
          <a:noFill/>
          <a:effectLst/>
        </p:spPr>
        <p:txBody>
          <a:bodyPr wrap="square" lIns="0" rIns="0" tIns="0" bIns="0" anchor="t"/>
          <a:lstStyle/>
          <a:p>
            <a:pPr algn="ctr">
              <a:lnSpc>
                <a:spcPts val="1260"/>
              </a:lnSpc>
            </a:pPr>
            <a:r>
              <a:rPr sz="900" b="0" dirty="0">
                <a:solidFill>
                  <a:srgbClr val="D2D2D2"/>
                </a:solidFill>
                <a:latin typeface="Inter"/>
                <a:cs typeface="Inter"/>
              </a:rPr>
              <a:t>Lorem ipsum dolor sit amet, consectetur adipiscing.</a:t>
            </a:r>
          </a:p>
        </p:txBody>
      </p:sp>
      <p:sp>
        <p:nvSpPr>
          <p:cNvPr id="25" name="Rectangle 24"/>
          <p:cNvSpPr/>
          <p:nvPr/>
        </p:nvSpPr>
        <p:spPr>
          <a:xfrm>
            <a:off x="2829560" y="2089912"/>
            <a:ext cx="2092960" cy="2222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829560" y="2280412"/>
            <a:ext cx="2092960" cy="698500"/>
          </a:xfrm>
          <a:prstGeom prst="rect">
            <a:avLst/>
          </a:prstGeom>
          <a:noFill/>
          <a:effectLst/>
        </p:spPr>
        <p:txBody>
          <a:bodyPr wrap="square" lIns="0" rIns="0" tIns="0" bIns="0" anchor="t"/>
          <a:lstStyle/>
          <a:p>
            <a:pPr algn="ctr">
              <a:lnSpc>
                <a:spcPts val="4800"/>
              </a:lnSpc>
            </a:pPr>
            <a:r>
              <a:rPr sz="4800" b="1" spc="-192" dirty="0">
                <a:solidFill>
                  <a:srgbClr val="161616"/>
                </a:solidFill>
                <a:latin typeface="Inter"/>
                <a:cs typeface="Inter"/>
              </a:rPr>
              <a:t>C</a:t>
            </a:r>
          </a:p>
        </p:txBody>
      </p:sp>
      <p:cxnSp>
        <p:nvCxnSpPr>
          <p:cNvPr id="27" name="Connector 26"/>
          <p:cNvCxnSpPr/>
          <p:nvPr/>
        </p:nvCxnSpPr>
        <p:spPr>
          <a:xfrm>
            <a:off x="3020060" y="3156712"/>
            <a:ext cx="1711960" cy="0"/>
          </a:xfrm>
          <a:prstGeom prst="line">
            <a:avLst/>
          </a:prstGeom>
          <a:ln w="1270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981960" y="3309112"/>
            <a:ext cx="1788160" cy="254000"/>
          </a:xfrm>
          <a:prstGeom prst="rect">
            <a:avLst/>
          </a:prstGeom>
          <a:noFill/>
          <a:effectLst/>
        </p:spPr>
        <p:txBody>
          <a:bodyPr wrap="square" lIns="0" rIns="0" tIns="0" bIns="0" anchor="t"/>
          <a:lstStyle/>
          <a:p>
            <a:pPr algn="ctr">
              <a:lnSpc>
                <a:spcPts val="1439"/>
              </a:lnSpc>
            </a:pPr>
            <a:r>
              <a:rPr sz="1200" b="1" dirty="0">
                <a:solidFill>
                  <a:srgbClr val="161616"/>
                </a:solidFill>
                <a:latin typeface="Inter"/>
                <a:cs typeface="Inter"/>
              </a:rPr>
              <a:t>Lorem Ipsum Dolor</a:t>
            </a:r>
          </a:p>
        </p:txBody>
      </p:sp>
      <p:sp>
        <p:nvSpPr>
          <p:cNvPr id="29" name="TextBox 28"/>
          <p:cNvSpPr txBox="1"/>
          <p:nvPr/>
        </p:nvSpPr>
        <p:spPr>
          <a:xfrm>
            <a:off x="2981960" y="3613912"/>
            <a:ext cx="1788160" cy="571500"/>
          </a:xfrm>
          <a:prstGeom prst="rect">
            <a:avLst/>
          </a:prstGeom>
          <a:noFill/>
          <a:effectLst/>
        </p:spPr>
        <p:txBody>
          <a:bodyPr wrap="square" lIns="0" rIns="0" tIns="0" bIns="0" anchor="t"/>
          <a:lstStyle/>
          <a:p>
            <a:pPr algn="ctr">
              <a:lnSpc>
                <a:spcPts val="1260"/>
              </a:lnSpc>
            </a:pPr>
            <a:r>
              <a:rPr sz="900" b="0" dirty="0">
                <a:solidFill>
                  <a:srgbClr val="6F6F6F"/>
                </a:solidFill>
                <a:latin typeface="Inter"/>
                <a:cs typeface="Inter"/>
              </a:rPr>
              <a:t>Lorem ipsum dolor sit amet, consectetur adipiscing.</a:t>
            </a:r>
          </a:p>
        </p:txBody>
      </p:sp>
      <p:sp>
        <p:nvSpPr>
          <p:cNvPr id="30" name="Rectangle 29"/>
          <p:cNvSpPr/>
          <p:nvPr/>
        </p:nvSpPr>
        <p:spPr>
          <a:xfrm>
            <a:off x="5049520" y="2089912"/>
            <a:ext cx="2092960" cy="2222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049520" y="2280412"/>
            <a:ext cx="2092960" cy="698500"/>
          </a:xfrm>
          <a:prstGeom prst="rect">
            <a:avLst/>
          </a:prstGeom>
          <a:noFill/>
          <a:effectLst/>
        </p:spPr>
        <p:txBody>
          <a:bodyPr wrap="square" lIns="0" rIns="0" tIns="0" bIns="0" anchor="t"/>
          <a:lstStyle/>
          <a:p>
            <a:pPr algn="ctr">
              <a:lnSpc>
                <a:spcPts val="4800"/>
              </a:lnSpc>
            </a:pPr>
            <a:r>
              <a:rPr sz="4800" b="1" spc="-192" dirty="0">
                <a:solidFill>
                  <a:srgbClr val="161616"/>
                </a:solidFill>
                <a:latin typeface="Inter"/>
                <a:cs typeface="Inter"/>
              </a:rPr>
              <a:t>T</a:t>
            </a:r>
          </a:p>
        </p:txBody>
      </p:sp>
      <p:cxnSp>
        <p:nvCxnSpPr>
          <p:cNvPr id="32" name="Connector 31"/>
          <p:cNvCxnSpPr/>
          <p:nvPr/>
        </p:nvCxnSpPr>
        <p:spPr>
          <a:xfrm>
            <a:off x="5240020" y="3156712"/>
            <a:ext cx="1711960" cy="0"/>
          </a:xfrm>
          <a:prstGeom prst="line">
            <a:avLst/>
          </a:prstGeom>
          <a:ln w="1270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201920" y="3309112"/>
            <a:ext cx="1788160" cy="254000"/>
          </a:xfrm>
          <a:prstGeom prst="rect">
            <a:avLst/>
          </a:prstGeom>
          <a:noFill/>
          <a:effectLst/>
        </p:spPr>
        <p:txBody>
          <a:bodyPr wrap="square" lIns="0" rIns="0" tIns="0" bIns="0" anchor="t"/>
          <a:lstStyle/>
          <a:p>
            <a:pPr algn="ctr">
              <a:lnSpc>
                <a:spcPts val="1439"/>
              </a:lnSpc>
            </a:pPr>
            <a:r>
              <a:rPr sz="1200" b="1" dirty="0">
                <a:solidFill>
                  <a:srgbClr val="161616"/>
                </a:solidFill>
                <a:latin typeface="Inter"/>
                <a:cs typeface="Inter"/>
              </a:rPr>
              <a:t>Lorem Ipsum Dolor</a:t>
            </a:r>
          </a:p>
        </p:txBody>
      </p:sp>
      <p:sp>
        <p:nvSpPr>
          <p:cNvPr id="34" name="TextBox 33"/>
          <p:cNvSpPr txBox="1"/>
          <p:nvPr/>
        </p:nvSpPr>
        <p:spPr>
          <a:xfrm>
            <a:off x="5201920" y="3613912"/>
            <a:ext cx="1788160" cy="571500"/>
          </a:xfrm>
          <a:prstGeom prst="rect">
            <a:avLst/>
          </a:prstGeom>
          <a:noFill/>
          <a:effectLst/>
        </p:spPr>
        <p:txBody>
          <a:bodyPr wrap="square" lIns="0" rIns="0" tIns="0" bIns="0" anchor="t"/>
          <a:lstStyle/>
          <a:p>
            <a:pPr algn="ctr">
              <a:lnSpc>
                <a:spcPts val="1260"/>
              </a:lnSpc>
            </a:pPr>
            <a:r>
              <a:rPr sz="900" b="0" dirty="0">
                <a:solidFill>
                  <a:srgbClr val="6F6F6F"/>
                </a:solidFill>
                <a:latin typeface="Inter"/>
                <a:cs typeface="Inter"/>
              </a:rPr>
              <a:t>Lorem ipsum dolor sit amet, consectetur adipiscing.</a:t>
            </a:r>
          </a:p>
        </p:txBody>
      </p:sp>
      <p:sp>
        <p:nvSpPr>
          <p:cNvPr id="35" name="Rectangle 34"/>
          <p:cNvSpPr/>
          <p:nvPr/>
        </p:nvSpPr>
        <p:spPr>
          <a:xfrm>
            <a:off x="7269480" y="2089912"/>
            <a:ext cx="2092960" cy="2222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269480" y="2280412"/>
            <a:ext cx="2092960" cy="698500"/>
          </a:xfrm>
          <a:prstGeom prst="rect">
            <a:avLst/>
          </a:prstGeom>
          <a:noFill/>
          <a:effectLst/>
        </p:spPr>
        <p:txBody>
          <a:bodyPr wrap="square" lIns="0" rIns="0" tIns="0" bIns="0" anchor="t"/>
          <a:lstStyle/>
          <a:p>
            <a:pPr algn="ctr">
              <a:lnSpc>
                <a:spcPts val="4800"/>
              </a:lnSpc>
            </a:pPr>
            <a:r>
              <a:rPr sz="4800" b="1" spc="-192" dirty="0">
                <a:solidFill>
                  <a:srgbClr val="161616"/>
                </a:solidFill>
                <a:latin typeface="Inter"/>
                <a:cs typeface="Inter"/>
              </a:rPr>
              <a:t>I</a:t>
            </a:r>
          </a:p>
        </p:txBody>
      </p:sp>
      <p:cxnSp>
        <p:nvCxnSpPr>
          <p:cNvPr id="37" name="Connector 36"/>
          <p:cNvCxnSpPr/>
          <p:nvPr/>
        </p:nvCxnSpPr>
        <p:spPr>
          <a:xfrm>
            <a:off x="7459980" y="3156712"/>
            <a:ext cx="1711960" cy="0"/>
          </a:xfrm>
          <a:prstGeom prst="line">
            <a:avLst/>
          </a:prstGeom>
          <a:ln w="1270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421880" y="3309112"/>
            <a:ext cx="1788160" cy="254000"/>
          </a:xfrm>
          <a:prstGeom prst="rect">
            <a:avLst/>
          </a:prstGeom>
          <a:noFill/>
          <a:effectLst/>
        </p:spPr>
        <p:txBody>
          <a:bodyPr wrap="square" lIns="0" rIns="0" tIns="0" bIns="0" anchor="t"/>
          <a:lstStyle/>
          <a:p>
            <a:pPr algn="ctr">
              <a:lnSpc>
                <a:spcPts val="1439"/>
              </a:lnSpc>
            </a:pPr>
            <a:r>
              <a:rPr sz="1200" b="1" dirty="0">
                <a:solidFill>
                  <a:srgbClr val="161616"/>
                </a:solidFill>
                <a:latin typeface="Inter"/>
                <a:cs typeface="Inter"/>
              </a:rPr>
              <a:t>Lorem Ipsum Dolor</a:t>
            </a:r>
          </a:p>
        </p:txBody>
      </p:sp>
      <p:sp>
        <p:nvSpPr>
          <p:cNvPr id="39" name="TextBox 38"/>
          <p:cNvSpPr txBox="1"/>
          <p:nvPr/>
        </p:nvSpPr>
        <p:spPr>
          <a:xfrm>
            <a:off x="7421880" y="3613912"/>
            <a:ext cx="1788160" cy="571500"/>
          </a:xfrm>
          <a:prstGeom prst="rect">
            <a:avLst/>
          </a:prstGeom>
          <a:noFill/>
          <a:effectLst/>
        </p:spPr>
        <p:txBody>
          <a:bodyPr wrap="square" lIns="0" rIns="0" tIns="0" bIns="0" anchor="t"/>
          <a:lstStyle/>
          <a:p>
            <a:pPr algn="ctr">
              <a:lnSpc>
                <a:spcPts val="1260"/>
              </a:lnSpc>
            </a:pPr>
            <a:r>
              <a:rPr sz="900" b="0" dirty="0">
                <a:solidFill>
                  <a:srgbClr val="6F6F6F"/>
                </a:solidFill>
                <a:latin typeface="Inter"/>
                <a:cs typeface="Inter"/>
              </a:rPr>
              <a:t>Lorem ipsum dolor sit amet, consectetur adipiscing.</a:t>
            </a:r>
          </a:p>
        </p:txBody>
      </p:sp>
      <p:sp>
        <p:nvSpPr>
          <p:cNvPr id="40" name="Rectangle 39"/>
          <p:cNvSpPr/>
          <p:nvPr/>
        </p:nvSpPr>
        <p:spPr>
          <a:xfrm>
            <a:off x="9489440" y="2089912"/>
            <a:ext cx="2092960" cy="2222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489440" y="2280412"/>
            <a:ext cx="2092960" cy="698500"/>
          </a:xfrm>
          <a:prstGeom prst="rect">
            <a:avLst/>
          </a:prstGeom>
          <a:noFill/>
          <a:effectLst/>
        </p:spPr>
        <p:txBody>
          <a:bodyPr wrap="square" lIns="0" rIns="0" tIns="0" bIns="0" anchor="t"/>
          <a:lstStyle/>
          <a:p>
            <a:pPr algn="ctr">
              <a:lnSpc>
                <a:spcPts val="4800"/>
              </a:lnSpc>
            </a:pPr>
            <a:r>
              <a:rPr sz="4800" b="1" spc="-192" dirty="0">
                <a:solidFill>
                  <a:srgbClr val="161616"/>
                </a:solidFill>
                <a:latin typeface="Inter"/>
                <a:cs typeface="Inter"/>
              </a:rPr>
              <a:t>V</a:t>
            </a:r>
          </a:p>
        </p:txBody>
      </p:sp>
      <p:cxnSp>
        <p:nvCxnSpPr>
          <p:cNvPr id="42" name="Connector 41"/>
          <p:cNvCxnSpPr/>
          <p:nvPr/>
        </p:nvCxnSpPr>
        <p:spPr>
          <a:xfrm>
            <a:off x="9679940" y="3156712"/>
            <a:ext cx="1711960" cy="0"/>
          </a:xfrm>
          <a:prstGeom prst="line">
            <a:avLst/>
          </a:prstGeom>
          <a:ln w="1270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641840" y="3309112"/>
            <a:ext cx="1788160" cy="254000"/>
          </a:xfrm>
          <a:prstGeom prst="rect">
            <a:avLst/>
          </a:prstGeom>
          <a:noFill/>
          <a:effectLst/>
        </p:spPr>
        <p:txBody>
          <a:bodyPr wrap="square" lIns="0" rIns="0" tIns="0" bIns="0" anchor="t"/>
          <a:lstStyle/>
          <a:p>
            <a:pPr algn="ctr">
              <a:lnSpc>
                <a:spcPts val="1439"/>
              </a:lnSpc>
            </a:pPr>
            <a:r>
              <a:rPr sz="1200" b="1" dirty="0">
                <a:solidFill>
                  <a:srgbClr val="161616"/>
                </a:solidFill>
                <a:latin typeface="Inter"/>
                <a:cs typeface="Inter"/>
              </a:rPr>
              <a:t>Lorem Ipsum Dolor</a:t>
            </a:r>
          </a:p>
        </p:txBody>
      </p:sp>
      <p:sp>
        <p:nvSpPr>
          <p:cNvPr id="44" name="TextBox 43"/>
          <p:cNvSpPr txBox="1"/>
          <p:nvPr/>
        </p:nvSpPr>
        <p:spPr>
          <a:xfrm>
            <a:off x="9641840" y="3613912"/>
            <a:ext cx="1788160" cy="571500"/>
          </a:xfrm>
          <a:prstGeom prst="rect">
            <a:avLst/>
          </a:prstGeom>
          <a:noFill/>
          <a:effectLst/>
        </p:spPr>
        <p:txBody>
          <a:bodyPr wrap="square" lIns="0" rIns="0" tIns="0" bIns="0" anchor="t"/>
          <a:lstStyle/>
          <a:p>
            <a:pPr algn="ctr">
              <a:lnSpc>
                <a:spcPts val="1260"/>
              </a:lnSpc>
            </a:pPr>
            <a:r>
              <a:rPr sz="900" b="0" dirty="0">
                <a:solidFill>
                  <a:srgbClr val="6F6F6F"/>
                </a:solidFill>
                <a:latin typeface="Inter"/>
                <a:cs typeface="Inter"/>
              </a:rPr>
              <a:t>Lorem ipsum dolor sit amet, consectetur adipiscing.</a:t>
            </a:r>
          </a:p>
        </p:txBody>
      </p:sp>
      <p:sp>
        <p:nvSpPr>
          <p:cNvPr id="45" name="TextBox 44"/>
          <p:cNvSpPr txBox="1"/>
          <p:nvPr/>
        </p:nvSpPr>
        <p:spPr>
          <a:xfrm>
            <a:off x="609600" y="4629912"/>
            <a:ext cx="7247467" cy="381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cxnSp>
        <p:nvCxnSpPr>
          <p:cNvPr id="46" name="Connector 45"/>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1" name="TextBox 50"/>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2" name="TextBox 51"/>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G09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Personas</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Citas, casos y perfiles. La prueba social del programa.</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5 PLANTILLAS · H01–H05</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H01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Cita</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Testimonio con foto</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Perfil del ponente</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Caso real</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H05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Logos de empresas</a:t>
            </a:r>
          </a:p>
        </p:txBody>
      </p:sp>
      <p:cxnSp>
        <p:nvCxnSpPr>
          <p:cNvPr id="25" name="Connector 24"/>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30" name="TextBox 2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472267" y="1905000"/>
            <a:ext cx="7247467" cy="2032000"/>
          </a:xfrm>
          <a:prstGeom prst="rect">
            <a:avLst/>
          </a:prstGeom>
          <a:noFill/>
          <a:effectLst/>
        </p:spPr>
        <p:txBody>
          <a:bodyPr wrap="square" lIns="0" rIns="0" tIns="0" bIns="0" anchor="t"/>
          <a:lstStyle/>
          <a:p>
            <a:pPr algn="ctr">
              <a:lnSpc>
                <a:spcPts val="4000"/>
              </a:lnSpc>
            </a:pPr>
            <a:r>
              <a:rPr sz="3200" b="1" spc="-64" dirty="0">
                <a:solidFill>
                  <a:srgbClr val="161616"/>
                </a:solidFill>
                <a:latin typeface="Inter"/>
                <a:cs typeface="Inter"/>
              </a:rPr>
              <a:t>«Lorem ipsum dolor sit amet consectetur adipiscing elit sed»</a:t>
            </a:r>
          </a:p>
        </p:txBody>
      </p:sp>
      <p:cxnSp>
        <p:nvCxnSpPr>
          <p:cNvPr id="3" name="Connector 2"/>
          <p:cNvCxnSpPr/>
          <p:nvPr/>
        </p:nvCxnSpPr>
        <p:spPr>
          <a:xfrm>
            <a:off x="5715000" y="4445000"/>
            <a:ext cx="762000" cy="0"/>
          </a:xfrm>
          <a:prstGeom prst="line">
            <a:avLst/>
          </a:prstGeom>
          <a:ln w="19050">
            <a:solidFill>
              <a:srgbClr val="5B4BF5"/>
            </a:solidFill>
            <a:miter lim="800000"/>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472267" y="4660900"/>
            <a:ext cx="7247467" cy="190500"/>
          </a:xfrm>
          <a:prstGeom prst="rect">
            <a:avLst/>
          </a:prstGeom>
          <a:noFill/>
          <a:effectLst/>
        </p:spPr>
        <p:txBody>
          <a:bodyPr wrap="square" lIns="0" rIns="0" tIns="0" bIns="0" anchor="t"/>
          <a:lstStyle/>
          <a:p>
            <a:pPr algn="ctr">
              <a:lnSpc>
                <a:spcPts val="900"/>
              </a:lnSpc>
            </a:pPr>
            <a:r>
              <a:rPr sz="900" b="1" spc="144" dirty="0">
                <a:solidFill>
                  <a:srgbClr val="6F6F6F"/>
                </a:solidFill>
                <a:latin typeface="Inter"/>
                <a:cs typeface="Inter"/>
              </a:rPr>
              <a:t>LOREM IPSUM · DOLOR SIT</a:t>
            </a:r>
          </a:p>
        </p:txBody>
      </p:sp>
      <p:sp>
        <p:nvSpPr>
          <p:cNvPr id="5" name="TextBox 4"/>
          <p:cNvSpPr txBox="1"/>
          <p:nvPr/>
        </p:nvSpPr>
        <p:spPr>
          <a:xfrm>
            <a:off x="2472267" y="4914900"/>
            <a:ext cx="7247467" cy="190500"/>
          </a:xfrm>
          <a:prstGeom prst="rect">
            <a:avLst/>
          </a:prstGeom>
          <a:noFill/>
          <a:effectLst/>
        </p:spPr>
        <p:txBody>
          <a:bodyPr wrap="square" lIns="0" rIns="0" tIns="0" bIns="0" anchor="t"/>
          <a:lstStyle/>
          <a:p>
            <a:pPr algn="ctr">
              <a:lnSpc>
                <a:spcPts val="1080"/>
              </a:lnSpc>
            </a:pPr>
            <a:r>
              <a:rPr sz="900" b="0" dirty="0">
                <a:solidFill>
                  <a:srgbClr val="8D8D8D"/>
                </a:solidFill>
                <a:latin typeface="Inter"/>
                <a:cs typeface="Inter"/>
              </a:rPr>
              <a:t>Lorem ipsum dolor</a:t>
            </a:r>
          </a:p>
        </p:txBody>
      </p:sp>
      <p:cxnSp>
        <p:nvCxnSpPr>
          <p:cNvPr id="6" name="Connector 5"/>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7" name="Freeform 6"/>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11" name="TextBox 10"/>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12" name="TextBox 11"/>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H01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206500"/>
            <a:ext cx="3522133" cy="3937000"/>
          </a:xfrm>
          <a:prstGeom prst="rect">
            <a:avLst/>
          </a:prstGeom>
          <a:solidFill>
            <a:srgbClr val="EDEDED"/>
          </a:solidFill>
          <a:ln w="6350">
            <a:solidFill>
              <a:srgbClr val="C6C6C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flipH="1">
            <a:off x="609600" y="1206500"/>
            <a:ext cx="355600" cy="3556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609600" y="1206500"/>
            <a:ext cx="711200" cy="7112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09600" y="1206500"/>
            <a:ext cx="1066800" cy="10668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609600" y="1206500"/>
            <a:ext cx="1422400" cy="14224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609600" y="1206500"/>
            <a:ext cx="1778000" cy="1778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609600" y="1206500"/>
            <a:ext cx="2133600" cy="21336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609600" y="1206500"/>
            <a:ext cx="2489200" cy="24892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09600" y="1206500"/>
            <a:ext cx="2844800" cy="28448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09600" y="1206500"/>
            <a:ext cx="3200400" cy="32004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09600" y="1240367"/>
            <a:ext cx="3522133" cy="35221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609600" y="1595967"/>
            <a:ext cx="3522133" cy="35221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939800" y="1951567"/>
            <a:ext cx="3191933" cy="31919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295400" y="2307167"/>
            <a:ext cx="2836333" cy="28363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651000" y="2662767"/>
            <a:ext cx="2480733" cy="24807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006600" y="3018367"/>
            <a:ext cx="2125133" cy="21251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362200" y="3373967"/>
            <a:ext cx="1769533" cy="17695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2717800" y="3729567"/>
            <a:ext cx="1413933" cy="14139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073400" y="4085167"/>
            <a:ext cx="1058333" cy="10583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429000" y="4440767"/>
            <a:ext cx="702733" cy="7027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784600" y="4796367"/>
            <a:ext cx="347133" cy="347133"/>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600" y="3048000"/>
            <a:ext cx="3522133"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FOTO · RETRATO</a:t>
            </a:r>
          </a:p>
        </p:txBody>
      </p:sp>
      <p:sp>
        <p:nvSpPr>
          <p:cNvPr id="24" name="TextBox 23"/>
          <p:cNvSpPr txBox="1"/>
          <p:nvPr/>
        </p:nvSpPr>
        <p:spPr>
          <a:xfrm>
            <a:off x="5266267" y="1651000"/>
            <a:ext cx="6316133" cy="1905000"/>
          </a:xfrm>
          <a:prstGeom prst="rect">
            <a:avLst/>
          </a:prstGeom>
          <a:noFill/>
          <a:effectLst/>
        </p:spPr>
        <p:txBody>
          <a:bodyPr wrap="square" lIns="0" rIns="0" tIns="0" bIns="0" anchor="t"/>
          <a:lstStyle/>
          <a:p>
            <a:pPr algn="l">
              <a:lnSpc>
                <a:spcPts val="2520"/>
              </a:lnSpc>
            </a:pPr>
            <a:r>
              <a:rPr sz="1800" b="1" dirty="0">
                <a:solidFill>
                  <a:srgbClr val="161616"/>
                </a:solidFill>
                <a:latin typeface="Inter"/>
                <a:cs typeface="Inter"/>
              </a:rPr>
              <a:t>«Lorem ipsum dolor sit amet, consectetur adipiscing elit, sed do eiusmod tempor incididunt ut labore et dolore magna aliqua.»</a:t>
            </a:r>
          </a:p>
        </p:txBody>
      </p:sp>
      <p:cxnSp>
        <p:nvCxnSpPr>
          <p:cNvPr id="25" name="Connector 24"/>
          <p:cNvCxnSpPr/>
          <p:nvPr/>
        </p:nvCxnSpPr>
        <p:spPr>
          <a:xfrm>
            <a:off x="5266267" y="3937000"/>
            <a:ext cx="762000" cy="0"/>
          </a:xfrm>
          <a:prstGeom prst="line">
            <a:avLst/>
          </a:prstGeom>
          <a:ln w="19050">
            <a:solidFill>
              <a:srgbClr val="5B4BF5"/>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66267" y="4140200"/>
            <a:ext cx="5384800" cy="215900"/>
          </a:xfrm>
          <a:prstGeom prst="rect">
            <a:avLst/>
          </a:prstGeom>
          <a:noFill/>
          <a:effectLst/>
        </p:spPr>
        <p:txBody>
          <a:bodyPr wrap="square" lIns="0" rIns="0" tIns="0" bIns="0" anchor="t"/>
          <a:lstStyle/>
          <a:p>
            <a:pPr algn="l">
              <a:lnSpc>
                <a:spcPts val="1439"/>
              </a:lnSpc>
            </a:pPr>
            <a:r>
              <a:rPr sz="1200" b="1" dirty="0">
                <a:solidFill>
                  <a:srgbClr val="161616"/>
                </a:solidFill>
                <a:latin typeface="Inter"/>
                <a:cs typeface="Inter"/>
              </a:rPr>
              <a:t>Lorem Ipsum Dolor</a:t>
            </a:r>
          </a:p>
        </p:txBody>
      </p:sp>
      <p:sp>
        <p:nvSpPr>
          <p:cNvPr id="27" name="TextBox 26"/>
          <p:cNvSpPr txBox="1"/>
          <p:nvPr/>
        </p:nvSpPr>
        <p:spPr>
          <a:xfrm>
            <a:off x="5266267" y="4381500"/>
            <a:ext cx="5384800" cy="215900"/>
          </a:xfrm>
          <a:prstGeom prst="rect">
            <a:avLst/>
          </a:prstGeom>
          <a:noFill/>
          <a:effectLst/>
        </p:spPr>
        <p:txBody>
          <a:bodyPr wrap="square" lIns="0" rIns="0" tIns="0" bIns="0" anchor="t"/>
          <a:lstStyle/>
          <a:p>
            <a:pPr algn="l">
              <a:lnSpc>
                <a:spcPts val="1080"/>
              </a:lnSpc>
            </a:pPr>
            <a:r>
              <a:rPr sz="900" b="0" dirty="0">
                <a:solidFill>
                  <a:srgbClr val="6F6F6F"/>
                </a:solidFill>
                <a:latin typeface="Inter"/>
                <a:cs typeface="Inter"/>
              </a:rPr>
              <a:t>Lorem ipsum dolor</a:t>
            </a:r>
          </a:p>
        </p:txBody>
      </p:sp>
      <p:sp>
        <p:nvSpPr>
          <p:cNvPr id="28" name="TextBox 27"/>
          <p:cNvSpPr txBox="1"/>
          <p:nvPr/>
        </p:nvSpPr>
        <p:spPr>
          <a:xfrm>
            <a:off x="5266267" y="4762500"/>
            <a:ext cx="5384800" cy="190500"/>
          </a:xfrm>
          <a:prstGeom prst="rect">
            <a:avLst/>
          </a:prstGeom>
          <a:noFill/>
          <a:effectLst/>
        </p:spPr>
        <p:txBody>
          <a:bodyPr wrap="square" lIns="0" rIns="0" tIns="0" bIns="0" anchor="t"/>
          <a:lstStyle/>
          <a:p>
            <a:pPr algn="l">
              <a:lnSpc>
                <a:spcPts val="700"/>
              </a:lnSpc>
            </a:pPr>
            <a:r>
              <a:rPr sz="700" b="1" spc="84" dirty="0">
                <a:solidFill>
                  <a:srgbClr val="8D8D8D"/>
                </a:solidFill>
                <a:latin typeface="Inter"/>
                <a:cs typeface="Inter"/>
              </a:rPr>
              <a:t>COHORTE 2026-01 · REMOTE PROFESSIONAL</a:t>
            </a:r>
          </a:p>
        </p:txBody>
      </p:sp>
      <p:cxnSp>
        <p:nvCxnSpPr>
          <p:cNvPr id="29" name="Connector 28"/>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4" name="TextBox 33"/>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5" name="TextBox 34"/>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H02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206500"/>
            <a:ext cx="2590800" cy="2413000"/>
          </a:xfrm>
          <a:prstGeom prst="rect">
            <a:avLst/>
          </a:prstGeom>
          <a:solidFill>
            <a:srgbClr val="EDEDED"/>
          </a:solidFill>
          <a:ln w="6350">
            <a:solidFill>
              <a:srgbClr val="C6C6C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flipH="1">
            <a:off x="609600" y="1206500"/>
            <a:ext cx="355600" cy="3556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609600" y="1206500"/>
            <a:ext cx="711200" cy="7112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09600" y="1206500"/>
            <a:ext cx="1066800" cy="10668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609600" y="1206500"/>
            <a:ext cx="1422400" cy="14224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609600" y="1206500"/>
            <a:ext cx="1778000" cy="1778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609600" y="1206500"/>
            <a:ext cx="2133600" cy="21336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685800" y="1206500"/>
            <a:ext cx="2413000" cy="2413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041400" y="1460500"/>
            <a:ext cx="2159000" cy="2159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397000" y="1816100"/>
            <a:ext cx="1803400" cy="18034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752600" y="2171700"/>
            <a:ext cx="1447800" cy="14478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108200" y="2527300"/>
            <a:ext cx="1092200" cy="10922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463800" y="2882900"/>
            <a:ext cx="736600" cy="7366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819400" y="3238500"/>
            <a:ext cx="381000" cy="3810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175000" y="3594100"/>
            <a:ext cx="25400" cy="25400"/>
          </a:xfrm>
          <a:prstGeom prst="line">
            <a:avLst/>
          </a:prstGeom>
          <a:ln w="6350">
            <a:solidFill>
              <a:srgbClr val="E4E4E4"/>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2286000"/>
            <a:ext cx="2590800" cy="254000"/>
          </a:xfrm>
          <a:prstGeom prst="rect">
            <a:avLst/>
          </a:prstGeom>
          <a:noFill/>
          <a:effectLst/>
        </p:spPr>
        <p:txBody>
          <a:bodyPr wrap="square" lIns="0" rIns="0" tIns="0" bIns="0" anchor="ctr"/>
          <a:lstStyle/>
          <a:p>
            <a:pPr algn="ctr">
              <a:lnSpc>
                <a:spcPts val="800"/>
              </a:lnSpc>
            </a:pPr>
            <a:r>
              <a:rPr sz="800" b="0" spc="112" dirty="0">
                <a:solidFill>
                  <a:srgbClr val="8D8D8D"/>
                </a:solidFill>
                <a:latin typeface="Inter"/>
                <a:cs typeface="Inter"/>
              </a:rPr>
              <a:t>FOTO</a:t>
            </a:r>
          </a:p>
        </p:txBody>
      </p:sp>
      <p:sp>
        <p:nvSpPr>
          <p:cNvPr id="18" name="Rectangle 17"/>
          <p:cNvSpPr/>
          <p:nvPr/>
        </p:nvSpPr>
        <p:spPr>
          <a:xfrm>
            <a:off x="4334933" y="12928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74633" y="12700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TU DOCENTE</a:t>
            </a:r>
          </a:p>
        </p:txBody>
      </p:sp>
      <p:sp>
        <p:nvSpPr>
          <p:cNvPr id="20" name="TextBox 19"/>
          <p:cNvSpPr txBox="1"/>
          <p:nvPr/>
        </p:nvSpPr>
        <p:spPr>
          <a:xfrm>
            <a:off x="4334933" y="1549400"/>
            <a:ext cx="7247467" cy="571500"/>
          </a:xfrm>
          <a:prstGeom prst="rect">
            <a:avLst/>
          </a:prstGeom>
          <a:noFill/>
          <a:effectLst/>
        </p:spPr>
        <p:txBody>
          <a:bodyPr wrap="square" lIns="0" rIns="0" tIns="0" bIns="0" anchor="t"/>
          <a:lstStyle/>
          <a:p>
            <a:pPr algn="l">
              <a:lnSpc>
                <a:spcPts val="3360"/>
              </a:lnSpc>
            </a:pPr>
            <a:r>
              <a:rPr sz="3200" b="1" spc="-96" dirty="0">
                <a:solidFill>
                  <a:srgbClr val="161616"/>
                </a:solidFill>
                <a:latin typeface="Inter"/>
                <a:cs typeface="Inter"/>
              </a:rPr>
              <a:t>Lorem Ipsum Dolor</a:t>
            </a:r>
          </a:p>
        </p:txBody>
      </p:sp>
      <p:sp>
        <p:nvSpPr>
          <p:cNvPr id="21" name="TextBox 20"/>
          <p:cNvSpPr txBox="1"/>
          <p:nvPr/>
        </p:nvSpPr>
        <p:spPr>
          <a:xfrm>
            <a:off x="4334933" y="2159000"/>
            <a:ext cx="6316133" cy="254000"/>
          </a:xfrm>
          <a:prstGeom prst="rect">
            <a:avLst/>
          </a:prstGeom>
          <a:noFill/>
          <a:effectLst/>
        </p:spPr>
        <p:txBody>
          <a:bodyPr wrap="square" lIns="0" rIns="0" tIns="0" bIns="0" anchor="t"/>
          <a:lstStyle/>
          <a:p>
            <a:pPr algn="l">
              <a:lnSpc>
                <a:spcPts val="2160"/>
              </a:lnSpc>
            </a:pPr>
            <a:r>
              <a:rPr sz="1800" b="1" dirty="0">
                <a:solidFill>
                  <a:srgbClr val="525252"/>
                </a:solidFill>
                <a:latin typeface="Inter"/>
                <a:cs typeface="Inter"/>
              </a:rPr>
              <a:t>Lorem ipsum dolor sit amet</a:t>
            </a:r>
          </a:p>
        </p:txBody>
      </p:sp>
      <p:cxnSp>
        <p:nvCxnSpPr>
          <p:cNvPr id="22" name="Connector 21"/>
          <p:cNvCxnSpPr/>
          <p:nvPr/>
        </p:nvCxnSpPr>
        <p:spPr>
          <a:xfrm>
            <a:off x="4334933" y="2603500"/>
            <a:ext cx="72474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34933" y="2768600"/>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24" name="TextBox 23"/>
          <p:cNvSpPr txBox="1"/>
          <p:nvPr/>
        </p:nvSpPr>
        <p:spPr>
          <a:xfrm>
            <a:off x="4563533" y="2768600"/>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5" name="TextBox 24"/>
          <p:cNvSpPr txBox="1"/>
          <p:nvPr/>
        </p:nvSpPr>
        <p:spPr>
          <a:xfrm>
            <a:off x="4334933" y="3111500"/>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26" name="TextBox 25"/>
          <p:cNvSpPr txBox="1"/>
          <p:nvPr/>
        </p:nvSpPr>
        <p:spPr>
          <a:xfrm>
            <a:off x="4563533" y="3111500"/>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7" name="TextBox 26"/>
          <p:cNvSpPr txBox="1"/>
          <p:nvPr/>
        </p:nvSpPr>
        <p:spPr>
          <a:xfrm>
            <a:off x="4334933" y="3454400"/>
            <a:ext cx="190500" cy="228600"/>
          </a:xfrm>
          <a:prstGeom prst="rect">
            <a:avLst/>
          </a:prstGeom>
          <a:noFill/>
          <a:effectLst/>
        </p:spPr>
        <p:txBody>
          <a:bodyPr wrap="square" lIns="0" rIns="0" tIns="0" bIns="0" anchor="t"/>
          <a:lstStyle/>
          <a:p>
            <a:pPr algn="l">
              <a:lnSpc>
                <a:spcPts val="1679"/>
              </a:lnSpc>
            </a:pPr>
            <a:r>
              <a:rPr sz="1200" b="1" dirty="0">
                <a:solidFill>
                  <a:srgbClr val="161616"/>
                </a:solidFill>
                <a:latin typeface="Inter"/>
                <a:cs typeface="Inter"/>
              </a:rPr>
              <a:t>—</a:t>
            </a:r>
          </a:p>
        </p:txBody>
      </p:sp>
      <p:sp>
        <p:nvSpPr>
          <p:cNvPr id="28" name="TextBox 27"/>
          <p:cNvSpPr txBox="1"/>
          <p:nvPr/>
        </p:nvSpPr>
        <p:spPr>
          <a:xfrm>
            <a:off x="4563533" y="3454400"/>
            <a:ext cx="5156200" cy="426720"/>
          </a:xfrm>
          <a:prstGeom prst="rect">
            <a:avLst/>
          </a:prstGeom>
          <a:noFill/>
          <a:effectLst/>
        </p:spPr>
        <p:txBody>
          <a:bodyPr wrap="square" lIns="0" rIns="0" tIns="0" bIns="0" anchor="t"/>
          <a:lstStyle/>
          <a:p>
            <a:pPr algn="l">
              <a:lnSpc>
                <a:spcPts val="1679"/>
              </a:lnSpc>
            </a:pPr>
            <a:r>
              <a:rPr sz="1200" b="0" dirty="0">
                <a:solidFill>
                  <a:srgbClr val="525252"/>
                </a:solidFill>
                <a:latin typeface="Inter"/>
                <a:cs typeface="Inter"/>
              </a:rPr>
              <a:t>Lorem ipsum dolor sit amet, consectetur adipiscing elit</a:t>
            </a:r>
          </a:p>
        </p:txBody>
      </p:sp>
      <p:sp>
        <p:nvSpPr>
          <p:cNvPr id="29" name="TextBox 28"/>
          <p:cNvSpPr txBox="1"/>
          <p:nvPr/>
        </p:nvSpPr>
        <p:spPr>
          <a:xfrm>
            <a:off x="4334933" y="3937000"/>
            <a:ext cx="7247467" cy="190500"/>
          </a:xfrm>
          <a:prstGeom prst="rect">
            <a:avLst/>
          </a:prstGeom>
          <a:noFill/>
          <a:effectLst/>
        </p:spPr>
        <p:txBody>
          <a:bodyPr wrap="square" lIns="0" rIns="0" tIns="0" bIns="0" anchor="t"/>
          <a:lstStyle/>
          <a:p>
            <a:pPr algn="l">
              <a:lnSpc>
                <a:spcPts val="700"/>
              </a:lnSpc>
            </a:pPr>
            <a:r>
              <a:rPr sz="700" b="1" spc="84" dirty="0">
                <a:solidFill>
                  <a:srgbClr val="5B4BF5"/>
                </a:solidFill>
                <a:latin typeface="Inter"/>
                <a:cs typeface="Inter"/>
              </a:rPr>
              <a:t>LOREM-IPSUM.COM · @LOREMIPSUM</a:t>
            </a:r>
          </a:p>
        </p:txBody>
      </p:sp>
      <p:sp>
        <p:nvSpPr>
          <p:cNvPr id="30" name="Rectangle 29"/>
          <p:cNvSpPr/>
          <p:nvPr/>
        </p:nvSpPr>
        <p:spPr>
          <a:xfrm>
            <a:off x="8991600" y="1206500"/>
            <a:ext cx="2590800" cy="2413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56700" y="1397000"/>
            <a:ext cx="22606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EN UNA LÍNEA</a:t>
            </a:r>
          </a:p>
        </p:txBody>
      </p:sp>
      <p:sp>
        <p:nvSpPr>
          <p:cNvPr id="32" name="TextBox 31"/>
          <p:cNvSpPr txBox="1"/>
          <p:nvPr/>
        </p:nvSpPr>
        <p:spPr>
          <a:xfrm>
            <a:off x="9156700" y="1651000"/>
            <a:ext cx="2260600" cy="1778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33" name="Connector 32"/>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4" name="Freeform 33"/>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8" name="TextBox 37"/>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9" name="TextBox 38"/>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H03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CASO REAL</a:t>
            </a:r>
          </a:p>
        </p:txBody>
      </p:sp>
      <p:sp>
        <p:nvSpPr>
          <p:cNvPr id="4" name="TextBox 3"/>
          <p:cNvSpPr txBox="1"/>
          <p:nvPr/>
        </p:nvSpPr>
        <p:spPr>
          <a:xfrm>
            <a:off x="609600" y="1181100"/>
            <a:ext cx="7247467"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9600" y="2528824"/>
            <a:ext cx="2280356"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2655824"/>
            <a:ext cx="2280356"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CONTEXTO</a:t>
            </a:r>
          </a:p>
        </p:txBody>
      </p:sp>
      <p:sp>
        <p:nvSpPr>
          <p:cNvPr id="22" name="TextBox 21"/>
          <p:cNvSpPr txBox="1"/>
          <p:nvPr/>
        </p:nvSpPr>
        <p:spPr>
          <a:xfrm>
            <a:off x="609600" y="2909824"/>
            <a:ext cx="2280356" cy="1651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23" name="Connector 22"/>
          <p:cNvCxnSpPr/>
          <p:nvPr/>
        </p:nvCxnSpPr>
        <p:spPr>
          <a:xfrm>
            <a:off x="3093156" y="2528824"/>
            <a:ext cx="2280355"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093156" y="2655824"/>
            <a:ext cx="2280356"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QUÉ HIZO</a:t>
            </a:r>
          </a:p>
        </p:txBody>
      </p:sp>
      <p:sp>
        <p:nvSpPr>
          <p:cNvPr id="25" name="TextBox 24"/>
          <p:cNvSpPr txBox="1"/>
          <p:nvPr/>
        </p:nvSpPr>
        <p:spPr>
          <a:xfrm>
            <a:off x="3093156" y="2909824"/>
            <a:ext cx="2280356" cy="1651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26" name="Connector 25"/>
          <p:cNvCxnSpPr/>
          <p:nvPr/>
        </p:nvCxnSpPr>
        <p:spPr>
          <a:xfrm>
            <a:off x="5576711" y="2528824"/>
            <a:ext cx="2280356"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576711" y="2655824"/>
            <a:ext cx="2280356"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RESULTADO</a:t>
            </a:r>
          </a:p>
        </p:txBody>
      </p:sp>
      <p:sp>
        <p:nvSpPr>
          <p:cNvPr id="28" name="TextBox 27"/>
          <p:cNvSpPr txBox="1"/>
          <p:nvPr/>
        </p:nvSpPr>
        <p:spPr>
          <a:xfrm>
            <a:off x="5576711" y="2909824"/>
            <a:ext cx="2280356" cy="1651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9" name="Rectangle 28"/>
          <p:cNvSpPr/>
          <p:nvPr/>
        </p:nvSpPr>
        <p:spPr>
          <a:xfrm>
            <a:off x="8212667" y="2490724"/>
            <a:ext cx="3369733" cy="2095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377767" y="2655824"/>
            <a:ext cx="3039533" cy="1651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EL DATO</a:t>
            </a:r>
          </a:p>
        </p:txBody>
      </p:sp>
      <p:sp>
        <p:nvSpPr>
          <p:cNvPr id="31" name="TextBox 30"/>
          <p:cNvSpPr txBox="1"/>
          <p:nvPr/>
        </p:nvSpPr>
        <p:spPr>
          <a:xfrm>
            <a:off x="8377767" y="2909824"/>
            <a:ext cx="3039533" cy="762000"/>
          </a:xfrm>
          <a:prstGeom prst="rect">
            <a:avLst/>
          </a:prstGeom>
          <a:noFill/>
          <a:effectLst/>
        </p:spPr>
        <p:txBody>
          <a:bodyPr wrap="square" lIns="0" rIns="0" tIns="0" bIns="0" anchor="t"/>
          <a:lstStyle/>
          <a:p>
            <a:pPr algn="l">
              <a:lnSpc>
                <a:spcPts val="4500"/>
              </a:lnSpc>
            </a:pPr>
            <a:r>
              <a:rPr sz="4500" b="1" spc="-180" dirty="0">
                <a:solidFill>
                  <a:srgbClr val="FFFFFF"/>
                </a:solidFill>
                <a:latin typeface="Inter"/>
                <a:cs typeface="Inter"/>
              </a:rPr>
              <a:t>3,2×</a:t>
            </a:r>
          </a:p>
        </p:txBody>
      </p:sp>
      <p:sp>
        <p:nvSpPr>
          <p:cNvPr id="32" name="TextBox 31"/>
          <p:cNvSpPr txBox="1"/>
          <p:nvPr/>
        </p:nvSpPr>
        <p:spPr>
          <a:xfrm>
            <a:off x="8377767" y="3735324"/>
            <a:ext cx="3039533" cy="635000"/>
          </a:xfrm>
          <a:prstGeom prst="rect">
            <a:avLst/>
          </a:prstGeom>
          <a:noFill/>
          <a:effectLst/>
        </p:spPr>
        <p:txBody>
          <a:bodyPr wrap="square" lIns="0" rIns="0" tIns="0" bIns="0" anchor="t"/>
          <a:lstStyle/>
          <a:p>
            <a:pPr algn="l">
              <a:lnSpc>
                <a:spcPts val="1260"/>
              </a:lnSpc>
            </a:pPr>
            <a:r>
              <a:rPr sz="900" b="0" dirty="0">
                <a:solidFill>
                  <a:srgbClr val="D2D2D2"/>
                </a:solidFill>
                <a:latin typeface="Inter"/>
                <a:cs typeface="Inter"/>
              </a:rPr>
              <a:t>Lorem ipsum dolor sit amet, consectetur adipiscing.</a:t>
            </a:r>
          </a:p>
        </p:txBody>
      </p:sp>
      <p:sp>
        <p:nvSpPr>
          <p:cNvPr id="33" name="TextBox 32"/>
          <p:cNvSpPr txBox="1"/>
          <p:nvPr/>
        </p:nvSpPr>
        <p:spPr>
          <a:xfrm>
            <a:off x="609600" y="4814824"/>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FUENTE · LOREM IPSUM (2026)</a:t>
            </a:r>
          </a:p>
        </p:txBody>
      </p:sp>
      <p:cxnSp>
        <p:nvCxnSpPr>
          <p:cNvPr id="34" name="Connector 33"/>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9" name="TextBox 3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0" name="TextBox 39"/>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H04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DÓNDE TRABAJAN</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2628900" cy="1206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543050" y="2553462"/>
            <a:ext cx="762000" cy="2794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9600" y="2089912"/>
            <a:ext cx="2628900" cy="12065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23" name="Rectangle 22"/>
          <p:cNvSpPr/>
          <p:nvPr/>
        </p:nvSpPr>
        <p:spPr>
          <a:xfrm>
            <a:off x="3390900" y="2089912"/>
            <a:ext cx="2628900" cy="1206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24350" y="2553462"/>
            <a:ext cx="762000" cy="2794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390900" y="2089912"/>
            <a:ext cx="2628900" cy="12065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26" name="Rectangle 25"/>
          <p:cNvSpPr/>
          <p:nvPr/>
        </p:nvSpPr>
        <p:spPr>
          <a:xfrm>
            <a:off x="6172200" y="2089912"/>
            <a:ext cx="2628900" cy="1206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105650" y="2553462"/>
            <a:ext cx="762000" cy="2794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172200" y="2089912"/>
            <a:ext cx="2628900" cy="12065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29" name="Rectangle 28"/>
          <p:cNvSpPr/>
          <p:nvPr/>
        </p:nvSpPr>
        <p:spPr>
          <a:xfrm>
            <a:off x="8953500" y="2089912"/>
            <a:ext cx="2628900" cy="1206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886950" y="2553462"/>
            <a:ext cx="762000" cy="2794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953500" y="2089912"/>
            <a:ext cx="2628900" cy="12065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32" name="Rectangle 31"/>
          <p:cNvSpPr/>
          <p:nvPr/>
        </p:nvSpPr>
        <p:spPr>
          <a:xfrm>
            <a:off x="609600" y="3448812"/>
            <a:ext cx="2628900" cy="1206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543050" y="3912362"/>
            <a:ext cx="762000" cy="2794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09600" y="3448812"/>
            <a:ext cx="2628900" cy="12065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35" name="Rectangle 34"/>
          <p:cNvSpPr/>
          <p:nvPr/>
        </p:nvSpPr>
        <p:spPr>
          <a:xfrm>
            <a:off x="3390900" y="3448812"/>
            <a:ext cx="2628900" cy="1206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324350" y="3912362"/>
            <a:ext cx="762000" cy="2794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390900" y="3448812"/>
            <a:ext cx="2628900" cy="12065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38" name="Rectangle 37"/>
          <p:cNvSpPr/>
          <p:nvPr/>
        </p:nvSpPr>
        <p:spPr>
          <a:xfrm>
            <a:off x="6172200" y="3448812"/>
            <a:ext cx="2628900" cy="1206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7105650" y="3912362"/>
            <a:ext cx="762000" cy="2794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172200" y="3448812"/>
            <a:ext cx="2628900" cy="12065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41" name="Rectangle 40"/>
          <p:cNvSpPr/>
          <p:nvPr/>
        </p:nvSpPr>
        <p:spPr>
          <a:xfrm>
            <a:off x="8953500" y="3448812"/>
            <a:ext cx="2628900" cy="1206500"/>
          </a:xfrm>
          <a:prstGeom prst="rect">
            <a:avLst/>
          </a:prstGeom>
          <a:no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9886950" y="3912362"/>
            <a:ext cx="762000" cy="279400"/>
          </a:xfrm>
          <a:prstGeom prst="rect">
            <a:avLst/>
          </a:prstGeom>
          <a:noFill/>
          <a:ln w="6350">
            <a:solidFill>
              <a:srgbClr val="8D8D8D"/>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953500" y="3448812"/>
            <a:ext cx="2628900" cy="1206500"/>
          </a:xfrm>
          <a:prstGeom prst="rect">
            <a:avLst/>
          </a:prstGeom>
          <a:noFill/>
          <a:effectLst/>
        </p:spPr>
        <p:txBody>
          <a:bodyPr wrap="square" lIns="0" rIns="0" tIns="0" bIns="0" anchor="ctr"/>
          <a:lstStyle/>
          <a:p>
            <a:pPr algn="ctr">
              <a:lnSpc>
                <a:spcPts val="700"/>
              </a:lnSpc>
            </a:pPr>
            <a:r>
              <a:rPr sz="700" b="1" spc="98" dirty="0">
                <a:solidFill>
                  <a:srgbClr val="8D8D8D"/>
                </a:solidFill>
                <a:latin typeface="Inter"/>
                <a:cs typeface="Inter"/>
              </a:rPr>
              <a:t>LOGO</a:t>
            </a:r>
          </a:p>
        </p:txBody>
      </p:sp>
      <p:sp>
        <p:nvSpPr>
          <p:cNvPr id="44" name="TextBox 43"/>
          <p:cNvSpPr txBox="1"/>
          <p:nvPr/>
        </p:nvSpPr>
        <p:spPr>
          <a:xfrm>
            <a:off x="609600" y="5969000"/>
            <a:ext cx="4445000" cy="152400"/>
          </a:xfrm>
          <a:prstGeom prst="rect">
            <a:avLst/>
          </a:prstGeom>
          <a:noFill/>
          <a:effectLst/>
        </p:spPr>
        <p:txBody>
          <a:bodyPr wrap="square" lIns="0" rIns="0" tIns="0" bIns="0" anchor="t"/>
          <a:lstStyle/>
          <a:p>
            <a:pPr algn="l">
              <a:lnSpc>
                <a:spcPts val="700"/>
              </a:lnSpc>
            </a:pPr>
            <a:r>
              <a:rPr sz="700" b="1" spc="70" dirty="0">
                <a:solidFill>
                  <a:srgbClr val="8D8D8D"/>
                </a:solidFill>
                <a:latin typeface="Inter"/>
                <a:cs typeface="Inter"/>
              </a:rPr>
              <a:t>MISMA ALTURA ÓPTICA · MONOCROMO · SEPARACIÓN ≥ ALTO DEL LOGO</a:t>
            </a:r>
          </a:p>
        </p:txBody>
      </p:sp>
      <p:cxnSp>
        <p:nvCxnSpPr>
          <p:cNvPr id="45" name="Connector 44"/>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0" name="TextBox 4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1" name="TextBox 50"/>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H05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Actividad</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El 40 % del tiempo de clase. Siempre con entregable.</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5 PLANTILLAS · I01–I05</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I01</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I01</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Ejercicio práctico</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I02</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Trabajo en grupo</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I03</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Quiz de repaso</a:t>
            </a:r>
          </a:p>
        </p:txBody>
      </p:sp>
      <p:cxnSp>
        <p:nvCxnSpPr>
          <p:cNvPr id="19" name="Connector 18"/>
          <p:cNvCxnSpPr/>
          <p:nvPr/>
        </p:nvCxnSpPr>
        <p:spPr>
          <a:xfrm>
            <a:off x="7128933" y="27178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28933" y="28067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I04</a:t>
            </a:r>
          </a:p>
        </p:txBody>
      </p:sp>
      <p:sp>
        <p:nvSpPr>
          <p:cNvPr id="21" name="TextBox 20"/>
          <p:cNvSpPr txBox="1"/>
          <p:nvPr/>
        </p:nvSpPr>
        <p:spPr>
          <a:xfrm>
            <a:off x="7636933" y="27940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Plantilla a rellenar</a:t>
            </a:r>
          </a:p>
        </p:txBody>
      </p:sp>
      <p:cxnSp>
        <p:nvCxnSpPr>
          <p:cNvPr id="22" name="Connector 21"/>
          <p:cNvCxnSpPr/>
          <p:nvPr/>
        </p:nvCxnSpPr>
        <p:spPr>
          <a:xfrm>
            <a:off x="7128933" y="30734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8933" y="31623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I05</a:t>
            </a:r>
          </a:p>
        </p:txBody>
      </p:sp>
      <p:sp>
        <p:nvSpPr>
          <p:cNvPr id="24" name="TextBox 23"/>
          <p:cNvSpPr txBox="1"/>
          <p:nvPr/>
        </p:nvSpPr>
        <p:spPr>
          <a:xfrm>
            <a:off x="7636933" y="31496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Errores comunes</a:t>
            </a:r>
          </a:p>
        </p:txBody>
      </p:sp>
      <p:cxnSp>
        <p:nvCxnSpPr>
          <p:cNvPr id="25" name="Connector 24"/>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30" name="TextBox 2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I</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52500"/>
            <a:ext cx="1629664" cy="215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1200" y="952500"/>
            <a:ext cx="1426464" cy="215900"/>
          </a:xfrm>
          <a:prstGeom prst="rect">
            <a:avLst/>
          </a:prstGeom>
          <a:noFill/>
          <a:effectLst/>
        </p:spPr>
        <p:txBody>
          <a:bodyPr wrap="square" lIns="0" rIns="0" tIns="0" bIns="0" anchor="ctr"/>
          <a:lstStyle/>
          <a:p>
            <a:pPr algn="l">
              <a:lnSpc>
                <a:spcPts val="800"/>
              </a:lnSpc>
            </a:pPr>
            <a:r>
              <a:rPr sz="800" b="1" spc="128" dirty="0">
                <a:solidFill>
                  <a:srgbClr val="FFFFFF"/>
                </a:solidFill>
                <a:latin typeface="Inter"/>
                <a:cs typeface="Inter"/>
              </a:rPr>
              <a:t>EJERCICIO · 25 MIN</a:t>
            </a:r>
          </a:p>
        </p:txBody>
      </p:sp>
      <p:sp>
        <p:nvSpPr>
          <p:cNvPr id="4" name="TextBox 3"/>
          <p:cNvSpPr txBox="1"/>
          <p:nvPr/>
        </p:nvSpPr>
        <p:spPr>
          <a:xfrm>
            <a:off x="609600" y="1371600"/>
            <a:ext cx="7247467"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cxnSp>
        <p:nvCxnSpPr>
          <p:cNvPr id="5" name="Connector 4"/>
          <p:cNvCxnSpPr/>
          <p:nvPr/>
        </p:nvCxnSpPr>
        <p:spPr>
          <a:xfrm>
            <a:off x="609600" y="2095500"/>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6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5240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4384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3528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2672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816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0104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248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92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536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6680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7605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9600" y="2374900"/>
            <a:ext cx="2288822"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2501900"/>
            <a:ext cx="2288822"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PASO 01</a:t>
            </a:r>
          </a:p>
        </p:txBody>
      </p:sp>
      <p:sp>
        <p:nvSpPr>
          <p:cNvPr id="21" name="TextBox 20"/>
          <p:cNvSpPr txBox="1"/>
          <p:nvPr/>
        </p:nvSpPr>
        <p:spPr>
          <a:xfrm>
            <a:off x="609600" y="2730500"/>
            <a:ext cx="2288822"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22" name="Connector 21"/>
          <p:cNvCxnSpPr/>
          <p:nvPr/>
        </p:nvCxnSpPr>
        <p:spPr>
          <a:xfrm>
            <a:off x="3088922" y="2374900"/>
            <a:ext cx="2288822"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88922" y="2501900"/>
            <a:ext cx="2288822"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PASO 02</a:t>
            </a:r>
          </a:p>
        </p:txBody>
      </p:sp>
      <p:sp>
        <p:nvSpPr>
          <p:cNvPr id="24" name="TextBox 23"/>
          <p:cNvSpPr txBox="1"/>
          <p:nvPr/>
        </p:nvSpPr>
        <p:spPr>
          <a:xfrm>
            <a:off x="3088922" y="2730500"/>
            <a:ext cx="2288822"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25" name="Connector 24"/>
          <p:cNvCxnSpPr/>
          <p:nvPr/>
        </p:nvCxnSpPr>
        <p:spPr>
          <a:xfrm>
            <a:off x="5568244" y="2374900"/>
            <a:ext cx="228882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68244" y="2501900"/>
            <a:ext cx="2288822"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PASO 03</a:t>
            </a:r>
          </a:p>
        </p:txBody>
      </p:sp>
      <p:sp>
        <p:nvSpPr>
          <p:cNvPr id="27" name="TextBox 26"/>
          <p:cNvSpPr txBox="1"/>
          <p:nvPr/>
        </p:nvSpPr>
        <p:spPr>
          <a:xfrm>
            <a:off x="5568244" y="2730500"/>
            <a:ext cx="2288822"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8" name="sombra"/>
          <p:cNvSpPr/>
          <p:nvPr/>
        </p:nvSpPr>
        <p:spPr>
          <a:xfrm>
            <a:off x="8301567" y="2400300"/>
            <a:ext cx="3280833" cy="2095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212667" y="2311400"/>
            <a:ext cx="3280833" cy="20955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377767" y="2527300"/>
            <a:ext cx="3039533" cy="1651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ENTREGABLE</a:t>
            </a:r>
          </a:p>
        </p:txBody>
      </p:sp>
      <p:sp>
        <p:nvSpPr>
          <p:cNvPr id="31" name="TextBox 30"/>
          <p:cNvSpPr txBox="1"/>
          <p:nvPr/>
        </p:nvSpPr>
        <p:spPr>
          <a:xfrm>
            <a:off x="8377767" y="2781300"/>
            <a:ext cx="3039533" cy="762000"/>
          </a:xfrm>
          <a:prstGeom prst="rect">
            <a:avLst/>
          </a:prstGeom>
          <a:noFill/>
          <a:effectLst/>
        </p:spPr>
        <p:txBody>
          <a:bodyPr wrap="square" lIns="0" rIns="0" tIns="0" bIns="0" anchor="t"/>
          <a:lstStyle/>
          <a:p>
            <a:pPr algn="l">
              <a:lnSpc>
                <a:spcPts val="2340"/>
              </a:lnSpc>
            </a:pPr>
            <a:r>
              <a:rPr sz="1800" b="1" dirty="0">
                <a:solidFill>
                  <a:srgbClr val="161616"/>
                </a:solidFill>
                <a:latin typeface="Inter"/>
                <a:cs typeface="Inter"/>
              </a:rPr>
              <a:t>Lorem ipsum dolor sit amet, consectetur adipiscing elit.</a:t>
            </a:r>
          </a:p>
        </p:txBody>
      </p:sp>
      <p:cxnSp>
        <p:nvCxnSpPr>
          <p:cNvPr id="32" name="Connector 31"/>
          <p:cNvCxnSpPr/>
          <p:nvPr/>
        </p:nvCxnSpPr>
        <p:spPr>
          <a:xfrm>
            <a:off x="8377767" y="3771900"/>
            <a:ext cx="3039533"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377767" y="3886200"/>
            <a:ext cx="3039533" cy="381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Entrega en Classroom · antes del viernes</a:t>
            </a:r>
          </a:p>
        </p:txBody>
      </p:sp>
      <p:cxnSp>
        <p:nvCxnSpPr>
          <p:cNvPr id="34" name="Connector 33"/>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9" name="TextBox 38"/>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0" name="TextBox 39"/>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I01</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52500"/>
            <a:ext cx="1550416" cy="215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1200" y="952500"/>
            <a:ext cx="1347216" cy="215900"/>
          </a:xfrm>
          <a:prstGeom prst="rect">
            <a:avLst/>
          </a:prstGeom>
          <a:noFill/>
          <a:effectLst/>
        </p:spPr>
        <p:txBody>
          <a:bodyPr wrap="square" lIns="0" rIns="0" tIns="0" bIns="0" anchor="ctr"/>
          <a:lstStyle/>
          <a:p>
            <a:pPr algn="l">
              <a:lnSpc>
                <a:spcPts val="800"/>
              </a:lnSpc>
            </a:pPr>
            <a:r>
              <a:rPr sz="800" b="1" spc="128" dirty="0">
                <a:solidFill>
                  <a:srgbClr val="FFFFFF"/>
                </a:solidFill>
                <a:latin typeface="Inter"/>
                <a:cs typeface="Inter"/>
              </a:rPr>
              <a:t>EN GRUPO · 30 MIN</a:t>
            </a:r>
          </a:p>
        </p:txBody>
      </p:sp>
      <p:sp>
        <p:nvSpPr>
          <p:cNvPr id="4" name="TextBox 3"/>
          <p:cNvSpPr txBox="1"/>
          <p:nvPr/>
        </p:nvSpPr>
        <p:spPr>
          <a:xfrm>
            <a:off x="609600" y="1371600"/>
            <a:ext cx="7247467"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cxnSp>
        <p:nvCxnSpPr>
          <p:cNvPr id="5" name="Connector 4"/>
          <p:cNvCxnSpPr/>
          <p:nvPr/>
        </p:nvCxnSpPr>
        <p:spPr>
          <a:xfrm>
            <a:off x="609600" y="2095500"/>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96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5240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4384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3528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2672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816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0104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248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392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536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66800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76050" y="2095500"/>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09600" y="2374900"/>
            <a:ext cx="1978378" cy="1524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09600" y="2374900"/>
            <a:ext cx="1978378" cy="317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2000" y="2565400"/>
            <a:ext cx="1673578" cy="1905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MODERA</a:t>
            </a:r>
          </a:p>
        </p:txBody>
      </p:sp>
      <p:sp>
        <p:nvSpPr>
          <p:cNvPr id="22" name="TextBox 21"/>
          <p:cNvSpPr txBox="1"/>
          <p:nvPr/>
        </p:nvSpPr>
        <p:spPr>
          <a:xfrm>
            <a:off x="762000" y="2844800"/>
            <a:ext cx="1673578" cy="889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a:t>
            </a:r>
          </a:p>
        </p:txBody>
      </p:sp>
      <p:sp>
        <p:nvSpPr>
          <p:cNvPr id="23" name="Rectangle 22"/>
          <p:cNvSpPr/>
          <p:nvPr/>
        </p:nvSpPr>
        <p:spPr>
          <a:xfrm>
            <a:off x="2778478" y="2374900"/>
            <a:ext cx="1978378" cy="1524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778478" y="2374900"/>
            <a:ext cx="1978378" cy="317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930878" y="2565400"/>
            <a:ext cx="1673578" cy="1905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ESCRIBE</a:t>
            </a:r>
          </a:p>
        </p:txBody>
      </p:sp>
      <p:sp>
        <p:nvSpPr>
          <p:cNvPr id="26" name="TextBox 25"/>
          <p:cNvSpPr txBox="1"/>
          <p:nvPr/>
        </p:nvSpPr>
        <p:spPr>
          <a:xfrm>
            <a:off x="2930878" y="2844800"/>
            <a:ext cx="1673578" cy="889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a:t>
            </a:r>
          </a:p>
        </p:txBody>
      </p:sp>
      <p:sp>
        <p:nvSpPr>
          <p:cNvPr id="27" name="Rectangle 26"/>
          <p:cNvSpPr/>
          <p:nvPr/>
        </p:nvSpPr>
        <p:spPr>
          <a:xfrm>
            <a:off x="4947356" y="2374900"/>
            <a:ext cx="1978378" cy="1524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947356" y="2374900"/>
            <a:ext cx="1978378" cy="317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99756" y="2565400"/>
            <a:ext cx="1673578" cy="1905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PRESENTA</a:t>
            </a:r>
          </a:p>
        </p:txBody>
      </p:sp>
      <p:sp>
        <p:nvSpPr>
          <p:cNvPr id="30" name="TextBox 29"/>
          <p:cNvSpPr txBox="1"/>
          <p:nvPr/>
        </p:nvSpPr>
        <p:spPr>
          <a:xfrm>
            <a:off x="5099756" y="2844800"/>
            <a:ext cx="1673578" cy="889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a:t>
            </a:r>
          </a:p>
        </p:txBody>
      </p:sp>
      <p:sp>
        <p:nvSpPr>
          <p:cNvPr id="31" name="TextBox 30"/>
          <p:cNvSpPr txBox="1"/>
          <p:nvPr/>
        </p:nvSpPr>
        <p:spPr>
          <a:xfrm>
            <a:off x="7281333" y="2374900"/>
            <a:ext cx="4301067" cy="165100"/>
          </a:xfrm>
          <a:prstGeom prst="rect">
            <a:avLst/>
          </a:prstGeom>
          <a:noFill/>
          <a:effectLst/>
        </p:spPr>
        <p:txBody>
          <a:bodyPr wrap="square" lIns="0" rIns="0" tIns="0" bIns="0" anchor="t"/>
          <a:lstStyle/>
          <a:p>
            <a:pPr algn="l">
              <a:lnSpc>
                <a:spcPts val="700"/>
              </a:lnSpc>
            </a:pPr>
            <a:r>
              <a:rPr sz="700" b="1" spc="112" dirty="0">
                <a:solidFill>
                  <a:srgbClr val="8D8D8D"/>
                </a:solidFill>
                <a:latin typeface="Inter"/>
                <a:cs typeface="Inter"/>
              </a:rPr>
              <a:t>CÓMO SE HACE</a:t>
            </a:r>
          </a:p>
        </p:txBody>
      </p:sp>
      <p:cxnSp>
        <p:nvCxnSpPr>
          <p:cNvPr id="32" name="Connector 31"/>
          <p:cNvCxnSpPr/>
          <p:nvPr/>
        </p:nvCxnSpPr>
        <p:spPr>
          <a:xfrm>
            <a:off x="7281333" y="2654300"/>
            <a:ext cx="43010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281333" y="2743200"/>
            <a:ext cx="254000" cy="190500"/>
          </a:xfrm>
          <a:prstGeom prst="rect">
            <a:avLst/>
          </a:prstGeom>
          <a:noFill/>
          <a:effectLst/>
        </p:spPr>
        <p:txBody>
          <a:bodyPr wrap="square" lIns="0" rIns="0" tIns="0" bIns="0" anchor="t"/>
          <a:lstStyle/>
          <a:p>
            <a:pPr algn="l">
              <a:lnSpc>
                <a:spcPts val="900"/>
              </a:lnSpc>
            </a:pPr>
            <a:r>
              <a:rPr sz="900" b="1" dirty="0">
                <a:solidFill>
                  <a:srgbClr val="161616"/>
                </a:solidFill>
                <a:latin typeface="Inter"/>
                <a:cs typeface="Inter"/>
              </a:rPr>
              <a:t>01</a:t>
            </a:r>
          </a:p>
        </p:txBody>
      </p:sp>
      <p:sp>
        <p:nvSpPr>
          <p:cNvPr id="34" name="TextBox 33"/>
          <p:cNvSpPr txBox="1"/>
          <p:nvPr/>
        </p:nvSpPr>
        <p:spPr>
          <a:xfrm>
            <a:off x="7611533" y="2730500"/>
            <a:ext cx="3970867" cy="254000"/>
          </a:xfrm>
          <a:prstGeom prst="rect">
            <a:avLst/>
          </a:prstGeom>
          <a:noFill/>
          <a:effectLst/>
        </p:spPr>
        <p:txBody>
          <a:bodyPr wrap="square" lIns="0" rIns="0" tIns="0" bIns="0" anchor="t"/>
          <a:lstStyle/>
          <a:p>
            <a:pPr algn="l">
              <a:lnSpc>
                <a:spcPts val="1560"/>
              </a:lnSpc>
            </a:pPr>
            <a:r>
              <a:rPr sz="1200" b="0" dirty="0">
                <a:solidFill>
                  <a:srgbClr val="525252"/>
                </a:solidFill>
                <a:latin typeface="Inter"/>
                <a:cs typeface="Inter"/>
              </a:rPr>
              <a:t>3 personas por grupo</a:t>
            </a:r>
          </a:p>
        </p:txBody>
      </p:sp>
      <p:cxnSp>
        <p:nvCxnSpPr>
          <p:cNvPr id="35" name="Connector 34"/>
          <p:cNvCxnSpPr/>
          <p:nvPr/>
        </p:nvCxnSpPr>
        <p:spPr>
          <a:xfrm>
            <a:off x="7281333" y="3124200"/>
            <a:ext cx="43010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281333" y="3213100"/>
            <a:ext cx="254000" cy="190500"/>
          </a:xfrm>
          <a:prstGeom prst="rect">
            <a:avLst/>
          </a:prstGeom>
          <a:noFill/>
          <a:effectLst/>
        </p:spPr>
        <p:txBody>
          <a:bodyPr wrap="square" lIns="0" rIns="0" tIns="0" bIns="0" anchor="t"/>
          <a:lstStyle/>
          <a:p>
            <a:pPr algn="l">
              <a:lnSpc>
                <a:spcPts val="900"/>
              </a:lnSpc>
            </a:pPr>
            <a:r>
              <a:rPr sz="900" b="1" dirty="0">
                <a:solidFill>
                  <a:srgbClr val="161616"/>
                </a:solidFill>
                <a:latin typeface="Inter"/>
                <a:cs typeface="Inter"/>
              </a:rPr>
              <a:t>02</a:t>
            </a:r>
          </a:p>
        </p:txBody>
      </p:sp>
      <p:sp>
        <p:nvSpPr>
          <p:cNvPr id="37" name="TextBox 36"/>
          <p:cNvSpPr txBox="1"/>
          <p:nvPr/>
        </p:nvSpPr>
        <p:spPr>
          <a:xfrm>
            <a:off x="7611533" y="3200400"/>
            <a:ext cx="3970867" cy="254000"/>
          </a:xfrm>
          <a:prstGeom prst="rect">
            <a:avLst/>
          </a:prstGeom>
          <a:noFill/>
          <a:effectLst/>
        </p:spPr>
        <p:txBody>
          <a:bodyPr wrap="square" lIns="0" rIns="0" tIns="0" bIns="0" anchor="t"/>
          <a:lstStyle/>
          <a:p>
            <a:pPr algn="l">
              <a:lnSpc>
                <a:spcPts val="1560"/>
              </a:lnSpc>
            </a:pPr>
            <a:r>
              <a:rPr sz="1200" b="0" dirty="0">
                <a:solidFill>
                  <a:srgbClr val="525252"/>
                </a:solidFill>
                <a:latin typeface="Inter"/>
                <a:cs typeface="Inter"/>
              </a:rPr>
              <a:t>20 min de trabajo</a:t>
            </a:r>
          </a:p>
        </p:txBody>
      </p:sp>
      <p:cxnSp>
        <p:nvCxnSpPr>
          <p:cNvPr id="38" name="Connector 37"/>
          <p:cNvCxnSpPr/>
          <p:nvPr/>
        </p:nvCxnSpPr>
        <p:spPr>
          <a:xfrm>
            <a:off x="7281333" y="3594100"/>
            <a:ext cx="43010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281333" y="3683000"/>
            <a:ext cx="254000" cy="190500"/>
          </a:xfrm>
          <a:prstGeom prst="rect">
            <a:avLst/>
          </a:prstGeom>
          <a:noFill/>
          <a:effectLst/>
        </p:spPr>
        <p:txBody>
          <a:bodyPr wrap="square" lIns="0" rIns="0" tIns="0" bIns="0" anchor="t"/>
          <a:lstStyle/>
          <a:p>
            <a:pPr algn="l">
              <a:lnSpc>
                <a:spcPts val="900"/>
              </a:lnSpc>
            </a:pPr>
            <a:r>
              <a:rPr sz="900" b="1" dirty="0">
                <a:solidFill>
                  <a:srgbClr val="161616"/>
                </a:solidFill>
                <a:latin typeface="Inter"/>
                <a:cs typeface="Inter"/>
              </a:rPr>
              <a:t>03</a:t>
            </a:r>
          </a:p>
        </p:txBody>
      </p:sp>
      <p:sp>
        <p:nvSpPr>
          <p:cNvPr id="40" name="TextBox 39"/>
          <p:cNvSpPr txBox="1"/>
          <p:nvPr/>
        </p:nvSpPr>
        <p:spPr>
          <a:xfrm>
            <a:off x="7611533" y="3670300"/>
            <a:ext cx="3970867" cy="254000"/>
          </a:xfrm>
          <a:prstGeom prst="rect">
            <a:avLst/>
          </a:prstGeom>
          <a:noFill/>
          <a:effectLst/>
        </p:spPr>
        <p:txBody>
          <a:bodyPr wrap="square" lIns="0" rIns="0" tIns="0" bIns="0" anchor="t"/>
          <a:lstStyle/>
          <a:p>
            <a:pPr algn="l">
              <a:lnSpc>
                <a:spcPts val="1560"/>
              </a:lnSpc>
            </a:pPr>
            <a:r>
              <a:rPr sz="1200" b="0" dirty="0">
                <a:solidFill>
                  <a:srgbClr val="525252"/>
                </a:solidFill>
                <a:latin typeface="Inter"/>
                <a:cs typeface="Inter"/>
              </a:rPr>
              <a:t>2 min de puesta en común</a:t>
            </a:r>
          </a:p>
        </p:txBody>
      </p:sp>
      <p:cxnSp>
        <p:nvCxnSpPr>
          <p:cNvPr id="41" name="Connector 40"/>
          <p:cNvCxnSpPr/>
          <p:nvPr/>
        </p:nvCxnSpPr>
        <p:spPr>
          <a:xfrm>
            <a:off x="7281333" y="4064000"/>
            <a:ext cx="4301067"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281333" y="4152900"/>
            <a:ext cx="254000" cy="190500"/>
          </a:xfrm>
          <a:prstGeom prst="rect">
            <a:avLst/>
          </a:prstGeom>
          <a:noFill/>
          <a:effectLst/>
        </p:spPr>
        <p:txBody>
          <a:bodyPr wrap="square" lIns="0" rIns="0" tIns="0" bIns="0" anchor="t"/>
          <a:lstStyle/>
          <a:p>
            <a:pPr algn="l">
              <a:lnSpc>
                <a:spcPts val="900"/>
              </a:lnSpc>
            </a:pPr>
            <a:r>
              <a:rPr sz="900" b="1" dirty="0">
                <a:solidFill>
                  <a:srgbClr val="161616"/>
                </a:solidFill>
                <a:latin typeface="Inter"/>
                <a:cs typeface="Inter"/>
              </a:rPr>
              <a:t>04</a:t>
            </a:r>
          </a:p>
        </p:txBody>
      </p:sp>
      <p:sp>
        <p:nvSpPr>
          <p:cNvPr id="43" name="TextBox 42"/>
          <p:cNvSpPr txBox="1"/>
          <p:nvPr/>
        </p:nvSpPr>
        <p:spPr>
          <a:xfrm>
            <a:off x="7611533" y="4140200"/>
            <a:ext cx="3970867" cy="254000"/>
          </a:xfrm>
          <a:prstGeom prst="rect">
            <a:avLst/>
          </a:prstGeom>
          <a:noFill/>
          <a:effectLst/>
        </p:spPr>
        <p:txBody>
          <a:bodyPr wrap="square" lIns="0" rIns="0" tIns="0" bIns="0" anchor="t"/>
          <a:lstStyle/>
          <a:p>
            <a:pPr algn="l">
              <a:lnSpc>
                <a:spcPts val="1560"/>
              </a:lnSpc>
            </a:pPr>
            <a:r>
              <a:rPr sz="1200" b="0" dirty="0">
                <a:solidFill>
                  <a:srgbClr val="525252"/>
                </a:solidFill>
                <a:latin typeface="Inter"/>
                <a:cs typeface="Inter"/>
              </a:rPr>
              <a:t>Un entregable por grupo</a:t>
            </a:r>
          </a:p>
        </p:txBody>
      </p:sp>
      <p:sp>
        <p:nvSpPr>
          <p:cNvPr id="44" name="Rectangle 43"/>
          <p:cNvSpPr/>
          <p:nvPr/>
        </p:nvSpPr>
        <p:spPr>
          <a:xfrm>
            <a:off x="609600" y="4216400"/>
            <a:ext cx="6316133" cy="762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09600" y="4216400"/>
            <a:ext cx="31750" cy="7620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87400" y="4356100"/>
            <a:ext cx="5960533" cy="4826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cxnSp>
        <p:nvCxnSpPr>
          <p:cNvPr id="47" name="Connector 46"/>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8" name="Freeform 4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52" name="TextBox 5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53" name="TextBox 5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I02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52500"/>
            <a:ext cx="2105152" cy="2159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1200" y="952500"/>
            <a:ext cx="1901952" cy="215900"/>
          </a:xfrm>
          <a:prstGeom prst="rect">
            <a:avLst/>
          </a:prstGeom>
          <a:noFill/>
          <a:effectLst/>
        </p:spPr>
        <p:txBody>
          <a:bodyPr wrap="square" lIns="0" rIns="0" tIns="0" bIns="0" anchor="ctr"/>
          <a:lstStyle/>
          <a:p>
            <a:pPr algn="l">
              <a:lnSpc>
                <a:spcPts val="800"/>
              </a:lnSpc>
            </a:pPr>
            <a:r>
              <a:rPr sz="800" b="1" spc="128" dirty="0">
                <a:solidFill>
                  <a:srgbClr val="FFFFFF"/>
                </a:solidFill>
                <a:latin typeface="Inter"/>
                <a:cs typeface="Inter"/>
              </a:rPr>
              <a:t>QUIZ · PREGUNTA 01 DE 05</a:t>
            </a:r>
          </a:p>
        </p:txBody>
      </p:sp>
      <p:sp>
        <p:nvSpPr>
          <p:cNvPr id="4" name="TextBox 3"/>
          <p:cNvSpPr txBox="1"/>
          <p:nvPr/>
        </p:nvSpPr>
        <p:spPr>
          <a:xfrm>
            <a:off x="609600" y="1422400"/>
            <a:ext cx="8178800" cy="889000"/>
          </a:xfrm>
          <a:prstGeom prst="rect">
            <a:avLst/>
          </a:prstGeom>
          <a:noFill/>
          <a:effectLst/>
        </p:spPr>
        <p:txBody>
          <a:bodyPr wrap="square" lIns="0" rIns="0" tIns="0" bIns="0" anchor="t"/>
          <a:lstStyle/>
          <a:p>
            <a:pPr algn="l">
              <a:lnSpc>
                <a:spcPts val="3520"/>
              </a:lnSpc>
            </a:pPr>
            <a:r>
              <a:rPr sz="3200" b="1" spc="-96" dirty="0">
                <a:solidFill>
                  <a:srgbClr val="161616"/>
                </a:solidFill>
                <a:latin typeface="Inter"/>
                <a:cs typeface="Inter"/>
              </a:rPr>
              <a:t>¿Lorem ipsum dolor sit amet consectetur?</a:t>
            </a:r>
          </a:p>
        </p:txBody>
      </p:sp>
      <p:sp>
        <p:nvSpPr>
          <p:cNvPr id="5" name="Rectangle 4"/>
          <p:cNvSpPr/>
          <p:nvPr/>
        </p:nvSpPr>
        <p:spPr>
          <a:xfrm>
            <a:off x="609600" y="2667000"/>
            <a:ext cx="5391150" cy="698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09600" y="2667000"/>
            <a:ext cx="381000" cy="698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2667000"/>
            <a:ext cx="381000" cy="698500"/>
          </a:xfrm>
          <a:prstGeom prst="rect">
            <a:avLst/>
          </a:prstGeom>
          <a:noFill/>
          <a:effectLst/>
        </p:spPr>
        <p:txBody>
          <a:bodyPr wrap="square" lIns="0" rIns="0" tIns="0" bIns="0" anchor="ctr"/>
          <a:lstStyle/>
          <a:p>
            <a:pPr algn="ctr">
              <a:lnSpc>
                <a:spcPts val="1600"/>
              </a:lnSpc>
            </a:pPr>
            <a:r>
              <a:rPr sz="1600" b="1" dirty="0">
                <a:solidFill>
                  <a:srgbClr val="FFFFFF"/>
                </a:solidFill>
                <a:latin typeface="Inter"/>
                <a:cs typeface="Inter"/>
              </a:rPr>
              <a:t>A</a:t>
            </a:r>
          </a:p>
        </p:txBody>
      </p:sp>
      <p:sp>
        <p:nvSpPr>
          <p:cNvPr id="8" name="TextBox 7"/>
          <p:cNvSpPr txBox="1"/>
          <p:nvPr/>
        </p:nvSpPr>
        <p:spPr>
          <a:xfrm>
            <a:off x="1143000" y="2667000"/>
            <a:ext cx="4692650" cy="698500"/>
          </a:xfrm>
          <a:prstGeom prst="rect">
            <a:avLst/>
          </a:prstGeom>
          <a:noFill/>
          <a:effectLst/>
        </p:spPr>
        <p:txBody>
          <a:bodyPr wrap="square" lIns="0" rIns="0" tIns="0" bIns="0" anchor="ctr"/>
          <a:lstStyle/>
          <a:p>
            <a:pPr algn="l">
              <a:lnSpc>
                <a:spcPts val="1620"/>
              </a:lnSpc>
            </a:pPr>
            <a:r>
              <a:rPr sz="1200" b="0" dirty="0">
                <a:solidFill>
                  <a:srgbClr val="525252"/>
                </a:solidFill>
                <a:latin typeface="Inter"/>
                <a:cs typeface="Inter"/>
              </a:rPr>
              <a:t>Lorem ipsum dolor sit amet, consectetur adipiscing elit</a:t>
            </a:r>
          </a:p>
        </p:txBody>
      </p:sp>
      <p:sp>
        <p:nvSpPr>
          <p:cNvPr id="9" name="Rectangle 8"/>
          <p:cNvSpPr/>
          <p:nvPr/>
        </p:nvSpPr>
        <p:spPr>
          <a:xfrm>
            <a:off x="6191250" y="2667000"/>
            <a:ext cx="5391150" cy="698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191250" y="2667000"/>
            <a:ext cx="381000" cy="698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91250" y="2667000"/>
            <a:ext cx="381000" cy="698500"/>
          </a:xfrm>
          <a:prstGeom prst="rect">
            <a:avLst/>
          </a:prstGeom>
          <a:noFill/>
          <a:effectLst/>
        </p:spPr>
        <p:txBody>
          <a:bodyPr wrap="square" lIns="0" rIns="0" tIns="0" bIns="0" anchor="ctr"/>
          <a:lstStyle/>
          <a:p>
            <a:pPr algn="ctr">
              <a:lnSpc>
                <a:spcPts val="1600"/>
              </a:lnSpc>
            </a:pPr>
            <a:r>
              <a:rPr sz="1600" b="1" dirty="0">
                <a:solidFill>
                  <a:srgbClr val="FFFFFF"/>
                </a:solidFill>
                <a:latin typeface="Inter"/>
                <a:cs typeface="Inter"/>
              </a:rPr>
              <a:t>B</a:t>
            </a:r>
          </a:p>
        </p:txBody>
      </p:sp>
      <p:sp>
        <p:nvSpPr>
          <p:cNvPr id="12" name="TextBox 11"/>
          <p:cNvSpPr txBox="1"/>
          <p:nvPr/>
        </p:nvSpPr>
        <p:spPr>
          <a:xfrm>
            <a:off x="6724650" y="2667000"/>
            <a:ext cx="4692650" cy="698500"/>
          </a:xfrm>
          <a:prstGeom prst="rect">
            <a:avLst/>
          </a:prstGeom>
          <a:noFill/>
          <a:effectLst/>
        </p:spPr>
        <p:txBody>
          <a:bodyPr wrap="square" lIns="0" rIns="0" tIns="0" bIns="0" anchor="ctr"/>
          <a:lstStyle/>
          <a:p>
            <a:pPr algn="l">
              <a:lnSpc>
                <a:spcPts val="1620"/>
              </a:lnSpc>
            </a:pPr>
            <a:r>
              <a:rPr sz="1200" b="0" dirty="0">
                <a:solidFill>
                  <a:srgbClr val="525252"/>
                </a:solidFill>
                <a:latin typeface="Inter"/>
                <a:cs typeface="Inter"/>
              </a:rPr>
              <a:t>Lorem ipsum dolor sit amet, consectetur adipiscing elit</a:t>
            </a:r>
          </a:p>
        </p:txBody>
      </p:sp>
      <p:sp>
        <p:nvSpPr>
          <p:cNvPr id="13" name="Rectangle 12"/>
          <p:cNvSpPr/>
          <p:nvPr/>
        </p:nvSpPr>
        <p:spPr>
          <a:xfrm>
            <a:off x="609600" y="3492500"/>
            <a:ext cx="5391150" cy="698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09600" y="3492500"/>
            <a:ext cx="381000" cy="698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09600" y="3492500"/>
            <a:ext cx="381000" cy="698500"/>
          </a:xfrm>
          <a:prstGeom prst="rect">
            <a:avLst/>
          </a:prstGeom>
          <a:noFill/>
          <a:effectLst/>
        </p:spPr>
        <p:txBody>
          <a:bodyPr wrap="square" lIns="0" rIns="0" tIns="0" bIns="0" anchor="ctr"/>
          <a:lstStyle/>
          <a:p>
            <a:pPr algn="ctr">
              <a:lnSpc>
                <a:spcPts val="1600"/>
              </a:lnSpc>
            </a:pPr>
            <a:r>
              <a:rPr sz="1600" b="1" dirty="0">
                <a:solidFill>
                  <a:srgbClr val="FFFFFF"/>
                </a:solidFill>
                <a:latin typeface="Inter"/>
                <a:cs typeface="Inter"/>
              </a:rPr>
              <a:t>C</a:t>
            </a:r>
          </a:p>
        </p:txBody>
      </p:sp>
      <p:sp>
        <p:nvSpPr>
          <p:cNvPr id="16" name="TextBox 15"/>
          <p:cNvSpPr txBox="1"/>
          <p:nvPr/>
        </p:nvSpPr>
        <p:spPr>
          <a:xfrm>
            <a:off x="1143000" y="3492500"/>
            <a:ext cx="4692650" cy="698500"/>
          </a:xfrm>
          <a:prstGeom prst="rect">
            <a:avLst/>
          </a:prstGeom>
          <a:noFill/>
          <a:effectLst/>
        </p:spPr>
        <p:txBody>
          <a:bodyPr wrap="square" lIns="0" rIns="0" tIns="0" bIns="0" anchor="ctr"/>
          <a:lstStyle/>
          <a:p>
            <a:pPr algn="l">
              <a:lnSpc>
                <a:spcPts val="1620"/>
              </a:lnSpc>
            </a:pPr>
            <a:r>
              <a:rPr sz="1200" b="0" dirty="0">
                <a:solidFill>
                  <a:srgbClr val="525252"/>
                </a:solidFill>
                <a:latin typeface="Inter"/>
                <a:cs typeface="Inter"/>
              </a:rPr>
              <a:t>Lorem ipsum dolor sit amet, consectetur adipiscing elit</a:t>
            </a:r>
          </a:p>
        </p:txBody>
      </p:sp>
      <p:sp>
        <p:nvSpPr>
          <p:cNvPr id="17" name="Rectangle 16"/>
          <p:cNvSpPr/>
          <p:nvPr/>
        </p:nvSpPr>
        <p:spPr>
          <a:xfrm>
            <a:off x="6191250" y="3492500"/>
            <a:ext cx="5391150" cy="698500"/>
          </a:xfrm>
          <a:prstGeom prst="rect">
            <a:avLst/>
          </a:prstGeom>
          <a:no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191250" y="3492500"/>
            <a:ext cx="381000" cy="6985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191250" y="3492500"/>
            <a:ext cx="381000" cy="698500"/>
          </a:xfrm>
          <a:prstGeom prst="rect">
            <a:avLst/>
          </a:prstGeom>
          <a:noFill/>
          <a:effectLst/>
        </p:spPr>
        <p:txBody>
          <a:bodyPr wrap="square" lIns="0" rIns="0" tIns="0" bIns="0" anchor="ctr"/>
          <a:lstStyle/>
          <a:p>
            <a:pPr algn="ctr">
              <a:lnSpc>
                <a:spcPts val="1600"/>
              </a:lnSpc>
            </a:pPr>
            <a:r>
              <a:rPr sz="1600" b="1" dirty="0">
                <a:solidFill>
                  <a:srgbClr val="FFFFFF"/>
                </a:solidFill>
                <a:latin typeface="Inter"/>
                <a:cs typeface="Inter"/>
              </a:rPr>
              <a:t>D</a:t>
            </a:r>
          </a:p>
        </p:txBody>
      </p:sp>
      <p:sp>
        <p:nvSpPr>
          <p:cNvPr id="20" name="TextBox 19"/>
          <p:cNvSpPr txBox="1"/>
          <p:nvPr/>
        </p:nvSpPr>
        <p:spPr>
          <a:xfrm>
            <a:off x="6724650" y="3492500"/>
            <a:ext cx="4692650" cy="698500"/>
          </a:xfrm>
          <a:prstGeom prst="rect">
            <a:avLst/>
          </a:prstGeom>
          <a:noFill/>
          <a:effectLst/>
        </p:spPr>
        <p:txBody>
          <a:bodyPr wrap="square" lIns="0" rIns="0" tIns="0" bIns="0" anchor="ctr"/>
          <a:lstStyle/>
          <a:p>
            <a:pPr algn="l">
              <a:lnSpc>
                <a:spcPts val="1620"/>
              </a:lnSpc>
            </a:pPr>
            <a:r>
              <a:rPr sz="1200" b="0" dirty="0">
                <a:solidFill>
                  <a:srgbClr val="525252"/>
                </a:solidFill>
                <a:latin typeface="Inter"/>
                <a:cs typeface="Inter"/>
              </a:rPr>
              <a:t>Lorem ipsum dolor sit amet, consectetur adipiscing elit</a:t>
            </a:r>
          </a:p>
        </p:txBody>
      </p:sp>
      <p:sp>
        <p:nvSpPr>
          <p:cNvPr id="21" name="TextBox 20"/>
          <p:cNvSpPr txBox="1"/>
          <p:nvPr/>
        </p:nvSpPr>
        <p:spPr>
          <a:xfrm>
            <a:off x="609600" y="4508500"/>
            <a:ext cx="5384800" cy="254000"/>
          </a:xfrm>
          <a:prstGeom prst="rect">
            <a:avLst/>
          </a:prstGeom>
          <a:noFill/>
          <a:effectLst/>
        </p:spPr>
        <p:txBody>
          <a:bodyPr wrap="square" lIns="0" rIns="0" tIns="0" bIns="0" anchor="t"/>
          <a:lstStyle/>
          <a:p>
            <a:pPr algn="l">
              <a:lnSpc>
                <a:spcPts val="1560"/>
              </a:lnSpc>
            </a:pPr>
            <a:r>
              <a:rPr sz="1200" b="0" dirty="0">
                <a:solidFill>
                  <a:srgbClr val="6F6F6F"/>
                </a:solidFill>
                <a:latin typeface="Inter"/>
                <a:cs typeface="Inter"/>
              </a:rPr>
              <a:t>Responde en el chat con la letra.</a:t>
            </a:r>
          </a:p>
        </p:txBody>
      </p:sp>
      <p:cxnSp>
        <p:nvCxnSpPr>
          <p:cNvPr id="22" name="Connector 2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27" name="TextBox 2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28" name="TextBox 2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I03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PLANTILLA A RELLENAR</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2528824"/>
            <a:ext cx="19050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CAMPO 01</a:t>
            </a:r>
          </a:p>
        </p:txBody>
      </p:sp>
      <p:sp>
        <p:nvSpPr>
          <p:cNvPr id="21" name="Rectangle 20"/>
          <p:cNvSpPr/>
          <p:nvPr/>
        </p:nvSpPr>
        <p:spPr>
          <a:xfrm>
            <a:off x="609600" y="2732024"/>
            <a:ext cx="6316133" cy="381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2" name="Connector 21"/>
          <p:cNvCxnSpPr/>
          <p:nvPr/>
        </p:nvCxnSpPr>
        <p:spPr>
          <a:xfrm>
            <a:off x="609600" y="3113024"/>
            <a:ext cx="6316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600" y="3392424"/>
            <a:ext cx="19050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CAMPO 02</a:t>
            </a:r>
          </a:p>
        </p:txBody>
      </p:sp>
      <p:sp>
        <p:nvSpPr>
          <p:cNvPr id="24" name="Rectangle 23"/>
          <p:cNvSpPr/>
          <p:nvPr/>
        </p:nvSpPr>
        <p:spPr>
          <a:xfrm>
            <a:off x="609600" y="3595624"/>
            <a:ext cx="6316133" cy="381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5" name="Connector 24"/>
          <p:cNvCxnSpPr/>
          <p:nvPr/>
        </p:nvCxnSpPr>
        <p:spPr>
          <a:xfrm>
            <a:off x="609600" y="3976624"/>
            <a:ext cx="6316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09600" y="4256024"/>
            <a:ext cx="19050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CAMPO 03</a:t>
            </a:r>
          </a:p>
        </p:txBody>
      </p:sp>
      <p:sp>
        <p:nvSpPr>
          <p:cNvPr id="27" name="Rectangle 26"/>
          <p:cNvSpPr/>
          <p:nvPr/>
        </p:nvSpPr>
        <p:spPr>
          <a:xfrm>
            <a:off x="609600" y="4459224"/>
            <a:ext cx="6316133" cy="762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8" name="Connector 27"/>
          <p:cNvCxnSpPr/>
          <p:nvPr/>
        </p:nvCxnSpPr>
        <p:spPr>
          <a:xfrm>
            <a:off x="609600" y="5221224"/>
            <a:ext cx="6316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5500624"/>
            <a:ext cx="19050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CAMPO 04</a:t>
            </a:r>
          </a:p>
        </p:txBody>
      </p:sp>
      <p:sp>
        <p:nvSpPr>
          <p:cNvPr id="30" name="Rectangle 29"/>
          <p:cNvSpPr/>
          <p:nvPr/>
        </p:nvSpPr>
        <p:spPr>
          <a:xfrm>
            <a:off x="609600" y="5703824"/>
            <a:ext cx="6316133" cy="381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1" name="Connector 30"/>
          <p:cNvCxnSpPr/>
          <p:nvPr/>
        </p:nvCxnSpPr>
        <p:spPr>
          <a:xfrm>
            <a:off x="609600" y="6084824"/>
            <a:ext cx="6316133"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2" name="sombra"/>
          <p:cNvSpPr/>
          <p:nvPr/>
        </p:nvSpPr>
        <p:spPr>
          <a:xfrm>
            <a:off x="8301567" y="2617724"/>
            <a:ext cx="3280833" cy="1905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212667" y="2528824"/>
            <a:ext cx="3280833" cy="1905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403167" y="2706624"/>
            <a:ext cx="2988733"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EJEMPLO RELLENO</a:t>
            </a:r>
          </a:p>
        </p:txBody>
      </p:sp>
      <p:sp>
        <p:nvSpPr>
          <p:cNvPr id="35" name="TextBox 34"/>
          <p:cNvSpPr txBox="1"/>
          <p:nvPr/>
        </p:nvSpPr>
        <p:spPr>
          <a:xfrm>
            <a:off x="8403167" y="2973324"/>
            <a:ext cx="2988733" cy="1270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36" name="TextBox 35"/>
          <p:cNvSpPr txBox="1"/>
          <p:nvPr/>
        </p:nvSpPr>
        <p:spPr>
          <a:xfrm>
            <a:off x="8212667" y="4687824"/>
            <a:ext cx="3369733" cy="381000"/>
          </a:xfrm>
          <a:prstGeom prst="rect">
            <a:avLst/>
          </a:prstGeom>
          <a:noFill/>
          <a:effectLst/>
        </p:spPr>
        <p:txBody>
          <a:bodyPr wrap="square" lIns="0" rIns="0" tIns="0" bIns="0" anchor="t"/>
          <a:lstStyle/>
          <a:p>
            <a:pPr algn="l">
              <a:lnSpc>
                <a:spcPts val="1260"/>
              </a:lnSpc>
            </a:pPr>
            <a:r>
              <a:rPr sz="900" b="0" dirty="0">
                <a:solidFill>
                  <a:srgbClr val="6F6F6F"/>
                </a:solidFill>
                <a:latin typeface="Inter"/>
                <a:cs typeface="Inter"/>
              </a:rPr>
              <a:t>Descarga la plantilla en Classroom.</a:t>
            </a:r>
          </a:p>
        </p:txBody>
      </p:sp>
      <p:cxnSp>
        <p:nvCxnSpPr>
          <p:cNvPr id="37" name="Connector 36"/>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2" name="TextBox 4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3" name="TextBox 4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I04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ERRORES COMUNES</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09600" y="2089912"/>
            <a:ext cx="3530600" cy="571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9300" y="2089912"/>
            <a:ext cx="254000" cy="571500"/>
          </a:xfrm>
          <a:prstGeom prst="rect">
            <a:avLst/>
          </a:prstGeom>
          <a:noFill/>
          <a:effectLst/>
        </p:spPr>
        <p:txBody>
          <a:bodyPr wrap="square" lIns="0" rIns="0" tIns="0" bIns="0" anchor="ctr"/>
          <a:lstStyle/>
          <a:p>
            <a:pPr algn="l">
              <a:lnSpc>
                <a:spcPts val="1500"/>
              </a:lnSpc>
            </a:pPr>
            <a:r>
              <a:rPr sz="1500" b="1" dirty="0">
                <a:solidFill>
                  <a:srgbClr val="8D8D8D"/>
                </a:solidFill>
                <a:latin typeface="Inter"/>
                <a:cs typeface="Inter"/>
              </a:rPr>
              <a:t>×</a:t>
            </a:r>
          </a:p>
        </p:txBody>
      </p:sp>
      <p:sp>
        <p:nvSpPr>
          <p:cNvPr id="22" name="TextBox 21"/>
          <p:cNvSpPr txBox="1"/>
          <p:nvPr/>
        </p:nvSpPr>
        <p:spPr>
          <a:xfrm>
            <a:off x="1003300" y="2089912"/>
            <a:ext cx="2997200" cy="571500"/>
          </a:xfrm>
          <a:prstGeom prst="rect">
            <a:avLst/>
          </a:prstGeom>
          <a:noFill/>
          <a:effectLst/>
        </p:spPr>
        <p:txBody>
          <a:bodyPr wrap="square" lIns="0" rIns="0" tIns="0" bIns="0" anchor="ctr"/>
          <a:lstStyle/>
          <a:p>
            <a:pPr algn="l">
              <a:lnSpc>
                <a:spcPts val="700"/>
              </a:lnSpc>
            </a:pPr>
            <a:r>
              <a:rPr sz="700" b="1" spc="98" dirty="0">
                <a:solidFill>
                  <a:srgbClr val="6F6F6F"/>
                </a:solidFill>
                <a:latin typeface="Inter"/>
                <a:cs typeface="Inter"/>
              </a:rPr>
              <a:t>ERROR 01</a:t>
            </a:r>
          </a:p>
        </p:txBody>
      </p:sp>
      <p:sp>
        <p:nvSpPr>
          <p:cNvPr id="23" name="TextBox 22"/>
          <p:cNvSpPr txBox="1"/>
          <p:nvPr/>
        </p:nvSpPr>
        <p:spPr>
          <a:xfrm>
            <a:off x="609600" y="2826512"/>
            <a:ext cx="3530600" cy="5715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Lorem ipsum dolor sit amet, consectetur adipiscing.</a:t>
            </a:r>
          </a:p>
        </p:txBody>
      </p:sp>
      <p:cxnSp>
        <p:nvCxnSpPr>
          <p:cNvPr id="24" name="Connector 23"/>
          <p:cNvCxnSpPr/>
          <p:nvPr/>
        </p:nvCxnSpPr>
        <p:spPr>
          <a:xfrm>
            <a:off x="609600" y="3613912"/>
            <a:ext cx="3530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9600" y="3740912"/>
            <a:ext cx="3530600"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EN SU LUGAR</a:t>
            </a:r>
          </a:p>
        </p:txBody>
      </p:sp>
      <p:sp>
        <p:nvSpPr>
          <p:cNvPr id="26" name="TextBox 25"/>
          <p:cNvSpPr txBox="1"/>
          <p:nvPr/>
        </p:nvSpPr>
        <p:spPr>
          <a:xfrm>
            <a:off x="609600" y="3969512"/>
            <a:ext cx="3530600" cy="889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7" name="Rectangle 26"/>
          <p:cNvSpPr/>
          <p:nvPr/>
        </p:nvSpPr>
        <p:spPr>
          <a:xfrm>
            <a:off x="4330700" y="2089912"/>
            <a:ext cx="3530600" cy="571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470400" y="2089912"/>
            <a:ext cx="254000" cy="571500"/>
          </a:xfrm>
          <a:prstGeom prst="rect">
            <a:avLst/>
          </a:prstGeom>
          <a:noFill/>
          <a:effectLst/>
        </p:spPr>
        <p:txBody>
          <a:bodyPr wrap="square" lIns="0" rIns="0" tIns="0" bIns="0" anchor="ctr"/>
          <a:lstStyle/>
          <a:p>
            <a:pPr algn="l">
              <a:lnSpc>
                <a:spcPts val="1500"/>
              </a:lnSpc>
            </a:pPr>
            <a:r>
              <a:rPr sz="1500" b="1" dirty="0">
                <a:solidFill>
                  <a:srgbClr val="8D8D8D"/>
                </a:solidFill>
                <a:latin typeface="Inter"/>
                <a:cs typeface="Inter"/>
              </a:rPr>
              <a:t>×</a:t>
            </a:r>
          </a:p>
        </p:txBody>
      </p:sp>
      <p:sp>
        <p:nvSpPr>
          <p:cNvPr id="29" name="TextBox 28"/>
          <p:cNvSpPr txBox="1"/>
          <p:nvPr/>
        </p:nvSpPr>
        <p:spPr>
          <a:xfrm>
            <a:off x="4724400" y="2089912"/>
            <a:ext cx="2997200" cy="571500"/>
          </a:xfrm>
          <a:prstGeom prst="rect">
            <a:avLst/>
          </a:prstGeom>
          <a:noFill/>
          <a:effectLst/>
        </p:spPr>
        <p:txBody>
          <a:bodyPr wrap="square" lIns="0" rIns="0" tIns="0" bIns="0" anchor="ctr"/>
          <a:lstStyle/>
          <a:p>
            <a:pPr algn="l">
              <a:lnSpc>
                <a:spcPts val="700"/>
              </a:lnSpc>
            </a:pPr>
            <a:r>
              <a:rPr sz="700" b="1" spc="98" dirty="0">
                <a:solidFill>
                  <a:srgbClr val="6F6F6F"/>
                </a:solidFill>
                <a:latin typeface="Inter"/>
                <a:cs typeface="Inter"/>
              </a:rPr>
              <a:t>ERROR 02</a:t>
            </a:r>
          </a:p>
        </p:txBody>
      </p:sp>
      <p:sp>
        <p:nvSpPr>
          <p:cNvPr id="30" name="TextBox 29"/>
          <p:cNvSpPr txBox="1"/>
          <p:nvPr/>
        </p:nvSpPr>
        <p:spPr>
          <a:xfrm>
            <a:off x="4330700" y="2826512"/>
            <a:ext cx="3530600" cy="5715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Lorem ipsum dolor sit amet, consectetur adipiscing.</a:t>
            </a:r>
          </a:p>
        </p:txBody>
      </p:sp>
      <p:cxnSp>
        <p:nvCxnSpPr>
          <p:cNvPr id="31" name="Connector 30"/>
          <p:cNvCxnSpPr/>
          <p:nvPr/>
        </p:nvCxnSpPr>
        <p:spPr>
          <a:xfrm>
            <a:off x="4330700" y="3613912"/>
            <a:ext cx="3530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330700" y="3740912"/>
            <a:ext cx="3530600"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EN SU LUGAR</a:t>
            </a:r>
          </a:p>
        </p:txBody>
      </p:sp>
      <p:sp>
        <p:nvSpPr>
          <p:cNvPr id="33" name="TextBox 32"/>
          <p:cNvSpPr txBox="1"/>
          <p:nvPr/>
        </p:nvSpPr>
        <p:spPr>
          <a:xfrm>
            <a:off x="4330700" y="3969512"/>
            <a:ext cx="3530600" cy="889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34" name="Rectangle 33"/>
          <p:cNvSpPr/>
          <p:nvPr/>
        </p:nvSpPr>
        <p:spPr>
          <a:xfrm>
            <a:off x="8051800" y="2089912"/>
            <a:ext cx="3530600" cy="571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191500" y="2089912"/>
            <a:ext cx="254000" cy="571500"/>
          </a:xfrm>
          <a:prstGeom prst="rect">
            <a:avLst/>
          </a:prstGeom>
          <a:noFill/>
          <a:effectLst/>
        </p:spPr>
        <p:txBody>
          <a:bodyPr wrap="square" lIns="0" rIns="0" tIns="0" bIns="0" anchor="ctr"/>
          <a:lstStyle/>
          <a:p>
            <a:pPr algn="l">
              <a:lnSpc>
                <a:spcPts val="1500"/>
              </a:lnSpc>
            </a:pPr>
            <a:r>
              <a:rPr sz="1500" b="1" dirty="0">
                <a:solidFill>
                  <a:srgbClr val="8D8D8D"/>
                </a:solidFill>
                <a:latin typeface="Inter"/>
                <a:cs typeface="Inter"/>
              </a:rPr>
              <a:t>×</a:t>
            </a:r>
          </a:p>
        </p:txBody>
      </p:sp>
      <p:sp>
        <p:nvSpPr>
          <p:cNvPr id="36" name="TextBox 35"/>
          <p:cNvSpPr txBox="1"/>
          <p:nvPr/>
        </p:nvSpPr>
        <p:spPr>
          <a:xfrm>
            <a:off x="8445500" y="2089912"/>
            <a:ext cx="2997200" cy="571500"/>
          </a:xfrm>
          <a:prstGeom prst="rect">
            <a:avLst/>
          </a:prstGeom>
          <a:noFill/>
          <a:effectLst/>
        </p:spPr>
        <p:txBody>
          <a:bodyPr wrap="square" lIns="0" rIns="0" tIns="0" bIns="0" anchor="ctr"/>
          <a:lstStyle/>
          <a:p>
            <a:pPr algn="l">
              <a:lnSpc>
                <a:spcPts val="700"/>
              </a:lnSpc>
            </a:pPr>
            <a:r>
              <a:rPr sz="700" b="1" spc="98" dirty="0">
                <a:solidFill>
                  <a:srgbClr val="6F6F6F"/>
                </a:solidFill>
                <a:latin typeface="Inter"/>
                <a:cs typeface="Inter"/>
              </a:rPr>
              <a:t>ERROR 03</a:t>
            </a:r>
          </a:p>
        </p:txBody>
      </p:sp>
      <p:sp>
        <p:nvSpPr>
          <p:cNvPr id="37" name="TextBox 36"/>
          <p:cNvSpPr txBox="1"/>
          <p:nvPr/>
        </p:nvSpPr>
        <p:spPr>
          <a:xfrm>
            <a:off x="8051800" y="2826512"/>
            <a:ext cx="3530600" cy="5715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Lorem ipsum dolor sit amet, consectetur adipiscing.</a:t>
            </a:r>
          </a:p>
        </p:txBody>
      </p:sp>
      <p:cxnSp>
        <p:nvCxnSpPr>
          <p:cNvPr id="38" name="Connector 37"/>
          <p:cNvCxnSpPr/>
          <p:nvPr/>
        </p:nvCxnSpPr>
        <p:spPr>
          <a:xfrm>
            <a:off x="8051800" y="3613912"/>
            <a:ext cx="3530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051800" y="3740912"/>
            <a:ext cx="3530600" cy="165100"/>
          </a:xfrm>
          <a:prstGeom prst="rect">
            <a:avLst/>
          </a:prstGeom>
          <a:noFill/>
          <a:effectLst/>
        </p:spPr>
        <p:txBody>
          <a:bodyPr wrap="square" lIns="0" rIns="0" tIns="0" bIns="0" anchor="t"/>
          <a:lstStyle/>
          <a:p>
            <a:pPr algn="l">
              <a:lnSpc>
                <a:spcPts val="700"/>
              </a:lnSpc>
            </a:pPr>
            <a:r>
              <a:rPr sz="700" b="1" spc="98" dirty="0">
                <a:solidFill>
                  <a:srgbClr val="5B4BF5"/>
                </a:solidFill>
                <a:latin typeface="Inter"/>
                <a:cs typeface="Inter"/>
              </a:rPr>
              <a:t>EN SU LUGAR</a:t>
            </a:r>
          </a:p>
        </p:txBody>
      </p:sp>
      <p:sp>
        <p:nvSpPr>
          <p:cNvPr id="40" name="TextBox 39"/>
          <p:cNvSpPr txBox="1"/>
          <p:nvPr/>
        </p:nvSpPr>
        <p:spPr>
          <a:xfrm>
            <a:off x="8051800" y="3969512"/>
            <a:ext cx="3530600" cy="8890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 sed do eiusmod tempor incididunt ut labore et dolore magna aliqua.</a:t>
            </a:r>
          </a:p>
        </p:txBody>
      </p:sp>
      <p:cxnSp>
        <p:nvCxnSpPr>
          <p:cNvPr id="41" name="Connector 40"/>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6" name="TextBox 45"/>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7" name="TextBox 46"/>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I05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6103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5875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PARTE 4 · CATÁLOGO DE PLANTILLAS</a:t>
            </a:r>
          </a:p>
        </p:txBody>
      </p:sp>
      <p:sp>
        <p:nvSpPr>
          <p:cNvPr id="5" name="TextBox 4"/>
          <p:cNvSpPr txBox="1"/>
          <p:nvPr/>
        </p:nvSpPr>
        <p:spPr>
          <a:xfrm>
            <a:off x="609600" y="1866900"/>
            <a:ext cx="5384800" cy="672592"/>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Cierre</a:t>
            </a:r>
          </a:p>
        </p:txBody>
      </p:sp>
      <p:cxnSp>
        <p:nvCxnSpPr>
          <p:cNvPr id="6" name="Connector 5"/>
          <p:cNvCxnSpPr/>
          <p:nvPr/>
        </p:nvCxnSpPr>
        <p:spPr>
          <a:xfrm>
            <a:off x="609600" y="2692400"/>
            <a:ext cx="762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921000"/>
            <a:ext cx="4453467" cy="571500"/>
          </a:xfrm>
          <a:prstGeom prst="rect">
            <a:avLst/>
          </a:prstGeom>
          <a:noFill/>
          <a:effectLst/>
        </p:spPr>
        <p:txBody>
          <a:bodyPr wrap="square" lIns="0" rIns="0" tIns="0" bIns="0" anchor="t"/>
          <a:lstStyle/>
          <a:p>
            <a:pPr algn="l">
              <a:lnSpc>
                <a:spcPts val="2030"/>
              </a:lnSpc>
            </a:pPr>
            <a:r>
              <a:rPr sz="1400" b="0" dirty="0">
                <a:solidFill>
                  <a:srgbClr val="D2D2D2"/>
                </a:solidFill>
                <a:latin typeface="Inter"/>
                <a:cs typeface="Inter"/>
              </a:rPr>
              <a:t>Resumir, mandar tarea y salir con una acción concreta.</a:t>
            </a:r>
          </a:p>
        </p:txBody>
      </p:sp>
      <p:sp>
        <p:nvSpPr>
          <p:cNvPr id="8" name="TextBox 7"/>
          <p:cNvSpPr txBox="1"/>
          <p:nvPr/>
        </p:nvSpPr>
        <p:spPr>
          <a:xfrm>
            <a:off x="609600" y="3746500"/>
            <a:ext cx="4453467" cy="254000"/>
          </a:xfrm>
          <a:prstGeom prst="rect">
            <a:avLst/>
          </a:prstGeom>
          <a:noFill/>
          <a:effectLst/>
        </p:spPr>
        <p:txBody>
          <a:bodyPr wrap="square" lIns="0" rIns="0" tIns="0" bIns="0" anchor="t"/>
          <a:lstStyle/>
          <a:p>
            <a:pPr algn="l">
              <a:lnSpc>
                <a:spcPts val="700"/>
              </a:lnSpc>
            </a:pPr>
            <a:r>
              <a:rPr sz="700" b="1" spc="112" dirty="0">
                <a:solidFill>
                  <a:srgbClr val="8C8C8C"/>
                </a:solidFill>
                <a:latin typeface="Inter"/>
                <a:cs typeface="Inter"/>
              </a:rPr>
              <a:t>3 PLANTILLAS · I06–I08</a:t>
            </a:r>
          </a:p>
        </p:txBody>
      </p:sp>
      <p:sp>
        <p:nvSpPr>
          <p:cNvPr id="9" name="TextBox 8"/>
          <p:cNvSpPr txBox="1"/>
          <p:nvPr/>
        </p:nvSpPr>
        <p:spPr>
          <a:xfrm>
            <a:off x="558800" y="4064000"/>
            <a:ext cx="5715000" cy="1587500"/>
          </a:xfrm>
          <a:prstGeom prst="rect">
            <a:avLst/>
          </a:prstGeom>
          <a:noFill/>
          <a:effectLst/>
        </p:spPr>
        <p:txBody>
          <a:bodyPr wrap="square" lIns="0" rIns="0" tIns="0" bIns="0" anchor="t"/>
          <a:lstStyle/>
          <a:p>
            <a:pPr algn="l">
              <a:lnSpc>
                <a:spcPts val="10500"/>
              </a:lnSpc>
            </a:pPr>
            <a:r>
              <a:rPr sz="10500" b="1" spc="-420" dirty="0">
                <a:solidFill>
                  <a:srgbClr val="2C2C2C"/>
                </a:solidFill>
                <a:latin typeface="Inter"/>
                <a:cs typeface="Inter"/>
              </a:rPr>
              <a:t>I06</a:t>
            </a:r>
          </a:p>
        </p:txBody>
      </p:sp>
      <p:cxnSp>
        <p:nvCxnSpPr>
          <p:cNvPr id="10" name="Connector 9"/>
          <p:cNvCxnSpPr/>
          <p:nvPr/>
        </p:nvCxnSpPr>
        <p:spPr>
          <a:xfrm>
            <a:off x="7128933" y="16510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28933" y="17399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I06</a:t>
            </a:r>
          </a:p>
        </p:txBody>
      </p:sp>
      <p:sp>
        <p:nvSpPr>
          <p:cNvPr id="12" name="TextBox 11"/>
          <p:cNvSpPr txBox="1"/>
          <p:nvPr/>
        </p:nvSpPr>
        <p:spPr>
          <a:xfrm>
            <a:off x="7636933" y="17272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Resumen del bloque</a:t>
            </a:r>
          </a:p>
        </p:txBody>
      </p:sp>
      <p:cxnSp>
        <p:nvCxnSpPr>
          <p:cNvPr id="13" name="Connector 12"/>
          <p:cNvCxnSpPr/>
          <p:nvPr/>
        </p:nvCxnSpPr>
        <p:spPr>
          <a:xfrm>
            <a:off x="7128933" y="20066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28933" y="20955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I07</a:t>
            </a:r>
          </a:p>
        </p:txBody>
      </p:sp>
      <p:sp>
        <p:nvSpPr>
          <p:cNvPr id="15" name="TextBox 14"/>
          <p:cNvSpPr txBox="1"/>
          <p:nvPr/>
        </p:nvSpPr>
        <p:spPr>
          <a:xfrm>
            <a:off x="7636933" y="20828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Tarea con plazo</a:t>
            </a:r>
          </a:p>
        </p:txBody>
      </p:sp>
      <p:cxnSp>
        <p:nvCxnSpPr>
          <p:cNvPr id="16" name="Connector 15"/>
          <p:cNvCxnSpPr/>
          <p:nvPr/>
        </p:nvCxnSpPr>
        <p:spPr>
          <a:xfrm>
            <a:off x="7128933" y="2362200"/>
            <a:ext cx="4453467"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28933" y="2451100"/>
            <a:ext cx="444500" cy="165100"/>
          </a:xfrm>
          <a:prstGeom prst="rect">
            <a:avLst/>
          </a:prstGeom>
          <a:noFill/>
          <a:effectLst/>
        </p:spPr>
        <p:txBody>
          <a:bodyPr wrap="square" lIns="0" rIns="0" tIns="0" bIns="0" anchor="t"/>
          <a:lstStyle/>
          <a:p>
            <a:pPr algn="l">
              <a:lnSpc>
                <a:spcPts val="900"/>
              </a:lnSpc>
            </a:pPr>
            <a:r>
              <a:rPr sz="900" b="1" spc="36" dirty="0">
                <a:solidFill>
                  <a:srgbClr val="5B4BF5"/>
                </a:solidFill>
                <a:latin typeface="Inter"/>
                <a:cs typeface="Inter"/>
              </a:rPr>
              <a:t>I08</a:t>
            </a:r>
          </a:p>
        </p:txBody>
      </p:sp>
      <p:sp>
        <p:nvSpPr>
          <p:cNvPr id="18" name="TextBox 17"/>
          <p:cNvSpPr txBox="1"/>
          <p:nvPr/>
        </p:nvSpPr>
        <p:spPr>
          <a:xfrm>
            <a:off x="7636933" y="2438400"/>
            <a:ext cx="3945467" cy="317500"/>
          </a:xfrm>
          <a:prstGeom prst="rect">
            <a:avLst/>
          </a:prstGeom>
          <a:noFill/>
          <a:effectLst/>
        </p:spPr>
        <p:txBody>
          <a:bodyPr wrap="square" lIns="0" rIns="0" tIns="0" bIns="0" anchor="t"/>
          <a:lstStyle/>
          <a:p>
            <a:pPr algn="l">
              <a:lnSpc>
                <a:spcPts val="1080"/>
              </a:lnSpc>
            </a:pPr>
            <a:r>
              <a:rPr sz="900" b="0" dirty="0">
                <a:solidFill>
                  <a:srgbClr val="D2D2D2"/>
                </a:solidFill>
                <a:latin typeface="Inter"/>
                <a:cs typeface="Inter"/>
              </a:rPr>
              <a:t>Cierre y siguiente paso</a:t>
            </a:r>
          </a:p>
        </p:txBody>
      </p:sp>
      <p:cxnSp>
        <p:nvCxnSpPr>
          <p:cNvPr id="19" name="Connector 18"/>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24" name="TextBox 23"/>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FAMILIA I</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RESUMEN DEL BLOQUE</a:t>
            </a:r>
          </a:p>
        </p:txBody>
      </p:sp>
      <p:sp>
        <p:nvSpPr>
          <p:cNvPr id="4" name="TextBox 3"/>
          <p:cNvSpPr txBox="1"/>
          <p:nvPr/>
        </p:nvSpPr>
        <p:spPr>
          <a:xfrm>
            <a:off x="609600" y="1181100"/>
            <a:ext cx="8178800" cy="481584"/>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531112"/>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1810512"/>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1810512"/>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2089912"/>
            <a:ext cx="3530600" cy="698500"/>
          </a:xfrm>
          <a:prstGeom prst="rect">
            <a:avLst/>
          </a:prstGeom>
          <a:noFill/>
          <a:effectLst/>
        </p:spPr>
        <p:txBody>
          <a:bodyPr wrap="square" lIns="0" rIns="0" tIns="0" bIns="0" anchor="t"/>
          <a:lstStyle/>
          <a:p>
            <a:pPr algn="l">
              <a:lnSpc>
                <a:spcPts val="4500"/>
              </a:lnSpc>
            </a:pPr>
            <a:r>
              <a:rPr sz="4500" b="1" spc="-180" dirty="0">
                <a:solidFill>
                  <a:srgbClr val="5B4BF5"/>
                </a:solidFill>
                <a:latin typeface="Inter"/>
                <a:cs typeface="Inter"/>
              </a:rPr>
              <a:t>01</a:t>
            </a:r>
          </a:p>
        </p:txBody>
      </p:sp>
      <p:cxnSp>
        <p:nvCxnSpPr>
          <p:cNvPr id="21" name="Connector 20"/>
          <p:cNvCxnSpPr/>
          <p:nvPr/>
        </p:nvCxnSpPr>
        <p:spPr>
          <a:xfrm>
            <a:off x="609600" y="2915412"/>
            <a:ext cx="3530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09600" y="3067812"/>
            <a:ext cx="3530600" cy="635000"/>
          </a:xfrm>
          <a:prstGeom prst="rect">
            <a:avLst/>
          </a:prstGeom>
          <a:noFill/>
          <a:effectLst/>
        </p:spPr>
        <p:txBody>
          <a:bodyPr wrap="square" lIns="0" rIns="0" tIns="0" bIns="0" anchor="t"/>
          <a:lstStyle/>
          <a:p>
            <a:pPr algn="l">
              <a:lnSpc>
                <a:spcPts val="1920"/>
              </a:lnSpc>
            </a:pPr>
            <a:r>
              <a:rPr sz="1600" b="1" spc="-32" dirty="0">
                <a:solidFill>
                  <a:srgbClr val="161616"/>
                </a:solidFill>
                <a:latin typeface="Inter"/>
                <a:cs typeface="Inter"/>
              </a:rPr>
              <a:t>Lorem Ipsum Dolor</a:t>
            </a:r>
          </a:p>
        </p:txBody>
      </p:sp>
      <p:sp>
        <p:nvSpPr>
          <p:cNvPr id="23" name="TextBox 22"/>
          <p:cNvSpPr txBox="1"/>
          <p:nvPr/>
        </p:nvSpPr>
        <p:spPr>
          <a:xfrm>
            <a:off x="609600" y="3766312"/>
            <a:ext cx="3530600" cy="1016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4" name="TextBox 23"/>
          <p:cNvSpPr txBox="1"/>
          <p:nvPr/>
        </p:nvSpPr>
        <p:spPr>
          <a:xfrm>
            <a:off x="4330700" y="2089912"/>
            <a:ext cx="3530600" cy="698500"/>
          </a:xfrm>
          <a:prstGeom prst="rect">
            <a:avLst/>
          </a:prstGeom>
          <a:noFill/>
          <a:effectLst/>
        </p:spPr>
        <p:txBody>
          <a:bodyPr wrap="square" lIns="0" rIns="0" tIns="0" bIns="0" anchor="t"/>
          <a:lstStyle/>
          <a:p>
            <a:pPr algn="l">
              <a:lnSpc>
                <a:spcPts val="4500"/>
              </a:lnSpc>
            </a:pPr>
            <a:r>
              <a:rPr sz="4500" b="1" spc="-180" dirty="0">
                <a:solidFill>
                  <a:srgbClr val="C6C6C6"/>
                </a:solidFill>
                <a:latin typeface="Inter"/>
                <a:cs typeface="Inter"/>
              </a:rPr>
              <a:t>02</a:t>
            </a:r>
          </a:p>
        </p:txBody>
      </p:sp>
      <p:cxnSp>
        <p:nvCxnSpPr>
          <p:cNvPr id="25" name="Connector 24"/>
          <p:cNvCxnSpPr/>
          <p:nvPr/>
        </p:nvCxnSpPr>
        <p:spPr>
          <a:xfrm>
            <a:off x="4330700" y="2915412"/>
            <a:ext cx="3530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330700" y="3067812"/>
            <a:ext cx="3530600" cy="635000"/>
          </a:xfrm>
          <a:prstGeom prst="rect">
            <a:avLst/>
          </a:prstGeom>
          <a:noFill/>
          <a:effectLst/>
        </p:spPr>
        <p:txBody>
          <a:bodyPr wrap="square" lIns="0" rIns="0" tIns="0" bIns="0" anchor="t"/>
          <a:lstStyle/>
          <a:p>
            <a:pPr algn="l">
              <a:lnSpc>
                <a:spcPts val="1920"/>
              </a:lnSpc>
            </a:pPr>
            <a:r>
              <a:rPr sz="1600" b="1" spc="-32" dirty="0">
                <a:solidFill>
                  <a:srgbClr val="161616"/>
                </a:solidFill>
                <a:latin typeface="Inter"/>
                <a:cs typeface="Inter"/>
              </a:rPr>
              <a:t>Lorem Ipsum Dolor</a:t>
            </a:r>
          </a:p>
        </p:txBody>
      </p:sp>
      <p:sp>
        <p:nvSpPr>
          <p:cNvPr id="27" name="TextBox 26"/>
          <p:cNvSpPr txBox="1"/>
          <p:nvPr/>
        </p:nvSpPr>
        <p:spPr>
          <a:xfrm>
            <a:off x="4330700" y="3766312"/>
            <a:ext cx="3530600" cy="1016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28" name="TextBox 27"/>
          <p:cNvSpPr txBox="1"/>
          <p:nvPr/>
        </p:nvSpPr>
        <p:spPr>
          <a:xfrm>
            <a:off x="8051800" y="2089912"/>
            <a:ext cx="3530600" cy="698500"/>
          </a:xfrm>
          <a:prstGeom prst="rect">
            <a:avLst/>
          </a:prstGeom>
          <a:noFill/>
          <a:effectLst/>
        </p:spPr>
        <p:txBody>
          <a:bodyPr wrap="square" lIns="0" rIns="0" tIns="0" bIns="0" anchor="t"/>
          <a:lstStyle/>
          <a:p>
            <a:pPr algn="l">
              <a:lnSpc>
                <a:spcPts val="4500"/>
              </a:lnSpc>
            </a:pPr>
            <a:r>
              <a:rPr sz="4500" b="1" spc="-180" dirty="0">
                <a:solidFill>
                  <a:srgbClr val="C6C6C6"/>
                </a:solidFill>
                <a:latin typeface="Inter"/>
                <a:cs typeface="Inter"/>
              </a:rPr>
              <a:t>03</a:t>
            </a:r>
          </a:p>
        </p:txBody>
      </p:sp>
      <p:cxnSp>
        <p:nvCxnSpPr>
          <p:cNvPr id="29" name="Connector 28"/>
          <p:cNvCxnSpPr/>
          <p:nvPr/>
        </p:nvCxnSpPr>
        <p:spPr>
          <a:xfrm>
            <a:off x="8051800" y="2915412"/>
            <a:ext cx="3530600"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051800" y="3067812"/>
            <a:ext cx="3530600" cy="635000"/>
          </a:xfrm>
          <a:prstGeom prst="rect">
            <a:avLst/>
          </a:prstGeom>
          <a:noFill/>
          <a:effectLst/>
        </p:spPr>
        <p:txBody>
          <a:bodyPr wrap="square" lIns="0" rIns="0" tIns="0" bIns="0" anchor="t"/>
          <a:lstStyle/>
          <a:p>
            <a:pPr algn="l">
              <a:lnSpc>
                <a:spcPts val="1920"/>
              </a:lnSpc>
            </a:pPr>
            <a:r>
              <a:rPr sz="1600" b="1" spc="-32" dirty="0">
                <a:solidFill>
                  <a:srgbClr val="161616"/>
                </a:solidFill>
                <a:latin typeface="Inter"/>
                <a:cs typeface="Inter"/>
              </a:rPr>
              <a:t>Lorem Ipsum Dolor</a:t>
            </a:r>
          </a:p>
        </p:txBody>
      </p:sp>
      <p:sp>
        <p:nvSpPr>
          <p:cNvPr id="31" name="TextBox 30"/>
          <p:cNvSpPr txBox="1"/>
          <p:nvPr/>
        </p:nvSpPr>
        <p:spPr>
          <a:xfrm>
            <a:off x="8051800" y="3766312"/>
            <a:ext cx="3530600" cy="1016000"/>
          </a:xfrm>
          <a:prstGeom prst="rect">
            <a:avLst/>
          </a:prstGeom>
          <a:noFill/>
          <a:effectLst/>
        </p:spPr>
        <p:txBody>
          <a:bodyPr wrap="square" lIns="0" rIns="0" tIns="0" bIns="0" anchor="t"/>
          <a:lstStyle/>
          <a:p>
            <a:pPr algn="l">
              <a:lnSpc>
                <a:spcPts val="1800"/>
              </a:lnSpc>
            </a:pPr>
            <a:r>
              <a:rPr sz="1200" b="0" dirty="0">
                <a:solidFill>
                  <a:srgbClr val="525252"/>
                </a:solidFill>
                <a:latin typeface="Inter"/>
                <a:cs typeface="Inter"/>
              </a:rPr>
              <a:t>Lorem ipsum dolor sit amet, consectetur adipiscing elit, sed do eiusmod tempor incididunt ut labore et dolore magna aliqua.</a:t>
            </a:r>
          </a:p>
        </p:txBody>
      </p:sp>
      <p:sp>
        <p:nvSpPr>
          <p:cNvPr id="32" name="Rectangle 31"/>
          <p:cNvSpPr/>
          <p:nvPr/>
        </p:nvSpPr>
        <p:spPr>
          <a:xfrm>
            <a:off x="609600" y="5010912"/>
            <a:ext cx="10972800" cy="6985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09600" y="5010912"/>
            <a:ext cx="31750" cy="6985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7400" y="5150612"/>
            <a:ext cx="10617200" cy="4191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Si te llevas una sola cosa de este bloque, que sea esta: Lorem ipsum dolor sit amet, consectetur adipiscing.</a:t>
            </a:r>
          </a:p>
        </p:txBody>
      </p:sp>
      <p:cxnSp>
        <p:nvCxnSpPr>
          <p:cNvPr id="35" name="Connector 34"/>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6" name="Freeform 35"/>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40" name="TextBox 39"/>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41" name="TextBox 40"/>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I06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962660"/>
            <a:ext cx="76200" cy="76200"/>
          </a:xfrm>
          <a:prstGeom prst="rect">
            <a:avLst/>
          </a:prstGeom>
          <a:solidFill>
            <a:srgbClr val="6F6F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300" y="939800"/>
            <a:ext cx="6350000" cy="160020"/>
          </a:xfrm>
          <a:prstGeom prst="rect">
            <a:avLst/>
          </a:prstGeom>
          <a:noFill/>
          <a:effectLst/>
        </p:spPr>
        <p:txBody>
          <a:bodyPr wrap="square" lIns="0" rIns="0" tIns="0" bIns="0" anchor="t"/>
          <a:lstStyle/>
          <a:p>
            <a:pPr algn="l">
              <a:lnSpc>
                <a:spcPts val="900"/>
              </a:lnSpc>
            </a:pPr>
            <a:r>
              <a:rPr sz="900" b="1" spc="144" dirty="0">
                <a:solidFill>
                  <a:srgbClr val="6F6F6F"/>
                </a:solidFill>
                <a:latin typeface="Inter"/>
                <a:cs typeface="Inter"/>
              </a:rPr>
              <a:t>TAREA</a:t>
            </a:r>
          </a:p>
        </p:txBody>
      </p:sp>
      <p:sp>
        <p:nvSpPr>
          <p:cNvPr id="4" name="TextBox 3"/>
          <p:cNvSpPr txBox="1"/>
          <p:nvPr/>
        </p:nvSpPr>
        <p:spPr>
          <a:xfrm>
            <a:off x="609600" y="1181100"/>
            <a:ext cx="6316133" cy="912368"/>
          </a:xfrm>
          <a:prstGeom prst="rect">
            <a:avLst/>
          </a:prstGeom>
          <a:noFill/>
          <a:effectLst/>
        </p:spPr>
        <p:txBody>
          <a:bodyPr wrap="square" lIns="0" rIns="0" tIns="0" bIns="0" anchor="t"/>
          <a:lstStyle/>
          <a:p>
            <a:pPr algn="l">
              <a:lnSpc>
                <a:spcPts val="3392"/>
              </a:lnSpc>
            </a:pPr>
            <a:r>
              <a:rPr sz="3200" b="1" spc="-96" dirty="0">
                <a:solidFill>
                  <a:srgbClr val="161616"/>
                </a:solidFill>
                <a:latin typeface="Inter"/>
                <a:cs typeface="Inter"/>
              </a:rPr>
              <a:t>Lorem ipsum dolor sit amet consectetur</a:t>
            </a:r>
          </a:p>
        </p:txBody>
      </p:sp>
      <p:sp>
        <p:nvSpPr>
          <p:cNvPr id="5" name="TextBox 4"/>
          <p:cNvSpPr txBox="1"/>
          <p:nvPr/>
        </p:nvSpPr>
        <p:spPr>
          <a:xfrm>
            <a:off x="8407400" y="1970024"/>
            <a:ext cx="3175000" cy="152400"/>
          </a:xfrm>
          <a:prstGeom prst="rect">
            <a:avLst/>
          </a:prstGeom>
          <a:noFill/>
          <a:effectLst/>
        </p:spPr>
        <p:txBody>
          <a:bodyPr wrap="square" lIns="0" rIns="0" tIns="0" bIns="0" anchor="t"/>
          <a:lstStyle/>
          <a:p>
            <a:pPr algn="r">
              <a:lnSpc>
                <a:spcPts val="700"/>
              </a:lnSpc>
            </a:pPr>
            <a:r>
              <a:rPr sz="700" b="1" spc="98" dirty="0">
                <a:solidFill>
                  <a:srgbClr val="8D8D8D"/>
                </a:solidFill>
                <a:latin typeface="Inter"/>
                <a:cs typeface="Inter"/>
              </a:rPr>
              <a:t>BLOQUE 01 · 03 / 12</a:t>
            </a:r>
          </a:p>
        </p:txBody>
      </p:sp>
      <p:cxnSp>
        <p:nvCxnSpPr>
          <p:cNvPr id="6" name="Connector 5"/>
          <p:cNvCxnSpPr/>
          <p:nvPr/>
        </p:nvCxnSpPr>
        <p:spPr>
          <a:xfrm>
            <a:off x="609600" y="2249424"/>
            <a:ext cx="10972800" cy="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24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38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52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67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81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104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9248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392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536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6800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76050" y="2249424"/>
            <a:ext cx="0" cy="44450"/>
          </a:xfrm>
          <a:prstGeom prst="line">
            <a:avLst/>
          </a:prstGeom>
          <a:ln w="6350">
            <a:solidFill>
              <a:srgbClr val="C6C6C6"/>
            </a:solidFill>
            <a:miter lim="800000"/>
          </a:ln>
          <a:effectLst/>
        </p:spPr>
        <p:style>
          <a:lnRef idx="2">
            <a:schemeClr val="accent1"/>
          </a:lnRef>
          <a:fillRef idx="0">
            <a:schemeClr val="accent1"/>
          </a:fillRef>
          <a:effectRef idx="1">
            <a:schemeClr val="accent1"/>
          </a:effectRef>
          <a:fontRef idx="minor">
            <a:schemeClr val="tx1"/>
          </a:fontRef>
        </p:style>
      </p:cxnSp>
      <p:sp>
        <p:nvSpPr>
          <p:cNvPr id="20" name="sombra"/>
          <p:cNvSpPr/>
          <p:nvPr/>
        </p:nvSpPr>
        <p:spPr>
          <a:xfrm>
            <a:off x="698500" y="2617724"/>
            <a:ext cx="6316133" cy="241300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09600" y="2528824"/>
            <a:ext cx="6316133" cy="2413000"/>
          </a:xfrm>
          <a:prstGeom prst="rect">
            <a:avLst/>
          </a:prstGeom>
          <a:solidFill>
            <a:srgbClr val="FFFFFF"/>
          </a:solidFill>
          <a:ln w="635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63600" y="2757424"/>
            <a:ext cx="5384800"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QUÉ ENTREGAS</a:t>
            </a:r>
          </a:p>
        </p:txBody>
      </p:sp>
      <p:sp>
        <p:nvSpPr>
          <p:cNvPr id="23" name="TextBox 22"/>
          <p:cNvSpPr txBox="1"/>
          <p:nvPr/>
        </p:nvSpPr>
        <p:spPr>
          <a:xfrm>
            <a:off x="863600" y="3011424"/>
            <a:ext cx="5384800" cy="762000"/>
          </a:xfrm>
          <a:prstGeom prst="rect">
            <a:avLst/>
          </a:prstGeom>
          <a:noFill/>
          <a:effectLst/>
        </p:spPr>
        <p:txBody>
          <a:bodyPr wrap="square" lIns="0" rIns="0" tIns="0" bIns="0" anchor="t"/>
          <a:lstStyle/>
          <a:p>
            <a:pPr algn="l">
              <a:lnSpc>
                <a:spcPts val="2340"/>
              </a:lnSpc>
            </a:pPr>
            <a:r>
              <a:rPr sz="1800" b="1" dirty="0">
                <a:solidFill>
                  <a:srgbClr val="161616"/>
                </a:solidFill>
                <a:latin typeface="Inter"/>
                <a:cs typeface="Inter"/>
              </a:rPr>
              <a:t>Lorem ipsum dolor sit amet, consectetur adipiscing elit, sed do eiusmod tempor incididunt ut labore et dolore magna aliqua.</a:t>
            </a:r>
          </a:p>
        </p:txBody>
      </p:sp>
      <p:cxnSp>
        <p:nvCxnSpPr>
          <p:cNvPr id="24" name="Connector 23"/>
          <p:cNvCxnSpPr/>
          <p:nvPr/>
        </p:nvCxnSpPr>
        <p:spPr>
          <a:xfrm>
            <a:off x="863600" y="4052824"/>
            <a:ext cx="5257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63600" y="4192524"/>
            <a:ext cx="5384800" cy="571500"/>
          </a:xfrm>
          <a:prstGeom prst="rect">
            <a:avLst/>
          </a:prstGeom>
          <a:noFill/>
          <a:effectLst/>
        </p:spPr>
        <p:txBody>
          <a:bodyPr wrap="square" lIns="0" rIns="0" tIns="0" bIns="0" anchor="t"/>
          <a:lstStyle/>
          <a:p>
            <a:pPr algn="l">
              <a:lnSpc>
                <a:spcPts val="1739"/>
              </a:lnSpc>
            </a:pPr>
            <a:r>
              <a:rPr sz="1200" b="0" dirty="0">
                <a:solidFill>
                  <a:srgbClr val="525252"/>
                </a:solidFill>
                <a:latin typeface="Inter"/>
                <a:cs typeface="Inter"/>
              </a:rPr>
              <a:t>Lorem ipsum dolor sit amet, consectetur adipiscing elit.</a:t>
            </a:r>
          </a:p>
        </p:txBody>
      </p:sp>
      <p:sp>
        <p:nvSpPr>
          <p:cNvPr id="26" name="TextBox 25"/>
          <p:cNvSpPr txBox="1"/>
          <p:nvPr/>
        </p:nvSpPr>
        <p:spPr>
          <a:xfrm>
            <a:off x="7319433" y="2592324"/>
            <a:ext cx="4262967" cy="165100"/>
          </a:xfrm>
          <a:prstGeom prst="rect">
            <a:avLst/>
          </a:prstGeom>
          <a:noFill/>
          <a:effectLst/>
        </p:spPr>
        <p:txBody>
          <a:bodyPr wrap="square" lIns="0" rIns="0" tIns="0" bIns="0" anchor="t"/>
          <a:lstStyle/>
          <a:p>
            <a:pPr algn="l">
              <a:lnSpc>
                <a:spcPts val="700"/>
              </a:lnSpc>
            </a:pPr>
            <a:r>
              <a:rPr sz="700" b="1" spc="112" dirty="0">
                <a:solidFill>
                  <a:srgbClr val="5B4BF5"/>
                </a:solidFill>
                <a:latin typeface="Inter"/>
                <a:cs typeface="Inter"/>
              </a:rPr>
              <a:t>FECHA LÍMITE</a:t>
            </a:r>
          </a:p>
        </p:txBody>
      </p:sp>
      <p:sp>
        <p:nvSpPr>
          <p:cNvPr id="27" name="TextBox 26"/>
          <p:cNvSpPr txBox="1"/>
          <p:nvPr/>
        </p:nvSpPr>
        <p:spPr>
          <a:xfrm>
            <a:off x="7319433" y="2846324"/>
            <a:ext cx="4262967" cy="698500"/>
          </a:xfrm>
          <a:prstGeom prst="rect">
            <a:avLst/>
          </a:prstGeom>
          <a:noFill/>
          <a:effectLst/>
        </p:spPr>
        <p:txBody>
          <a:bodyPr wrap="square" lIns="0" rIns="0" tIns="0" bIns="0" anchor="t"/>
          <a:lstStyle/>
          <a:p>
            <a:pPr algn="l">
              <a:lnSpc>
                <a:spcPts val="4200"/>
              </a:lnSpc>
            </a:pPr>
            <a:r>
              <a:rPr sz="4200" b="1" spc="-168" dirty="0">
                <a:solidFill>
                  <a:srgbClr val="161616"/>
                </a:solidFill>
                <a:latin typeface="Inter"/>
                <a:cs typeface="Inter"/>
              </a:rPr>
              <a:t>VIE 12</a:t>
            </a:r>
          </a:p>
        </p:txBody>
      </p:sp>
      <p:sp>
        <p:nvSpPr>
          <p:cNvPr id="28" name="TextBox 27"/>
          <p:cNvSpPr txBox="1"/>
          <p:nvPr/>
        </p:nvSpPr>
        <p:spPr>
          <a:xfrm>
            <a:off x="7319433" y="3608324"/>
            <a:ext cx="4262967" cy="254000"/>
          </a:xfrm>
          <a:prstGeom prst="rect">
            <a:avLst/>
          </a:prstGeom>
          <a:noFill/>
          <a:effectLst/>
        </p:spPr>
        <p:txBody>
          <a:bodyPr wrap="square" lIns="0" rIns="0" tIns="0" bIns="0" anchor="t"/>
          <a:lstStyle/>
          <a:p>
            <a:pPr algn="l">
              <a:lnSpc>
                <a:spcPts val="1439"/>
              </a:lnSpc>
            </a:pPr>
            <a:r>
              <a:rPr sz="1200" b="0" dirty="0">
                <a:solidFill>
                  <a:srgbClr val="6F6F6F"/>
                </a:solidFill>
                <a:latin typeface="Inter"/>
                <a:cs typeface="Inter"/>
              </a:rPr>
              <a:t>23:59 CET</a:t>
            </a:r>
          </a:p>
        </p:txBody>
      </p:sp>
      <p:cxnSp>
        <p:nvCxnSpPr>
          <p:cNvPr id="29" name="Connector 28"/>
          <p:cNvCxnSpPr/>
          <p:nvPr/>
        </p:nvCxnSpPr>
        <p:spPr>
          <a:xfrm>
            <a:off x="7319433" y="3989324"/>
            <a:ext cx="4262967" cy="0"/>
          </a:xfrm>
          <a:prstGeom prst="line">
            <a:avLst/>
          </a:prstGeom>
          <a:ln w="12700">
            <a:solidFill>
              <a:srgbClr val="161616"/>
            </a:solidFill>
            <a:miter lim="800000"/>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9433" y="4116324"/>
            <a:ext cx="4262967" cy="165100"/>
          </a:xfrm>
          <a:prstGeom prst="rect">
            <a:avLst/>
          </a:prstGeom>
          <a:noFill/>
          <a:effectLst/>
        </p:spPr>
        <p:txBody>
          <a:bodyPr wrap="square" lIns="0" rIns="0" tIns="0" bIns="0" anchor="t"/>
          <a:lstStyle/>
          <a:p>
            <a:pPr algn="l">
              <a:lnSpc>
                <a:spcPts val="700"/>
              </a:lnSpc>
            </a:pPr>
            <a:r>
              <a:rPr sz="700" b="1" spc="98" dirty="0">
                <a:solidFill>
                  <a:srgbClr val="8D8D8D"/>
                </a:solidFill>
                <a:latin typeface="Inter"/>
                <a:cs typeface="Inter"/>
              </a:rPr>
              <a:t>DÓNDE</a:t>
            </a:r>
          </a:p>
        </p:txBody>
      </p:sp>
      <p:sp>
        <p:nvSpPr>
          <p:cNvPr id="31" name="TextBox 30"/>
          <p:cNvSpPr txBox="1"/>
          <p:nvPr/>
        </p:nvSpPr>
        <p:spPr>
          <a:xfrm>
            <a:off x="7319433" y="4344924"/>
            <a:ext cx="4262967" cy="571500"/>
          </a:xfrm>
          <a:prstGeom prst="rect">
            <a:avLst/>
          </a:prstGeom>
          <a:noFill/>
          <a:effectLst/>
        </p:spPr>
        <p:txBody>
          <a:bodyPr wrap="square" lIns="0" rIns="0" tIns="0" bIns="0" anchor="t"/>
          <a:lstStyle/>
          <a:p>
            <a:pPr algn="l">
              <a:lnSpc>
                <a:spcPts val="1620"/>
              </a:lnSpc>
            </a:pPr>
            <a:r>
              <a:rPr sz="1200" b="1" dirty="0">
                <a:solidFill>
                  <a:srgbClr val="161616"/>
                </a:solidFill>
                <a:latin typeface="Inter"/>
                <a:cs typeface="Inter"/>
              </a:rPr>
              <a:t>Google Classroom</a:t>
            </a:r>
            <a:br/>
            <a:r>
              <a:rPr sz="1200" b="1" dirty="0">
                <a:solidFill>
                  <a:srgbClr val="161616"/>
                </a:solidFill>
                <a:latin typeface="Inter"/>
                <a:cs typeface="Inter"/>
              </a:rPr>
              <a:t>Módulo 00 · Tarea 01</a:t>
            </a:r>
          </a:p>
        </p:txBody>
      </p:sp>
      <p:cxnSp>
        <p:nvCxnSpPr>
          <p:cNvPr id="32" name="Connector 31"/>
          <p:cNvCxnSpPr/>
          <p:nvPr/>
        </p:nvCxnSpPr>
        <p:spPr>
          <a:xfrm>
            <a:off x="609600" y="6134100"/>
            <a:ext cx="10972800" cy="0"/>
          </a:xfrm>
          <a:prstGeom prst="line">
            <a:avLst/>
          </a:prstGeom>
          <a:ln w="6350">
            <a:solidFill>
              <a:srgbClr val="E0E0E0"/>
            </a:solidFill>
            <a:miter lim="800000"/>
          </a:ln>
          <a:effectLst/>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161616"/>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161616"/>
                </a:solidFill>
                <a:latin typeface="Inter"/>
                <a:cs typeface="Inter"/>
              </a:rPr>
              <a:t>ACTIVEXREMOTE</a:t>
            </a:r>
          </a:p>
        </p:txBody>
      </p:sp>
      <p:sp>
        <p:nvSpPr>
          <p:cNvPr id="37" name="TextBox 36"/>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D8D8D"/>
                </a:solidFill>
                <a:latin typeface="Inter"/>
                <a:cs typeface="Inter"/>
              </a:rPr>
              <a:t>MÓDULO 00 · 00</a:t>
            </a:r>
          </a:p>
        </p:txBody>
      </p:sp>
      <p:sp>
        <p:nvSpPr>
          <p:cNvPr id="38" name="TextBox 37"/>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C6C6C6"/>
                </a:solidFill>
                <a:latin typeface="Inter"/>
                <a:cs typeface="Inter"/>
              </a:rPr>
              <a:t>I07</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61616"/>
        </a:solidFill>
        <a:effectLst/>
      </p:bgPr>
    </p:bg>
    <p:spTree>
      <p:nvGrpSpPr>
        <p:cNvPr id="1" name=""/>
        <p:cNvGrpSpPr/>
        <p:nvPr/>
      </p:nvGrpSpPr>
      <p:grpSpPr/>
      <p:pic>
        <p:nvPicPr>
          <p:cNvPr id="2" name="Picture 1" descr="dots_dark.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09600" y="1927860"/>
            <a:ext cx="76200" cy="76200"/>
          </a:xfrm>
          <a:prstGeom prst="rect">
            <a:avLst/>
          </a:prstGeom>
          <a:solidFill>
            <a:srgbClr val="5B4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49300" y="1905000"/>
            <a:ext cx="6350000" cy="160020"/>
          </a:xfrm>
          <a:prstGeom prst="rect">
            <a:avLst/>
          </a:prstGeom>
          <a:noFill/>
          <a:effectLst/>
        </p:spPr>
        <p:txBody>
          <a:bodyPr wrap="square" lIns="0" rIns="0" tIns="0" bIns="0" anchor="t"/>
          <a:lstStyle/>
          <a:p>
            <a:pPr algn="l">
              <a:lnSpc>
                <a:spcPts val="900"/>
              </a:lnSpc>
            </a:pPr>
            <a:r>
              <a:rPr sz="900" b="1" spc="144" dirty="0">
                <a:solidFill>
                  <a:srgbClr val="5B4BF5"/>
                </a:solidFill>
                <a:latin typeface="Inter"/>
                <a:cs typeface="Inter"/>
              </a:rPr>
              <a:t>SIGUIENTE PASO</a:t>
            </a:r>
          </a:p>
        </p:txBody>
      </p:sp>
      <p:sp>
        <p:nvSpPr>
          <p:cNvPr id="5" name="TextBox 4"/>
          <p:cNvSpPr txBox="1"/>
          <p:nvPr/>
        </p:nvSpPr>
        <p:spPr>
          <a:xfrm>
            <a:off x="609600" y="2184400"/>
            <a:ext cx="7247467" cy="1294384"/>
          </a:xfrm>
          <a:prstGeom prst="rect">
            <a:avLst/>
          </a:prstGeom>
          <a:noFill/>
          <a:effectLst/>
        </p:spPr>
        <p:txBody>
          <a:bodyPr wrap="square" lIns="0" rIns="0" tIns="0" bIns="0" anchor="t"/>
          <a:lstStyle/>
          <a:p>
            <a:pPr algn="l">
              <a:lnSpc>
                <a:spcPts val="4896"/>
              </a:lnSpc>
            </a:pPr>
            <a:r>
              <a:rPr sz="4800" b="1" spc="-144" dirty="0">
                <a:solidFill>
                  <a:srgbClr val="FFFFFF"/>
                </a:solidFill>
                <a:latin typeface="Inter"/>
                <a:cs typeface="Inter"/>
              </a:rPr>
              <a:t>Lorem ipsum dolor sit amet consectetur</a:t>
            </a:r>
          </a:p>
        </p:txBody>
      </p:sp>
      <p:cxnSp>
        <p:nvCxnSpPr>
          <p:cNvPr id="6" name="Connector 5"/>
          <p:cNvCxnSpPr/>
          <p:nvPr/>
        </p:nvCxnSpPr>
        <p:spPr>
          <a:xfrm>
            <a:off x="609600" y="3619500"/>
            <a:ext cx="1143000" cy="0"/>
          </a:xfrm>
          <a:prstGeom prst="line">
            <a:avLst/>
          </a:prstGeom>
          <a:ln w="19050">
            <a:solidFill>
              <a:srgbClr val="FFFFFF"/>
            </a:solidFill>
            <a:miter lim="800000"/>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3848100"/>
            <a:ext cx="5384800" cy="635000"/>
          </a:xfrm>
          <a:prstGeom prst="rect">
            <a:avLst/>
          </a:prstGeom>
          <a:noFill/>
          <a:effectLst/>
        </p:spPr>
        <p:txBody>
          <a:bodyPr wrap="square" lIns="0" rIns="0" tIns="0" bIns="0" anchor="t"/>
          <a:lstStyle/>
          <a:p>
            <a:pPr algn="l">
              <a:lnSpc>
                <a:spcPts val="2100"/>
              </a:lnSpc>
            </a:pPr>
            <a:r>
              <a:rPr sz="1400" b="0" dirty="0">
                <a:solidFill>
                  <a:srgbClr val="D2D2D2"/>
                </a:solidFill>
                <a:latin typeface="Inter"/>
                <a:cs typeface="Inter"/>
              </a:rPr>
              <a:t>Lorem ipsum dolor sit amet, consectetur adipiscing elit.</a:t>
            </a:r>
          </a:p>
        </p:txBody>
      </p:sp>
      <p:cxnSp>
        <p:nvCxnSpPr>
          <p:cNvPr id="8" name="Connector 7"/>
          <p:cNvCxnSpPr/>
          <p:nvPr/>
        </p:nvCxnSpPr>
        <p:spPr>
          <a:xfrm>
            <a:off x="609600" y="4699000"/>
            <a:ext cx="2590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4813300"/>
            <a:ext cx="2590800" cy="165100"/>
          </a:xfrm>
          <a:prstGeom prst="rect">
            <a:avLst/>
          </a:prstGeom>
          <a:noFill/>
          <a:effectLst/>
        </p:spPr>
        <p:txBody>
          <a:bodyPr wrap="square" lIns="0" rIns="0" tIns="0" bIns="0" anchor="t"/>
          <a:lstStyle/>
          <a:p>
            <a:pPr algn="l">
              <a:lnSpc>
                <a:spcPts val="700"/>
              </a:lnSpc>
            </a:pPr>
            <a:r>
              <a:rPr sz="700" b="1" spc="98" dirty="0">
                <a:solidFill>
                  <a:srgbClr val="8C8C8C"/>
                </a:solidFill>
                <a:latin typeface="Inter"/>
                <a:cs typeface="Inter"/>
              </a:rPr>
              <a:t>QUÉ</a:t>
            </a:r>
          </a:p>
        </p:txBody>
      </p:sp>
      <p:sp>
        <p:nvSpPr>
          <p:cNvPr id="10" name="TextBox 9"/>
          <p:cNvSpPr txBox="1"/>
          <p:nvPr/>
        </p:nvSpPr>
        <p:spPr>
          <a:xfrm>
            <a:off x="609600" y="5029200"/>
            <a:ext cx="2590800" cy="381000"/>
          </a:xfrm>
          <a:prstGeom prst="rect">
            <a:avLst/>
          </a:prstGeom>
          <a:noFill/>
          <a:effectLst/>
        </p:spPr>
        <p:txBody>
          <a:bodyPr wrap="square" lIns="0" rIns="0" tIns="0" bIns="0" anchor="t"/>
          <a:lstStyle/>
          <a:p>
            <a:pPr algn="l">
              <a:lnSpc>
                <a:spcPts val="1560"/>
              </a:lnSpc>
            </a:pPr>
            <a:r>
              <a:rPr sz="1200" b="1" dirty="0">
                <a:solidFill>
                  <a:srgbClr val="FFFFFF"/>
                </a:solidFill>
                <a:latin typeface="Inter"/>
                <a:cs typeface="Inter"/>
              </a:rPr>
              <a:t>Lorem ipsum dolor</a:t>
            </a:r>
          </a:p>
        </p:txBody>
      </p:sp>
      <p:cxnSp>
        <p:nvCxnSpPr>
          <p:cNvPr id="11" name="Connector 10"/>
          <p:cNvCxnSpPr/>
          <p:nvPr/>
        </p:nvCxnSpPr>
        <p:spPr>
          <a:xfrm>
            <a:off x="4258733" y="4699000"/>
            <a:ext cx="2590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58733" y="4813300"/>
            <a:ext cx="2590800" cy="165100"/>
          </a:xfrm>
          <a:prstGeom prst="rect">
            <a:avLst/>
          </a:prstGeom>
          <a:noFill/>
          <a:effectLst/>
        </p:spPr>
        <p:txBody>
          <a:bodyPr wrap="square" lIns="0" rIns="0" tIns="0" bIns="0" anchor="t"/>
          <a:lstStyle/>
          <a:p>
            <a:pPr algn="l">
              <a:lnSpc>
                <a:spcPts val="700"/>
              </a:lnSpc>
            </a:pPr>
            <a:r>
              <a:rPr sz="700" b="1" spc="98" dirty="0">
                <a:solidFill>
                  <a:srgbClr val="8C8C8C"/>
                </a:solidFill>
                <a:latin typeface="Inter"/>
                <a:cs typeface="Inter"/>
              </a:rPr>
              <a:t>CUÁNDO</a:t>
            </a:r>
          </a:p>
        </p:txBody>
      </p:sp>
      <p:sp>
        <p:nvSpPr>
          <p:cNvPr id="13" name="TextBox 12"/>
          <p:cNvSpPr txBox="1"/>
          <p:nvPr/>
        </p:nvSpPr>
        <p:spPr>
          <a:xfrm>
            <a:off x="4258733" y="5029200"/>
            <a:ext cx="2590800" cy="381000"/>
          </a:xfrm>
          <a:prstGeom prst="rect">
            <a:avLst/>
          </a:prstGeom>
          <a:noFill/>
          <a:effectLst/>
        </p:spPr>
        <p:txBody>
          <a:bodyPr wrap="square" lIns="0" rIns="0" tIns="0" bIns="0" anchor="t"/>
          <a:lstStyle/>
          <a:p>
            <a:pPr algn="l">
              <a:lnSpc>
                <a:spcPts val="1560"/>
              </a:lnSpc>
            </a:pPr>
            <a:r>
              <a:rPr sz="1200" b="1" dirty="0">
                <a:solidFill>
                  <a:srgbClr val="FFFFFF"/>
                </a:solidFill>
                <a:latin typeface="Inter"/>
                <a:cs typeface="Inter"/>
              </a:rPr>
              <a:t>Viernes 12 · 23:59</a:t>
            </a:r>
          </a:p>
        </p:txBody>
      </p:sp>
      <p:cxnSp>
        <p:nvCxnSpPr>
          <p:cNvPr id="14" name="Connector 13"/>
          <p:cNvCxnSpPr/>
          <p:nvPr/>
        </p:nvCxnSpPr>
        <p:spPr>
          <a:xfrm>
            <a:off x="7907867" y="4699000"/>
            <a:ext cx="2590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907867" y="4813300"/>
            <a:ext cx="2590800" cy="165100"/>
          </a:xfrm>
          <a:prstGeom prst="rect">
            <a:avLst/>
          </a:prstGeom>
          <a:noFill/>
          <a:effectLst/>
        </p:spPr>
        <p:txBody>
          <a:bodyPr wrap="square" lIns="0" rIns="0" tIns="0" bIns="0" anchor="t"/>
          <a:lstStyle/>
          <a:p>
            <a:pPr algn="l">
              <a:lnSpc>
                <a:spcPts val="700"/>
              </a:lnSpc>
            </a:pPr>
            <a:r>
              <a:rPr sz="700" b="1" spc="98" dirty="0">
                <a:solidFill>
                  <a:srgbClr val="8C8C8C"/>
                </a:solidFill>
                <a:latin typeface="Inter"/>
                <a:cs typeface="Inter"/>
              </a:rPr>
              <a:t>DÓNDE</a:t>
            </a:r>
          </a:p>
        </p:txBody>
      </p:sp>
      <p:sp>
        <p:nvSpPr>
          <p:cNvPr id="16" name="TextBox 15"/>
          <p:cNvSpPr txBox="1"/>
          <p:nvPr/>
        </p:nvSpPr>
        <p:spPr>
          <a:xfrm>
            <a:off x="7907867" y="5029200"/>
            <a:ext cx="2590800" cy="381000"/>
          </a:xfrm>
          <a:prstGeom prst="rect">
            <a:avLst/>
          </a:prstGeom>
          <a:noFill/>
          <a:effectLst/>
        </p:spPr>
        <p:txBody>
          <a:bodyPr wrap="square" lIns="0" rIns="0" tIns="0" bIns="0" anchor="t"/>
          <a:lstStyle/>
          <a:p>
            <a:pPr algn="l">
              <a:lnSpc>
                <a:spcPts val="1560"/>
              </a:lnSpc>
            </a:pPr>
            <a:r>
              <a:rPr sz="1200" b="1" dirty="0">
                <a:solidFill>
                  <a:srgbClr val="FFFFFF"/>
                </a:solidFill>
                <a:latin typeface="Inter"/>
                <a:cs typeface="Inter"/>
              </a:rPr>
              <a:t>Google Classroom</a:t>
            </a:r>
          </a:p>
        </p:txBody>
      </p:sp>
      <p:sp>
        <p:nvSpPr>
          <p:cNvPr id="17" name="Rectangle 16"/>
          <p:cNvSpPr/>
          <p:nvPr/>
        </p:nvSpPr>
        <p:spPr>
          <a:xfrm>
            <a:off x="10375900" y="1905000"/>
            <a:ext cx="1206500" cy="1206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439400" y="1968500"/>
            <a:ext cx="1079500" cy="1079500"/>
          </a:xfrm>
          <a:prstGeom prst="rect">
            <a:avLst/>
          </a:prstGeom>
          <a:solidFill>
            <a:srgbClr val="FFFFFF"/>
          </a:solidFill>
          <a:ln w="6350">
            <a:solidFill>
              <a:srgbClr val="E0E0E0"/>
            </a:solidFill>
            <a:miter lim="800000"/>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05029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05664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6299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06934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07569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08204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08839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10109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11379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12014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12649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13284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1391900" y="2032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10502900" y="2095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0883900" y="2095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1201400" y="2095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05029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106299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106934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107569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108839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110744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112014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112649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1328400" y="2159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105029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106299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106934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107569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108839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110109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110744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112014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112649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11328400" y="2222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10502900" y="2286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10629900" y="2286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10693400" y="2286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10756900" y="2286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10883900" y="2286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11201400" y="2286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11264900" y="2286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11328400" y="2286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10502900" y="2349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10883900" y="2349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11010900" y="2349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11201400" y="2349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105029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105664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106299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106934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107569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108204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108839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110109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111379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112014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112649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113284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ectangle 77"/>
          <p:cNvSpPr/>
          <p:nvPr/>
        </p:nvSpPr>
        <p:spPr>
          <a:xfrm>
            <a:off x="11391900" y="2413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10947400" y="2476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ectangle 79"/>
          <p:cNvSpPr/>
          <p:nvPr/>
        </p:nvSpPr>
        <p:spPr>
          <a:xfrm>
            <a:off x="11074400" y="2476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ectangle 80"/>
          <p:cNvSpPr/>
          <p:nvPr/>
        </p:nvSpPr>
        <p:spPr>
          <a:xfrm>
            <a:off x="105029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ectangle 81"/>
          <p:cNvSpPr/>
          <p:nvPr/>
        </p:nvSpPr>
        <p:spPr>
          <a:xfrm>
            <a:off x="105664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106934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108204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108839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110109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110744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111379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112649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11328400" y="2540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10629900" y="2603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10883900" y="2603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11201400" y="2603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11391900" y="2603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105029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105664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106299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107569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108204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109474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110109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111379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112649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113284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11391900" y="2667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10693400" y="2730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10947400" y="2730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Rectangle 107"/>
          <p:cNvSpPr/>
          <p:nvPr/>
        </p:nvSpPr>
        <p:spPr>
          <a:xfrm>
            <a:off x="11074400" y="2730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11328400" y="2730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ectangle 109"/>
          <p:cNvSpPr/>
          <p:nvPr/>
        </p:nvSpPr>
        <p:spPr>
          <a:xfrm>
            <a:off x="105029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Rectangle 110"/>
          <p:cNvSpPr/>
          <p:nvPr/>
        </p:nvSpPr>
        <p:spPr>
          <a:xfrm>
            <a:off x="105664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2" name="Rectangle 111"/>
          <p:cNvSpPr/>
          <p:nvPr/>
        </p:nvSpPr>
        <p:spPr>
          <a:xfrm>
            <a:off x="106299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106934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ectangle 113"/>
          <p:cNvSpPr/>
          <p:nvPr/>
        </p:nvSpPr>
        <p:spPr>
          <a:xfrm>
            <a:off x="107569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Rectangle 114"/>
          <p:cNvSpPr/>
          <p:nvPr/>
        </p:nvSpPr>
        <p:spPr>
          <a:xfrm>
            <a:off x="108204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Rectangle 115"/>
          <p:cNvSpPr/>
          <p:nvPr/>
        </p:nvSpPr>
        <p:spPr>
          <a:xfrm>
            <a:off x="108839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ectangle 116"/>
          <p:cNvSpPr/>
          <p:nvPr/>
        </p:nvSpPr>
        <p:spPr>
          <a:xfrm>
            <a:off x="110744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ectangle 117"/>
          <p:cNvSpPr/>
          <p:nvPr/>
        </p:nvSpPr>
        <p:spPr>
          <a:xfrm>
            <a:off x="111379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Rectangle 118"/>
          <p:cNvSpPr/>
          <p:nvPr/>
        </p:nvSpPr>
        <p:spPr>
          <a:xfrm>
            <a:off x="112649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ectangle 119"/>
          <p:cNvSpPr/>
          <p:nvPr/>
        </p:nvSpPr>
        <p:spPr>
          <a:xfrm>
            <a:off x="11391900" y="2794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ectangle 120"/>
          <p:cNvSpPr/>
          <p:nvPr/>
        </p:nvSpPr>
        <p:spPr>
          <a:xfrm>
            <a:off x="10502900" y="2857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10883900" y="2857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Rectangle 122"/>
          <p:cNvSpPr/>
          <p:nvPr/>
        </p:nvSpPr>
        <p:spPr>
          <a:xfrm>
            <a:off x="11010900" y="2857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ectangle 123"/>
          <p:cNvSpPr/>
          <p:nvPr/>
        </p:nvSpPr>
        <p:spPr>
          <a:xfrm>
            <a:off x="11137900" y="2857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Rectangle 124"/>
          <p:cNvSpPr/>
          <p:nvPr/>
        </p:nvSpPr>
        <p:spPr>
          <a:xfrm>
            <a:off x="11201400" y="2857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Rectangle 125"/>
          <p:cNvSpPr/>
          <p:nvPr/>
        </p:nvSpPr>
        <p:spPr>
          <a:xfrm>
            <a:off x="11391900" y="28575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ectangle 126"/>
          <p:cNvSpPr/>
          <p:nvPr/>
        </p:nvSpPr>
        <p:spPr>
          <a:xfrm>
            <a:off x="105029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Rectangle 127"/>
          <p:cNvSpPr/>
          <p:nvPr/>
        </p:nvSpPr>
        <p:spPr>
          <a:xfrm>
            <a:off x="106299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ectangle 128"/>
          <p:cNvSpPr/>
          <p:nvPr/>
        </p:nvSpPr>
        <p:spPr>
          <a:xfrm>
            <a:off x="106934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Rectangle 129"/>
          <p:cNvSpPr/>
          <p:nvPr/>
        </p:nvSpPr>
        <p:spPr>
          <a:xfrm>
            <a:off x="107569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1" name="Rectangle 130"/>
          <p:cNvSpPr/>
          <p:nvPr/>
        </p:nvSpPr>
        <p:spPr>
          <a:xfrm>
            <a:off x="108839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ectangle 131"/>
          <p:cNvSpPr/>
          <p:nvPr/>
        </p:nvSpPr>
        <p:spPr>
          <a:xfrm>
            <a:off x="109474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Rectangle 132"/>
          <p:cNvSpPr/>
          <p:nvPr/>
        </p:nvSpPr>
        <p:spPr>
          <a:xfrm>
            <a:off x="111379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112014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Rectangle 134"/>
          <p:cNvSpPr/>
          <p:nvPr/>
        </p:nvSpPr>
        <p:spPr>
          <a:xfrm>
            <a:off x="112649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Rectangle 135"/>
          <p:cNvSpPr/>
          <p:nvPr/>
        </p:nvSpPr>
        <p:spPr>
          <a:xfrm>
            <a:off x="11328400" y="2921000"/>
            <a:ext cx="66675" cy="66675"/>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37" name="Connector 136"/>
          <p:cNvCxnSpPr/>
          <p:nvPr/>
        </p:nvCxnSpPr>
        <p:spPr>
          <a:xfrm>
            <a:off x="609600" y="6134100"/>
            <a:ext cx="10972800" cy="0"/>
          </a:xfrm>
          <a:prstGeom prst="line">
            <a:avLst/>
          </a:prstGeom>
          <a:ln w="6350">
            <a:solidFill>
              <a:srgbClr val="2C2C2C"/>
            </a:solidFill>
            <a:miter lim="800000"/>
          </a:ln>
          <a:effectLst/>
        </p:spPr>
        <p:style>
          <a:lnRef idx="2">
            <a:schemeClr val="accent1"/>
          </a:lnRef>
          <a:fillRef idx="0">
            <a:schemeClr val="accent1"/>
          </a:fillRef>
          <a:effectRef idx="1">
            <a:schemeClr val="accent1"/>
          </a:effectRef>
          <a:fontRef idx="minor">
            <a:schemeClr val="tx1"/>
          </a:fontRef>
        </p:style>
      </p:cxnSp>
      <p:sp>
        <p:nvSpPr>
          <p:cNvPr id="138" name="Freeform 137"/>
          <p:cNvSpPr/>
          <p:nvPr/>
        </p:nvSpPr>
        <p:spPr>
          <a:xfrm>
            <a:off x="622300" y="6502400"/>
            <a:ext cx="114300" cy="152400"/>
          </a:xfrm>
          <a:custGeom>
            <a:avLst/>
            <a:gdLst/>
            <a:ahLst/>
            <a:cxnLst/>
            <a:rect l="l" t="t" r="r" b="b"/>
            <a:pathLst>
              <a:path w="114300" h="152400">
                <a:moveTo>
                  <a:pt x="57150" y="0"/>
                </a:moveTo>
                <a:lnTo>
                  <a:pt x="114300" y="152400"/>
                </a:lnTo>
                <a:lnTo>
                  <a:pt x="0" y="1524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Freeform 138"/>
          <p:cNvSpPr/>
          <p:nvPr/>
        </p:nvSpPr>
        <p:spPr>
          <a:xfrm>
            <a:off x="774700" y="6502400"/>
            <a:ext cx="114300" cy="76200"/>
          </a:xfrm>
          <a:custGeom>
            <a:avLst/>
            <a:gdLst/>
            <a:ahLst/>
            <a:cxnLst/>
            <a:rect l="l" t="t" r="r" b="b"/>
            <a:pathLst>
              <a:path w="114300" h="76200">
                <a:moveTo>
                  <a:pt x="0" y="0"/>
                </a:moveTo>
                <a:lnTo>
                  <a:pt x="114300" y="0"/>
                </a:lnTo>
                <a:lnTo>
                  <a:pt x="57150" y="7620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774700" y="6578600"/>
            <a:ext cx="114300" cy="76200"/>
          </a:xfrm>
          <a:custGeom>
            <a:avLst/>
            <a:gdLst/>
            <a:ahLst/>
            <a:cxnLst/>
            <a:rect l="l" t="t" r="r" b="b"/>
            <a:pathLst>
              <a:path w="114300" h="76200">
                <a:moveTo>
                  <a:pt x="0" y="76200"/>
                </a:moveTo>
                <a:lnTo>
                  <a:pt x="114300" y="76200"/>
                </a:lnTo>
                <a:lnTo>
                  <a:pt x="57150" y="0"/>
                </a:lnTo>
                <a:close/>
              </a:path>
            </a:pathLst>
          </a:custGeom>
          <a:noFill/>
          <a:ln w="12700">
            <a:solidFill>
              <a:srgbClr val="FFFFF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77900" y="6489700"/>
            <a:ext cx="2667000" cy="177800"/>
          </a:xfrm>
          <a:prstGeom prst="rect">
            <a:avLst/>
          </a:prstGeom>
          <a:noFill/>
          <a:effectLst/>
        </p:spPr>
        <p:txBody>
          <a:bodyPr wrap="square" lIns="0" rIns="0" tIns="0" bIns="0" anchor="ctr"/>
          <a:lstStyle/>
          <a:p>
            <a:pPr algn="l">
              <a:lnSpc>
                <a:spcPts val="750"/>
              </a:lnSpc>
            </a:pPr>
            <a:r>
              <a:rPr sz="750" b="1" spc="105" dirty="0">
                <a:solidFill>
                  <a:srgbClr val="FFFFFF"/>
                </a:solidFill>
                <a:latin typeface="Inter"/>
                <a:cs typeface="Inter"/>
              </a:rPr>
              <a:t>ACTIVEXREMOTE</a:t>
            </a:r>
          </a:p>
        </p:txBody>
      </p:sp>
      <p:sp>
        <p:nvSpPr>
          <p:cNvPr id="142" name="TextBox 141"/>
          <p:cNvSpPr txBox="1"/>
          <p:nvPr/>
        </p:nvSpPr>
        <p:spPr>
          <a:xfrm>
            <a:off x="7645400" y="6489700"/>
            <a:ext cx="3937000" cy="177800"/>
          </a:xfrm>
          <a:prstGeom prst="rect">
            <a:avLst/>
          </a:prstGeom>
          <a:noFill/>
          <a:effectLst/>
        </p:spPr>
        <p:txBody>
          <a:bodyPr wrap="square" lIns="0" rIns="0" tIns="0" bIns="0" anchor="ctr"/>
          <a:lstStyle/>
          <a:p>
            <a:pPr algn="r">
              <a:lnSpc>
                <a:spcPts val="700"/>
              </a:lnSpc>
            </a:pPr>
            <a:r>
              <a:rPr sz="700" b="1" spc="70" dirty="0">
                <a:solidFill>
                  <a:srgbClr val="8C8C8C"/>
                </a:solidFill>
                <a:latin typeface="Inter"/>
                <a:cs typeface="Inter"/>
              </a:rPr>
              <a:t>MÓDULO 00 · 00</a:t>
            </a:r>
          </a:p>
        </p:txBody>
      </p:sp>
      <p:sp>
        <p:nvSpPr>
          <p:cNvPr id="143" name="TextBox 142"/>
          <p:cNvSpPr txBox="1"/>
          <p:nvPr/>
        </p:nvSpPr>
        <p:spPr>
          <a:xfrm>
            <a:off x="9677400" y="165100"/>
            <a:ext cx="1905000" cy="152400"/>
          </a:xfrm>
          <a:prstGeom prst="rect">
            <a:avLst/>
          </a:prstGeom>
          <a:noFill/>
          <a:effectLst/>
        </p:spPr>
        <p:txBody>
          <a:bodyPr wrap="square" lIns="0" rIns="0" tIns="0" bIns="0" anchor="t"/>
          <a:lstStyle/>
          <a:p>
            <a:pPr algn="r">
              <a:lnSpc>
                <a:spcPts val="700"/>
              </a:lnSpc>
            </a:pPr>
            <a:r>
              <a:rPr sz="700" b="1" spc="126" dirty="0">
                <a:solidFill>
                  <a:srgbClr val="5A5A5A"/>
                </a:solidFill>
                <a:latin typeface="Inter"/>
                <a:cs typeface="Inter"/>
              </a:rPr>
              <a:t>I08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ActiveXRemote — Plantillas de diapositiva</dc:title>
  <dc:subject>Sistema de diapositivas y proceso de creación de un módulo</dc:subject>
  <dc:creator>ActiveXRemote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Plantillas de diapositiva</cp:category>
</cp:coreProperties>
</file>